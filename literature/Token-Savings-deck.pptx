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5"/>
  </p:normalViewPr>
  <p:slideViewPr>
    <p:cSldViewPr snapToGrid="0" snapToObjects="1">
      <p:cViewPr varScale="1">
        <p:scale>
          <a:sx n="119" d="100"/>
          <a:sy n="119" d="100"/>
        </p:scale>
        <p:origin x="85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raphwise.ai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graphwise-logo-stac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046" y="643737"/>
            <a:ext cx="7791602" cy="55714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0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 rot="1286864">
            <a:off x="9736457" y="1426464"/>
            <a:ext cx="1375404" cy="27432"/>
          </a:xfrm>
          <a:prstGeom prst="rect">
            <a:avLst/>
          </a:prstGeom>
          <a:solidFill>
            <a:srgbClr val="3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 rot="8100000">
            <a:off x="10015650" y="2112264"/>
            <a:ext cx="1228499" cy="27432"/>
          </a:xfrm>
          <a:prstGeom prst="rect">
            <a:avLst/>
          </a:prstGeom>
          <a:solidFill>
            <a:srgbClr val="3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 rot="637179">
            <a:off x="10182812" y="2683764"/>
            <a:ext cx="1488535" cy="27432"/>
          </a:xfrm>
          <a:prstGeom prst="rect">
            <a:avLst/>
          </a:prstGeom>
          <a:solidFill>
            <a:srgbClr val="3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 rot="6360671">
            <a:off x="9497684" y="3072384"/>
            <a:ext cx="1093998" cy="27432"/>
          </a:xfrm>
          <a:prstGeom prst="rect">
            <a:avLst/>
          </a:prstGeom>
          <a:solidFill>
            <a:srgbClr val="3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 rot="1219388">
            <a:off x="9861029" y="3781044"/>
            <a:ext cx="1053109" cy="27432"/>
          </a:xfrm>
          <a:prstGeom prst="rect">
            <a:avLst/>
          </a:prstGeom>
          <a:solidFill>
            <a:srgbClr val="3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18252942">
            <a:off x="10578866" y="3392423"/>
            <a:ext cx="1382226" cy="27432"/>
          </a:xfrm>
          <a:prstGeom prst="rect">
            <a:avLst/>
          </a:prstGeom>
          <a:solidFill>
            <a:srgbClr val="3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 rot="19018496">
            <a:off x="10938092" y="1357884"/>
            <a:ext cx="938095" cy="27432"/>
          </a:xfrm>
          <a:prstGeom prst="rect">
            <a:avLst/>
          </a:prstGeom>
          <a:solidFill>
            <a:srgbClr val="3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 rot="7661654">
            <a:off x="9857166" y="4466844"/>
            <a:ext cx="1271147" cy="27432"/>
          </a:xfrm>
          <a:prstGeom prst="rect">
            <a:avLst/>
          </a:prstGeom>
          <a:solidFill>
            <a:srgbClr val="3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 rot="678596">
            <a:off x="10090538" y="5106924"/>
            <a:ext cx="1398763" cy="27432"/>
          </a:xfrm>
          <a:prstGeom prst="rect">
            <a:avLst/>
          </a:prstGeom>
          <a:solidFill>
            <a:srgbClr val="3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 rot="16458962">
            <a:off x="10352134" y="4032504"/>
            <a:ext cx="2430051" cy="27432"/>
          </a:xfrm>
          <a:prstGeom prst="rect">
            <a:avLst/>
          </a:prstGeom>
          <a:solidFill>
            <a:srgbClr val="3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646919" y="1051560"/>
            <a:ext cx="274320" cy="274320"/>
          </a:xfrm>
          <a:prstGeom prst="ellipse">
            <a:avLst/>
          </a:prstGeom>
          <a:solidFill>
            <a:srgbClr val="3D2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927080" y="1554480"/>
            <a:ext cx="274320" cy="274320"/>
          </a:xfrm>
          <a:prstGeom prst="ellipse">
            <a:avLst/>
          </a:prstGeom>
          <a:solidFill>
            <a:srgbClr val="3D2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058400" y="2423160"/>
            <a:ext cx="274320" cy="274320"/>
          </a:xfrm>
          <a:prstGeom prst="ellipse">
            <a:avLst/>
          </a:prstGeom>
          <a:solidFill>
            <a:srgbClr val="DF3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521440" y="2697480"/>
            <a:ext cx="274320" cy="274320"/>
          </a:xfrm>
          <a:prstGeom prst="ellipse">
            <a:avLst/>
          </a:prstGeom>
          <a:solidFill>
            <a:srgbClr val="3D2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756648" y="3474720"/>
            <a:ext cx="274320" cy="274320"/>
          </a:xfrm>
          <a:prstGeom prst="ellipse">
            <a:avLst/>
          </a:prstGeom>
          <a:solidFill>
            <a:srgbClr val="DF3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744200" y="3840479"/>
            <a:ext cx="274320" cy="274320"/>
          </a:xfrm>
          <a:prstGeom prst="ellipse">
            <a:avLst/>
          </a:prstGeom>
          <a:solidFill>
            <a:srgbClr val="DF3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612880" y="914399"/>
            <a:ext cx="274320" cy="274320"/>
          </a:xfrm>
          <a:prstGeom prst="ellipse">
            <a:avLst/>
          </a:prstGeom>
          <a:solidFill>
            <a:srgbClr val="3D2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966960" y="4846320"/>
            <a:ext cx="274320" cy="274320"/>
          </a:xfrm>
          <a:prstGeom prst="ellipse">
            <a:avLst/>
          </a:prstGeom>
          <a:solidFill>
            <a:srgbClr val="3D2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1338560" y="5120640"/>
            <a:ext cx="274320" cy="274320"/>
          </a:xfrm>
          <a:prstGeom prst="ellipse">
            <a:avLst/>
          </a:prstGeom>
          <a:solidFill>
            <a:srgbClr val="3D2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graphwise-logo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566928"/>
            <a:ext cx="1819656" cy="4114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66928" y="2889504"/>
            <a:ext cx="969264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Neulis Sans"/>
              </a:rPr>
              <a:t>Token Consumption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Neulis Sans"/>
              </a:rPr>
              <a:t>Comparison Experiment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901184"/>
            <a:ext cx="1188720" cy="64008"/>
          </a:xfrm>
          <a:prstGeom prst="rect">
            <a:avLst/>
          </a:prstGeom>
          <a:solidFill>
            <a:srgbClr val="DF3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20640" y="5961888"/>
            <a:ext cx="6501384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50" b="0" dirty="0">
                <a:solidFill>
                  <a:srgbClr val="C6BEE6"/>
                </a:solidFill>
                <a:latin typeface="Neulis Sans"/>
              </a:rPr>
              <a:t>Created 2026-09-28  ·  Revised 2026-09-28  ·  v2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0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graphwise-logo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566928"/>
            <a:ext cx="1819656" cy="411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2103120"/>
            <a:ext cx="8412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DF367C"/>
                </a:solidFill>
                <a:latin typeface="Neulis Sans"/>
              </a:rPr>
              <a:t>THE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432304"/>
            <a:ext cx="3749039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88000"/>
              </a:lnSpc>
              <a:spcAft>
                <a:spcPts val="0"/>
              </a:spcAft>
            </a:pPr>
            <a:r>
              <a:rPr sz="15000" b="1">
                <a:solidFill>
                  <a:srgbClr val="FFFFFF"/>
                </a:solidFill>
                <a:latin typeface="Neulis San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3986784"/>
            <a:ext cx="374903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DF367C"/>
                </a:solidFill>
                <a:latin typeface="Neulis Sans"/>
              </a:rPr>
              <a:t>questions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498848" y="2487168"/>
            <a:ext cx="27432" cy="1920240"/>
          </a:xfrm>
          <a:prstGeom prst="rect">
            <a:avLst/>
          </a:prstGeom>
          <a:solidFill>
            <a:srgbClr val="3D2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56048" y="2542032"/>
            <a:ext cx="6665976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Neulis Sans"/>
              </a:rPr>
              <a:t>One knowledge graph,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Neulis Sans"/>
              </a:rPr>
              <a:t>built from public disclosures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Neulis Sans"/>
              </a:rPr>
              <a:t>and reference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956048"/>
            <a:ext cx="2642616" cy="475488"/>
          </a:xfrm>
          <a:prstGeom prst="roundRect">
            <a:avLst>
              <a:gd name="adj" fmla="val 28000"/>
            </a:avLst>
          </a:prstGeom>
          <a:solidFill>
            <a:srgbClr val="1B9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4956048"/>
            <a:ext cx="264261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FFFFFF"/>
                </a:solidFill>
                <a:latin typeface="Neulis Sans"/>
              </a:rPr>
              <a:t>SEC EDGAR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4136" y="4956048"/>
            <a:ext cx="2642616" cy="475488"/>
          </a:xfrm>
          <a:prstGeom prst="roundRect">
            <a:avLst>
              <a:gd name="adj" fmla="val 28000"/>
            </a:avLst>
          </a:prstGeom>
          <a:solidFill>
            <a:srgbClr val="37A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74136" y="4956048"/>
            <a:ext cx="264261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FFFFFF"/>
                </a:solidFill>
                <a:latin typeface="Neulis Sans"/>
              </a:rPr>
              <a:t>USPTO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4956048"/>
            <a:ext cx="2642616" cy="475488"/>
          </a:xfrm>
          <a:prstGeom prst="roundRect">
            <a:avLst>
              <a:gd name="adj" fmla="val 28000"/>
            </a:avLst>
          </a:prstGeom>
          <a:solidFill>
            <a:srgbClr val="8B8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81344" y="4956048"/>
            <a:ext cx="264261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FFFFFF"/>
                </a:solidFill>
                <a:latin typeface="Neulis Sans"/>
              </a:rPr>
              <a:t>SIC and NAICS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79408" y="4956048"/>
            <a:ext cx="2642616" cy="475488"/>
          </a:xfrm>
          <a:prstGeom prst="roundRect">
            <a:avLst>
              <a:gd name="adj" fmla="val 28000"/>
            </a:avLst>
          </a:prstGeom>
          <a:solidFill>
            <a:srgbClr val="FE7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79408" y="4956048"/>
            <a:ext cx="264261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FFFFFF"/>
                </a:solidFill>
                <a:latin typeface="Neulis Sans"/>
              </a:rPr>
              <a:t>Reference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687568"/>
            <a:ext cx="110550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C6BEE6"/>
                </a:solidFill>
                <a:latin typeface="Neulis Sans"/>
              </a:rPr>
              <a:t>6,030 companies, 15,674 filings, 3,098,963 financial facts and 139,260 narrative documents in one store.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6409944"/>
            <a:ext cx="43982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C6BEE6"/>
                </a:solidFill>
                <a:latin typeface="Neulis Sans"/>
              </a:rPr>
              <a:t>Graphwise  ·  Token Consumption Comparison Experiment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0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graphwise-logo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566928"/>
            <a:ext cx="1819656" cy="411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1773936"/>
            <a:ext cx="8412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DF367C"/>
                </a:solidFill>
                <a:latin typeface="Neulis Sans"/>
              </a:rPr>
              <a:t>THE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103120"/>
            <a:ext cx="104241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Neulis Sans"/>
              </a:rPr>
              <a:t>Two retrieval architectures,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Neulis Sans"/>
              </a:rPr>
              <a:t>counted with the same tokeniser.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3675887"/>
            <a:ext cx="5349240" cy="1316736"/>
          </a:xfrm>
          <a:prstGeom prst="roundRect">
            <a:avLst>
              <a:gd name="adj" fmla="val 9000"/>
            </a:avLst>
          </a:prstGeom>
          <a:solidFill>
            <a:srgbClr val="3B5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7824" y="3877056"/>
            <a:ext cx="47274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Neulis Sans"/>
              </a:rPr>
              <a:t>CONTEXT STUFFING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334256"/>
            <a:ext cx="47274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0">
                <a:solidFill>
                  <a:srgbClr val="FFFFFF"/>
                </a:solidFill>
                <a:latin typeface="Neulis Sans"/>
              </a:rPr>
              <a:t>every document in the prompt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3675887"/>
            <a:ext cx="5349240" cy="1316736"/>
          </a:xfrm>
          <a:prstGeom prst="roundRect">
            <a:avLst>
              <a:gd name="adj" fmla="val 9000"/>
            </a:avLst>
          </a:prstGeom>
          <a:solidFill>
            <a:srgbClr val="DF3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3877056"/>
            <a:ext cx="47274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Neulis Sans"/>
              </a:rPr>
              <a:t>KNOWLEDGE GRAPH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4334256"/>
            <a:ext cx="47274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0">
                <a:solidFill>
                  <a:srgbClr val="FFFFFF"/>
                </a:solidFill>
                <a:latin typeface="Neulis Sans"/>
              </a:rPr>
              <a:t>only the evidence the question needs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340096"/>
            <a:ext cx="4041648" cy="548640"/>
          </a:xfrm>
          <a:prstGeom prst="roundRect">
            <a:avLst>
              <a:gd name="adj" fmla="val 9000"/>
            </a:avLst>
          </a:prstGeom>
          <a:solidFill>
            <a:srgbClr val="3D2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5340096"/>
            <a:ext cx="404164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Neulis Sans"/>
              </a:rPr>
              <a:t>An experiment, not a benchmark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6048" y="5449824"/>
            <a:ext cx="66659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400" b="0">
                <a:solidFill>
                  <a:srgbClr val="C6BEE6"/>
                </a:solidFill>
                <a:latin typeface="Neulis Sans"/>
              </a:rPr>
              <a:t>Same questions, same tokeniser, same day.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6409944"/>
            <a:ext cx="43982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C6BEE6"/>
                </a:solidFill>
                <a:latin typeface="Neulis Sans"/>
              </a:rPr>
              <a:t>Graphwise  ·  Token Consumption Comparison Experiment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57200"/>
            <a:ext cx="110550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DF367C"/>
                </a:solidFill>
                <a:latin typeface="Neulis Sans"/>
              </a:rPr>
              <a:t>STEP 1  ·  THE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68096"/>
            <a:ext cx="1105509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200" b="1">
                <a:solidFill>
                  <a:srgbClr val="220F60"/>
                </a:solidFill>
                <a:latin typeface="Neulis Sans"/>
              </a:rPr>
              <a:t>Four source authorities, and what each one contributed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26464"/>
            <a:ext cx="1188720" cy="64008"/>
          </a:xfrm>
          <a:prstGeom prst="rect">
            <a:avLst/>
          </a:prstGeom>
          <a:solidFill>
            <a:srgbClr val="DF3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6928" y="1719072"/>
            <a:ext cx="2642616" cy="2212848"/>
          </a:xfrm>
          <a:prstGeom prst="roundRect">
            <a:avLst>
              <a:gd name="adj" fmla="val 9000"/>
            </a:avLst>
          </a:prstGeom>
          <a:solidFill>
            <a:srgbClr val="F2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719072"/>
            <a:ext cx="2642616" cy="402336"/>
          </a:xfrm>
          <a:prstGeom prst="roundRect">
            <a:avLst>
              <a:gd name="adj" fmla="val 22000"/>
            </a:avLst>
          </a:prstGeom>
          <a:solidFill>
            <a:srgbClr val="1B9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1993391"/>
            <a:ext cx="2642616" cy="128016"/>
          </a:xfrm>
          <a:prstGeom prst="rect">
            <a:avLst/>
          </a:prstGeom>
          <a:solidFill>
            <a:srgbClr val="1B9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719072"/>
            <a:ext cx="235000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Neulis Sans"/>
              </a:rPr>
              <a:t>SEC EDGAR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267712"/>
            <a:ext cx="235000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>
                <a:solidFill>
                  <a:srgbClr val="220F60"/>
                </a:solidFill>
                <a:latin typeface="Neulis Sans"/>
              </a:rPr>
              <a:t>15,674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871215"/>
            <a:ext cx="2350008" cy="941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0">
                <a:solidFill>
                  <a:srgbClr val="2A2A3C"/>
                </a:solidFill>
                <a:latin typeface="Neulis Sans"/>
              </a:rPr>
              <a:t>annual and periodic filings, across 21 different filing types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4136" y="1719072"/>
            <a:ext cx="2642616" cy="2212848"/>
          </a:xfrm>
          <a:prstGeom prst="roundRect">
            <a:avLst>
              <a:gd name="adj" fmla="val 9000"/>
            </a:avLst>
          </a:prstGeom>
          <a:solidFill>
            <a:srgbClr val="F2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374136" y="1719072"/>
            <a:ext cx="2642616" cy="402336"/>
          </a:xfrm>
          <a:prstGeom prst="roundRect">
            <a:avLst>
              <a:gd name="adj" fmla="val 22000"/>
            </a:avLst>
          </a:prstGeom>
          <a:solidFill>
            <a:srgbClr val="37A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74136" y="1993391"/>
            <a:ext cx="2642616" cy="128016"/>
          </a:xfrm>
          <a:prstGeom prst="rect">
            <a:avLst/>
          </a:prstGeom>
          <a:solidFill>
            <a:srgbClr val="37A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20440" y="1719072"/>
            <a:ext cx="235000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Neulis Sans"/>
              </a:rPr>
              <a:t>USPTO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267712"/>
            <a:ext cx="235000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>
                <a:solidFill>
                  <a:srgbClr val="220F60"/>
                </a:solidFill>
                <a:latin typeface="Neulis Sans"/>
              </a:rPr>
              <a:t>96,447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871215"/>
            <a:ext cx="2350008" cy="941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0">
                <a:solidFill>
                  <a:srgbClr val="2A2A3C"/>
                </a:solidFill>
                <a:latin typeface="Neulis Sans"/>
              </a:rPr>
              <a:t>published patent records, 96,373 of them carrying an abstract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1719072"/>
            <a:ext cx="2642616" cy="2212848"/>
          </a:xfrm>
          <a:prstGeom prst="roundRect">
            <a:avLst>
              <a:gd name="adj" fmla="val 9000"/>
            </a:avLst>
          </a:prstGeom>
          <a:solidFill>
            <a:srgbClr val="F2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181344" y="1719072"/>
            <a:ext cx="2642616" cy="402336"/>
          </a:xfrm>
          <a:prstGeom prst="roundRect">
            <a:avLst>
              <a:gd name="adj" fmla="val 22000"/>
            </a:avLst>
          </a:prstGeom>
          <a:solidFill>
            <a:srgbClr val="8B8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81344" y="1993391"/>
            <a:ext cx="2642616" cy="128016"/>
          </a:xfrm>
          <a:prstGeom prst="rect">
            <a:avLst/>
          </a:prstGeom>
          <a:solidFill>
            <a:srgbClr val="8B8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27648" y="1719072"/>
            <a:ext cx="235000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Neulis Sans"/>
              </a:rPr>
              <a:t>SIC AND NAICS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2267712"/>
            <a:ext cx="235000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>
                <a:solidFill>
                  <a:srgbClr val="220F60"/>
                </a:solidFill>
                <a:latin typeface="Neulis Sans"/>
              </a:rPr>
              <a:t>2,928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2871215"/>
            <a:ext cx="2350008" cy="941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0">
                <a:solidFill>
                  <a:srgbClr val="2A2A3C"/>
                </a:solidFill>
                <a:latin typeface="Neulis Sans"/>
              </a:rPr>
              <a:t>classification concepts across 7 published and curated code schemes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79408" y="1719072"/>
            <a:ext cx="2642616" cy="2212848"/>
          </a:xfrm>
          <a:prstGeom prst="roundRect">
            <a:avLst>
              <a:gd name="adj" fmla="val 9000"/>
            </a:avLst>
          </a:prstGeom>
          <a:solidFill>
            <a:srgbClr val="F2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979408" y="1719072"/>
            <a:ext cx="2642616" cy="402336"/>
          </a:xfrm>
          <a:prstGeom prst="roundRect">
            <a:avLst>
              <a:gd name="adj" fmla="val 22000"/>
            </a:avLst>
          </a:prstGeom>
          <a:solidFill>
            <a:srgbClr val="FE7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979408" y="1993391"/>
            <a:ext cx="2642616" cy="128016"/>
          </a:xfrm>
          <a:prstGeom prst="rect">
            <a:avLst/>
          </a:prstGeom>
          <a:solidFill>
            <a:srgbClr val="FE7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25712" y="1719072"/>
            <a:ext cx="235000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Neulis Sans"/>
              </a:rPr>
              <a:t>REFERENCE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5712" y="2267712"/>
            <a:ext cx="235000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>
                <a:solidFill>
                  <a:srgbClr val="220F60"/>
                </a:solidFill>
                <a:latin typeface="Neulis Sans"/>
              </a:rPr>
              <a:t>14,886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5712" y="2871215"/>
            <a:ext cx="2350008" cy="941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0">
                <a:solidFill>
                  <a:srgbClr val="2A2A3C"/>
                </a:solidFill>
                <a:latin typeface="Neulis Sans"/>
              </a:rPr>
              <a:t>listed securities, and 773 named executives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1741932" y="4059936"/>
            <a:ext cx="292608" cy="329184"/>
          </a:xfrm>
          <a:prstGeom prst="downArrow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Down Arrow 29"/>
          <p:cNvSpPr/>
          <p:nvPr/>
        </p:nvSpPr>
        <p:spPr>
          <a:xfrm>
            <a:off x="4549140" y="4059936"/>
            <a:ext cx="292608" cy="329184"/>
          </a:xfrm>
          <a:prstGeom prst="downArrow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Down Arrow 30"/>
          <p:cNvSpPr/>
          <p:nvPr/>
        </p:nvSpPr>
        <p:spPr>
          <a:xfrm>
            <a:off x="7356348" y="4059936"/>
            <a:ext cx="292608" cy="329184"/>
          </a:xfrm>
          <a:prstGeom prst="downArrow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Down Arrow 31"/>
          <p:cNvSpPr/>
          <p:nvPr/>
        </p:nvSpPr>
        <p:spPr>
          <a:xfrm>
            <a:off x="10154412" y="4059936"/>
            <a:ext cx="292608" cy="329184"/>
          </a:xfrm>
          <a:prstGeom prst="downArrow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66928" y="4535424"/>
            <a:ext cx="11055096" cy="1243584"/>
          </a:xfrm>
          <a:prstGeom prst="roundRect">
            <a:avLst>
              <a:gd name="adj" fmla="val 9000"/>
            </a:avLst>
          </a:prstGeom>
          <a:solidFill>
            <a:srgbClr val="220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05840" y="4681728"/>
            <a:ext cx="32918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200" b="1">
                <a:solidFill>
                  <a:srgbClr val="FFFFFF"/>
                </a:solidFill>
                <a:latin typeface="Neulis Sans"/>
              </a:rPr>
              <a:t>3,098,963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285232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C6BEE6"/>
                </a:solidFill>
                <a:latin typeface="Neulis Sans"/>
              </a:rPr>
              <a:t>financial facts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4681728"/>
            <a:ext cx="32918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200" b="1">
                <a:solidFill>
                  <a:srgbClr val="FFFFFF"/>
                </a:solidFill>
                <a:latin typeface="Neulis Sans"/>
              </a:rPr>
              <a:t>139,260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5285232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C6BEE6"/>
                </a:solidFill>
                <a:latin typeface="Neulis Sans"/>
              </a:rPr>
              <a:t>narrative documents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4681728"/>
            <a:ext cx="32918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200" b="1">
                <a:solidFill>
                  <a:srgbClr val="FFFFFF"/>
                </a:solidFill>
                <a:latin typeface="Neulis Sans"/>
              </a:rPr>
              <a:t>6,030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5285232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C6BEE6"/>
                </a:solidFill>
                <a:latin typeface="Neulis Sans"/>
              </a:rPr>
              <a:t>companies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34840" y="4773168"/>
            <a:ext cx="18288" cy="786384"/>
          </a:xfrm>
          <a:prstGeom prst="rect">
            <a:avLst/>
          </a:prstGeom>
          <a:solidFill>
            <a:srgbClr val="3D2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92440" y="4773168"/>
            <a:ext cx="18288" cy="786384"/>
          </a:xfrm>
          <a:prstGeom prst="rect">
            <a:avLst/>
          </a:prstGeom>
          <a:solidFill>
            <a:srgbClr val="3D2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66928" y="6053328"/>
            <a:ext cx="110550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767492"/>
                </a:solidFill>
                <a:latin typeface="Neulis Sans"/>
              </a:rPr>
              <a:t>Every fact records which authority produced it, so an answer can say what it rests on. Measured on the staged N-Quads, offline.</a:t>
            </a:r>
          </a:p>
        </p:txBody>
      </p:sp>
      <p:pic>
        <p:nvPicPr>
          <p:cNvPr id="43" name="Picture 42" descr="graphwise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382512"/>
            <a:ext cx="1133856" cy="256032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223760" y="6409944"/>
            <a:ext cx="43982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767492"/>
                </a:solidFill>
                <a:latin typeface="Neulis Sans"/>
              </a:rPr>
              <a:t>Graphwise  ·  Token Consumption Comparison Experiment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57200"/>
            <a:ext cx="110550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DF367C"/>
                </a:solidFill>
                <a:latin typeface="Neulis Sans"/>
              </a:rPr>
              <a:t>STEP 2  ·  THE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68096"/>
            <a:ext cx="1105509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200" b="1">
                <a:solidFill>
                  <a:srgbClr val="220F60"/>
                </a:solidFill>
                <a:latin typeface="Neulis Sans"/>
              </a:rPr>
              <a:t>A taxonomy and a formal ontology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26464"/>
            <a:ext cx="1188720" cy="64008"/>
          </a:xfrm>
          <a:prstGeom prst="rect">
            <a:avLst/>
          </a:prstGeom>
          <a:solidFill>
            <a:srgbClr val="DF3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6928" y="1700784"/>
            <a:ext cx="5349240" cy="3858768"/>
          </a:xfrm>
          <a:prstGeom prst="roundRect">
            <a:avLst>
              <a:gd name="adj" fmla="val 9000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700784"/>
            <a:ext cx="5349240" cy="438912"/>
          </a:xfrm>
          <a:prstGeom prst="roundRect">
            <a:avLst>
              <a:gd name="adj" fmla="val 30000"/>
            </a:avLst>
          </a:prstGeom>
          <a:solidFill>
            <a:srgbClr val="220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2011680"/>
            <a:ext cx="5349240" cy="128016"/>
          </a:xfrm>
          <a:prstGeom prst="rect">
            <a:avLst/>
          </a:prstGeom>
          <a:solidFill>
            <a:srgbClr val="220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700784"/>
            <a:ext cx="487375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Neulis Sans"/>
              </a:rPr>
              <a:t>TAXONOMY  ·  7 SKOS SCHEMES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304288"/>
            <a:ext cx="27432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4000" b="1">
                <a:solidFill>
                  <a:srgbClr val="220F60"/>
                </a:solidFill>
                <a:latin typeface="Neulis Sans"/>
              </a:rPr>
              <a:t>2,928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926080"/>
            <a:ext cx="48737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2A2A3C"/>
                </a:solidFill>
                <a:latin typeface="Neulis Sans"/>
              </a:rPr>
              <a:t>classified concepts, in 35,977 triples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" y="3310128"/>
            <a:ext cx="2340864" cy="43891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3816" y="3364992"/>
            <a:ext cx="73152" cy="329184"/>
          </a:xfrm>
          <a:prstGeom prst="rect">
            <a:avLst/>
          </a:prstGeom>
          <a:solidFill>
            <a:srgbClr val="8B8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3310128"/>
            <a:ext cx="1481328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100" b="0">
                <a:solidFill>
                  <a:srgbClr val="2A2A3C"/>
                </a:solidFill>
                <a:latin typeface="Neulis Sans"/>
              </a:rPr>
              <a:t>SIC industry codes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7168" y="3310128"/>
            <a:ext cx="5486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1250" b="1">
                <a:solidFill>
                  <a:srgbClr val="220F60"/>
                </a:solidFill>
                <a:latin typeface="Neulis Sans"/>
              </a:rPr>
              <a:t>1,230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10128" y="3310128"/>
            <a:ext cx="2340864" cy="43891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19272" y="3364992"/>
            <a:ext cx="73152" cy="329184"/>
          </a:xfrm>
          <a:prstGeom prst="rect">
            <a:avLst/>
          </a:prstGeom>
          <a:solidFill>
            <a:srgbClr val="8B8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11296" y="3310128"/>
            <a:ext cx="1481328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100" b="0">
                <a:solidFill>
                  <a:srgbClr val="2A2A3C"/>
                </a:solidFill>
                <a:latin typeface="Neulis Sans"/>
              </a:rPr>
              <a:t>NAICS industry codes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92624" y="3310128"/>
            <a:ext cx="5486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1250" b="1">
                <a:solidFill>
                  <a:srgbClr val="220F60"/>
                </a:solidFill>
                <a:latin typeface="Neulis Sans"/>
              </a:rPr>
              <a:t>1,009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" y="3822191"/>
            <a:ext cx="2340864" cy="43891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3816" y="3877055"/>
            <a:ext cx="73152" cy="329184"/>
          </a:xfrm>
          <a:prstGeom prst="rect">
            <a:avLst/>
          </a:prstGeom>
          <a:solidFill>
            <a:srgbClr val="8B8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3822191"/>
            <a:ext cx="1481328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100" b="0">
                <a:solidFill>
                  <a:srgbClr val="2A2A3C"/>
                </a:solidFill>
                <a:latin typeface="Neulis Sans"/>
              </a:rPr>
              <a:t>Places and jurisdictions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87168" y="3822191"/>
            <a:ext cx="5486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1250" b="1">
                <a:solidFill>
                  <a:srgbClr val="220F60"/>
                </a:solidFill>
                <a:latin typeface="Neulis Sans"/>
              </a:rPr>
              <a:t>337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10128" y="3822191"/>
            <a:ext cx="2340864" cy="43891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319272" y="3877055"/>
            <a:ext cx="73152" cy="329184"/>
          </a:xfrm>
          <a:prstGeom prst="rect">
            <a:avLst/>
          </a:prstGeom>
          <a:solidFill>
            <a:srgbClr val="8B8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511296" y="3822191"/>
            <a:ext cx="1481328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100" b="0">
                <a:solidFill>
                  <a:srgbClr val="2A2A3C"/>
                </a:solidFill>
                <a:latin typeface="Neulis Sans"/>
              </a:rPr>
              <a:t>Risk and governance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92624" y="3822191"/>
            <a:ext cx="5486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1250" b="1">
                <a:solidFill>
                  <a:srgbClr val="220F60"/>
                </a:solidFill>
                <a:latin typeface="Neulis Sans"/>
              </a:rPr>
              <a:t>137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" y="4334256"/>
            <a:ext cx="2340864" cy="43891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13816" y="4389120"/>
            <a:ext cx="73152" cy="329184"/>
          </a:xfrm>
          <a:prstGeom prst="rect">
            <a:avLst/>
          </a:prstGeom>
          <a:solidFill>
            <a:srgbClr val="8B8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5840" y="4334256"/>
            <a:ext cx="1481328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100" b="0">
                <a:solidFill>
                  <a:srgbClr val="2A2A3C"/>
                </a:solidFill>
                <a:latin typeface="Neulis Sans"/>
              </a:rPr>
              <a:t>Industry crosswalk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87168" y="4334256"/>
            <a:ext cx="5486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1250" b="1">
                <a:solidFill>
                  <a:srgbClr val="220F60"/>
                </a:solidFill>
                <a:latin typeface="Neulis Sans"/>
              </a:rPr>
              <a:t>131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10128" y="4334256"/>
            <a:ext cx="2340864" cy="43891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319272" y="4389120"/>
            <a:ext cx="73152" cy="329184"/>
          </a:xfrm>
          <a:prstGeom prst="rect">
            <a:avLst/>
          </a:prstGeom>
          <a:solidFill>
            <a:srgbClr val="8B8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511296" y="4334256"/>
            <a:ext cx="1481328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100" b="0">
                <a:solidFill>
                  <a:srgbClr val="2A2A3C"/>
                </a:solidFill>
                <a:latin typeface="Neulis Sans"/>
              </a:rPr>
              <a:t>Disclosure topics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92624" y="4334256"/>
            <a:ext cx="5486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1250" b="1">
                <a:solidFill>
                  <a:srgbClr val="220F60"/>
                </a:solidFill>
                <a:latin typeface="Neulis Sans"/>
              </a:rPr>
              <a:t>67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" y="4846320"/>
            <a:ext cx="2340864" cy="43891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13816" y="4901184"/>
            <a:ext cx="73152" cy="329184"/>
          </a:xfrm>
          <a:prstGeom prst="rect">
            <a:avLst/>
          </a:prstGeom>
          <a:solidFill>
            <a:srgbClr val="8B8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05840" y="4846320"/>
            <a:ext cx="1481328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100" b="0">
                <a:solidFill>
                  <a:srgbClr val="2A2A3C"/>
                </a:solidFill>
                <a:latin typeface="Neulis Sans"/>
              </a:rPr>
              <a:t>Executive roles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87168" y="4846320"/>
            <a:ext cx="5486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1250" b="1">
                <a:solidFill>
                  <a:srgbClr val="220F60"/>
                </a:solidFill>
                <a:latin typeface="Neulis Sans"/>
              </a:rPr>
              <a:t>17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72784" y="1700784"/>
            <a:ext cx="5349240" cy="3858768"/>
          </a:xfrm>
          <a:prstGeom prst="roundRect">
            <a:avLst>
              <a:gd name="adj" fmla="val 9000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6272784" y="1700784"/>
            <a:ext cx="5349240" cy="438912"/>
          </a:xfrm>
          <a:prstGeom prst="roundRect">
            <a:avLst>
              <a:gd name="adj" fmla="val 30000"/>
            </a:avLst>
          </a:prstGeom>
          <a:solidFill>
            <a:srgbClr val="220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272784" y="2011680"/>
            <a:ext cx="5349240" cy="128016"/>
          </a:xfrm>
          <a:prstGeom prst="rect">
            <a:avLst/>
          </a:prstGeom>
          <a:solidFill>
            <a:srgbClr val="220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10528" y="1700784"/>
            <a:ext cx="487375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Neulis Sans"/>
              </a:rPr>
              <a:t>ONTOLOGY  ·  21 CLASSES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10528" y="2304288"/>
            <a:ext cx="27432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4000" b="1">
                <a:solidFill>
                  <a:srgbClr val="220F60"/>
                </a:solidFill>
                <a:latin typeface="Neulis Sans"/>
              </a:rPr>
              <a:t>587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10528" y="292608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2A2A3C"/>
                </a:solidFill>
                <a:latin typeface="Neulis Sans"/>
              </a:rPr>
              <a:t>triples, 36 relationships and 76 attributes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35824" y="4254246"/>
            <a:ext cx="292608" cy="32004"/>
          </a:xfrm>
          <a:prstGeom prst="rect">
            <a:avLst/>
          </a:prstGeom>
          <a:solidFill>
            <a:srgbClr val="767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012430" y="3685031"/>
            <a:ext cx="32004" cy="1280160"/>
          </a:xfrm>
          <a:prstGeom prst="rect">
            <a:avLst/>
          </a:prstGeom>
          <a:solidFill>
            <a:srgbClr val="767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028432" y="3669029"/>
            <a:ext cx="292607" cy="32004"/>
          </a:xfrm>
          <a:prstGeom prst="rect">
            <a:avLst/>
          </a:prstGeom>
          <a:solidFill>
            <a:srgbClr val="767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028432" y="4309110"/>
            <a:ext cx="292607" cy="32004"/>
          </a:xfrm>
          <a:prstGeom prst="rect">
            <a:avLst/>
          </a:prstGeom>
          <a:solidFill>
            <a:srgbClr val="767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028432" y="4949190"/>
            <a:ext cx="292607" cy="32004"/>
          </a:xfrm>
          <a:prstGeom prst="rect">
            <a:avLst/>
          </a:prstGeom>
          <a:solidFill>
            <a:srgbClr val="767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9546336" y="3669029"/>
            <a:ext cx="292608" cy="32004"/>
          </a:xfrm>
          <a:prstGeom prst="rect">
            <a:avLst/>
          </a:prstGeom>
          <a:solidFill>
            <a:srgbClr val="767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9822942" y="3374136"/>
            <a:ext cx="32004" cy="658368"/>
          </a:xfrm>
          <a:prstGeom prst="rect">
            <a:avLst/>
          </a:prstGeom>
          <a:solidFill>
            <a:srgbClr val="767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9838944" y="3358134"/>
            <a:ext cx="292608" cy="32004"/>
          </a:xfrm>
          <a:prstGeom prst="rect">
            <a:avLst/>
          </a:prstGeom>
          <a:solidFill>
            <a:srgbClr val="767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9838944" y="4016502"/>
            <a:ext cx="292608" cy="32004"/>
          </a:xfrm>
          <a:prstGeom prst="rect">
            <a:avLst/>
          </a:prstGeom>
          <a:solidFill>
            <a:srgbClr val="767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6510528" y="4041648"/>
            <a:ext cx="1225296" cy="457200"/>
          </a:xfrm>
          <a:prstGeom prst="roundRect">
            <a:avLst>
              <a:gd name="adj" fmla="val 16000"/>
            </a:avLst>
          </a:prstGeom>
          <a:solidFill>
            <a:srgbClr val="1B9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510528" y="4041648"/>
            <a:ext cx="122529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Neulis Sans"/>
              </a:rPr>
              <a:t>Company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321040" y="3456432"/>
            <a:ext cx="1225296" cy="457200"/>
          </a:xfrm>
          <a:prstGeom prst="roundRect">
            <a:avLst>
              <a:gd name="adj" fmla="val 16000"/>
            </a:avLst>
          </a:prstGeom>
          <a:solidFill>
            <a:srgbClr val="1B9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21040" y="3456432"/>
            <a:ext cx="122529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Neulis Sans"/>
              </a:rPr>
              <a:t>Filing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321040" y="4096512"/>
            <a:ext cx="1225296" cy="457200"/>
          </a:xfrm>
          <a:prstGeom prst="roundRect">
            <a:avLst>
              <a:gd name="adj" fmla="val 16000"/>
            </a:avLst>
          </a:prstGeom>
          <a:solidFill>
            <a:srgbClr val="FE7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321040" y="4096512"/>
            <a:ext cx="122529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Neulis Sans"/>
              </a:rPr>
              <a:t>Patent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321040" y="4736592"/>
            <a:ext cx="1225296" cy="457200"/>
          </a:xfrm>
          <a:prstGeom prst="roundRect">
            <a:avLst>
              <a:gd name="adj" fmla="val 16000"/>
            </a:avLst>
          </a:prstGeom>
          <a:solidFill>
            <a:srgbClr val="A2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321040" y="4736592"/>
            <a:ext cx="122529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Neulis Sans"/>
              </a:rPr>
              <a:t>Security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131552" y="3145536"/>
            <a:ext cx="1225296" cy="457200"/>
          </a:xfrm>
          <a:prstGeom prst="roundRect">
            <a:avLst>
              <a:gd name="adj" fmla="val 16000"/>
            </a:avLst>
          </a:prstGeom>
          <a:solidFill>
            <a:srgbClr val="37A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131552" y="3145536"/>
            <a:ext cx="122529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Neulis Sans"/>
              </a:rPr>
              <a:t>Fact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131552" y="3803904"/>
            <a:ext cx="1225296" cy="457200"/>
          </a:xfrm>
          <a:prstGeom prst="roundRect">
            <a:avLst>
              <a:gd name="adj" fmla="val 16000"/>
            </a:avLst>
          </a:prstGeom>
          <a:solidFill>
            <a:srgbClr val="8B8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131552" y="3803904"/>
            <a:ext cx="122529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Neulis Sans"/>
              </a:rPr>
              <a:t>Document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10528" y="5266944"/>
            <a:ext cx="48737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767492"/>
                </a:solidFill>
                <a:latin typeface="Neulis Sans"/>
              </a:rPr>
              <a:t>six of the classes, and the relationships that actually connect them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66928" y="5669280"/>
            <a:ext cx="11055096" cy="603504"/>
          </a:xfrm>
          <a:prstGeom prst="roundRect">
            <a:avLst>
              <a:gd name="adj" fmla="val 9000"/>
            </a:avLst>
          </a:prstGeom>
          <a:solidFill>
            <a:srgbClr val="220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77824" y="5669280"/>
            <a:ext cx="104333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Neulis Sans"/>
              </a:rPr>
              <a:t>Authored from the code systems the sources publish. Generated, never hand-edited: if the counts drift the build refuses to write.</a:t>
            </a:r>
          </a:p>
        </p:txBody>
      </p:sp>
      <p:pic>
        <p:nvPicPr>
          <p:cNvPr id="69" name="Picture 68" descr="graphwise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382512"/>
            <a:ext cx="1133856" cy="256032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7223760" y="6409944"/>
            <a:ext cx="43982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767492"/>
                </a:solidFill>
                <a:latin typeface="Neulis Sans"/>
              </a:rPr>
              <a:t>Graphwise  ·  Token Consumption Comparison Experiment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57200"/>
            <a:ext cx="110550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DF367C"/>
                </a:solidFill>
                <a:latin typeface="Neulis Sans"/>
              </a:rPr>
              <a:t>STEP 3  ·  INGEST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68096"/>
            <a:ext cx="1105509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200" b="1">
                <a:solidFill>
                  <a:srgbClr val="220F60"/>
                </a:solidFill>
                <a:latin typeface="Neulis Sans"/>
              </a:rPr>
              <a:t>Two lanes, one store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26464"/>
            <a:ext cx="1188720" cy="64008"/>
          </a:xfrm>
          <a:prstGeom prst="rect">
            <a:avLst/>
          </a:prstGeom>
          <a:solidFill>
            <a:srgbClr val="DF3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73152" cy="237744"/>
          </a:xfrm>
          <a:prstGeom prst="rect">
            <a:avLst/>
          </a:prstGeom>
          <a:solidFill>
            <a:srgbClr val="1B9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591056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220F60"/>
                </a:solidFill>
                <a:latin typeface="Neulis Sans"/>
              </a:rPr>
              <a:t>STRUCTURED TABLES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83664"/>
            <a:ext cx="1572768" cy="1152144"/>
          </a:xfrm>
          <a:prstGeom prst="roundRect">
            <a:avLst>
              <a:gd name="adj" fmla="val 9000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83664"/>
            <a:ext cx="1572768" cy="82296"/>
          </a:xfrm>
          <a:prstGeom prst="roundRect">
            <a:avLst>
              <a:gd name="adj" fmla="val 30000"/>
            </a:avLst>
          </a:prstGeom>
          <a:solidFill>
            <a:srgbClr val="1B9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2066544"/>
            <a:ext cx="1316736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00" b="1">
                <a:solidFill>
                  <a:srgbClr val="220F60"/>
                </a:solidFill>
                <a:latin typeface="Neulis Sans"/>
              </a:rPr>
              <a:t>Quarterly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00" b="1">
                <a:solidFill>
                  <a:srgbClr val="220F60"/>
                </a:solidFill>
                <a:latin typeface="Neulis Sans"/>
              </a:rPr>
              <a:t>financial tables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76272" y="2368296"/>
            <a:ext cx="128016" cy="182880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340864" y="1883664"/>
            <a:ext cx="1572768" cy="1152144"/>
          </a:xfrm>
          <a:prstGeom prst="roundRect">
            <a:avLst>
              <a:gd name="adj" fmla="val 9000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340864" y="1883664"/>
            <a:ext cx="1572768" cy="82296"/>
          </a:xfrm>
          <a:prstGeom prst="roundRect">
            <a:avLst>
              <a:gd name="adj" fmla="val 30000"/>
            </a:avLst>
          </a:prstGeom>
          <a:solidFill>
            <a:srgbClr val="1B9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68880" y="2066544"/>
            <a:ext cx="1316736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00" b="1">
                <a:solidFill>
                  <a:srgbClr val="220F60"/>
                </a:solidFill>
                <a:latin typeface="Neulis Sans"/>
              </a:rPr>
              <a:t>Five correctness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00" b="1">
                <a:solidFill>
                  <a:srgbClr val="220F60"/>
                </a:solidFill>
                <a:latin typeface="Neulis Sans"/>
              </a:rPr>
              <a:t>rules applied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950208" y="2368296"/>
            <a:ext cx="128016" cy="182880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114800" y="1883664"/>
            <a:ext cx="1572768" cy="1152144"/>
          </a:xfrm>
          <a:prstGeom prst="roundRect">
            <a:avLst>
              <a:gd name="adj" fmla="val 9000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114800" y="1883664"/>
            <a:ext cx="1572768" cy="82296"/>
          </a:xfrm>
          <a:prstGeom prst="roundRect">
            <a:avLst>
              <a:gd name="adj" fmla="val 30000"/>
            </a:avLst>
          </a:prstGeom>
          <a:solidFill>
            <a:srgbClr val="1B9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42816" y="2066544"/>
            <a:ext cx="1316736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00" b="1">
                <a:solidFill>
                  <a:srgbClr val="220F60"/>
                </a:solidFill>
                <a:latin typeface="Neulis Sans"/>
              </a:rPr>
              <a:t>Concept IRIs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00" b="1">
                <a:solidFill>
                  <a:srgbClr val="220F60"/>
                </a:solidFill>
                <a:latin typeface="Neulis Sans"/>
              </a:rPr>
              <a:t>canonicalised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724144" y="2368296"/>
            <a:ext cx="128016" cy="182880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888736" y="1883664"/>
            <a:ext cx="1572768" cy="1152144"/>
          </a:xfrm>
          <a:prstGeom prst="roundRect">
            <a:avLst>
              <a:gd name="adj" fmla="val 9000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888736" y="1883664"/>
            <a:ext cx="1572768" cy="82296"/>
          </a:xfrm>
          <a:prstGeom prst="roundRect">
            <a:avLst>
              <a:gd name="adj" fmla="val 30000"/>
            </a:avLst>
          </a:prstGeom>
          <a:solidFill>
            <a:srgbClr val="1B9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16752" y="2066544"/>
            <a:ext cx="1316736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00" b="1">
                <a:solidFill>
                  <a:srgbClr val="220F60"/>
                </a:solidFill>
                <a:latin typeface="Neulis Sans"/>
              </a:rPr>
              <a:t>Facts keyed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00" b="1">
                <a:solidFill>
                  <a:srgbClr val="220F60"/>
                </a:solidFill>
                <a:latin typeface="Neulis Sans"/>
              </a:rPr>
              <a:t>to their filing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498080" y="2368296"/>
            <a:ext cx="128016" cy="182880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662671" y="1883664"/>
            <a:ext cx="1572768" cy="1152144"/>
          </a:xfrm>
          <a:prstGeom prst="roundRect">
            <a:avLst>
              <a:gd name="adj" fmla="val 9000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662671" y="1883664"/>
            <a:ext cx="1572768" cy="82296"/>
          </a:xfrm>
          <a:prstGeom prst="roundRect">
            <a:avLst>
              <a:gd name="adj" fmla="val 30000"/>
            </a:avLst>
          </a:prstGeom>
          <a:solidFill>
            <a:srgbClr val="1B9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90688" y="2066544"/>
            <a:ext cx="1316736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00" b="1">
                <a:solidFill>
                  <a:srgbClr val="220F60"/>
                </a:solidFill>
                <a:latin typeface="Neulis Sans"/>
              </a:rPr>
              <a:t>N-Quads,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00" b="1">
                <a:solidFill>
                  <a:srgbClr val="220F60"/>
                </a:solidFill>
                <a:latin typeface="Neulis Sans"/>
              </a:rPr>
              <a:t>graph included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18320" y="1883664"/>
            <a:ext cx="2203704" cy="1152144"/>
          </a:xfrm>
          <a:prstGeom prst="roundRect">
            <a:avLst>
              <a:gd name="adj" fmla="val 9000"/>
            </a:avLst>
          </a:prstGeom>
          <a:solidFill>
            <a:srgbClr val="220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64624" y="2084832"/>
            <a:ext cx="1911095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Neulis Sans"/>
              </a:rPr>
              <a:t>3,098,963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64624" y="2596896"/>
            <a:ext cx="191109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C6BEE6"/>
                </a:solidFill>
                <a:latin typeface="Neulis Sans"/>
              </a:rPr>
              <a:t>financial facts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310128"/>
            <a:ext cx="73152" cy="237744"/>
          </a:xfrm>
          <a:prstGeom prst="rect">
            <a:avLst/>
          </a:prstGeom>
          <a:solidFill>
            <a:srgbClr val="37A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9808" y="3310128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220F60"/>
                </a:solidFill>
                <a:latin typeface="Neulis Sans"/>
              </a:rPr>
              <a:t>UNSTRUCTURED PROSE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3602736"/>
            <a:ext cx="1572768" cy="1152144"/>
          </a:xfrm>
          <a:prstGeom prst="roundRect">
            <a:avLst>
              <a:gd name="adj" fmla="val 9000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66928" y="3602736"/>
            <a:ext cx="1572768" cy="82296"/>
          </a:xfrm>
          <a:prstGeom prst="roundRect">
            <a:avLst>
              <a:gd name="adj" fmla="val 30000"/>
            </a:avLst>
          </a:prstGeom>
          <a:solidFill>
            <a:srgbClr val="37A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94944" y="3785615"/>
            <a:ext cx="1316736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00" b="1">
                <a:solidFill>
                  <a:srgbClr val="220F60"/>
                </a:solidFill>
                <a:latin typeface="Neulis Sans"/>
              </a:rPr>
              <a:t>Filings, abstracts,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00" b="1">
                <a:solidFill>
                  <a:srgbClr val="220F60"/>
                </a:solidFill>
                <a:latin typeface="Neulis Sans"/>
              </a:rPr>
              <a:t>call transcripts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2176272" y="4087368"/>
            <a:ext cx="128016" cy="182880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2340864" y="3602736"/>
            <a:ext cx="1572768" cy="1152144"/>
          </a:xfrm>
          <a:prstGeom prst="roundRect">
            <a:avLst>
              <a:gd name="adj" fmla="val 9000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2340864" y="3602736"/>
            <a:ext cx="1572768" cy="82296"/>
          </a:xfrm>
          <a:prstGeom prst="roundRect">
            <a:avLst>
              <a:gd name="adj" fmla="val 30000"/>
            </a:avLst>
          </a:prstGeom>
          <a:solidFill>
            <a:srgbClr val="37A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468880" y="3785615"/>
            <a:ext cx="1316736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00" b="1">
                <a:solidFill>
                  <a:srgbClr val="220F60"/>
                </a:solidFill>
                <a:latin typeface="Neulis Sans"/>
              </a:rPr>
              <a:t>Sections split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00" b="1">
                <a:solidFill>
                  <a:srgbClr val="220F60"/>
                </a:solidFill>
                <a:latin typeface="Neulis Sans"/>
              </a:rPr>
              <a:t>and deduplicated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3950208" y="4087368"/>
            <a:ext cx="128016" cy="182880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114800" y="3602736"/>
            <a:ext cx="1572768" cy="1152144"/>
          </a:xfrm>
          <a:prstGeom prst="roundRect">
            <a:avLst>
              <a:gd name="adj" fmla="val 9000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4114800" y="3602736"/>
            <a:ext cx="1572768" cy="82296"/>
          </a:xfrm>
          <a:prstGeom prst="roundRect">
            <a:avLst>
              <a:gd name="adj" fmla="val 30000"/>
            </a:avLst>
          </a:prstGeom>
          <a:solidFill>
            <a:srgbClr val="37A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242816" y="3785615"/>
            <a:ext cx="1316736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00" b="1">
                <a:solidFill>
                  <a:srgbClr val="220F60"/>
                </a:solidFill>
                <a:latin typeface="Neulis Sans"/>
              </a:rPr>
              <a:t>Deterministic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00" b="1">
                <a:solidFill>
                  <a:srgbClr val="220F60"/>
                </a:solidFill>
                <a:latin typeface="Neulis Sans"/>
              </a:rPr>
              <a:t>chunking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5724144" y="4087368"/>
            <a:ext cx="128016" cy="182880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5888736" y="3602736"/>
            <a:ext cx="1572768" cy="1152144"/>
          </a:xfrm>
          <a:prstGeom prst="roundRect">
            <a:avLst>
              <a:gd name="adj" fmla="val 9000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5888736" y="3602736"/>
            <a:ext cx="1572768" cy="82296"/>
          </a:xfrm>
          <a:prstGeom prst="roundRect">
            <a:avLst>
              <a:gd name="adj" fmla="val 30000"/>
            </a:avLst>
          </a:prstGeom>
          <a:solidFill>
            <a:srgbClr val="37A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016752" y="3785615"/>
            <a:ext cx="1316736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00" b="1">
                <a:solidFill>
                  <a:srgbClr val="220F60"/>
                </a:solidFill>
                <a:latin typeface="Neulis Sans"/>
              </a:rPr>
              <a:t>Passage text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00" b="1">
                <a:solidFill>
                  <a:srgbClr val="220F60"/>
                </a:solidFill>
                <a:latin typeface="Neulis Sans"/>
              </a:rPr>
              <a:t>stored once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7498080" y="4087368"/>
            <a:ext cx="128016" cy="182880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7662671" y="3602736"/>
            <a:ext cx="1572768" cy="1152144"/>
          </a:xfrm>
          <a:prstGeom prst="roundRect">
            <a:avLst>
              <a:gd name="adj" fmla="val 9000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7662671" y="3602736"/>
            <a:ext cx="1572768" cy="82296"/>
          </a:xfrm>
          <a:prstGeom prst="roundRect">
            <a:avLst>
              <a:gd name="adj" fmla="val 30000"/>
            </a:avLst>
          </a:prstGeom>
          <a:solidFill>
            <a:srgbClr val="37A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790688" y="3785615"/>
            <a:ext cx="1316736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00" b="1">
                <a:solidFill>
                  <a:srgbClr val="220F60"/>
                </a:solidFill>
                <a:latin typeface="Neulis Sans"/>
              </a:rPr>
              <a:t>N-Quads,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00" b="1">
                <a:solidFill>
                  <a:srgbClr val="220F60"/>
                </a:solidFill>
                <a:latin typeface="Neulis Sans"/>
              </a:rPr>
              <a:t>graph included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418320" y="3602736"/>
            <a:ext cx="2203704" cy="1152144"/>
          </a:xfrm>
          <a:prstGeom prst="roundRect">
            <a:avLst>
              <a:gd name="adj" fmla="val 9000"/>
            </a:avLst>
          </a:prstGeom>
          <a:solidFill>
            <a:srgbClr val="220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564624" y="3803904"/>
            <a:ext cx="1911095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Neulis Sans"/>
              </a:rPr>
              <a:t>323,478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64624" y="4315968"/>
            <a:ext cx="191109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C6BEE6"/>
                </a:solidFill>
                <a:latin typeface="Neulis Sans"/>
              </a:rPr>
              <a:t>retrieval passages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66928" y="5047488"/>
            <a:ext cx="11055096" cy="603504"/>
          </a:xfrm>
          <a:prstGeom prst="roundRect">
            <a:avLst>
              <a:gd name="adj" fmla="val 9000"/>
            </a:avLst>
          </a:prstGeom>
          <a:solidFill>
            <a:srgbClr val="220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77824" y="5047488"/>
            <a:ext cx="104333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Neulis Sans"/>
              </a:rPr>
              <a:t>Bulk N-Quads load of all 323,478 passages: 84 seconds. The per-passage connector path it replaced: 14.6 hours.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6928" y="5852160"/>
            <a:ext cx="110550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767492"/>
                </a:solidFill>
                <a:latin typeface="Neulis Sans"/>
              </a:rPr>
              <a:t>Passage text is stored once. That single literal is also what the retrieval index reads, so the two cannot drift apart.</a:t>
            </a:r>
          </a:p>
        </p:txBody>
      </p:sp>
      <p:pic>
        <p:nvPicPr>
          <p:cNvPr id="56" name="Picture 55" descr="graphwise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382512"/>
            <a:ext cx="1133856" cy="256032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223760" y="6409944"/>
            <a:ext cx="43982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767492"/>
                </a:solidFill>
                <a:latin typeface="Neulis Sans"/>
              </a:rPr>
              <a:t>Graphwise  ·  Token Consumption Comparison Experiment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57200"/>
            <a:ext cx="110550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DF367C"/>
                </a:solidFill>
                <a:latin typeface="Neulis Sans"/>
              </a:rPr>
              <a:t>STEP 4  ·  TAGGING AND INFERENCE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68096"/>
            <a:ext cx="1105509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200" b="1">
                <a:solidFill>
                  <a:srgbClr val="220F60"/>
                </a:solidFill>
                <a:latin typeface="Neulis Sans"/>
              </a:rPr>
              <a:t>Tagged, inferred, and never merged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26464"/>
            <a:ext cx="1188720" cy="64008"/>
          </a:xfrm>
          <a:prstGeom prst="rect">
            <a:avLst/>
          </a:prstGeom>
          <a:solidFill>
            <a:srgbClr val="DF3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6928" y="1682496"/>
            <a:ext cx="2834640" cy="1847088"/>
          </a:xfrm>
          <a:prstGeom prst="roundRect">
            <a:avLst>
              <a:gd name="adj" fmla="val 9000"/>
            </a:avLst>
          </a:prstGeom>
          <a:solidFill>
            <a:srgbClr val="A4D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1865376"/>
            <a:ext cx="2395728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>
                <a:solidFill>
                  <a:srgbClr val="220F60"/>
                </a:solidFill>
                <a:latin typeface="Neulis Sans"/>
              </a:rPr>
              <a:t>323,478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432304"/>
            <a:ext cx="23957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>
                <a:solidFill>
                  <a:srgbClr val="2A2A3C"/>
                </a:solidFill>
                <a:latin typeface="Neulis Sans"/>
              </a:rPr>
              <a:t>retrieval passages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>
                <a:solidFill>
                  <a:srgbClr val="2A2A3C"/>
                </a:solidFill>
                <a:latin typeface="Neulis Sans"/>
              </a:rPr>
              <a:t>from filings, patents and calls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3145536"/>
            <a:ext cx="201168" cy="256032"/>
          </a:xfrm>
          <a:prstGeom prst="rect">
            <a:avLst/>
          </a:prstGeom>
          <a:solidFill>
            <a:srgbClr val="1B9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60704" y="3145536"/>
            <a:ext cx="201168" cy="256032"/>
          </a:xfrm>
          <a:prstGeom prst="rect">
            <a:avLst/>
          </a:prstGeom>
          <a:solidFill>
            <a:srgbClr val="1B9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335024" y="3145536"/>
            <a:ext cx="201168" cy="256032"/>
          </a:xfrm>
          <a:prstGeom prst="rect">
            <a:avLst/>
          </a:prstGeom>
          <a:solidFill>
            <a:srgbClr val="1B9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49039" y="1755648"/>
            <a:ext cx="4526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DF367C"/>
                </a:solidFill>
                <a:latin typeface="Neulis Sans"/>
              </a:rPr>
              <a:t>CONCEPT ANNOTATIONS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048256"/>
            <a:ext cx="4526280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5000" b="1">
                <a:solidFill>
                  <a:srgbClr val="220F60"/>
                </a:solidFill>
                <a:latin typeface="Neulis Sans"/>
              </a:rPr>
              <a:t>937,967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931920" y="2999232"/>
            <a:ext cx="4160520" cy="310896"/>
          </a:xfrm>
          <a:prstGeom prst="rightArrow">
            <a:avLst/>
          </a:prstGeom>
          <a:solidFill>
            <a:srgbClr val="8B8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49039" y="3401568"/>
            <a:ext cx="45262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 dirty="0">
                <a:solidFill>
                  <a:srgbClr val="2A2A3C"/>
                </a:solidFill>
                <a:latin typeface="Neulis Sans"/>
              </a:rPr>
              <a:t>each passage, to the concepts it is </a:t>
            </a:r>
            <a:r>
              <a:rPr lang="en-US" sz="1200" b="0" dirty="0">
                <a:solidFill>
                  <a:srgbClr val="2A2A3C"/>
                </a:solidFill>
                <a:latin typeface="Neulis Sans"/>
              </a:rPr>
              <a:t>about</a:t>
            </a:r>
            <a:endParaRPr sz="1200" b="0" dirty="0">
              <a:solidFill>
                <a:srgbClr val="2A2A3C"/>
              </a:solidFill>
              <a:latin typeface="Neulis San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787384" y="1682496"/>
            <a:ext cx="2834640" cy="1847088"/>
          </a:xfrm>
          <a:prstGeom prst="roundRect">
            <a:avLst>
              <a:gd name="adj" fmla="val 9000"/>
            </a:avLst>
          </a:prstGeom>
          <a:solidFill>
            <a:srgbClr val="D1C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06840" y="1865376"/>
            <a:ext cx="2395728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>
                <a:solidFill>
                  <a:srgbClr val="220F60"/>
                </a:solidFill>
                <a:latin typeface="Neulis Sans"/>
              </a:rPr>
              <a:t>RDFS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2450592"/>
            <a:ext cx="246888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>
                <a:solidFill>
                  <a:srgbClr val="2A2A3C"/>
                </a:solidFill>
                <a:latin typeface="Neulis Sans"/>
              </a:rPr>
              <a:t>inference on in the store,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>
                <a:solidFill>
                  <a:srgbClr val="2A2A3C"/>
                </a:solidFill>
                <a:latin typeface="Neulis Sans"/>
              </a:rPr>
              <a:t>so a query reaches the hierarchy</a:t>
            </a:r>
          </a:p>
        </p:txBody>
      </p:sp>
      <p:sp>
        <p:nvSpPr>
          <p:cNvPr id="18" name="Rectangle 17"/>
          <p:cNvSpPr/>
          <p:nvPr/>
        </p:nvSpPr>
        <p:spPr>
          <a:xfrm rot="20921404">
            <a:off x="9230007" y="3168396"/>
            <a:ext cx="559505" cy="27432"/>
          </a:xfrm>
          <a:prstGeom prst="rect">
            <a:avLst/>
          </a:prstGeom>
          <a:solidFill>
            <a:srgbClr val="8B8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 rot="788041">
            <a:off x="9776711" y="3177540"/>
            <a:ext cx="563377" cy="27432"/>
          </a:xfrm>
          <a:prstGeom prst="rect">
            <a:avLst/>
          </a:prstGeom>
          <a:solidFill>
            <a:srgbClr val="8B8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 rot="20704115">
            <a:off x="10323133" y="3168396"/>
            <a:ext cx="567812" cy="27432"/>
          </a:xfrm>
          <a:prstGeom prst="rect">
            <a:avLst/>
          </a:prstGeom>
          <a:solidFill>
            <a:srgbClr val="8B8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153144" y="3154680"/>
            <a:ext cx="164592" cy="164592"/>
          </a:xfrm>
          <a:prstGeom prst="ellipse">
            <a:avLst/>
          </a:prstGeom>
          <a:solidFill>
            <a:srgbClr val="8B8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701784" y="3044952"/>
            <a:ext cx="164592" cy="164592"/>
          </a:xfrm>
          <a:prstGeom prst="ellipse">
            <a:avLst/>
          </a:prstGeom>
          <a:solidFill>
            <a:srgbClr val="DF3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250424" y="3172968"/>
            <a:ext cx="164592" cy="164592"/>
          </a:xfrm>
          <a:prstGeom prst="ellipse">
            <a:avLst/>
          </a:prstGeom>
          <a:solidFill>
            <a:srgbClr val="8B8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799064" y="3026664"/>
            <a:ext cx="164592" cy="164592"/>
          </a:xfrm>
          <a:prstGeom prst="ellipse">
            <a:avLst/>
          </a:prstGeom>
          <a:solidFill>
            <a:srgbClr val="8B8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66928" y="3858768"/>
            <a:ext cx="11055096" cy="310896"/>
          </a:xfrm>
          <a:prstGeom prst="roundRect">
            <a:avLst>
              <a:gd name="adj" fmla="val 30000"/>
            </a:avLst>
          </a:prstGeom>
          <a:solidFill>
            <a:srgbClr val="1B9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8096" y="3858768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Neulis Sans"/>
              </a:rPr>
              <a:t>SEC filings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44368" y="3858768"/>
            <a:ext cx="849477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Neulis Sans"/>
              </a:rPr>
              <a:t>reaches an accession number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242816"/>
            <a:ext cx="11055096" cy="310896"/>
          </a:xfrm>
          <a:prstGeom prst="roundRect">
            <a:avLst>
              <a:gd name="adj" fmla="val 30000"/>
            </a:avLst>
          </a:prstGeom>
          <a:solidFill>
            <a:srgbClr val="37A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68096" y="4242816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Neulis Sans"/>
              </a:rPr>
              <a:t>Patent office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44368" y="4242816"/>
            <a:ext cx="849477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Neulis Sans"/>
              </a:rPr>
              <a:t>a public record, no financial meaning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4626864"/>
            <a:ext cx="11055096" cy="310896"/>
          </a:xfrm>
          <a:prstGeom prst="roundRect">
            <a:avLst>
              <a:gd name="adj" fmla="val 30000"/>
            </a:avLst>
          </a:prstGeom>
          <a:solidFill>
            <a:srgbClr val="FE7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68096" y="4626864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dirty="0">
                <a:solidFill>
                  <a:srgbClr val="FFFFFF"/>
                </a:solidFill>
                <a:latin typeface="Neulis Sans"/>
              </a:rPr>
              <a:t>Licensed vendor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44368" y="4626864"/>
            <a:ext cx="849477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Neulis Sans"/>
              </a:rPr>
              <a:t>carries its own terms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5010912"/>
            <a:ext cx="11055096" cy="310896"/>
          </a:xfrm>
          <a:prstGeom prst="roundRect">
            <a:avLst>
              <a:gd name="adj" fmla="val 30000"/>
            </a:avLst>
          </a:prstGeom>
          <a:solidFill>
            <a:srgbClr val="767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68096" y="5010912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Neulis Sans"/>
              </a:rPr>
              <a:t>Company IR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44368" y="5010912"/>
            <a:ext cx="849477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Neulis Sans"/>
              </a:rPr>
              <a:t>declared in the vocabulary, carried by no node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5413248"/>
            <a:ext cx="11055096" cy="566928"/>
          </a:xfrm>
          <a:prstGeom prst="roundRect">
            <a:avLst>
              <a:gd name="adj" fmla="val 9000"/>
            </a:avLst>
          </a:prstGeom>
          <a:solidFill>
            <a:srgbClr val="220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77824" y="5413248"/>
            <a:ext cx="1043330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Neulis Sans"/>
              </a:rPr>
              <a:t>100% of 6,172,232 internal links dereference. Verification is dereference, not count.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6108192"/>
            <a:ext cx="110550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767492"/>
                </a:solidFill>
                <a:latin typeface="Neulis Sans"/>
              </a:rPr>
              <a:t>Linked, never merged. A merged graph answers the same question and can no longer say which source the answer rests on.</a:t>
            </a:r>
          </a:p>
        </p:txBody>
      </p:sp>
      <p:pic>
        <p:nvPicPr>
          <p:cNvPr id="40" name="Picture 39" descr="graphwise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382512"/>
            <a:ext cx="1133856" cy="25603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223760" y="6409944"/>
            <a:ext cx="43982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767492"/>
                </a:solidFill>
                <a:latin typeface="Neulis Sans"/>
              </a:rPr>
              <a:t>Graphwise  ·  Token Consumption Comparison Experiment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0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 rot="19449741">
            <a:off x="955465" y="1700784"/>
            <a:ext cx="1015148" cy="27432"/>
          </a:xfrm>
          <a:prstGeom prst="rect">
            <a:avLst/>
          </a:prstGeom>
          <a:solidFill>
            <a:srgbClr val="3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 rot="3806097">
            <a:off x="797251" y="2409444"/>
            <a:ext cx="920097" cy="27432"/>
          </a:xfrm>
          <a:prstGeom prst="rect">
            <a:avLst/>
          </a:prstGeom>
          <a:solidFill>
            <a:srgbClr val="3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 rot="6371352">
            <a:off x="930858" y="2112264"/>
            <a:ext cx="1475842" cy="27432"/>
          </a:xfrm>
          <a:prstGeom prst="rect">
            <a:avLst/>
          </a:prstGeom>
          <a:solidFill>
            <a:srgbClr val="3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 rot="2099521">
            <a:off x="10231836" y="2180844"/>
            <a:ext cx="1116167" cy="27432"/>
          </a:xfrm>
          <a:prstGeom prst="rect">
            <a:avLst/>
          </a:prstGeom>
          <a:solidFill>
            <a:srgbClr val="3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 rot="7972734">
            <a:off x="10513200" y="2820924"/>
            <a:ext cx="873479" cy="27432"/>
          </a:xfrm>
          <a:prstGeom prst="rect">
            <a:avLst/>
          </a:prstGeom>
          <a:solidFill>
            <a:srgbClr val="3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4557825">
            <a:off x="9832960" y="2500884"/>
            <a:ext cx="1319558" cy="27432"/>
          </a:xfrm>
          <a:prstGeom prst="rect">
            <a:avLst/>
          </a:prstGeom>
          <a:solidFill>
            <a:srgbClr val="3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 rot="7048466">
            <a:off x="521710" y="3392423"/>
            <a:ext cx="1288298" cy="27432"/>
          </a:xfrm>
          <a:prstGeom prst="rect">
            <a:avLst/>
          </a:prstGeom>
          <a:solidFill>
            <a:srgbClr val="3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 rot="2700000">
            <a:off x="10482319" y="3552444"/>
            <a:ext cx="1163841" cy="27432"/>
          </a:xfrm>
          <a:prstGeom prst="rect">
            <a:avLst/>
          </a:prstGeom>
          <a:solidFill>
            <a:srgbClr val="3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32688" y="1892808"/>
            <a:ext cx="237744" cy="237744"/>
          </a:xfrm>
          <a:prstGeom prst="ellipse">
            <a:avLst/>
          </a:prstGeom>
          <a:solidFill>
            <a:srgbClr val="3D2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755648" y="1298448"/>
            <a:ext cx="237744" cy="237744"/>
          </a:xfrm>
          <a:prstGeom prst="ellipse">
            <a:avLst/>
          </a:prstGeom>
          <a:solidFill>
            <a:srgbClr val="DF3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344168" y="2715768"/>
            <a:ext cx="237744" cy="237744"/>
          </a:xfrm>
          <a:prstGeom prst="ellipse">
            <a:avLst/>
          </a:prstGeom>
          <a:solidFill>
            <a:srgbClr val="3D2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213848" y="1755648"/>
            <a:ext cx="237744" cy="237744"/>
          </a:xfrm>
          <a:prstGeom prst="ellipse">
            <a:avLst/>
          </a:prstGeom>
          <a:solidFill>
            <a:srgbClr val="3D2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128248" y="2395728"/>
            <a:ext cx="237744" cy="237744"/>
          </a:xfrm>
          <a:prstGeom prst="ellipse">
            <a:avLst/>
          </a:prstGeom>
          <a:solidFill>
            <a:srgbClr val="DF3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533888" y="3035808"/>
            <a:ext cx="237744" cy="237744"/>
          </a:xfrm>
          <a:prstGeom prst="ellipse">
            <a:avLst/>
          </a:prstGeom>
          <a:solidFill>
            <a:srgbClr val="3D2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49808" y="3858768"/>
            <a:ext cx="237744" cy="237744"/>
          </a:xfrm>
          <a:prstGeom prst="ellipse">
            <a:avLst/>
          </a:prstGeom>
          <a:solidFill>
            <a:srgbClr val="3D2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356848" y="3858768"/>
            <a:ext cx="237744" cy="237744"/>
          </a:xfrm>
          <a:prstGeom prst="ellipse">
            <a:avLst/>
          </a:prstGeom>
          <a:solidFill>
            <a:srgbClr val="3D2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graphwise-logo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512064"/>
            <a:ext cx="1819656" cy="4114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66928" y="1225296"/>
            <a:ext cx="110550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DF367C"/>
                </a:solidFill>
                <a:latin typeface="Neulis Sans"/>
              </a:rPr>
              <a:t>THE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1554480"/>
            <a:ext cx="11055096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3000" b="1">
                <a:solidFill>
                  <a:srgbClr val="FFFFFF"/>
                </a:solidFill>
                <a:latin typeface="Neulis Sans"/>
              </a:rPr>
              <a:t>A semantically grounded knowledge graph in GraphDB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304288"/>
            <a:ext cx="11055096" cy="1152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200" b="1">
                <a:solidFill>
                  <a:srgbClr val="FFFFFF"/>
                </a:solidFill>
                <a:latin typeface="Neulis Sans"/>
              </a:rPr>
              <a:t>74,837,123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493008"/>
            <a:ext cx="1105509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0">
                <a:solidFill>
                  <a:srgbClr val="C6BEE6"/>
                </a:solidFill>
                <a:latin typeface="Neulis Sans"/>
              </a:rPr>
              <a:t>explicit statements across 34 named graphs, structured tables and unstructured documents in one store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005072"/>
            <a:ext cx="2642616" cy="1060704"/>
          </a:xfrm>
          <a:prstGeom prst="roundRect">
            <a:avLst>
              <a:gd name="adj" fmla="val 9000"/>
            </a:avLst>
          </a:prstGeom>
          <a:solidFill>
            <a:srgbClr val="1B9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9808" y="4151376"/>
            <a:ext cx="2276856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Neulis Sans"/>
              </a:rPr>
              <a:t>3,098,963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645152"/>
            <a:ext cx="227685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FFFFFF"/>
                </a:solidFill>
                <a:latin typeface="Neulis Sans"/>
              </a:rPr>
              <a:t>financial facts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74136" y="4005072"/>
            <a:ext cx="2642616" cy="1060704"/>
          </a:xfrm>
          <a:prstGeom prst="roundRect">
            <a:avLst>
              <a:gd name="adj" fmla="val 9000"/>
            </a:avLst>
          </a:prstGeom>
          <a:solidFill>
            <a:srgbClr val="37A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557016" y="4151376"/>
            <a:ext cx="2276856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Neulis Sans"/>
              </a:rPr>
              <a:t>139,260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57016" y="4645152"/>
            <a:ext cx="227685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FFFFFF"/>
                </a:solidFill>
                <a:latin typeface="Neulis Sans"/>
              </a:rPr>
              <a:t>narrative documents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4005072"/>
            <a:ext cx="2642616" cy="1060704"/>
          </a:xfrm>
          <a:prstGeom prst="roundRect">
            <a:avLst>
              <a:gd name="adj" fmla="val 9000"/>
            </a:avLst>
          </a:prstGeom>
          <a:solidFill>
            <a:srgbClr val="8B8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64224" y="4151376"/>
            <a:ext cx="2276856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Neulis Sans"/>
              </a:rPr>
              <a:t>323,478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64224" y="4645152"/>
            <a:ext cx="227685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FFFFFF"/>
                </a:solidFill>
                <a:latin typeface="Neulis Sans"/>
              </a:rPr>
              <a:t>retrieval passages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79408" y="4005072"/>
            <a:ext cx="2642616" cy="1060704"/>
          </a:xfrm>
          <a:prstGeom prst="roundRect">
            <a:avLst>
              <a:gd name="adj" fmla="val 9000"/>
            </a:avLst>
          </a:prstGeom>
          <a:solidFill>
            <a:srgbClr val="FE7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62288" y="4151376"/>
            <a:ext cx="2276856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Neulis Sans"/>
              </a:rPr>
              <a:t>937,967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62288" y="4645152"/>
            <a:ext cx="227685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FFFFFF"/>
                </a:solidFill>
                <a:latin typeface="Neulis Sans"/>
              </a:rPr>
              <a:t>concept annotations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5248656"/>
            <a:ext cx="5440680" cy="548640"/>
          </a:xfrm>
          <a:prstGeom prst="roundRect">
            <a:avLst>
              <a:gd name="adj" fmla="val 9000"/>
            </a:avLst>
          </a:prstGeom>
          <a:solidFill>
            <a:srgbClr val="3D2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768096" y="5431536"/>
            <a:ext cx="182880" cy="182880"/>
          </a:xfrm>
          <a:prstGeom prst="ellipse">
            <a:avLst/>
          </a:prstGeom>
          <a:solidFill>
            <a:srgbClr val="DF3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97280" y="5248656"/>
            <a:ext cx="47091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Neulis Sans"/>
              </a:rPr>
              <a:t>Full-text index, native to the store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81344" y="5248656"/>
            <a:ext cx="5440680" cy="548640"/>
          </a:xfrm>
          <a:prstGeom prst="roundRect">
            <a:avLst>
              <a:gd name="adj" fmla="val 9000"/>
            </a:avLst>
          </a:prstGeom>
          <a:solidFill>
            <a:srgbClr val="3D2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382512" y="5431536"/>
            <a:ext cx="182880" cy="182880"/>
          </a:xfrm>
          <a:prstGeom prst="ellipse">
            <a:avLst/>
          </a:prstGeom>
          <a:solidFill>
            <a:srgbClr val="DF3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711696" y="5248656"/>
            <a:ext cx="47091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Neulis Sans"/>
              </a:rPr>
              <a:t>Similarity index, native to the store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5961888"/>
            <a:ext cx="110550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C6BEE6"/>
                </a:solidFill>
                <a:latin typeface="Neulis Sans"/>
              </a:rPr>
              <a:t>No external vector store. No embedding service. Both indexes are built by the database over the text it already holds.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0" y="6409944"/>
            <a:ext cx="43982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C6BEE6"/>
                </a:solidFill>
                <a:latin typeface="Neulis Sans"/>
              </a:rPr>
              <a:t>Graphwise  ·  Token Consumption Comparison Experiment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57200"/>
            <a:ext cx="110550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DF367C"/>
                </a:solidFill>
                <a:latin typeface="Neulis Sans"/>
              </a:rPr>
              <a:t>THE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68096"/>
            <a:ext cx="1105509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200" b="1">
                <a:solidFill>
                  <a:srgbClr val="220F60"/>
                </a:solidFill>
                <a:latin typeface="Neulis Sans"/>
              </a:rPr>
              <a:t>11 questions, 11 different ways into the graph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26464"/>
            <a:ext cx="1188720" cy="64008"/>
          </a:xfrm>
          <a:prstGeom prst="rect">
            <a:avLst/>
          </a:prstGeom>
          <a:solidFill>
            <a:srgbClr val="DF3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6928" y="1719072"/>
            <a:ext cx="1719072" cy="1773936"/>
          </a:xfrm>
          <a:prstGeom prst="roundRect">
            <a:avLst>
              <a:gd name="adj" fmla="val 9000"/>
            </a:avLst>
          </a:prstGeom>
          <a:solidFill>
            <a:schemeClr val="accent2">
              <a:lumMod val="40000"/>
              <a:lumOff val="60000"/>
            </a:schemeClr>
          </a:solidFill>
          <a:ln w="158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79576" y="1883664"/>
            <a:ext cx="493776" cy="493776"/>
          </a:xfrm>
          <a:prstGeom prst="ellipse">
            <a:avLst/>
          </a:prstGeom>
          <a:solidFill>
            <a:srgbClr val="1B9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79576" y="1883664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Neulis Sa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2468879"/>
            <a:ext cx="14630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100"/>
              </a:spcAft>
            </a:pPr>
            <a:r>
              <a:rPr sz="1250" b="1">
                <a:solidFill>
                  <a:srgbClr val="220F60"/>
                </a:solidFill>
                <a:latin typeface="Neulis Sans"/>
              </a:rPr>
              <a:t>One number,</a:t>
            </a:r>
          </a:p>
          <a:p>
            <a:pPr algn="ctr">
              <a:lnSpc>
                <a:spcPct val="104000"/>
              </a:lnSpc>
              <a:spcAft>
                <a:spcPts val="100"/>
              </a:spcAft>
            </a:pPr>
            <a:r>
              <a:rPr sz="1250" b="1">
                <a:solidFill>
                  <a:srgbClr val="220F60"/>
                </a:solidFill>
                <a:latin typeface="Neulis Sans"/>
              </a:rPr>
              <a:t>from one filing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3163824"/>
            <a:ext cx="146303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0">
                <a:solidFill>
                  <a:srgbClr val="767492"/>
                </a:solidFill>
                <a:latin typeface="Neulis Sans"/>
              </a:rPr>
              <a:t>balance sheet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32304" y="1719072"/>
            <a:ext cx="1719072" cy="1773936"/>
          </a:xfrm>
          <a:prstGeom prst="roundRect">
            <a:avLst>
              <a:gd name="adj" fmla="val 9000"/>
            </a:avLst>
          </a:prstGeom>
          <a:solidFill>
            <a:schemeClr val="accent2">
              <a:lumMod val="40000"/>
              <a:lumOff val="60000"/>
            </a:schemeClr>
          </a:solidFill>
          <a:ln w="158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044952" y="1883664"/>
            <a:ext cx="493776" cy="493776"/>
          </a:xfrm>
          <a:prstGeom prst="ellipse">
            <a:avLst/>
          </a:prstGeom>
          <a:solidFill>
            <a:srgbClr val="37A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44952" y="1883664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Neulis Sa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468879"/>
            <a:ext cx="14630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100"/>
              </a:spcAft>
            </a:pPr>
            <a:r>
              <a:rPr sz="1250" b="1">
                <a:solidFill>
                  <a:srgbClr val="220F60"/>
                </a:solidFill>
                <a:latin typeface="Neulis Sans"/>
              </a:rPr>
              <a:t>A whole narrative</a:t>
            </a:r>
          </a:p>
          <a:p>
            <a:pPr algn="ctr">
              <a:lnSpc>
                <a:spcPct val="104000"/>
              </a:lnSpc>
              <a:spcAft>
                <a:spcPts val="100"/>
              </a:spcAft>
            </a:pPr>
            <a:r>
              <a:rPr sz="1250" b="1">
                <a:solidFill>
                  <a:srgbClr val="220F60"/>
                </a:solidFill>
                <a:latin typeface="Neulis Sans"/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163824"/>
            <a:ext cx="146303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0">
                <a:solidFill>
                  <a:srgbClr val="767492"/>
                </a:solidFill>
                <a:latin typeface="Neulis Sans"/>
              </a:rPr>
              <a:t>risk factors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719072"/>
            <a:ext cx="1719072" cy="1773936"/>
          </a:xfrm>
          <a:prstGeom prst="roundRect">
            <a:avLst>
              <a:gd name="adj" fmla="val 9000"/>
            </a:avLst>
          </a:prstGeom>
          <a:solidFill>
            <a:schemeClr val="accent2">
              <a:lumMod val="40000"/>
              <a:lumOff val="60000"/>
            </a:schemeClr>
          </a:solidFill>
          <a:ln w="158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910328" y="1883664"/>
            <a:ext cx="493776" cy="493776"/>
          </a:xfrm>
          <a:prstGeom prst="ellipse">
            <a:avLst/>
          </a:prstGeom>
          <a:solidFill>
            <a:srgbClr val="A2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10328" y="1883664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Neulis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5696" y="2468879"/>
            <a:ext cx="14630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100"/>
              </a:spcAft>
            </a:pPr>
            <a:r>
              <a:rPr sz="1250" b="1">
                <a:solidFill>
                  <a:srgbClr val="220F60"/>
                </a:solidFill>
                <a:latin typeface="Neulis Sans"/>
              </a:rPr>
              <a:t>A corpus-wide</a:t>
            </a:r>
          </a:p>
          <a:p>
            <a:pPr algn="ctr">
              <a:lnSpc>
                <a:spcPct val="104000"/>
              </a:lnSpc>
              <a:spcAft>
                <a:spcPts val="100"/>
              </a:spcAft>
            </a:pPr>
            <a:r>
              <a:rPr sz="1250" b="1">
                <a:solidFill>
                  <a:srgbClr val="220F60"/>
                </a:solidFill>
                <a:latin typeface="Neulis Sans"/>
              </a:rPr>
              <a:t>tagged scan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5696" y="3163824"/>
            <a:ext cx="146303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0">
                <a:solidFill>
                  <a:srgbClr val="767492"/>
                </a:solidFill>
                <a:latin typeface="Neulis Sans"/>
              </a:rPr>
              <a:t>311 filings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3056" y="1719072"/>
            <a:ext cx="1719072" cy="1773936"/>
          </a:xfrm>
          <a:prstGeom prst="roundRect">
            <a:avLst>
              <a:gd name="adj" fmla="val 9000"/>
            </a:avLst>
          </a:prstGeom>
          <a:solidFill>
            <a:schemeClr val="accent2">
              <a:lumMod val="40000"/>
              <a:lumOff val="60000"/>
            </a:schemeClr>
          </a:solidFill>
          <a:ln w="158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775704" y="1883664"/>
            <a:ext cx="493776" cy="493776"/>
          </a:xfrm>
          <a:prstGeom prst="ellipse">
            <a:avLst/>
          </a:prstGeom>
          <a:solidFill>
            <a:srgbClr val="8B8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75704" y="1883664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Neulis San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1072" y="2468879"/>
            <a:ext cx="14630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100"/>
              </a:spcAft>
            </a:pPr>
            <a:r>
              <a:rPr sz="1250" b="1">
                <a:solidFill>
                  <a:srgbClr val="220F60"/>
                </a:solidFill>
                <a:latin typeface="Neulis Sans"/>
              </a:rPr>
              <a:t>Numbers and prose</a:t>
            </a:r>
          </a:p>
          <a:p>
            <a:pPr algn="ctr">
              <a:lnSpc>
                <a:spcPct val="104000"/>
              </a:lnSpc>
              <a:spcAft>
                <a:spcPts val="100"/>
              </a:spcAft>
            </a:pPr>
            <a:r>
              <a:rPr sz="1250" b="1">
                <a:solidFill>
                  <a:srgbClr val="220F60"/>
                </a:solidFill>
                <a:latin typeface="Neulis Sans"/>
              </a:rPr>
              <a:t>in one answer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2" y="3163824"/>
            <a:ext cx="146303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0">
                <a:solidFill>
                  <a:srgbClr val="767492"/>
                </a:solidFill>
                <a:latin typeface="Neulis Sans"/>
              </a:rPr>
              <a:t>both halves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1" y="1719072"/>
            <a:ext cx="1719072" cy="1773936"/>
          </a:xfrm>
          <a:prstGeom prst="roundRect">
            <a:avLst>
              <a:gd name="adj" fmla="val 9000"/>
            </a:avLst>
          </a:prstGeom>
          <a:solidFill>
            <a:schemeClr val="accent2">
              <a:lumMod val="40000"/>
              <a:lumOff val="60000"/>
            </a:schemeClr>
          </a:solidFill>
          <a:ln w="158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641080" y="1883664"/>
            <a:ext cx="493776" cy="493776"/>
          </a:xfrm>
          <a:prstGeom prst="ellipse">
            <a:avLst/>
          </a:prstGeom>
          <a:solidFill>
            <a:srgbClr val="FE7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41080" y="1883664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Neulis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56448" y="2468879"/>
            <a:ext cx="14630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100"/>
              </a:spcAft>
            </a:pPr>
            <a:r>
              <a:rPr sz="1250" b="1">
                <a:solidFill>
                  <a:srgbClr val="220F60"/>
                </a:solidFill>
                <a:latin typeface="Neulis Sans"/>
              </a:rPr>
              <a:t>Three layers,</a:t>
            </a:r>
          </a:p>
          <a:p>
            <a:pPr algn="ctr">
              <a:lnSpc>
                <a:spcPct val="104000"/>
              </a:lnSpc>
              <a:spcAft>
                <a:spcPts val="100"/>
              </a:spcAft>
            </a:pPr>
            <a:r>
              <a:rPr sz="1250" b="1">
                <a:solidFill>
                  <a:srgbClr val="220F60"/>
                </a:solidFill>
                <a:latin typeface="Neulis Sans"/>
              </a:rPr>
              <a:t>one company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56448" y="3163824"/>
            <a:ext cx="146303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0">
                <a:solidFill>
                  <a:srgbClr val="767492"/>
                </a:solidFill>
                <a:latin typeface="Neulis Sans"/>
              </a:rPr>
              <a:t>join across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93807" y="1719072"/>
            <a:ext cx="1719072" cy="1773936"/>
          </a:xfrm>
          <a:prstGeom prst="roundRect">
            <a:avLst>
              <a:gd name="adj" fmla="val 9000"/>
            </a:avLst>
          </a:prstGeom>
          <a:solidFill>
            <a:schemeClr val="accent2">
              <a:lumMod val="40000"/>
              <a:lumOff val="60000"/>
            </a:schemeClr>
          </a:solidFill>
          <a:ln w="158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506455" y="1883664"/>
            <a:ext cx="493776" cy="493776"/>
          </a:xfrm>
          <a:prstGeom prst="ellipse">
            <a:avLst/>
          </a:prstGeom>
          <a:solidFill>
            <a:srgbClr val="3B5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506455" y="1883664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Neulis San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21824" y="2468879"/>
            <a:ext cx="14630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100"/>
              </a:spcAft>
            </a:pPr>
            <a:r>
              <a:rPr sz="1250" b="1">
                <a:solidFill>
                  <a:srgbClr val="220F60"/>
                </a:solidFill>
                <a:latin typeface="Neulis Sans"/>
              </a:rPr>
              <a:t>Vendor measures,</a:t>
            </a:r>
          </a:p>
          <a:p>
            <a:pPr algn="ctr">
              <a:lnSpc>
                <a:spcPct val="104000"/>
              </a:lnSpc>
              <a:spcAft>
                <a:spcPts val="100"/>
              </a:spcAft>
            </a:pPr>
            <a:r>
              <a:rPr sz="1250" b="1">
                <a:solidFill>
                  <a:srgbClr val="220F60"/>
                </a:solidFill>
                <a:latin typeface="Neulis Sans"/>
              </a:rPr>
              <a:t>not filed ones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21824" y="3163824"/>
            <a:ext cx="146303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0">
                <a:solidFill>
                  <a:srgbClr val="767492"/>
                </a:solidFill>
                <a:latin typeface="Neulis Sans"/>
              </a:rPr>
              <a:t>market data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504188" y="3547872"/>
            <a:ext cx="1719072" cy="1773936"/>
          </a:xfrm>
          <a:prstGeom prst="roundRect">
            <a:avLst>
              <a:gd name="adj" fmla="val 9000"/>
            </a:avLst>
          </a:prstGeom>
          <a:solidFill>
            <a:schemeClr val="accent2">
              <a:lumMod val="40000"/>
              <a:lumOff val="60000"/>
            </a:schemeClr>
          </a:solidFill>
          <a:ln w="158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2116836" y="3712463"/>
            <a:ext cx="493776" cy="493776"/>
          </a:xfrm>
          <a:prstGeom prst="ellipse">
            <a:avLst/>
          </a:prstGeom>
          <a:solidFill>
            <a:srgbClr val="1B9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116836" y="3712463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Neulis Sans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32204" y="4297680"/>
            <a:ext cx="14630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100"/>
              </a:spcAft>
            </a:pPr>
            <a:r>
              <a:rPr sz="1250" b="1">
                <a:solidFill>
                  <a:srgbClr val="220F60"/>
                </a:solidFill>
                <a:latin typeface="Neulis Sans"/>
              </a:rPr>
              <a:t>Patents by</a:t>
            </a:r>
          </a:p>
          <a:p>
            <a:pPr algn="ctr">
              <a:lnSpc>
                <a:spcPct val="104000"/>
              </a:lnSpc>
              <a:spcAft>
                <a:spcPts val="100"/>
              </a:spcAft>
            </a:pPr>
            <a:r>
              <a:rPr sz="1250" b="1">
                <a:solidFill>
                  <a:srgbClr val="220F60"/>
                </a:solidFill>
                <a:latin typeface="Neulis Sans"/>
              </a:rPr>
              <a:t>technology area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32204" y="4992624"/>
            <a:ext cx="146303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0">
                <a:solidFill>
                  <a:srgbClr val="767492"/>
                </a:solidFill>
                <a:latin typeface="Neulis Sans"/>
              </a:rPr>
              <a:t>no filing says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69564" y="3547872"/>
            <a:ext cx="1719072" cy="1773936"/>
          </a:xfrm>
          <a:prstGeom prst="roundRect">
            <a:avLst>
              <a:gd name="adj" fmla="val 9000"/>
            </a:avLst>
          </a:prstGeom>
          <a:solidFill>
            <a:schemeClr val="accent2">
              <a:lumMod val="40000"/>
              <a:lumOff val="60000"/>
            </a:schemeClr>
          </a:solidFill>
          <a:ln w="158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3982212" y="3712463"/>
            <a:ext cx="493776" cy="493776"/>
          </a:xfrm>
          <a:prstGeom prst="ellipse">
            <a:avLst/>
          </a:prstGeom>
          <a:solidFill>
            <a:srgbClr val="37A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982212" y="3712463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Neulis Sans"/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97580" y="4297680"/>
            <a:ext cx="14630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100"/>
              </a:spcAft>
            </a:pPr>
            <a:r>
              <a:rPr sz="1250" b="1">
                <a:solidFill>
                  <a:srgbClr val="220F60"/>
                </a:solidFill>
                <a:latin typeface="Neulis Sans"/>
              </a:rPr>
              <a:t>What a company</a:t>
            </a:r>
          </a:p>
          <a:p>
            <a:pPr algn="ctr">
              <a:lnSpc>
                <a:spcPct val="104000"/>
              </a:lnSpc>
              <a:spcAft>
                <a:spcPts val="100"/>
              </a:spcAft>
            </a:pPr>
            <a:r>
              <a:rPr sz="1250" b="1">
                <a:solidFill>
                  <a:srgbClr val="220F60"/>
                </a:solidFill>
                <a:latin typeface="Neulis Sans"/>
              </a:rPr>
              <a:t>actually trades as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97580" y="4992624"/>
            <a:ext cx="146303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0">
                <a:solidFill>
                  <a:srgbClr val="767492"/>
                </a:solidFill>
                <a:latin typeface="Neulis Sans"/>
              </a:rPr>
              <a:t>one silo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234940" y="3547872"/>
            <a:ext cx="1719072" cy="1773936"/>
          </a:xfrm>
          <a:prstGeom prst="roundRect">
            <a:avLst>
              <a:gd name="adj" fmla="val 9000"/>
            </a:avLst>
          </a:prstGeom>
          <a:solidFill>
            <a:schemeClr val="accent2">
              <a:lumMod val="40000"/>
              <a:lumOff val="60000"/>
            </a:schemeClr>
          </a:solidFill>
          <a:ln w="158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5847588" y="3712463"/>
            <a:ext cx="493776" cy="493776"/>
          </a:xfrm>
          <a:prstGeom prst="ellipse">
            <a:avLst/>
          </a:prstGeom>
          <a:solidFill>
            <a:srgbClr val="A2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847588" y="3712463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Neulis Sans"/>
              </a:rPr>
              <a:t>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62956" y="4297680"/>
            <a:ext cx="14630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100"/>
              </a:spcAft>
            </a:pPr>
            <a:r>
              <a:rPr sz="1250" b="1">
                <a:solidFill>
                  <a:srgbClr val="220F60"/>
                </a:solidFill>
                <a:latin typeface="Neulis Sans"/>
              </a:rPr>
              <a:t>Who runs</a:t>
            </a:r>
          </a:p>
          <a:p>
            <a:pPr algn="ctr">
              <a:lnSpc>
                <a:spcPct val="104000"/>
              </a:lnSpc>
              <a:spcAft>
                <a:spcPts val="100"/>
              </a:spcAft>
            </a:pPr>
            <a:r>
              <a:rPr sz="1250" b="1">
                <a:solidFill>
                  <a:srgbClr val="220F60"/>
                </a:solidFill>
                <a:latin typeface="Neulis Sans"/>
              </a:rPr>
              <a:t>the company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62956" y="4992624"/>
            <a:ext cx="146303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0">
                <a:solidFill>
                  <a:srgbClr val="767492"/>
                </a:solidFill>
                <a:latin typeface="Neulis Sans"/>
              </a:rPr>
              <a:t>named officers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100316" y="3547872"/>
            <a:ext cx="1719072" cy="1773936"/>
          </a:xfrm>
          <a:prstGeom prst="roundRect">
            <a:avLst>
              <a:gd name="adj" fmla="val 9000"/>
            </a:avLst>
          </a:prstGeom>
          <a:solidFill>
            <a:schemeClr val="accent2">
              <a:lumMod val="40000"/>
              <a:lumOff val="60000"/>
            </a:schemeClr>
          </a:solidFill>
          <a:ln w="158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7712964" y="3712463"/>
            <a:ext cx="493776" cy="493776"/>
          </a:xfrm>
          <a:prstGeom prst="ellipse">
            <a:avLst/>
          </a:prstGeom>
          <a:solidFill>
            <a:srgbClr val="8B8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712964" y="3712463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Neulis Sans"/>
              </a:rPr>
              <a:t>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28332" y="4297680"/>
            <a:ext cx="14630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100"/>
              </a:spcAft>
            </a:pPr>
            <a:r>
              <a:rPr sz="1250" b="1">
                <a:solidFill>
                  <a:srgbClr val="220F60"/>
                </a:solidFill>
                <a:latin typeface="Neulis Sans"/>
              </a:rPr>
              <a:t>The same fact,</a:t>
            </a:r>
          </a:p>
          <a:p>
            <a:pPr algn="ctr">
              <a:lnSpc>
                <a:spcPct val="104000"/>
              </a:lnSpc>
              <a:spcAft>
                <a:spcPts val="100"/>
              </a:spcAft>
            </a:pPr>
            <a:r>
              <a:rPr sz="1250" b="1">
                <a:solidFill>
                  <a:srgbClr val="220F60"/>
                </a:solidFill>
                <a:latin typeface="Neulis Sans"/>
              </a:rPr>
              <a:t>two silos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28332" y="4992624"/>
            <a:ext cx="146303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0">
                <a:solidFill>
                  <a:srgbClr val="767492"/>
                </a:solidFill>
                <a:latin typeface="Neulis Sans"/>
              </a:rPr>
              <a:t>do they agree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965692" y="3547872"/>
            <a:ext cx="1719072" cy="1773936"/>
          </a:xfrm>
          <a:prstGeom prst="roundRect">
            <a:avLst>
              <a:gd name="adj" fmla="val 9000"/>
            </a:avLst>
          </a:prstGeom>
          <a:solidFill>
            <a:schemeClr val="accent2">
              <a:lumMod val="40000"/>
              <a:lumOff val="60000"/>
            </a:schemeClr>
          </a:solidFill>
          <a:ln w="158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9578340" y="3712463"/>
            <a:ext cx="493776" cy="493776"/>
          </a:xfrm>
          <a:prstGeom prst="ellipse">
            <a:avLst/>
          </a:prstGeom>
          <a:solidFill>
            <a:srgbClr val="FE7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578340" y="3712463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Neulis Sans"/>
              </a:rPr>
              <a:t>11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93708" y="4297680"/>
            <a:ext cx="14630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100"/>
              </a:spcAft>
            </a:pPr>
            <a:r>
              <a:rPr sz="1250" b="1">
                <a:solidFill>
                  <a:srgbClr val="220F60"/>
                </a:solidFill>
                <a:latin typeface="Neulis Sans"/>
              </a:rPr>
              <a:t>Four sources,</a:t>
            </a:r>
          </a:p>
          <a:p>
            <a:pPr algn="ctr">
              <a:lnSpc>
                <a:spcPct val="104000"/>
              </a:lnSpc>
              <a:spcAft>
                <a:spcPts val="100"/>
              </a:spcAft>
            </a:pPr>
            <a:r>
              <a:rPr sz="1250" b="1">
                <a:solidFill>
                  <a:srgbClr val="220F60"/>
                </a:solidFill>
                <a:latin typeface="Neulis Sans"/>
              </a:rPr>
              <a:t>no agreement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93708" y="4992624"/>
            <a:ext cx="146303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0">
                <a:solidFill>
                  <a:srgbClr val="767492"/>
                </a:solidFill>
                <a:latin typeface="Neulis Sans"/>
              </a:rPr>
              <a:t>disagreement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66928" y="5705856"/>
            <a:ext cx="11055096" cy="493776"/>
          </a:xfrm>
          <a:prstGeom prst="roundRect">
            <a:avLst>
              <a:gd name="adj" fmla="val 9000"/>
            </a:avLst>
          </a:prstGeom>
          <a:solidFill>
            <a:srgbClr val="220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77824" y="5705856"/>
            <a:ext cx="10433304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Neulis Sans"/>
              </a:rPr>
              <a:t>One number. A whole section. A corpus-wide scan. Three layers at once. And four sources that disagree.</a:t>
            </a:r>
          </a:p>
        </p:txBody>
      </p:sp>
      <p:pic>
        <p:nvPicPr>
          <p:cNvPr id="63" name="Picture 62" descr="graphwise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382512"/>
            <a:ext cx="1133856" cy="256032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7223760" y="6409944"/>
            <a:ext cx="43982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767492"/>
                </a:solidFill>
                <a:latin typeface="Neulis Sans"/>
              </a:rPr>
              <a:t>Graphwise  ·  Token Consumption Comparison Experiment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57200"/>
            <a:ext cx="110550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DF367C"/>
                </a:solidFill>
                <a:latin typeface="Neulis Sans"/>
              </a:rPr>
              <a:t>THE MEASUREMENT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68096"/>
            <a:ext cx="1105509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200" b="1">
                <a:solidFill>
                  <a:srgbClr val="220F60"/>
                </a:solidFill>
                <a:latin typeface="Neulis Sans"/>
              </a:rPr>
              <a:t>Retrieved evidence to answer all 11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26464"/>
            <a:ext cx="1188720" cy="64008"/>
          </a:xfrm>
          <a:prstGeom prst="rect">
            <a:avLst/>
          </a:prstGeom>
          <a:solidFill>
            <a:srgbClr val="DF3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773936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220F60"/>
                </a:solidFill>
                <a:latin typeface="Neulis Sans"/>
              </a:rPr>
              <a:t>Context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220F60"/>
                </a:solidFill>
                <a:latin typeface="Neulis Sans"/>
              </a:rPr>
              <a:t>stuffing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322576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767492"/>
                </a:solidFill>
                <a:latin typeface="Neulis Sans"/>
              </a:rPr>
              <a:t>every document in the 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2487168" y="1755648"/>
            <a:ext cx="9134856" cy="896112"/>
          </a:xfrm>
          <a:prstGeom prst="rect">
            <a:avLst/>
          </a:prstGeom>
          <a:solidFill>
            <a:srgbClr val="F2F2FA"/>
          </a:solidFill>
          <a:ln w="15875">
            <a:solidFill>
              <a:srgbClr val="3B5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487168" y="1755648"/>
            <a:ext cx="9134856" cy="896112"/>
          </a:xfrm>
          <a:prstGeom prst="rect">
            <a:avLst/>
          </a:prstGeom>
          <a:solidFill>
            <a:schemeClr val="accent2"/>
          </a:solidFill>
          <a:ln w="158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61488" y="1755648"/>
            <a:ext cx="8586216" cy="8961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FFFFFF"/>
                </a:solidFill>
                <a:latin typeface="Neulis Sans"/>
              </a:rPr>
              <a:t>4,048,224 tokens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054096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220F60"/>
                </a:solidFill>
                <a:latin typeface="Neulis Sans"/>
              </a:rPr>
              <a:t>Knowledge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220F60"/>
                </a:solidFill>
                <a:latin typeface="Neulis Sans"/>
              </a:rPr>
              <a:t>graph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602736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767492"/>
                </a:solidFill>
                <a:latin typeface="Neulis Sans"/>
              </a:rPr>
              <a:t>only the evidence the question needs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87168" y="3035808"/>
            <a:ext cx="9134856" cy="896112"/>
          </a:xfrm>
          <a:prstGeom prst="rect">
            <a:avLst/>
          </a:prstGeom>
          <a:solidFill>
            <a:srgbClr val="F2F2FA"/>
          </a:solidFill>
          <a:ln w="158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487168" y="3035808"/>
            <a:ext cx="168665" cy="896112"/>
          </a:xfrm>
          <a:prstGeom prst="rect">
            <a:avLst/>
          </a:prstGeom>
          <a:solidFill>
            <a:schemeClr val="accent2"/>
          </a:solidFill>
          <a:ln w="158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57001" y="3035808"/>
            <a:ext cx="4937760" cy="896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220F60"/>
                </a:solidFill>
                <a:latin typeface="Neulis Sans"/>
              </a:rPr>
              <a:t>74,746 tokens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87168" y="4005072"/>
            <a:ext cx="913485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767492"/>
                </a:solidFill>
                <a:latin typeface="Neulis Sans"/>
              </a:rPr>
              <a:t>Both bars are drawn to the same scale, inside the same channel.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87168" y="4242816"/>
            <a:ext cx="9134856" cy="969264"/>
          </a:xfrm>
          <a:prstGeom prst="roundRect">
            <a:avLst>
              <a:gd name="adj" fmla="val 9000"/>
            </a:avLst>
          </a:prstGeom>
          <a:solidFill>
            <a:srgbClr val="220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98064" y="4242816"/>
            <a:ext cx="8513064" cy="9692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DF367C"/>
                </a:solidFill>
                <a:latin typeface="Neulis Sans"/>
              </a:rPr>
              <a:t>54.2x</a:t>
            </a:r>
            <a:r>
              <a:rPr sz="1800" b="1">
                <a:solidFill>
                  <a:srgbClr val="FFFFFF"/>
                </a:solidFill>
                <a:latin typeface="Neulis Sans"/>
              </a:rPr>
              <a:t>   less retrieved evidence to reach a grounded answer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87168" y="5541264"/>
            <a:ext cx="9134856" cy="91440"/>
          </a:xfrm>
          <a:prstGeom prst="rect">
            <a:avLst/>
          </a:prstGeom>
          <a:solidFill>
            <a:srgbClr val="F2F2FA"/>
          </a:solidFill>
          <a:ln w="12700">
            <a:solidFill>
              <a:srgbClr val="3B5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574731" y="5422392"/>
            <a:ext cx="91440" cy="329184"/>
          </a:xfrm>
          <a:prstGeom prst="rect">
            <a:avLst/>
          </a:prstGeom>
          <a:solidFill>
            <a:srgbClr val="DF3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814934" y="5422392"/>
            <a:ext cx="91440" cy="329184"/>
          </a:xfrm>
          <a:prstGeom prst="rect">
            <a:avLst/>
          </a:prstGeom>
          <a:solidFill>
            <a:srgbClr val="DF3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802428" y="5422392"/>
            <a:ext cx="91440" cy="329184"/>
          </a:xfrm>
          <a:prstGeom prst="rect">
            <a:avLst/>
          </a:prstGeom>
          <a:solidFill>
            <a:srgbClr val="DF3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735548" y="5422392"/>
            <a:ext cx="91440" cy="329184"/>
          </a:xfrm>
          <a:prstGeom prst="rect">
            <a:avLst/>
          </a:prstGeom>
          <a:solidFill>
            <a:srgbClr val="DF3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277569" y="5422392"/>
            <a:ext cx="91440" cy="329184"/>
          </a:xfrm>
          <a:prstGeom prst="rect">
            <a:avLst/>
          </a:prstGeom>
          <a:solidFill>
            <a:srgbClr val="DF3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487168" y="5422392"/>
            <a:ext cx="91440" cy="329184"/>
          </a:xfrm>
          <a:prstGeom prst="rect">
            <a:avLst/>
          </a:prstGeom>
          <a:solidFill>
            <a:srgbClr val="DF3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40348" y="5422392"/>
            <a:ext cx="91440" cy="329184"/>
          </a:xfrm>
          <a:prstGeom prst="rect">
            <a:avLst/>
          </a:prstGeom>
          <a:solidFill>
            <a:srgbClr val="DF3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633995" y="5422392"/>
            <a:ext cx="91440" cy="329184"/>
          </a:xfrm>
          <a:prstGeom prst="rect">
            <a:avLst/>
          </a:prstGeom>
          <a:solidFill>
            <a:srgbClr val="DF3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029880" y="5422392"/>
            <a:ext cx="91440" cy="329184"/>
          </a:xfrm>
          <a:prstGeom prst="rect">
            <a:avLst/>
          </a:prstGeom>
          <a:solidFill>
            <a:srgbClr val="DF3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311159" y="5422392"/>
            <a:ext cx="91440" cy="329184"/>
          </a:xfrm>
          <a:prstGeom prst="rect">
            <a:avLst/>
          </a:prstGeom>
          <a:solidFill>
            <a:srgbClr val="DF3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1530584" y="5422392"/>
            <a:ext cx="91440" cy="329184"/>
          </a:xfrm>
          <a:prstGeom prst="rect">
            <a:avLst/>
          </a:prstGeom>
          <a:solidFill>
            <a:srgbClr val="DF3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6928" y="5394959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220F60"/>
                </a:solidFill>
                <a:latin typeface="Neulis Sans"/>
              </a:rPr>
              <a:t>Each question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87168" y="5760720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220F60"/>
                </a:solidFill>
                <a:latin typeface="Neulis Sans"/>
              </a:rPr>
              <a:t>1x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5760720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250" b="1">
                <a:solidFill>
                  <a:srgbClr val="220F60"/>
                </a:solidFill>
                <a:latin typeface="Neulis Sans"/>
              </a:rPr>
              <a:t>867x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56048" y="5760720"/>
            <a:ext cx="41970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0">
                <a:solidFill>
                  <a:srgbClr val="767492"/>
                </a:solidFill>
                <a:latin typeface="Neulis Sans"/>
              </a:rPr>
              <a:t>log scale, one tick per question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035040"/>
            <a:ext cx="110550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767492"/>
                </a:solidFill>
                <a:latin typeface="Neulis Sans"/>
              </a:rPr>
              <a:t>The range is the finding, not the mean. At the low end, 720 tokens against 716: a question with almost no source material either way.</a:t>
            </a:r>
          </a:p>
        </p:txBody>
      </p:sp>
      <p:pic>
        <p:nvPicPr>
          <p:cNvPr id="35" name="Picture 34" descr="graphwise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382512"/>
            <a:ext cx="1133856" cy="25603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223760" y="6409944"/>
            <a:ext cx="43982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767492"/>
                </a:solidFill>
                <a:latin typeface="Neulis Sans"/>
              </a:rPr>
              <a:t>Graphwise  ·  Token Consumption Comparison Experiment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57200"/>
            <a:ext cx="110550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DF367C"/>
                </a:solidFill>
                <a:latin typeface="Neulis Sans"/>
              </a:rPr>
              <a:t>WHAT IT MEANS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68096"/>
            <a:ext cx="1105509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200" b="1">
                <a:solidFill>
                  <a:srgbClr val="220F60"/>
                </a:solidFill>
                <a:latin typeface="Neulis Sans"/>
              </a:rPr>
              <a:t>Retrieve the fact, not the corpus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26464"/>
            <a:ext cx="1188720" cy="64008"/>
          </a:xfrm>
          <a:prstGeom prst="rect">
            <a:avLst/>
          </a:prstGeom>
          <a:solidFill>
            <a:srgbClr val="DF3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6928" y="1682496"/>
            <a:ext cx="5349240" cy="3712463"/>
          </a:xfrm>
          <a:prstGeom prst="roundRect">
            <a:avLst>
              <a:gd name="adj" fmla="val 9000"/>
            </a:avLst>
          </a:prstGeom>
          <a:solidFill>
            <a:srgbClr val="F2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682496"/>
            <a:ext cx="5349240" cy="457200"/>
          </a:xfrm>
          <a:prstGeom prst="roundRect">
            <a:avLst>
              <a:gd name="adj" fmla="val 28000"/>
            </a:avLst>
          </a:prstGeom>
          <a:solidFill>
            <a:srgbClr val="3B5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2011680"/>
            <a:ext cx="5349240" cy="128016"/>
          </a:xfrm>
          <a:prstGeom prst="rect">
            <a:avLst/>
          </a:prstGeom>
          <a:solidFill>
            <a:srgbClr val="3B5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682496"/>
            <a:ext cx="487375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Neulis Sans"/>
              </a:rPr>
              <a:t>CONTEXT STUFFING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" y="2377440"/>
            <a:ext cx="49377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3B5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591056" y="2377440"/>
            <a:ext cx="49377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3B5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249424" y="2377440"/>
            <a:ext cx="49377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3B5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907792" y="2377440"/>
            <a:ext cx="49377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3B5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66160" y="2377440"/>
            <a:ext cx="49377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3B5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24527" y="2377440"/>
            <a:ext cx="49377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3B5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882896" y="2377440"/>
            <a:ext cx="49377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3B5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32688" y="2779776"/>
            <a:ext cx="49377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3B5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591056" y="2779776"/>
            <a:ext cx="49377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3B5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249424" y="2779776"/>
            <a:ext cx="49377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3B5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907792" y="2779776"/>
            <a:ext cx="49377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3B5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566160" y="2779776"/>
            <a:ext cx="49377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3B5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24527" y="2779776"/>
            <a:ext cx="49377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3B5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882896" y="2779776"/>
            <a:ext cx="49377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3B5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32688" y="3182112"/>
            <a:ext cx="49377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3B5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591056" y="3182112"/>
            <a:ext cx="49377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3B5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249424" y="3182112"/>
            <a:ext cx="49377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3B5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907792" y="3182112"/>
            <a:ext cx="49377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3B5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566160" y="3182112"/>
            <a:ext cx="49377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3B5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224527" y="3182112"/>
            <a:ext cx="49377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3B5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882896" y="3182112"/>
            <a:ext cx="493776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3B5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Down Arrow 29"/>
          <p:cNvSpPr/>
          <p:nvPr/>
        </p:nvSpPr>
        <p:spPr>
          <a:xfrm>
            <a:off x="3017520" y="3675887"/>
            <a:ext cx="329184" cy="274320"/>
          </a:xfrm>
          <a:prstGeom prst="downArrow">
            <a:avLst/>
          </a:prstGeom>
          <a:solidFill>
            <a:srgbClr val="3B5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32688" y="4059936"/>
            <a:ext cx="3694176" cy="512064"/>
          </a:xfrm>
          <a:prstGeom prst="rect">
            <a:avLst/>
          </a:prstGeom>
          <a:solidFill>
            <a:srgbClr val="3B5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42416" y="4059936"/>
            <a:ext cx="34747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Neulis Sans"/>
              </a:rPr>
              <a:t>the model's context window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26864" y="4059936"/>
            <a:ext cx="1197864" cy="512064"/>
          </a:xfrm>
          <a:prstGeom prst="rect">
            <a:avLst/>
          </a:prstGeom>
          <a:solidFill>
            <a:srgbClr val="DF3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26864" y="4059936"/>
            <a:ext cx="11978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Neulis Sans"/>
              </a:rPr>
              <a:t>will not fit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" y="4700016"/>
            <a:ext cx="4837176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A2A3C"/>
                </a:solidFill>
                <a:latin typeface="Neulis Sans"/>
              </a:rPr>
              <a:t>1 of the 11 does not fit a 1M-token window at any price.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A2A3C"/>
                </a:solidFill>
                <a:latin typeface="Neulis Sans"/>
              </a:rPr>
              <a:t>There the alternative is not an expensive answer, it is none.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72784" y="1682496"/>
            <a:ext cx="5349240" cy="3712463"/>
          </a:xfrm>
          <a:prstGeom prst="roundRect">
            <a:avLst>
              <a:gd name="adj" fmla="val 9000"/>
            </a:avLst>
          </a:prstGeom>
          <a:solidFill>
            <a:srgbClr val="F2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272784" y="1682496"/>
            <a:ext cx="5349240" cy="457200"/>
          </a:xfrm>
          <a:prstGeom prst="roundRect">
            <a:avLst>
              <a:gd name="adj" fmla="val 28000"/>
            </a:avLst>
          </a:prstGeom>
          <a:solidFill>
            <a:srgbClr val="DF3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72784" y="2011680"/>
            <a:ext cx="5349240" cy="128016"/>
          </a:xfrm>
          <a:prstGeom prst="rect">
            <a:avLst/>
          </a:prstGeom>
          <a:solidFill>
            <a:srgbClr val="DF3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10528" y="1682496"/>
            <a:ext cx="487375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Neulis Sans"/>
              </a:rPr>
              <a:t>GROUNDED RETRIEVAL</a:t>
            </a:r>
          </a:p>
        </p:txBody>
      </p:sp>
      <p:sp>
        <p:nvSpPr>
          <p:cNvPr id="40" name="Rectangle 39"/>
          <p:cNvSpPr/>
          <p:nvPr/>
        </p:nvSpPr>
        <p:spPr>
          <a:xfrm rot="20406274">
            <a:off x="6873249" y="2574036"/>
            <a:ext cx="1021061" cy="27432"/>
          </a:xfrm>
          <a:prstGeom prst="rect">
            <a:avLst/>
          </a:prstGeom>
          <a:solidFill>
            <a:srgbClr val="3B5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 rot="1308085">
            <a:off x="7826859" y="2592324"/>
            <a:ext cx="1034080" cy="27432"/>
          </a:xfrm>
          <a:prstGeom prst="rect">
            <a:avLst/>
          </a:prstGeom>
          <a:solidFill>
            <a:srgbClr val="3B5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 rot="20348733">
            <a:off x="8790305" y="2601468"/>
            <a:ext cx="1027429" cy="27432"/>
          </a:xfrm>
          <a:prstGeom prst="rect">
            <a:avLst/>
          </a:prstGeom>
          <a:solidFill>
            <a:srgbClr val="3B5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 rot="1193726">
            <a:off x="9753609" y="2592324"/>
            <a:ext cx="1021061" cy="27432"/>
          </a:xfrm>
          <a:prstGeom prst="rect">
            <a:avLst/>
          </a:prstGeom>
          <a:solidFill>
            <a:srgbClr val="3B5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 rot="2963922">
            <a:off x="6756522" y="3067812"/>
            <a:ext cx="843035" cy="27432"/>
          </a:xfrm>
          <a:prstGeom prst="rect">
            <a:avLst/>
          </a:prstGeom>
          <a:solidFill>
            <a:srgbClr val="3B5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 rot="261419">
            <a:off x="7450968" y="3424427"/>
            <a:ext cx="962902" cy="27432"/>
          </a:xfrm>
          <a:prstGeom prst="rect">
            <a:avLst/>
          </a:prstGeom>
          <a:solidFill>
            <a:srgbClr val="3B5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 rot="21273580">
            <a:off x="8410307" y="3415284"/>
            <a:ext cx="964464" cy="27432"/>
          </a:xfrm>
          <a:prstGeom prst="rect">
            <a:avLst/>
          </a:prstGeom>
          <a:solidFill>
            <a:srgbClr val="3B5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 rot="261419">
            <a:off x="9371208" y="3406140"/>
            <a:ext cx="962902" cy="27432"/>
          </a:xfrm>
          <a:prstGeom prst="rect">
            <a:avLst/>
          </a:prstGeom>
          <a:solidFill>
            <a:srgbClr val="3B5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 rot="6757192">
            <a:off x="7123176" y="2894076"/>
            <a:ext cx="1069847" cy="27432"/>
          </a:xfrm>
          <a:prstGeom prst="rect">
            <a:avLst/>
          </a:prstGeom>
          <a:solidFill>
            <a:srgbClr val="3B5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 rot="7278247">
            <a:off x="8222246" y="3122675"/>
            <a:ext cx="791946" cy="27432"/>
          </a:xfrm>
          <a:prstGeom prst="rect">
            <a:avLst/>
          </a:prstGeom>
          <a:solidFill>
            <a:srgbClr val="3B5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 rot="6803866">
            <a:off x="9060249" y="2894076"/>
            <a:ext cx="1036181" cy="27432"/>
          </a:xfrm>
          <a:prstGeom prst="rect">
            <a:avLst/>
          </a:prstGeom>
          <a:solidFill>
            <a:srgbClr val="3B5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 rot="7278247">
            <a:off x="10142486" y="3104388"/>
            <a:ext cx="791946" cy="27432"/>
          </a:xfrm>
          <a:prstGeom prst="rect">
            <a:avLst/>
          </a:prstGeom>
          <a:solidFill>
            <a:srgbClr val="3B5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6784848" y="2642616"/>
            <a:ext cx="237744" cy="237744"/>
          </a:xfrm>
          <a:prstGeom prst="ellipse">
            <a:avLst/>
          </a:prstGeom>
          <a:solidFill>
            <a:srgbClr val="3B5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7744967" y="2295144"/>
            <a:ext cx="237744" cy="237744"/>
          </a:xfrm>
          <a:prstGeom prst="ellipse">
            <a:avLst/>
          </a:prstGeom>
          <a:solidFill>
            <a:srgbClr val="DF3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8705088" y="2679192"/>
            <a:ext cx="237744" cy="237744"/>
          </a:xfrm>
          <a:prstGeom prst="ellipse">
            <a:avLst/>
          </a:prstGeom>
          <a:solidFill>
            <a:srgbClr val="DF3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9665207" y="2313432"/>
            <a:ext cx="237744" cy="237744"/>
          </a:xfrm>
          <a:prstGeom prst="ellipse">
            <a:avLst/>
          </a:prstGeom>
          <a:solidFill>
            <a:srgbClr val="3B5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10625328" y="2660904"/>
            <a:ext cx="237744" cy="237744"/>
          </a:xfrm>
          <a:prstGeom prst="ellipse">
            <a:avLst/>
          </a:prstGeom>
          <a:solidFill>
            <a:srgbClr val="3B5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7333488" y="3282696"/>
            <a:ext cx="237744" cy="237744"/>
          </a:xfrm>
          <a:prstGeom prst="ellipse">
            <a:avLst/>
          </a:prstGeom>
          <a:solidFill>
            <a:srgbClr val="3B5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8293607" y="3355848"/>
            <a:ext cx="237744" cy="237744"/>
          </a:xfrm>
          <a:prstGeom prst="ellipse">
            <a:avLst/>
          </a:prstGeom>
          <a:solidFill>
            <a:srgbClr val="DF3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9253728" y="3264408"/>
            <a:ext cx="237744" cy="237744"/>
          </a:xfrm>
          <a:prstGeom prst="ellipse">
            <a:avLst/>
          </a:prstGeom>
          <a:solidFill>
            <a:srgbClr val="3B5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10213848" y="3337560"/>
            <a:ext cx="237744" cy="237744"/>
          </a:xfrm>
          <a:prstGeom prst="ellipse">
            <a:avLst/>
          </a:prstGeom>
          <a:solidFill>
            <a:srgbClr val="3B5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Down Arrow 60"/>
          <p:cNvSpPr/>
          <p:nvPr/>
        </p:nvSpPr>
        <p:spPr>
          <a:xfrm>
            <a:off x="8558784" y="3675887"/>
            <a:ext cx="329184" cy="274320"/>
          </a:xfrm>
          <a:prstGeom prst="downArrow">
            <a:avLst/>
          </a:prstGeom>
          <a:solidFill>
            <a:srgbClr val="DF3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6638544" y="4059936"/>
            <a:ext cx="987552" cy="512064"/>
          </a:xfrm>
          <a:prstGeom prst="rect">
            <a:avLst/>
          </a:prstGeom>
          <a:solidFill>
            <a:srgbClr val="DF3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638544" y="4059936"/>
            <a:ext cx="987552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Neulis Sans"/>
              </a:rPr>
              <a:t>evidence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717536" y="4059936"/>
            <a:ext cx="3447288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3B5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845552" y="4059936"/>
            <a:ext cx="3191256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2A2A3C"/>
                </a:solidFill>
                <a:latin typeface="Neulis Sans"/>
              </a:rPr>
              <a:t>room left in the context window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38544" y="4700016"/>
            <a:ext cx="4837176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A2A3C"/>
                </a:solidFill>
                <a:latin typeface="Neulis Sans"/>
              </a:rPr>
              <a:t>Each answer arrives with the filing accession number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2A2A3C"/>
                </a:solidFill>
                <a:latin typeface="Neulis Sans"/>
              </a:rPr>
              <a:t>and the source authority that produced it.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66928" y="5522976"/>
            <a:ext cx="11055096" cy="786384"/>
          </a:xfrm>
          <a:prstGeom prst="roundRect">
            <a:avLst>
              <a:gd name="adj" fmla="val 9000"/>
            </a:avLst>
          </a:prstGeom>
          <a:solidFill>
            <a:srgbClr val="220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77824" y="5522976"/>
            <a:ext cx="10433304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450" b="1">
                <a:solidFill>
                  <a:srgbClr val="FFFFFF"/>
                </a:solidFill>
                <a:latin typeface="Neulis Sans"/>
              </a:rPr>
              <a:t>The evidence layer is deterministic: the same questions answered in SPARQL, with no model in the loop.
Every answer carries the accession number it rests on.</a:t>
            </a:r>
          </a:p>
        </p:txBody>
      </p:sp>
      <p:pic>
        <p:nvPicPr>
          <p:cNvPr id="69" name="Picture 68" descr="graphwise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382512"/>
            <a:ext cx="1133856" cy="256032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7223760" y="6409944"/>
            <a:ext cx="43982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767492"/>
                </a:solidFill>
                <a:latin typeface="Neulis Sans"/>
              </a:rPr>
              <a:t>Graphwise  ·  Token Consumption Comparison Experiment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0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 rot="1986681">
            <a:off x="1086785" y="1517904"/>
            <a:ext cx="1255428" cy="27432"/>
          </a:xfrm>
          <a:prstGeom prst="rect">
            <a:avLst/>
          </a:prstGeom>
          <a:solidFill>
            <a:srgbClr val="3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 rot="8835886">
            <a:off x="839267" y="2272284"/>
            <a:ext cx="1521864" cy="27432"/>
          </a:xfrm>
          <a:prstGeom prst="rect">
            <a:avLst/>
          </a:prstGeom>
          <a:solidFill>
            <a:srgbClr val="3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 rot="2145233">
            <a:off x="827398" y="3095244"/>
            <a:ext cx="1408443" cy="27432"/>
          </a:xfrm>
          <a:prstGeom prst="rect">
            <a:avLst/>
          </a:prstGeom>
          <a:solidFill>
            <a:srgbClr val="3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 rot="5916939">
            <a:off x="311430" y="1929384"/>
            <a:ext cx="1525979" cy="27432"/>
          </a:xfrm>
          <a:prstGeom prst="rect">
            <a:avLst/>
          </a:prstGeom>
          <a:solidFill>
            <a:srgbClr val="3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 rot="1920323">
            <a:off x="10005777" y="1563624"/>
            <a:ext cx="1293964" cy="27432"/>
          </a:xfrm>
          <a:prstGeom prst="rect">
            <a:avLst/>
          </a:prstGeom>
          <a:solidFill>
            <a:srgbClr val="3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7561642">
            <a:off x="10213780" y="2409444"/>
            <a:ext cx="1243718" cy="27432"/>
          </a:xfrm>
          <a:prstGeom prst="rect">
            <a:avLst/>
          </a:prstGeom>
          <a:solidFill>
            <a:srgbClr val="3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 rot="2421872">
            <a:off x="10327032" y="3300984"/>
            <a:ext cx="1200095" cy="27432"/>
          </a:xfrm>
          <a:prstGeom prst="rect">
            <a:avLst/>
          </a:prstGeom>
          <a:solidFill>
            <a:srgbClr val="3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 rot="4667972">
            <a:off x="9421635" y="2066544"/>
            <a:ext cx="1730729" cy="27432"/>
          </a:xfrm>
          <a:prstGeom prst="rect">
            <a:avLst/>
          </a:prstGeom>
          <a:solidFill>
            <a:srgbClr val="3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 rot="6475675">
            <a:off x="1034754" y="4283964"/>
            <a:ext cx="1633810" cy="27432"/>
          </a:xfrm>
          <a:prstGeom prst="rect">
            <a:avLst/>
          </a:prstGeom>
          <a:solidFill>
            <a:srgbClr val="3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 rot="6686864">
            <a:off x="10445117" y="4329684"/>
            <a:ext cx="1375404" cy="27432"/>
          </a:xfrm>
          <a:prstGeom prst="rect">
            <a:avLst/>
          </a:prstGeom>
          <a:solidFill>
            <a:srgbClr val="3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69848" y="1069848"/>
            <a:ext cx="237744" cy="237744"/>
          </a:xfrm>
          <a:prstGeom prst="ellipse">
            <a:avLst/>
          </a:prstGeom>
          <a:solidFill>
            <a:srgbClr val="3D2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121408" y="1755648"/>
            <a:ext cx="237744" cy="237744"/>
          </a:xfrm>
          <a:prstGeom prst="ellipse">
            <a:avLst/>
          </a:prstGeom>
          <a:solidFill>
            <a:srgbClr val="DF3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41248" y="2578608"/>
            <a:ext cx="237744" cy="237744"/>
          </a:xfrm>
          <a:prstGeom prst="ellipse">
            <a:avLst/>
          </a:prstGeom>
          <a:solidFill>
            <a:srgbClr val="3D2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984248" y="3401568"/>
            <a:ext cx="237744" cy="237744"/>
          </a:xfrm>
          <a:prstGeom prst="ellipse">
            <a:avLst/>
          </a:prstGeom>
          <a:solidFill>
            <a:srgbClr val="3D2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985248" y="1115568"/>
            <a:ext cx="237744" cy="237744"/>
          </a:xfrm>
          <a:prstGeom prst="ellipse">
            <a:avLst/>
          </a:prstGeom>
          <a:solidFill>
            <a:srgbClr val="3D2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082528" y="1801368"/>
            <a:ext cx="237744" cy="237744"/>
          </a:xfrm>
          <a:prstGeom prst="ellipse">
            <a:avLst/>
          </a:prstGeom>
          <a:solidFill>
            <a:srgbClr val="3D2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51007" y="2807208"/>
            <a:ext cx="237744" cy="237744"/>
          </a:xfrm>
          <a:prstGeom prst="ellipse">
            <a:avLst/>
          </a:prstGeom>
          <a:solidFill>
            <a:srgbClr val="DF3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1265407" y="3584448"/>
            <a:ext cx="237744" cy="237744"/>
          </a:xfrm>
          <a:prstGeom prst="ellipse">
            <a:avLst/>
          </a:prstGeom>
          <a:solidFill>
            <a:srgbClr val="3D2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481328" y="4956048"/>
            <a:ext cx="237744" cy="237744"/>
          </a:xfrm>
          <a:prstGeom prst="ellipse">
            <a:avLst/>
          </a:prstGeom>
          <a:solidFill>
            <a:srgbClr val="3D2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762488" y="4864608"/>
            <a:ext cx="237744" cy="237744"/>
          </a:xfrm>
          <a:prstGeom prst="ellipse">
            <a:avLst/>
          </a:prstGeom>
          <a:solidFill>
            <a:srgbClr val="3D2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graphwise-logo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4064" y="1572768"/>
            <a:ext cx="2020824" cy="4572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66928" y="2542032"/>
            <a:ext cx="11055096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400" b="1" dirty="0">
                <a:solidFill>
                  <a:srgbClr val="FFFFFF"/>
                </a:solidFill>
                <a:latin typeface="Neulis Sans"/>
              </a:rPr>
              <a:t>54.2x </a:t>
            </a:r>
            <a:r>
              <a:rPr lang="en-US" sz="6400" b="1" dirty="0">
                <a:solidFill>
                  <a:srgbClr val="FFFFFF"/>
                </a:solidFill>
                <a:latin typeface="Neulis Sans"/>
              </a:rPr>
              <a:t>fewer tokens</a:t>
            </a:r>
            <a:endParaRPr sz="6400" b="1" dirty="0">
              <a:solidFill>
                <a:srgbClr val="FFFFFF"/>
              </a:solidFill>
              <a:latin typeface="Neulis San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641848" y="3643607"/>
            <a:ext cx="914400" cy="64008"/>
          </a:xfrm>
          <a:prstGeom prst="rect">
            <a:avLst/>
          </a:prstGeom>
          <a:solidFill>
            <a:srgbClr val="DF3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98448" y="3936215"/>
            <a:ext cx="959205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sz="1600" b="0">
                <a:solidFill>
                  <a:srgbClr val="C6BEE6"/>
                </a:solidFill>
                <a:latin typeface="Neulis Sans"/>
              </a:rPr>
              <a:t>Modelling the entities and relationships cut what had to fit in the model's context,</a:t>
            </a:r>
          </a:p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sz="1600" b="0">
                <a:solidFill>
                  <a:srgbClr val="C6BEE6"/>
                </a:solidFill>
                <a:latin typeface="Neulis Sans"/>
              </a:rPr>
              <a:t>and kept the evidence attached to the answer.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41063" y="5541264"/>
            <a:ext cx="4306824" cy="530352"/>
          </a:xfrm>
          <a:prstGeom prst="roundRect">
            <a:avLst>
              <a:gd name="adj" fmla="val 9000"/>
            </a:avLst>
          </a:prstGeom>
          <a:solidFill>
            <a:srgbClr val="3D2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941063" y="5541264"/>
            <a:ext cx="4306824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Neulis Sans"/>
              </a:rPr>
              <a:t>An experiment, not a benchmark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6409944"/>
            <a:ext cx="43982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C6BEE6"/>
                </a:solidFill>
                <a:latin typeface="Neulis Sans"/>
              </a:rPr>
              <a:t>Graphwise  ·  Token Consumption Comparison Experiment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0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 rot="2021404">
            <a:off x="954659" y="1723644"/>
            <a:ext cx="1153920" cy="27432"/>
          </a:xfrm>
          <a:prstGeom prst="rect">
            <a:avLst/>
          </a:prstGeom>
          <a:solidFill>
            <a:srgbClr val="3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 rot="8710531">
            <a:off x="845411" y="2409444"/>
            <a:ext cx="1280976" cy="27432"/>
          </a:xfrm>
          <a:prstGeom prst="rect">
            <a:avLst/>
          </a:prstGeom>
          <a:solidFill>
            <a:srgbClr val="3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 rot="5628844">
            <a:off x="318517" y="2089403"/>
            <a:ext cx="1374644" cy="27432"/>
          </a:xfrm>
          <a:prstGeom prst="rect">
            <a:avLst/>
          </a:prstGeom>
          <a:solidFill>
            <a:srgbClr val="3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 rot="7719588">
            <a:off x="10213633" y="1792224"/>
            <a:ext cx="878252" cy="27432"/>
          </a:xfrm>
          <a:prstGeom prst="rect">
            <a:avLst/>
          </a:prstGeom>
          <a:solidFill>
            <a:srgbClr val="3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 rot="1334941">
            <a:off x="10337984" y="2340864"/>
            <a:ext cx="1086751" cy="27432"/>
          </a:xfrm>
          <a:prstGeom prst="rect">
            <a:avLst/>
          </a:prstGeom>
          <a:solidFill>
            <a:srgbClr val="3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4042808">
            <a:off x="10561319" y="1997964"/>
            <a:ext cx="1188719" cy="27432"/>
          </a:xfrm>
          <a:prstGeom prst="rect">
            <a:avLst/>
          </a:prstGeom>
          <a:solidFill>
            <a:srgbClr val="3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41831" y="1307592"/>
            <a:ext cx="219456" cy="219456"/>
          </a:xfrm>
          <a:prstGeom prst="ellipse">
            <a:avLst/>
          </a:prstGeom>
          <a:solidFill>
            <a:srgbClr val="3D2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901952" y="1947672"/>
            <a:ext cx="219456" cy="219456"/>
          </a:xfrm>
          <a:prstGeom prst="ellipse">
            <a:avLst/>
          </a:prstGeom>
          <a:solidFill>
            <a:srgbClr val="DF3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50392" y="2679191"/>
            <a:ext cx="219456" cy="219456"/>
          </a:xfrm>
          <a:prstGeom prst="ellipse">
            <a:avLst/>
          </a:prstGeom>
          <a:solidFill>
            <a:srgbClr val="3D2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817352" y="1353312"/>
            <a:ext cx="219456" cy="219456"/>
          </a:xfrm>
          <a:prstGeom prst="ellipse">
            <a:avLst/>
          </a:prstGeom>
          <a:solidFill>
            <a:srgbClr val="3D2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274552" y="2450591"/>
            <a:ext cx="219456" cy="219456"/>
          </a:xfrm>
          <a:prstGeom prst="ellipse">
            <a:avLst/>
          </a:prstGeom>
          <a:solidFill>
            <a:srgbClr val="3D2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268712" y="2039112"/>
            <a:ext cx="219456" cy="219456"/>
          </a:xfrm>
          <a:prstGeom prst="ellipse">
            <a:avLst/>
          </a:prstGeom>
          <a:solidFill>
            <a:srgbClr val="DF3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graphwise-logo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566928"/>
            <a:ext cx="1819656" cy="4114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66928" y="1481328"/>
            <a:ext cx="1105509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1">
                <a:solidFill>
                  <a:srgbClr val="DF367C"/>
                </a:solidFill>
                <a:latin typeface="Neulis Sans"/>
              </a:rPr>
              <a:t>READY WHEN YOU 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828800"/>
            <a:ext cx="1105509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4200" b="1">
                <a:solidFill>
                  <a:srgbClr val="FFFFFF"/>
                </a:solidFill>
                <a:latin typeface="Neulis Sans"/>
              </a:rPr>
              <a:t>Run this on your own sources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2798064"/>
            <a:ext cx="3429000" cy="1700784"/>
          </a:xfrm>
          <a:prstGeom prst="roundRect">
            <a:avLst>
              <a:gd name="adj" fmla="val 9000"/>
            </a:avLst>
          </a:prstGeom>
          <a:solidFill>
            <a:srgbClr val="3D2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41247" y="3017520"/>
            <a:ext cx="420624" cy="420624"/>
          </a:xfrm>
          <a:prstGeom prst="ellipse">
            <a:avLst/>
          </a:prstGeom>
          <a:solidFill>
            <a:srgbClr val="1B9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7" y="301752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Neulis Sans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3054096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Neulis Sans"/>
              </a:rPr>
              <a:t>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3621024"/>
            <a:ext cx="2880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 b="0">
                <a:solidFill>
                  <a:srgbClr val="C6BEE6"/>
                </a:solidFill>
                <a:latin typeface="Neulis Sans"/>
              </a:rPr>
              <a:t>your entities and the relationships between them, once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9976" y="2798064"/>
            <a:ext cx="3429000" cy="1700784"/>
          </a:xfrm>
          <a:prstGeom prst="roundRect">
            <a:avLst>
              <a:gd name="adj" fmla="val 9000"/>
            </a:avLst>
          </a:prstGeom>
          <a:solidFill>
            <a:srgbClr val="3D2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654296" y="3017520"/>
            <a:ext cx="420624" cy="420624"/>
          </a:xfrm>
          <a:prstGeom prst="ellipse">
            <a:avLst/>
          </a:prstGeom>
          <a:solidFill>
            <a:srgbClr val="37A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54296" y="301752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Neulis Sans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054096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Neulis Sans"/>
              </a:rPr>
              <a:t>LOAD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54296" y="3621024"/>
            <a:ext cx="2880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 b="0">
                <a:solidFill>
                  <a:srgbClr val="C6BEE6"/>
                </a:solidFill>
                <a:latin typeface="Neulis Sans"/>
              </a:rPr>
              <a:t>your own structured tables and your own prose, side by side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93023" y="2798064"/>
            <a:ext cx="3429000" cy="1700784"/>
          </a:xfrm>
          <a:prstGeom prst="roundRect">
            <a:avLst>
              <a:gd name="adj" fmla="val 9000"/>
            </a:avLst>
          </a:prstGeom>
          <a:solidFill>
            <a:srgbClr val="3D2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467344" y="3017520"/>
            <a:ext cx="420624" cy="420624"/>
          </a:xfrm>
          <a:prstGeom prst="ellipse">
            <a:avLst/>
          </a:prstGeom>
          <a:solidFill>
            <a:srgbClr val="8B8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67344" y="301752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Neulis Sans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15984" y="3054096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Neulis Sans"/>
              </a:rPr>
              <a:t>ASK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67344" y="3621024"/>
            <a:ext cx="2880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 b="0">
                <a:solidFill>
                  <a:srgbClr val="C6BEE6"/>
                </a:solidFill>
                <a:latin typeface="Neulis Sans"/>
              </a:rPr>
              <a:t>in your own words, and get the evidence back with the answer</a:t>
            </a:r>
          </a:p>
        </p:txBody>
      </p:sp>
      <p:sp>
        <p:nvSpPr>
          <p:cNvPr id="33" name="Rounded Rectangle 32">
            <a:hlinkClick r:id="rId3"/>
          </p:cNvPr>
          <p:cNvSpPr/>
          <p:nvPr/>
        </p:nvSpPr>
        <p:spPr>
          <a:xfrm>
            <a:off x="4352544" y="4846320"/>
            <a:ext cx="3483864" cy="676656"/>
          </a:xfrm>
          <a:prstGeom prst="roundRect">
            <a:avLst>
              <a:gd name="adj" fmla="val 9000"/>
            </a:avLst>
          </a:prstGeom>
          <a:solidFill>
            <a:srgbClr val="DF3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352544" y="4846320"/>
            <a:ext cx="3483864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Neulis Sans"/>
              </a:rPr>
              <a:t>graphwise.ai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5687568"/>
            <a:ext cx="11055096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 dirty="0">
                <a:solidFill>
                  <a:srgbClr val="C6BEE6"/>
                </a:solidFill>
                <a:latin typeface="Neulis Sans"/>
              </a:rPr>
              <a:t>An experiment over 11 questions and one graph, not a benchmark.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6409944"/>
            <a:ext cx="43982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C6BEE6"/>
                </a:solidFill>
                <a:latin typeface="Neulis Sans"/>
              </a:rPr>
              <a:t>Graphwise  ·  Token Consumption Comparison Experiment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graphwise-logo-stac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046" y="643737"/>
            <a:ext cx="7791602" cy="55714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1074</Words>
  <Application>Microsoft Macintosh PowerPoint</Application>
  <PresentationFormat>Widescreen</PresentationFormat>
  <Paragraphs>246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Neulis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Kent Stroker</cp:lastModifiedBy>
  <cp:revision>3</cp:revision>
  <dcterms:created xsi:type="dcterms:W3CDTF">2013-01-27T09:14:16Z</dcterms:created>
  <dcterms:modified xsi:type="dcterms:W3CDTF">2026-09-28T19:39:42Z</dcterms:modified>
  <cp:category/>
</cp:coreProperties>
</file>
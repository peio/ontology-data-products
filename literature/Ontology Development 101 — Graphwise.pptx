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turns the Ontology 101 guide into an explicit process: nine phases, each with defined inputs and outputs, plus the dependencies and feedback loops that make it iterative.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rules are the tie-breakers for every modeling decision later in the deck. Rule 2 is why the process diagram has feedback loops rather than ending at the last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top row left to right: frame the problem. Then the bottom row: model and populate. Phases 4, 5 and 6 are not sequential; the paper says they are done together. Evaluation (8) is never the end: it sends work back either to the scope (top loop) or to the schema (bottom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Competency questions are the one artifact every phase consults. Examples from the paper's wine domain: Is Bordeaux a red or white wine? Does Cabernet Sauvignon go well with seafood? They need not be exhaustive, only representative. If a class or property can't be traced back to a CQ, question whether it belongs in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phase slide uses the same layout. Inputs on the left, activities in the centre, outputs on the right. Grey dashed cards are sources outside the process; magenta cards are feedback arriving from or going to another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Output artifacts: a scope statement, the competency-question list, the required level of detail, and explicit exclusions. Wine example: wine-food pairing is in scope; winery inventory and restaurant staff are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Reuse can be mandatory when your system must interoperate with applications that already committed to a vocabulary. Translating between formalisms is usually not hard. The paper's example: import an existing French-wines knowledge base as a first pass at wine classes and characteristics.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Output: a flat, comprehensive, unstructured term list. Wine example: wine, grape, winery, location, color, body, flavor, sugar content, fish, red meat, white wine. The split into classes (Phase 4) and properties (Phase 5) happens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treats naming as its own section rather than a numbered step; placing it before class modeling makes it a guardrail. Example: Protégé-2000 has one namespace and is case-sensitive, so a class Winery and a property winery can coexist; CLASSIC is not case-sensitive but keeps separate namespaces.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rule: if A is a superclass of B, every instance of B is an instance of A. Introduce a subclass only when it adds properties, logical axioms or relationships, or reflects a distinction experts make. Things that change often, like Chilled wine, are values, not classes. Natural hierarchies such as wine regions are classes even without instances. Declare Red wine and White wine disjoint so the system can catch modeling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Wine example: color, body, flavor and sugar attach to Wine; tannin level attaches to Red wine, because all red wines have it but white wines are not described by it. Attaching it to Wine would be too general; attaching it to each red subclass would be redundant.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Logical axioms are what drive OWL inference (open world) and, expressed as SHACL shapes, validation (closed world). Note that default values are not logical axioms: OWL has no defaults. Range rules: if a range lists a class and its subclass, drop the subclass; if it lists all subclasses of A, use A; if it lists all but a few, consider A. Default values are conveniences you can override; a fixed property value, such as sugar = SWEET on Dessert wine, is inherited and cannot be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Wine example: Chateau Morgon Beaujolais is an instance of Beaujolais with body Light, color Red, flavor Delicate, tannin Low, grape Gamay, maker Chateau Morgon, sugar Dry. Whether a specific wine, a vintage or a single bottle is the individual depends on the CQs: pairing needs wines, inventory needs bottles.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Documentation example from the paper: Experimenter is deliberately not a subclass of Biological organism, because that would add irrelevant properties like weight and species. Record such choices so people reusing the ontology know what the original application assumed. Chimaera is the paper's example of a diagnostic tool for logical correctness and common design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these three phases in short cycles: define a few classes, attach their properties, add their logical axioms, and let what you learn reshape the classes. Blue solid arrows are forward hand-offs; magenta dashed arrows are the feedback that makes this a loop rather than a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checklist during reviews: each row is a reason the paper gives for revisiting an earlier phase. Most paths land on Phase 4, which is why the class hierarchy should be treated as permanently provisional.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660400"/>
            <a:ext cx="10566400" cy="438150"/>
          </a:xfrm>
          <a:prstGeom prst="rect">
            <a:avLst/>
          </a:prstGeom>
          <a:noFill/>
          <a:ln/>
        </p:spPr>
        <p:txBody>
          <a:bodyPr wrap="square" lIns="0" tIns="0" rIns="0" bIns="0" rtlCol="0" anchor="t"/>
          <a:lstStyle>
            <a:lvl1pPr algn="l" indent="0" marL="0">
              <a:lnSpc>
                <a:spcPct val="115000"/>
              </a:lnSpc>
              <a:buNone/>
              <a:defRPr lang="en-US" sz="3000" dirty="0">
                <a:solidFill>
                  <a:srgbClr val="220F60"/>
                </a:solidFill>
                <a:latin typeface="Poppins" pitchFamily="34" charset="0"/>
                <a:ea typeface="Poppins" pitchFamily="34" charset="-122"/>
                <a:cs typeface="Poppi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403350"/>
            <a:ext cx="10566400" cy="4641850"/>
          </a:xfrm>
          <a:prstGeom prst="rect">
            <a:avLst/>
          </a:prstGeom>
          <a:noFill/>
          <a:ln/>
        </p:spPr>
        <p:txBody>
          <a:bodyPr wrap="square" lIns="0" tIns="0" rIns="0" bIns="0" rtlCol="0" anchor="t"/>
          <a:lstStyle>
            <a:lvl1pPr algn="l" indent="0" marL="0">
              <a:lnSpc>
                <a:spcPct val="140000"/>
              </a:lnSpc>
              <a:buNone/>
              <a:defRPr lang="en-US" sz="1600" dirty="0">
                <a:solidFill>
                  <a:srgbClr val="220F60"/>
                </a:solidFill>
                <a:latin typeface="Poppins" pitchFamily="34" charset="0"/>
                <a:ea typeface="Poppins" pitchFamily="34" charset="-122"/>
                <a:cs typeface="Poppi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660400"/>
            <a:ext cx="10566400" cy="438150"/>
          </a:xfrm>
          <a:prstGeom prst="rect">
            <a:avLst/>
          </a:prstGeom>
          <a:noFill/>
          <a:ln/>
        </p:spPr>
        <p:txBody>
          <a:bodyPr wrap="square" lIns="0" tIns="0" rIns="0" bIns="0" rtlCol="0" anchor="t"/>
          <a:lstStyle>
            <a:lvl1pPr algn="l" indent="0" marL="0">
              <a:lnSpc>
                <a:spcPct val="115000"/>
              </a:lnSpc>
              <a:buNone/>
              <a:defRPr lang="en-US" sz="3000" dirty="0">
                <a:solidFill>
                  <a:srgbClr val="220F60"/>
                </a:solidFill>
                <a:latin typeface="Poppins" pitchFamily="34" charset="0"/>
                <a:ea typeface="Poppins" pitchFamily="34" charset="-122"/>
                <a:cs typeface="Poppi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403350"/>
            <a:ext cx="10566400" cy="4641850"/>
          </a:xfrm>
          <a:prstGeom prst="rect">
            <a:avLst/>
          </a:prstGeom>
          <a:noFill/>
          <a:ln/>
        </p:spPr>
        <p:txBody>
          <a:bodyPr wrap="square" lIns="0" tIns="0" rIns="0" bIns="0" rtlCol="0" anchor="t"/>
          <a:lstStyle>
            <a:lvl1pPr algn="l" indent="0" marL="0">
              <a:lnSpc>
                <a:spcPct val="140000"/>
              </a:lnSpc>
              <a:buNone/>
              <a:defRPr lang="en-US" sz="1600" dirty="0">
                <a:solidFill>
                  <a:srgbClr val="220F60"/>
                </a:solidFill>
                <a:latin typeface="Poppins" pitchFamily="34" charset="0"/>
                <a:ea typeface="Poppins" pitchFamily="34" charset="-122"/>
                <a:cs typeface="Poppi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image" Target="../media/image-4-15.png"/><Relationship Id="rId16" Type="http://schemas.openxmlformats.org/officeDocument/2006/relationships/image" Target="../media/image-4-16.png"/><Relationship Id="rId17" Type="http://schemas.openxmlformats.org/officeDocument/2006/relationships/image" Target="../media/image-4-17.png"/><Relationship Id="rId18" Type="http://schemas.openxmlformats.org/officeDocument/2006/relationships/slideLayout" Target="../slideLayouts/slideLayout2.xml"/><Relationship Id="rId1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2.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2.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2.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2.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2.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2.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2.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2.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2.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2.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slideLayout" Target="../slideLayouts/slideLayout2.xml"/><Relationship Id="rId1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20F60"/>
        </a:solidFill>
      </p:bgPr>
    </p:bg>
    <p:spTree>
      <p:nvGrpSpPr>
        <p:cNvPr id="1" name=""/>
        <p:cNvGrpSpPr/>
        <p:nvPr/>
      </p:nvGrpSpPr>
      <p:grpSpPr>
        <a:xfrm>
          <a:off x="0" y="0"/>
          <a:ext cx="0" cy="0"/>
          <a:chOff x="0" y="0"/>
          <a:chExt cx="0" cy="0"/>
        </a:xfrm>
      </p:grpSpPr>
      <p:pic>
        <p:nvPicPr>
          <p:cNvPr id="2" name="Image 0" descr="Graphwise logo">    </p:cNvPr>
          <p:cNvPicPr>
            <a:picLocks noChangeAspect="1"/>
          </p:cNvPicPr>
          <p:nvPr/>
        </p:nvPicPr>
        <p:blipFill>
          <a:blip r:embed="rId1"/>
          <a:srcRect l="0" r="0" t="-18" b="-18"/>
          <a:stretch/>
        </p:blipFill>
        <p:spPr>
          <a:xfrm>
            <a:off x="812800" y="609600"/>
            <a:ext cx="1397000" cy="869950"/>
          </a:xfrm>
          <a:prstGeom prst="rect">
            <a:avLst/>
          </a:prstGeom>
        </p:spPr>
      </p:pic>
      <p:sp>
        <p:nvSpPr>
          <p:cNvPr id="3" name="Text 0"/>
          <p:cNvSpPr/>
          <p:nvPr/>
        </p:nvSpPr>
        <p:spPr>
          <a:xfrm>
            <a:off x="812800" y="2362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C9C3E8"/>
                </a:solidFill>
                <a:latin typeface="Poppins" pitchFamily="34" charset="0"/>
                <a:ea typeface="Poppins" pitchFamily="34" charset="-122"/>
                <a:cs typeface="Poppins" pitchFamily="34" charset="-120"/>
              </a:rPr>
              <a:t>ONTOLOGY ENGINEERING METHOD</a:t>
            </a:r>
            <a:endParaRPr lang="en-US" sz="1200" dirty="0"/>
          </a:p>
        </p:txBody>
      </p:sp>
      <p:sp>
        <p:nvSpPr>
          <p:cNvPr id="4" name="Text 1"/>
          <p:cNvSpPr/>
          <p:nvPr>
            <p:ph type="title"/>
          </p:nvPr>
        </p:nvSpPr>
        <p:spPr>
          <a:xfrm>
            <a:off x="812800" y="2679700"/>
            <a:ext cx="9810750" cy="1478161"/>
          </a:xfrm>
          <a:prstGeom prst="rect">
            <a:avLst/>
          </a:prstGeom>
          <a:noFill/>
          <a:ln/>
        </p:spPr>
        <p:txBody>
          <a:bodyPr wrap="square" lIns="0" tIns="0" rIns="0" bIns="0" rtlCol="0" anchor="t">
            <a:normAutofit/>
          </a:bodyPr>
          <a:lstStyle/>
          <a:p>
            <a:pPr algn="l" indent="0" marL="0">
              <a:lnSpc>
                <a:spcPts val="5720"/>
              </a:lnSpc>
              <a:buNone/>
            </a:pPr>
            <a:r>
              <a:rPr lang="en-US" sz="5200" b="1" i="0" dirty="0">
                <a:solidFill>
                  <a:srgbClr val="FFFFFF"/>
                </a:solidFill>
                <a:latin typeface="Poppins" pitchFamily="34" charset="0"/>
                <a:ea typeface="Poppins" pitchFamily="34" charset="-122"/>
                <a:cs typeface="Poppins" pitchFamily="34" charset="-120"/>
              </a:rPr>
              <a:t>Ontology Development </a:t>
            </a:r>
            <a:endParaRPr lang="en-US" sz="5200" dirty="0"/>
          </a:p>
          <a:p>
            <a:pPr algn="l" indent="0" marL="0">
              <a:lnSpc>
                <a:spcPts val="5720"/>
              </a:lnSpc>
              <a:buNone/>
            </a:pPr>
            <a:r>
              <a:rPr lang="en-US" sz="5200" b="1" i="0" dirty="0">
                <a:solidFill>
                  <a:srgbClr val="FFFFFF"/>
                </a:solidFill>
                <a:latin typeface="Poppins" pitchFamily="34" charset="0"/>
                <a:ea typeface="Poppins" pitchFamily="34" charset="-122"/>
                <a:cs typeface="Poppins" pitchFamily="34" charset="-120"/>
              </a:rPr>
              <a:t>Methodology</a:t>
            </a:r>
            <a:endParaRPr lang="en-US" sz="5200" dirty="0"/>
          </a:p>
        </p:txBody>
      </p:sp>
      <p:pic>
        <p:nvPicPr>
          <p:cNvPr id="5" name="Image 1" descr="line">    </p:cNvPr>
          <p:cNvPicPr>
            <a:picLocks noChangeAspect="1"/>
          </p:cNvPicPr>
          <p:nvPr/>
        </p:nvPicPr>
        <p:blipFill>
          <a:blip r:embed="rId2"/>
          <a:srcRect l="0" r="0" t="0" b="0"/>
          <a:stretch/>
        </p:blipFill>
        <p:spPr>
          <a:xfrm>
            <a:off x="812800" y="4381500"/>
            <a:ext cx="762000" cy="76200"/>
          </a:xfrm>
          <a:prstGeom prst="rect">
            <a:avLst/>
          </a:prstGeom>
        </p:spPr>
      </p:pic>
      <p:sp>
        <p:nvSpPr>
          <p:cNvPr id="6" name="Text 2"/>
          <p:cNvSpPr/>
          <p:nvPr/>
        </p:nvSpPr>
        <p:spPr>
          <a:xfrm>
            <a:off x="812800" y="4622800"/>
            <a:ext cx="8502650" cy="665361"/>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FFFFF"/>
                </a:solidFill>
                <a:latin typeface="Poppins" pitchFamily="34" charset="0"/>
                <a:ea typeface="Poppins" pitchFamily="34" charset="-122"/>
                <a:cs typeface="Poppins" pitchFamily="34" charset="-120"/>
              </a:rPr>
              <a:t>A phase-by-phase development process, its inputs and outputs, and how the phases depend on each other</a:t>
            </a:r>
            <a:endParaRPr lang="en-US" sz="1800" dirty="0"/>
          </a:p>
        </p:txBody>
      </p:sp>
      <p:sp>
        <p:nvSpPr>
          <p:cNvPr id="7" name="Text 3"/>
          <p:cNvSpPr/>
          <p:nvPr/>
        </p:nvSpPr>
        <p:spPr>
          <a:xfrm>
            <a:off x="812800" y="5588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3E8"/>
                </a:solidFill>
                <a:latin typeface="Poppins" pitchFamily="34" charset="0"/>
                <a:ea typeface="Poppins" pitchFamily="34" charset="-122"/>
                <a:cs typeface="Poppins" pitchFamily="34" charset="-120"/>
              </a:rPr>
              <a:t>Based on Noy &amp; McGuinness, “Ontology Development 101”, Stanford University</a:t>
            </a:r>
            <a:endParaRPr lang="en-US" sz="1200" dirty="0"/>
          </a:p>
        </p:txBody>
      </p:sp>
      <p:sp>
        <p:nvSpPr>
          <p:cNvPr id="8" name="Text 4"/>
          <p:cNvSpPr/>
          <p:nvPr/>
        </p:nvSpPr>
        <p:spPr>
          <a:xfrm>
            <a:off x="812800" y="62484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C9C3E8"/>
                </a:solidFill>
                <a:latin typeface="Poppins" pitchFamily="34" charset="0"/>
                <a:ea typeface="Poppins" pitchFamily="34" charset="-122"/>
                <a:cs typeface="Poppins" pitchFamily="34" charset="-120"/>
              </a:rPr>
              <a:t>AI THRIVES ON WHOLE DATA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4064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1FFF"/>
                </a:solidFill>
                <a:latin typeface="Poppins" pitchFamily="34" charset="0"/>
                <a:ea typeface="Poppins" pitchFamily="34" charset="-122"/>
                <a:cs typeface="Poppins" pitchFamily="34" charset="-120"/>
              </a:rPr>
              <a:t>GROUND RULES</a:t>
            </a:r>
            <a:endParaRPr lang="en-US" sz="1200" dirty="0"/>
          </a:p>
        </p:txBody>
      </p:sp>
      <p:sp>
        <p:nvSpPr>
          <p:cNvPr id="3" name="Text 1"/>
          <p:cNvSpPr/>
          <p:nvPr>
            <p:ph type="title"/>
          </p:nvPr>
        </p:nvSpPr>
        <p:spPr>
          <a:xfrm>
            <a:off x="812800" y="66040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220F60"/>
                </a:solidFill>
                <a:latin typeface="Poppins" pitchFamily="34" charset="0"/>
                <a:ea typeface="Poppins" pitchFamily="34" charset="-122"/>
                <a:cs typeface="Poppins" pitchFamily="34" charset="-120"/>
              </a:rPr>
              <a:t>Three rules shape every phase</a:t>
            </a:r>
            <a:endParaRPr lang="en-US" sz="3000" dirty="0"/>
          </a:p>
        </p:txBody>
      </p:sp>
      <p:sp>
        <p:nvSpPr>
          <p:cNvPr id="4" name="Shape 2"/>
          <p:cNvSpPr/>
          <p:nvPr/>
        </p:nvSpPr>
        <p:spPr>
          <a:xfrm>
            <a:off x="812800" y="1905000"/>
            <a:ext cx="3386634" cy="3556000"/>
          </a:xfrm>
          <a:prstGeom prst="roundRect">
            <a:avLst>
              <a:gd name="adj" fmla="val 3750"/>
            </a:avLst>
          </a:prstGeom>
          <a:solidFill>
            <a:srgbClr val="F2F2F2"/>
          </a:solidFill>
          <a:ln/>
        </p:spPr>
      </p:sp>
      <p:sp>
        <p:nvSpPr>
          <p:cNvPr id="5" name="Text 3"/>
          <p:cNvSpPr/>
          <p:nvPr/>
        </p:nvSpPr>
        <p:spPr>
          <a:xfrm>
            <a:off x="1117600" y="2209800"/>
            <a:ext cx="2860345"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001FFF"/>
                </a:solidFill>
                <a:latin typeface="Poppins" pitchFamily="34" charset="0"/>
                <a:ea typeface="Poppins" pitchFamily="34" charset="-122"/>
                <a:cs typeface="Poppins" pitchFamily="34" charset="-120"/>
              </a:rPr>
              <a:t>01</a:t>
            </a:r>
            <a:endParaRPr lang="en-US" sz="4000" dirty="0"/>
          </a:p>
        </p:txBody>
      </p:sp>
      <p:sp>
        <p:nvSpPr>
          <p:cNvPr id="6" name="Text 4"/>
          <p:cNvSpPr/>
          <p:nvPr/>
        </p:nvSpPr>
        <p:spPr>
          <a:xfrm>
            <a:off x="1117600" y="2844800"/>
            <a:ext cx="3081834" cy="31115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220F60"/>
                </a:solidFill>
                <a:latin typeface="Poppins" pitchFamily="34" charset="0"/>
                <a:ea typeface="Poppins" pitchFamily="34" charset="-122"/>
                <a:cs typeface="Poppins" pitchFamily="34" charset="-120"/>
              </a:rPr>
              <a:t>No single correct model</a:t>
            </a:r>
            <a:endParaRPr lang="en-US" sz="1800" dirty="0"/>
          </a:p>
        </p:txBody>
      </p:sp>
      <p:sp>
        <p:nvSpPr>
          <p:cNvPr id="7" name="Text 5"/>
          <p:cNvSpPr/>
          <p:nvPr/>
        </p:nvSpPr>
        <p:spPr>
          <a:xfrm>
            <a:off x="1117600" y="3257550"/>
            <a:ext cx="2860345" cy="1314252"/>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B5C7F"/>
                </a:solidFill>
                <a:latin typeface="Poppins" pitchFamily="34" charset="0"/>
                <a:ea typeface="Poppins" pitchFamily="34" charset="-122"/>
                <a:cs typeface="Poppins" pitchFamily="34" charset="-120"/>
              </a:rPr>
              <a:t>There are always viable alternatives. The intended application and expected extensions decide between them.</a:t>
            </a:r>
            <a:endParaRPr lang="en-US" sz="1400" dirty="0"/>
          </a:p>
        </p:txBody>
      </p:sp>
      <p:sp>
        <p:nvSpPr>
          <p:cNvPr id="8" name="Shape 6"/>
          <p:cNvSpPr/>
          <p:nvPr/>
        </p:nvSpPr>
        <p:spPr>
          <a:xfrm>
            <a:off x="4402634" y="1905000"/>
            <a:ext cx="3386733" cy="3556000"/>
          </a:xfrm>
          <a:prstGeom prst="roundRect">
            <a:avLst>
              <a:gd name="adj" fmla="val 3750"/>
            </a:avLst>
          </a:prstGeom>
          <a:solidFill>
            <a:srgbClr val="F2F2F2"/>
          </a:solidFill>
          <a:ln/>
        </p:spPr>
      </p:sp>
      <p:sp>
        <p:nvSpPr>
          <p:cNvPr id="9" name="Text 7"/>
          <p:cNvSpPr/>
          <p:nvPr/>
        </p:nvSpPr>
        <p:spPr>
          <a:xfrm>
            <a:off x="4707434" y="2209800"/>
            <a:ext cx="2860447"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001FFF"/>
                </a:solidFill>
                <a:latin typeface="Poppins" pitchFamily="34" charset="0"/>
                <a:ea typeface="Poppins" pitchFamily="34" charset="-122"/>
                <a:cs typeface="Poppins" pitchFamily="34" charset="-120"/>
              </a:rPr>
              <a:t>02</a:t>
            </a:r>
            <a:endParaRPr lang="en-US" sz="4000" dirty="0"/>
          </a:p>
        </p:txBody>
      </p:sp>
      <p:sp>
        <p:nvSpPr>
          <p:cNvPr id="10" name="Text 8"/>
          <p:cNvSpPr/>
          <p:nvPr/>
        </p:nvSpPr>
        <p:spPr>
          <a:xfrm>
            <a:off x="4707434" y="2844800"/>
            <a:ext cx="2860447" cy="31115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220F60"/>
                </a:solidFill>
                <a:latin typeface="Poppins" pitchFamily="34" charset="0"/>
                <a:ea typeface="Poppins" pitchFamily="34" charset="-122"/>
                <a:cs typeface="Poppins" pitchFamily="34" charset="-120"/>
              </a:rPr>
              <a:t>Iterative by necessity</a:t>
            </a:r>
            <a:endParaRPr lang="en-US" sz="1800" dirty="0"/>
          </a:p>
        </p:txBody>
      </p:sp>
      <p:sp>
        <p:nvSpPr>
          <p:cNvPr id="11" name="Text 9"/>
          <p:cNvSpPr/>
          <p:nvPr/>
        </p:nvSpPr>
        <p:spPr>
          <a:xfrm>
            <a:off x="4707434" y="3257550"/>
            <a:ext cx="2860447"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B5C7F"/>
                </a:solidFill>
                <a:latin typeface="Poppins" pitchFamily="34" charset="0"/>
                <a:ea typeface="Poppins" pitchFamily="34" charset="-122"/>
                <a:cs typeface="Poppins" pitchFamily="34" charset="-120"/>
              </a:rPr>
              <a:t>Start with a rough first pass, then revise and refine for the whole lifecycle of the ontology.</a:t>
            </a:r>
            <a:endParaRPr lang="en-US" sz="1400" dirty="0"/>
          </a:p>
        </p:txBody>
      </p:sp>
      <p:sp>
        <p:nvSpPr>
          <p:cNvPr id="12" name="Shape 10"/>
          <p:cNvSpPr/>
          <p:nvPr/>
        </p:nvSpPr>
        <p:spPr>
          <a:xfrm>
            <a:off x="7992566" y="1905000"/>
            <a:ext cx="3386634" cy="3556000"/>
          </a:xfrm>
          <a:prstGeom prst="roundRect">
            <a:avLst>
              <a:gd name="adj" fmla="val 3750"/>
            </a:avLst>
          </a:prstGeom>
          <a:solidFill>
            <a:srgbClr val="220F60"/>
          </a:solidFill>
          <a:ln/>
        </p:spPr>
      </p:sp>
      <p:sp>
        <p:nvSpPr>
          <p:cNvPr id="13" name="Text 11"/>
          <p:cNvSpPr/>
          <p:nvPr/>
        </p:nvSpPr>
        <p:spPr>
          <a:xfrm>
            <a:off x="8297366" y="2209800"/>
            <a:ext cx="2860345"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DF367C"/>
                </a:solidFill>
                <a:latin typeface="Poppins" pitchFamily="34" charset="0"/>
                <a:ea typeface="Poppins" pitchFamily="34" charset="-122"/>
                <a:cs typeface="Poppins" pitchFamily="34" charset="-120"/>
              </a:rPr>
              <a:t>03</a:t>
            </a:r>
            <a:endParaRPr lang="en-US" sz="4000" dirty="0"/>
          </a:p>
        </p:txBody>
      </p:sp>
      <p:sp>
        <p:nvSpPr>
          <p:cNvPr id="14" name="Text 12"/>
          <p:cNvSpPr/>
          <p:nvPr/>
        </p:nvSpPr>
        <p:spPr>
          <a:xfrm>
            <a:off x="8297366" y="2844800"/>
            <a:ext cx="2860345" cy="31115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FFFFFF"/>
                </a:solidFill>
                <a:latin typeface="Poppins" pitchFamily="34" charset="0"/>
                <a:ea typeface="Poppins" pitchFamily="34" charset="-122"/>
                <a:cs typeface="Poppins" pitchFamily="34" charset="-120"/>
              </a:rPr>
              <a:t>Mirror the domain</a:t>
            </a:r>
            <a:endParaRPr lang="en-US" sz="1800" dirty="0"/>
          </a:p>
        </p:txBody>
      </p:sp>
      <p:sp>
        <p:nvSpPr>
          <p:cNvPr id="15" name="Text 13"/>
          <p:cNvSpPr/>
          <p:nvPr/>
        </p:nvSpPr>
        <p:spPr>
          <a:xfrm>
            <a:off x="8297366" y="3257550"/>
            <a:ext cx="2860345" cy="105648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D9D4F2"/>
                </a:solidFill>
                <a:latin typeface="Poppins" pitchFamily="34" charset="0"/>
                <a:ea typeface="Poppins" pitchFamily="34" charset="-122"/>
                <a:cs typeface="Poppins" pitchFamily="34" charset="-120"/>
              </a:rPr>
              <a:t>Concepts track real objects and relations: nouns in domain sentences become classes, verbs become properties.</a:t>
            </a:r>
            <a:endParaRPr lang="en-US" sz="1400" dirty="0"/>
          </a:p>
        </p:txBody>
      </p:sp>
      <p:pic>
        <p:nvPicPr>
          <p:cNvPr id="16" name="Image 0" descr="Graphwise symbol">    </p:cNvPr>
          <p:cNvPicPr>
            <a:picLocks noChangeAspect="1"/>
          </p:cNvPicPr>
          <p:nvPr/>
        </p:nvPicPr>
        <p:blipFill>
          <a:blip r:embed="rId1"/>
          <a:srcRect l="-182" r="-182" t="0" b="0"/>
          <a:stretch/>
        </p:blipFill>
        <p:spPr>
          <a:xfrm>
            <a:off x="812800" y="6261100"/>
            <a:ext cx="203200" cy="209550"/>
          </a:xfrm>
          <a:prstGeom prst="rect">
            <a:avLst/>
          </a:prstGeom>
        </p:spPr>
      </p:pic>
      <p:sp>
        <p:nvSpPr>
          <p:cNvPr id="17" name="Text 14"/>
          <p:cNvSpPr/>
          <p:nvPr/>
        </p:nvSpPr>
        <p:spPr>
          <a:xfrm>
            <a:off x="1117600" y="62484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5C7F"/>
                </a:solidFill>
                <a:latin typeface="Poppins" pitchFamily="34" charset="0"/>
                <a:ea typeface="Poppins" pitchFamily="34" charset="-122"/>
                <a:cs typeface="Poppins" pitchFamily="34" charset="-120"/>
              </a:rPr>
              <a:t>Ontology Development 101 · Process &amp; dependencies</a:t>
            </a:r>
            <a:endParaRPr lang="en-US" sz="1200" dirty="0"/>
          </a:p>
        </p:txBody>
      </p:sp>
      <p:sp>
        <p:nvSpPr>
          <p:cNvPr id="18" name="Text 15"/>
          <p:cNvSpPr/>
          <p:nvPr/>
        </p:nvSpPr>
        <p:spPr>
          <a:xfrm>
            <a:off x="10058400" y="624840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B5C7F"/>
                </a:solidFill>
                <a:latin typeface="Poppins" pitchFamily="34" charset="0"/>
                <a:ea typeface="Poppins" pitchFamily="34" charset="-122"/>
                <a:cs typeface="Poppi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20F60"/>
        </a:solidFill>
      </p:bgPr>
    </p:bg>
    <p:spTree>
      <p:nvGrpSpPr>
        <p:cNvPr id="1" name=""/>
        <p:cNvGrpSpPr/>
        <p:nvPr/>
      </p:nvGrpSpPr>
      <p:grpSpPr>
        <a:xfrm>
          <a:off x="0" y="0"/>
          <a:ext cx="0" cy="0"/>
          <a:chOff x="0" y="0"/>
          <a:chExt cx="0" cy="0"/>
        </a:xfrm>
      </p:grpSpPr>
      <p:sp>
        <p:nvSpPr>
          <p:cNvPr id="2" name="Text 0"/>
          <p:cNvSpPr/>
          <p:nvPr/>
        </p:nvSpPr>
        <p:spPr>
          <a:xfrm>
            <a:off x="812800" y="1905000"/>
            <a:ext cx="3924300" cy="1295400"/>
          </a:xfrm>
          <a:prstGeom prst="rect">
            <a:avLst/>
          </a:prstGeom>
          <a:noFill/>
          <a:ln/>
        </p:spPr>
        <p:txBody>
          <a:bodyPr wrap="square" lIns="0" tIns="0" rIns="0" bIns="0" rtlCol="0" anchor="t">
            <a:normAutofit/>
          </a:bodyPr>
          <a:lstStyle/>
          <a:p>
            <a:pPr algn="l" indent="0" marL="0">
              <a:lnSpc>
                <a:spcPts val="10000"/>
              </a:lnSpc>
              <a:buNone/>
            </a:pPr>
            <a:r>
              <a:rPr lang="en-US" sz="10000" b="1" dirty="0">
                <a:solidFill>
                  <a:srgbClr val="DF367C"/>
                </a:solidFill>
                <a:latin typeface="Poppins" pitchFamily="34" charset="0"/>
                <a:ea typeface="Poppins" pitchFamily="34" charset="-122"/>
                <a:cs typeface="Poppins" pitchFamily="34" charset="-120"/>
              </a:rPr>
              <a:t>01</a:t>
            </a:r>
            <a:endParaRPr lang="en-US" sz="10000" dirty="0"/>
          </a:p>
        </p:txBody>
      </p:sp>
      <p:sp>
        <p:nvSpPr>
          <p:cNvPr id="3" name="Text 1"/>
          <p:cNvSpPr/>
          <p:nvPr>
            <p:ph type="title"/>
          </p:nvPr>
        </p:nvSpPr>
        <p:spPr>
          <a:xfrm>
            <a:off x="812800" y="3556000"/>
            <a:ext cx="10883392" cy="6959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FFFFF"/>
                </a:solidFill>
                <a:latin typeface="Poppins" pitchFamily="34" charset="0"/>
                <a:ea typeface="Poppins" pitchFamily="34" charset="-122"/>
                <a:cs typeface="Poppins" pitchFamily="34" charset="-120"/>
              </a:rPr>
              <a:t>The development flow</a:t>
            </a:r>
            <a:endParaRPr lang="en-US" sz="4800" dirty="0"/>
          </a:p>
        </p:txBody>
      </p:sp>
      <p:sp>
        <p:nvSpPr>
          <p:cNvPr id="4" name="Text 2"/>
          <p:cNvSpPr/>
          <p:nvPr/>
        </p:nvSpPr>
        <p:spPr>
          <a:xfrm>
            <a:off x="812800" y="4445000"/>
            <a:ext cx="8502650" cy="665361"/>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D9D4F2"/>
                </a:solidFill>
                <a:latin typeface="Poppins" pitchFamily="34" charset="0"/>
                <a:ea typeface="Poppins" pitchFamily="34" charset="-122"/>
                <a:cs typeface="Poppins" pitchFamily="34" charset="-120"/>
              </a:rPr>
              <a:t>Nine phases end to end, and the competency questions that tie them together</a:t>
            </a:r>
            <a:endParaRPr lang="en-US" sz="1800" dirty="0"/>
          </a:p>
        </p:txBody>
      </p:sp>
      <p:sp>
        <p:nvSpPr>
          <p:cNvPr id="5" name="Text 3"/>
          <p:cNvSpPr/>
          <p:nvPr/>
        </p:nvSpPr>
        <p:spPr>
          <a:xfrm>
            <a:off x="812800" y="62484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C9C3E8"/>
                </a:solidFill>
                <a:latin typeface="Poppins" pitchFamily="34" charset="0"/>
                <a:ea typeface="Poppins" pitchFamily="34" charset="-122"/>
                <a:cs typeface="Poppins" pitchFamily="34" charset="-120"/>
              </a:rPr>
              <a:t>AI THRIVES ON WHOLE DATA</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327400"/>
            <a:ext cx="6426200" cy="1435100"/>
          </a:xfrm>
          <a:prstGeom prst="roundRect">
            <a:avLst>
              <a:gd name="adj" fmla="val 8850"/>
            </a:avLst>
          </a:prstGeom>
          <a:solidFill>
            <a:srgbClr val="E8EBFF"/>
          </a:solidFill>
          <a:ln/>
        </p:spPr>
      </p:sp>
      <p:sp>
        <p:nvSpPr>
          <p:cNvPr id="3" name="Text 1"/>
          <p:cNvSpPr/>
          <p:nvPr/>
        </p:nvSpPr>
        <p:spPr>
          <a:xfrm>
            <a:off x="812800" y="4064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1FFF"/>
                </a:solidFill>
                <a:latin typeface="Poppins" pitchFamily="34" charset="0"/>
                <a:ea typeface="Poppins" pitchFamily="34" charset="-122"/>
                <a:cs typeface="Poppins" pitchFamily="34" charset="-120"/>
              </a:rPr>
              <a:t>DEVELOPMENT FLOW</a:t>
            </a:r>
            <a:endParaRPr lang="en-US" sz="1200" dirty="0"/>
          </a:p>
        </p:txBody>
      </p:sp>
      <p:sp>
        <p:nvSpPr>
          <p:cNvPr id="4" name="Text 2"/>
          <p:cNvSpPr/>
          <p:nvPr>
            <p:ph type="title"/>
          </p:nvPr>
        </p:nvSpPr>
        <p:spPr>
          <a:xfrm>
            <a:off x="812800" y="660400"/>
            <a:ext cx="7194550"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220F60"/>
                </a:solidFill>
                <a:latin typeface="Poppins" pitchFamily="34" charset="0"/>
                <a:ea typeface="Poppins" pitchFamily="34" charset="-122"/>
                <a:cs typeface="Poppins" pitchFamily="34" charset="-120"/>
              </a:rPr>
              <a:t>Nine phases, one loop</a:t>
            </a:r>
            <a:endParaRPr lang="en-US" sz="3000" dirty="0"/>
          </a:p>
        </p:txBody>
      </p:sp>
      <p:sp>
        <p:nvSpPr>
          <p:cNvPr id="5" name="Shape 3"/>
          <p:cNvSpPr/>
          <p:nvPr/>
        </p:nvSpPr>
        <p:spPr>
          <a:xfrm>
            <a:off x="812800" y="1905000"/>
            <a:ext cx="1778000" cy="1016000"/>
          </a:xfrm>
          <a:prstGeom prst="roundRect">
            <a:avLst>
              <a:gd name="adj" fmla="val 8750"/>
            </a:avLst>
          </a:prstGeom>
          <a:solidFill>
            <a:srgbClr val="F2F2F2"/>
          </a:solidFill>
          <a:ln/>
        </p:spPr>
      </p:sp>
      <p:sp>
        <p:nvSpPr>
          <p:cNvPr id="6" name="Text 4"/>
          <p:cNvSpPr/>
          <p:nvPr/>
        </p:nvSpPr>
        <p:spPr>
          <a:xfrm>
            <a:off x="939800" y="2298700"/>
            <a:ext cx="304800" cy="254000"/>
          </a:xfrm>
          <a:prstGeom prst="rect">
            <a:avLst/>
          </a:prstGeom>
          <a:noFill/>
          <a:ln/>
        </p:spPr>
        <p:txBody>
          <a:bodyPr wrap="square" lIns="0" tIns="0" rIns="0" bIns="0" rtlCol="0" anchor="t">
            <a:normAutofit/>
          </a:bodyPr>
          <a:lstStyle/>
          <a:p>
            <a:pPr algn="l" indent="0" marL="0">
              <a:lnSpc>
                <a:spcPts val="1800"/>
              </a:lnSpc>
              <a:buNone/>
            </a:pPr>
            <a:r>
              <a:rPr lang="en-US" sz="1800" b="1" dirty="0">
                <a:solidFill>
                  <a:srgbClr val="001FFF"/>
                </a:solidFill>
                <a:latin typeface="Poppins" pitchFamily="34" charset="0"/>
                <a:ea typeface="Poppins" pitchFamily="34" charset="-122"/>
                <a:cs typeface="Poppins" pitchFamily="34" charset="-120"/>
              </a:rPr>
              <a:t>1</a:t>
            </a:r>
            <a:endParaRPr lang="en-US" sz="1800" dirty="0"/>
          </a:p>
        </p:txBody>
      </p:sp>
      <p:sp>
        <p:nvSpPr>
          <p:cNvPr id="7" name="Text 5"/>
          <p:cNvSpPr/>
          <p:nvPr/>
        </p:nvSpPr>
        <p:spPr>
          <a:xfrm>
            <a:off x="1282700" y="2214959"/>
            <a:ext cx="1206500" cy="42148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Scope &amp; Competency</a:t>
            </a:r>
            <a:endParaRPr lang="en-US" sz="1300" dirty="0"/>
          </a:p>
        </p:txBody>
      </p:sp>
      <p:sp>
        <p:nvSpPr>
          <p:cNvPr id="8" name="Shape 6"/>
          <p:cNvSpPr/>
          <p:nvPr/>
        </p:nvSpPr>
        <p:spPr>
          <a:xfrm>
            <a:off x="3009900" y="1905000"/>
            <a:ext cx="1778000" cy="1016000"/>
          </a:xfrm>
          <a:prstGeom prst="roundRect">
            <a:avLst>
              <a:gd name="adj" fmla="val 8750"/>
            </a:avLst>
          </a:prstGeom>
          <a:solidFill>
            <a:srgbClr val="F2F2F2"/>
          </a:solidFill>
          <a:ln/>
        </p:spPr>
      </p:sp>
      <p:sp>
        <p:nvSpPr>
          <p:cNvPr id="9" name="Text 7"/>
          <p:cNvSpPr/>
          <p:nvPr/>
        </p:nvSpPr>
        <p:spPr>
          <a:xfrm>
            <a:off x="3136900" y="2298700"/>
            <a:ext cx="304800" cy="254000"/>
          </a:xfrm>
          <a:prstGeom prst="rect">
            <a:avLst/>
          </a:prstGeom>
          <a:noFill/>
          <a:ln/>
        </p:spPr>
        <p:txBody>
          <a:bodyPr wrap="square" lIns="0" tIns="0" rIns="0" bIns="0" rtlCol="0" anchor="t">
            <a:normAutofit/>
          </a:bodyPr>
          <a:lstStyle/>
          <a:p>
            <a:pPr algn="l" indent="0" marL="0">
              <a:lnSpc>
                <a:spcPts val="1800"/>
              </a:lnSpc>
              <a:buNone/>
            </a:pPr>
            <a:r>
              <a:rPr lang="en-US" sz="1800" b="1" dirty="0">
                <a:solidFill>
                  <a:srgbClr val="001FFF"/>
                </a:solidFill>
                <a:latin typeface="Poppins" pitchFamily="34" charset="0"/>
                <a:ea typeface="Poppins" pitchFamily="34" charset="-122"/>
                <a:cs typeface="Poppins" pitchFamily="34" charset="-120"/>
              </a:rPr>
              <a:t>2</a:t>
            </a:r>
            <a:endParaRPr lang="en-US" sz="1800" dirty="0"/>
          </a:p>
        </p:txBody>
      </p:sp>
      <p:sp>
        <p:nvSpPr>
          <p:cNvPr id="10" name="Text 8"/>
          <p:cNvSpPr/>
          <p:nvPr/>
        </p:nvSpPr>
        <p:spPr>
          <a:xfrm>
            <a:off x="3479800" y="2214959"/>
            <a:ext cx="1206500" cy="42148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Consider reuse</a:t>
            </a:r>
            <a:endParaRPr lang="en-US" sz="1300" dirty="0"/>
          </a:p>
        </p:txBody>
      </p:sp>
      <p:sp>
        <p:nvSpPr>
          <p:cNvPr id="11" name="Shape 9"/>
          <p:cNvSpPr/>
          <p:nvPr/>
        </p:nvSpPr>
        <p:spPr>
          <a:xfrm>
            <a:off x="5207000" y="1905000"/>
            <a:ext cx="1778000" cy="1016000"/>
          </a:xfrm>
          <a:prstGeom prst="roundRect">
            <a:avLst>
              <a:gd name="adj" fmla="val 8750"/>
            </a:avLst>
          </a:prstGeom>
          <a:solidFill>
            <a:srgbClr val="F2F2F2"/>
          </a:solidFill>
          <a:ln/>
        </p:spPr>
      </p:sp>
      <p:sp>
        <p:nvSpPr>
          <p:cNvPr id="12" name="Text 10"/>
          <p:cNvSpPr/>
          <p:nvPr/>
        </p:nvSpPr>
        <p:spPr>
          <a:xfrm>
            <a:off x="5334000" y="2298700"/>
            <a:ext cx="304800" cy="254000"/>
          </a:xfrm>
          <a:prstGeom prst="rect">
            <a:avLst/>
          </a:prstGeom>
          <a:noFill/>
          <a:ln/>
        </p:spPr>
        <p:txBody>
          <a:bodyPr wrap="square" lIns="0" tIns="0" rIns="0" bIns="0" rtlCol="0" anchor="t">
            <a:normAutofit/>
          </a:bodyPr>
          <a:lstStyle/>
          <a:p>
            <a:pPr algn="l" indent="0" marL="0">
              <a:lnSpc>
                <a:spcPts val="1800"/>
              </a:lnSpc>
              <a:buNone/>
            </a:pPr>
            <a:r>
              <a:rPr lang="en-US" sz="1800" b="1" dirty="0">
                <a:solidFill>
                  <a:srgbClr val="001FFF"/>
                </a:solidFill>
                <a:latin typeface="Poppins" pitchFamily="34" charset="0"/>
                <a:ea typeface="Poppins" pitchFamily="34" charset="-122"/>
                <a:cs typeface="Poppins" pitchFamily="34" charset="-120"/>
              </a:rPr>
              <a:t>3</a:t>
            </a:r>
            <a:endParaRPr lang="en-US" sz="1800" dirty="0"/>
          </a:p>
        </p:txBody>
      </p:sp>
      <p:sp>
        <p:nvSpPr>
          <p:cNvPr id="13" name="Text 11"/>
          <p:cNvSpPr/>
          <p:nvPr/>
        </p:nvSpPr>
        <p:spPr>
          <a:xfrm>
            <a:off x="5676900" y="2214959"/>
            <a:ext cx="1206500" cy="42148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Enumerate terms</a:t>
            </a:r>
            <a:endParaRPr lang="en-US" sz="1300" dirty="0"/>
          </a:p>
        </p:txBody>
      </p:sp>
      <p:sp>
        <p:nvSpPr>
          <p:cNvPr id="14" name="Shape 12"/>
          <p:cNvSpPr/>
          <p:nvPr/>
        </p:nvSpPr>
        <p:spPr>
          <a:xfrm>
            <a:off x="7410450" y="1911350"/>
            <a:ext cx="1765300" cy="1003300"/>
          </a:xfrm>
          <a:prstGeom prst="roundRect">
            <a:avLst>
              <a:gd name="adj" fmla="val 8228"/>
            </a:avLst>
          </a:prstGeom>
          <a:solidFill>
            <a:srgbClr val="FFFFFF"/>
          </a:solidFill>
          <a:ln w="12700">
            <a:solidFill>
              <a:srgbClr val="9AA3AD"/>
            </a:solidFill>
            <a:prstDash val="dash"/>
          </a:ln>
        </p:spPr>
      </p:sp>
      <p:sp>
        <p:nvSpPr>
          <p:cNvPr id="15" name="Text 13"/>
          <p:cNvSpPr/>
          <p:nvPr/>
        </p:nvSpPr>
        <p:spPr>
          <a:xfrm>
            <a:off x="7543800" y="2298700"/>
            <a:ext cx="355600" cy="254000"/>
          </a:xfrm>
          <a:prstGeom prst="rect">
            <a:avLst/>
          </a:prstGeom>
          <a:noFill/>
          <a:ln/>
        </p:spPr>
        <p:txBody>
          <a:bodyPr wrap="square" lIns="0" tIns="0" rIns="0" bIns="0" rtlCol="0" anchor="t">
            <a:normAutofit/>
          </a:bodyPr>
          <a:lstStyle/>
          <a:p>
            <a:pPr algn="l" indent="0" marL="0">
              <a:lnSpc>
                <a:spcPts val="1800"/>
              </a:lnSpc>
              <a:buNone/>
            </a:pPr>
            <a:r>
              <a:rPr lang="en-US" sz="1800" b="1" dirty="0">
                <a:solidFill>
                  <a:srgbClr val="001FFF"/>
                </a:solidFill>
                <a:latin typeface="Poppins" pitchFamily="34" charset="0"/>
                <a:ea typeface="Poppins" pitchFamily="34" charset="-122"/>
                <a:cs typeface="Poppins" pitchFamily="34" charset="-120"/>
              </a:rPr>
              <a:t>3b</a:t>
            </a:r>
            <a:endParaRPr lang="en-US" sz="1800" dirty="0"/>
          </a:p>
        </p:txBody>
      </p:sp>
      <p:sp>
        <p:nvSpPr>
          <p:cNvPr id="16" name="Text 14"/>
          <p:cNvSpPr/>
          <p:nvPr/>
        </p:nvSpPr>
        <p:spPr>
          <a:xfrm>
            <a:off x="7937500" y="2101949"/>
            <a:ext cx="1155700" cy="42148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Naming conventions</a:t>
            </a:r>
            <a:endParaRPr lang="en-US" sz="1300" dirty="0"/>
          </a:p>
        </p:txBody>
      </p:sp>
      <p:sp>
        <p:nvSpPr>
          <p:cNvPr id="17" name="Text 15"/>
          <p:cNvSpPr/>
          <p:nvPr/>
        </p:nvSpPr>
        <p:spPr>
          <a:xfrm>
            <a:off x="7937500" y="2510730"/>
            <a:ext cx="1155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5C7F"/>
                </a:solidFill>
                <a:latin typeface="Poppins" pitchFamily="34" charset="0"/>
                <a:ea typeface="Poppins" pitchFamily="34" charset="-122"/>
                <a:cs typeface="Poppins" pitchFamily="34" charset="-120"/>
              </a:rPr>
              <a:t>cross-cutting</a:t>
            </a:r>
            <a:endParaRPr lang="en-US" sz="1200" dirty="0"/>
          </a:p>
        </p:txBody>
      </p:sp>
      <p:sp>
        <p:nvSpPr>
          <p:cNvPr id="18" name="Shape 16"/>
          <p:cNvSpPr/>
          <p:nvPr/>
        </p:nvSpPr>
        <p:spPr>
          <a:xfrm>
            <a:off x="819150" y="3689350"/>
            <a:ext cx="1765300" cy="1003300"/>
          </a:xfrm>
          <a:prstGeom prst="roundRect">
            <a:avLst>
              <a:gd name="adj" fmla="val 8228"/>
            </a:avLst>
          </a:prstGeom>
          <a:solidFill>
            <a:srgbClr val="FFFFFF"/>
          </a:solidFill>
          <a:ln w="12700">
            <a:solidFill>
              <a:srgbClr val="001FFF"/>
            </a:solidFill>
            <a:prstDash val="solid"/>
          </a:ln>
        </p:spPr>
      </p:sp>
      <p:sp>
        <p:nvSpPr>
          <p:cNvPr id="19" name="Text 17"/>
          <p:cNvSpPr/>
          <p:nvPr/>
        </p:nvSpPr>
        <p:spPr>
          <a:xfrm>
            <a:off x="952500" y="4076700"/>
            <a:ext cx="304800" cy="254000"/>
          </a:xfrm>
          <a:prstGeom prst="rect">
            <a:avLst/>
          </a:prstGeom>
          <a:noFill/>
          <a:ln/>
        </p:spPr>
        <p:txBody>
          <a:bodyPr wrap="square" lIns="0" tIns="0" rIns="0" bIns="0" rtlCol="0" anchor="t">
            <a:normAutofit/>
          </a:bodyPr>
          <a:lstStyle/>
          <a:p>
            <a:pPr algn="l" indent="0" marL="0">
              <a:lnSpc>
                <a:spcPts val="1800"/>
              </a:lnSpc>
              <a:buNone/>
            </a:pPr>
            <a:r>
              <a:rPr lang="en-US" sz="1800" b="1" dirty="0">
                <a:solidFill>
                  <a:srgbClr val="001FFF"/>
                </a:solidFill>
                <a:latin typeface="Poppins" pitchFamily="34" charset="0"/>
                <a:ea typeface="Poppins" pitchFamily="34" charset="-122"/>
                <a:cs typeface="Poppins" pitchFamily="34" charset="-120"/>
              </a:rPr>
              <a:t>4</a:t>
            </a:r>
            <a:endParaRPr lang="en-US" sz="1800" dirty="0"/>
          </a:p>
        </p:txBody>
      </p:sp>
      <p:sp>
        <p:nvSpPr>
          <p:cNvPr id="20" name="Text 18"/>
          <p:cNvSpPr/>
          <p:nvPr/>
        </p:nvSpPr>
        <p:spPr>
          <a:xfrm>
            <a:off x="1295400" y="3992959"/>
            <a:ext cx="1206500" cy="42148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Classes &amp; hierarchy</a:t>
            </a:r>
            <a:endParaRPr lang="en-US" sz="1300" dirty="0"/>
          </a:p>
        </p:txBody>
      </p:sp>
      <p:sp>
        <p:nvSpPr>
          <p:cNvPr id="21" name="Shape 19"/>
          <p:cNvSpPr/>
          <p:nvPr/>
        </p:nvSpPr>
        <p:spPr>
          <a:xfrm>
            <a:off x="3016250" y="3689350"/>
            <a:ext cx="1765300" cy="1003300"/>
          </a:xfrm>
          <a:prstGeom prst="roundRect">
            <a:avLst>
              <a:gd name="adj" fmla="val 8228"/>
            </a:avLst>
          </a:prstGeom>
          <a:solidFill>
            <a:srgbClr val="FFFFFF"/>
          </a:solidFill>
          <a:ln w="12700">
            <a:solidFill>
              <a:srgbClr val="001FFF"/>
            </a:solidFill>
            <a:prstDash val="solid"/>
          </a:ln>
        </p:spPr>
      </p:sp>
      <p:sp>
        <p:nvSpPr>
          <p:cNvPr id="22" name="Text 20"/>
          <p:cNvSpPr/>
          <p:nvPr/>
        </p:nvSpPr>
        <p:spPr>
          <a:xfrm>
            <a:off x="3149600" y="4076700"/>
            <a:ext cx="304800" cy="254000"/>
          </a:xfrm>
          <a:prstGeom prst="rect">
            <a:avLst/>
          </a:prstGeom>
          <a:noFill/>
          <a:ln/>
        </p:spPr>
        <p:txBody>
          <a:bodyPr wrap="square" lIns="0" tIns="0" rIns="0" bIns="0" rtlCol="0" anchor="t">
            <a:normAutofit/>
          </a:bodyPr>
          <a:lstStyle/>
          <a:p>
            <a:pPr algn="l" indent="0" marL="0">
              <a:lnSpc>
                <a:spcPts val="1800"/>
              </a:lnSpc>
              <a:buNone/>
            </a:pPr>
            <a:r>
              <a:rPr lang="en-US" sz="1800" b="1" dirty="0">
                <a:solidFill>
                  <a:srgbClr val="001FFF"/>
                </a:solidFill>
                <a:latin typeface="Poppins" pitchFamily="34" charset="0"/>
                <a:ea typeface="Poppins" pitchFamily="34" charset="-122"/>
                <a:cs typeface="Poppins" pitchFamily="34" charset="-120"/>
              </a:rPr>
              <a:t>5</a:t>
            </a:r>
            <a:endParaRPr lang="en-US" sz="1800" dirty="0"/>
          </a:p>
        </p:txBody>
      </p:sp>
      <p:sp>
        <p:nvSpPr>
          <p:cNvPr id="23" name="Text 21"/>
          <p:cNvSpPr/>
          <p:nvPr/>
        </p:nvSpPr>
        <p:spPr>
          <a:xfrm>
            <a:off x="3492500" y="4091980"/>
            <a:ext cx="1206500"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Properties</a:t>
            </a:r>
            <a:endParaRPr lang="en-US" sz="1300" dirty="0"/>
          </a:p>
        </p:txBody>
      </p:sp>
      <p:sp>
        <p:nvSpPr>
          <p:cNvPr id="24" name="Shape 22"/>
          <p:cNvSpPr/>
          <p:nvPr/>
        </p:nvSpPr>
        <p:spPr>
          <a:xfrm>
            <a:off x="5213350" y="3689350"/>
            <a:ext cx="1765300" cy="1003300"/>
          </a:xfrm>
          <a:prstGeom prst="roundRect">
            <a:avLst>
              <a:gd name="adj" fmla="val 8228"/>
            </a:avLst>
          </a:prstGeom>
          <a:solidFill>
            <a:srgbClr val="FFFFFF"/>
          </a:solidFill>
          <a:ln w="12700">
            <a:solidFill>
              <a:srgbClr val="001FFF"/>
            </a:solidFill>
            <a:prstDash val="solid"/>
          </a:ln>
        </p:spPr>
      </p:sp>
      <p:sp>
        <p:nvSpPr>
          <p:cNvPr id="25" name="Text 23"/>
          <p:cNvSpPr/>
          <p:nvPr/>
        </p:nvSpPr>
        <p:spPr>
          <a:xfrm>
            <a:off x="5346700" y="4076700"/>
            <a:ext cx="304800" cy="254000"/>
          </a:xfrm>
          <a:prstGeom prst="rect">
            <a:avLst/>
          </a:prstGeom>
          <a:noFill/>
          <a:ln/>
        </p:spPr>
        <p:txBody>
          <a:bodyPr wrap="square" lIns="0" tIns="0" rIns="0" bIns="0" rtlCol="0" anchor="t">
            <a:normAutofit/>
          </a:bodyPr>
          <a:lstStyle/>
          <a:p>
            <a:pPr algn="l" indent="0" marL="0">
              <a:lnSpc>
                <a:spcPts val="1800"/>
              </a:lnSpc>
              <a:buNone/>
            </a:pPr>
            <a:r>
              <a:rPr lang="en-US" sz="1800" b="1" dirty="0">
                <a:solidFill>
                  <a:srgbClr val="001FFF"/>
                </a:solidFill>
                <a:latin typeface="Poppins" pitchFamily="34" charset="0"/>
                <a:ea typeface="Poppins" pitchFamily="34" charset="-122"/>
                <a:cs typeface="Poppins" pitchFamily="34" charset="-120"/>
              </a:rPr>
              <a:t>6</a:t>
            </a:r>
            <a:endParaRPr lang="en-US" sz="1800" dirty="0"/>
          </a:p>
        </p:txBody>
      </p:sp>
      <p:sp>
        <p:nvSpPr>
          <p:cNvPr id="26" name="Text 24"/>
          <p:cNvSpPr/>
          <p:nvPr/>
        </p:nvSpPr>
        <p:spPr>
          <a:xfrm>
            <a:off x="5689600" y="3992959"/>
            <a:ext cx="1206500" cy="42148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Logical axioms</a:t>
            </a:r>
            <a:endParaRPr lang="en-US" sz="1300" dirty="0"/>
          </a:p>
        </p:txBody>
      </p:sp>
      <p:sp>
        <p:nvSpPr>
          <p:cNvPr id="27" name="Shape 25"/>
          <p:cNvSpPr/>
          <p:nvPr/>
        </p:nvSpPr>
        <p:spPr>
          <a:xfrm>
            <a:off x="7404100" y="3683000"/>
            <a:ext cx="1778000" cy="1016000"/>
          </a:xfrm>
          <a:prstGeom prst="roundRect">
            <a:avLst>
              <a:gd name="adj" fmla="val 8750"/>
            </a:avLst>
          </a:prstGeom>
          <a:solidFill>
            <a:srgbClr val="F2F2F2"/>
          </a:solidFill>
          <a:ln/>
        </p:spPr>
      </p:sp>
      <p:sp>
        <p:nvSpPr>
          <p:cNvPr id="28" name="Text 26"/>
          <p:cNvSpPr/>
          <p:nvPr/>
        </p:nvSpPr>
        <p:spPr>
          <a:xfrm>
            <a:off x="7531100" y="4076700"/>
            <a:ext cx="304800" cy="254000"/>
          </a:xfrm>
          <a:prstGeom prst="rect">
            <a:avLst/>
          </a:prstGeom>
          <a:noFill/>
          <a:ln/>
        </p:spPr>
        <p:txBody>
          <a:bodyPr wrap="square" lIns="0" tIns="0" rIns="0" bIns="0" rtlCol="0" anchor="t">
            <a:normAutofit/>
          </a:bodyPr>
          <a:lstStyle/>
          <a:p>
            <a:pPr algn="l" indent="0" marL="0">
              <a:lnSpc>
                <a:spcPts val="1800"/>
              </a:lnSpc>
              <a:buNone/>
            </a:pPr>
            <a:r>
              <a:rPr lang="en-US" sz="1800" b="1" dirty="0">
                <a:solidFill>
                  <a:srgbClr val="001FFF"/>
                </a:solidFill>
                <a:latin typeface="Poppins" pitchFamily="34" charset="0"/>
                <a:ea typeface="Poppins" pitchFamily="34" charset="-122"/>
                <a:cs typeface="Poppins" pitchFamily="34" charset="-120"/>
              </a:rPr>
              <a:t>7</a:t>
            </a:r>
            <a:endParaRPr lang="en-US" sz="1800" dirty="0"/>
          </a:p>
        </p:txBody>
      </p:sp>
      <p:sp>
        <p:nvSpPr>
          <p:cNvPr id="29" name="Text 27"/>
          <p:cNvSpPr/>
          <p:nvPr/>
        </p:nvSpPr>
        <p:spPr>
          <a:xfrm>
            <a:off x="7874000" y="3992959"/>
            <a:ext cx="1206500" cy="42148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Create instances</a:t>
            </a:r>
            <a:endParaRPr lang="en-US" sz="1300" dirty="0"/>
          </a:p>
        </p:txBody>
      </p:sp>
      <p:sp>
        <p:nvSpPr>
          <p:cNvPr id="30" name="Shape 28"/>
          <p:cNvSpPr/>
          <p:nvPr/>
        </p:nvSpPr>
        <p:spPr>
          <a:xfrm>
            <a:off x="9601200" y="3683000"/>
            <a:ext cx="1778000" cy="1016000"/>
          </a:xfrm>
          <a:prstGeom prst="roundRect">
            <a:avLst>
              <a:gd name="adj" fmla="val 8750"/>
            </a:avLst>
          </a:prstGeom>
          <a:solidFill>
            <a:srgbClr val="220F60"/>
          </a:solidFill>
          <a:ln/>
        </p:spPr>
      </p:sp>
      <p:sp>
        <p:nvSpPr>
          <p:cNvPr id="31" name="Text 29"/>
          <p:cNvSpPr/>
          <p:nvPr/>
        </p:nvSpPr>
        <p:spPr>
          <a:xfrm>
            <a:off x="9728200" y="4076700"/>
            <a:ext cx="304800" cy="254000"/>
          </a:xfrm>
          <a:prstGeom prst="rect">
            <a:avLst/>
          </a:prstGeom>
          <a:noFill/>
          <a:ln/>
        </p:spPr>
        <p:txBody>
          <a:bodyPr wrap="square" lIns="0" tIns="0" rIns="0" bIns="0" rtlCol="0" anchor="t">
            <a:normAutofit/>
          </a:bodyPr>
          <a:lstStyle/>
          <a:p>
            <a:pPr algn="l" indent="0" marL="0">
              <a:lnSpc>
                <a:spcPts val="1800"/>
              </a:lnSpc>
              <a:buNone/>
            </a:pPr>
            <a:r>
              <a:rPr lang="en-US" sz="1800" b="1" dirty="0">
                <a:solidFill>
                  <a:srgbClr val="F49AC1"/>
                </a:solidFill>
                <a:latin typeface="Poppins" pitchFamily="34" charset="0"/>
                <a:ea typeface="Poppins" pitchFamily="34" charset="-122"/>
                <a:cs typeface="Poppins" pitchFamily="34" charset="-120"/>
              </a:rPr>
              <a:t>8</a:t>
            </a:r>
            <a:endParaRPr lang="en-US" sz="1800" dirty="0"/>
          </a:p>
        </p:txBody>
      </p:sp>
      <p:sp>
        <p:nvSpPr>
          <p:cNvPr id="32" name="Text 30"/>
          <p:cNvSpPr/>
          <p:nvPr/>
        </p:nvSpPr>
        <p:spPr>
          <a:xfrm>
            <a:off x="10071100" y="3992959"/>
            <a:ext cx="1206500" cy="42148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FFFFFF"/>
                </a:solidFill>
                <a:latin typeface="Poppins" pitchFamily="34" charset="0"/>
                <a:ea typeface="Poppins" pitchFamily="34" charset="-122"/>
                <a:cs typeface="Poppins" pitchFamily="34" charset="-120"/>
              </a:rPr>
              <a:t>Evaluate &amp; iterate</a:t>
            </a:r>
            <a:endParaRPr lang="en-US" sz="1300" dirty="0"/>
          </a:p>
        </p:txBody>
      </p:sp>
      <p:pic>
        <p:nvPicPr>
          <p:cNvPr id="33" name="Image 0" descr="connector">    </p:cNvPr>
          <p:cNvPicPr>
            <a:picLocks noChangeAspect="1"/>
          </p:cNvPicPr>
          <p:nvPr/>
        </p:nvPicPr>
        <p:blipFill>
          <a:blip r:embed="rId1"/>
          <a:srcRect l="0" r="0" t="0" b="0"/>
          <a:stretch/>
        </p:blipFill>
        <p:spPr>
          <a:xfrm>
            <a:off x="2540000" y="2362200"/>
            <a:ext cx="520700" cy="101600"/>
          </a:xfrm>
          <a:prstGeom prst="rect">
            <a:avLst/>
          </a:prstGeom>
        </p:spPr>
      </p:pic>
      <p:pic>
        <p:nvPicPr>
          <p:cNvPr id="34" name="Image 1" descr="connector">    </p:cNvPr>
          <p:cNvPicPr>
            <a:picLocks noChangeAspect="1"/>
          </p:cNvPicPr>
          <p:nvPr/>
        </p:nvPicPr>
        <p:blipFill>
          <a:blip r:embed="rId2"/>
          <a:srcRect l="0" r="0" t="0" b="0"/>
          <a:stretch/>
        </p:blipFill>
        <p:spPr>
          <a:xfrm>
            <a:off x="4737100" y="2362200"/>
            <a:ext cx="520700" cy="101600"/>
          </a:xfrm>
          <a:prstGeom prst="rect">
            <a:avLst/>
          </a:prstGeom>
        </p:spPr>
      </p:pic>
      <p:pic>
        <p:nvPicPr>
          <p:cNvPr id="35" name="Image 2" descr="connector">    </p:cNvPr>
          <p:cNvPicPr>
            <a:picLocks noChangeAspect="1"/>
          </p:cNvPicPr>
          <p:nvPr/>
        </p:nvPicPr>
        <p:blipFill>
          <a:blip r:embed="rId3"/>
          <a:srcRect l="0" r="0" t="0" b="0"/>
          <a:stretch/>
        </p:blipFill>
        <p:spPr>
          <a:xfrm>
            <a:off x="6934200" y="2362200"/>
            <a:ext cx="520700" cy="101600"/>
          </a:xfrm>
          <a:prstGeom prst="rect">
            <a:avLst/>
          </a:prstGeom>
        </p:spPr>
      </p:pic>
      <p:pic>
        <p:nvPicPr>
          <p:cNvPr id="36" name="Image 3" descr="connector">    </p:cNvPr>
          <p:cNvPicPr>
            <a:picLocks noChangeAspect="1"/>
          </p:cNvPicPr>
          <p:nvPr/>
        </p:nvPicPr>
        <p:blipFill>
          <a:blip r:embed="rId4"/>
          <a:srcRect l="0" r="0" t="0" b="0"/>
          <a:stretch/>
        </p:blipFill>
        <p:spPr>
          <a:xfrm>
            <a:off x="8242300" y="2870200"/>
            <a:ext cx="101600" cy="419100"/>
          </a:xfrm>
          <a:prstGeom prst="rect">
            <a:avLst/>
          </a:prstGeom>
        </p:spPr>
      </p:pic>
      <p:pic>
        <p:nvPicPr>
          <p:cNvPr id="37" name="Image 4" descr="connector">    </p:cNvPr>
          <p:cNvPicPr>
            <a:picLocks noChangeAspect="1"/>
          </p:cNvPicPr>
          <p:nvPr/>
        </p:nvPicPr>
        <p:blipFill>
          <a:blip r:embed="rId5"/>
          <a:srcRect l="0" r="0" t="0" b="0"/>
          <a:stretch/>
        </p:blipFill>
        <p:spPr>
          <a:xfrm>
            <a:off x="1651000" y="3187700"/>
            <a:ext cx="6692900" cy="101600"/>
          </a:xfrm>
          <a:prstGeom prst="rect">
            <a:avLst/>
          </a:prstGeom>
        </p:spPr>
      </p:pic>
      <p:pic>
        <p:nvPicPr>
          <p:cNvPr id="38" name="Image 5" descr="connector">    </p:cNvPr>
          <p:cNvPicPr>
            <a:picLocks noChangeAspect="1"/>
          </p:cNvPicPr>
          <p:nvPr/>
        </p:nvPicPr>
        <p:blipFill>
          <a:blip r:embed="rId6"/>
          <a:srcRect l="0" r="0" t="0" b="0"/>
          <a:stretch/>
        </p:blipFill>
        <p:spPr>
          <a:xfrm>
            <a:off x="1651000" y="3187700"/>
            <a:ext cx="101600" cy="546100"/>
          </a:xfrm>
          <a:prstGeom prst="rect">
            <a:avLst/>
          </a:prstGeom>
        </p:spPr>
      </p:pic>
      <p:pic>
        <p:nvPicPr>
          <p:cNvPr id="39" name="Image 6" descr="connector">    </p:cNvPr>
          <p:cNvPicPr>
            <a:picLocks noChangeAspect="1"/>
          </p:cNvPicPr>
          <p:nvPr/>
        </p:nvPicPr>
        <p:blipFill>
          <a:blip r:embed="rId7"/>
          <a:srcRect l="0" r="0" t="0" b="0"/>
          <a:stretch/>
        </p:blipFill>
        <p:spPr>
          <a:xfrm>
            <a:off x="2540000" y="4140200"/>
            <a:ext cx="520700" cy="101600"/>
          </a:xfrm>
          <a:prstGeom prst="rect">
            <a:avLst/>
          </a:prstGeom>
        </p:spPr>
      </p:pic>
      <p:pic>
        <p:nvPicPr>
          <p:cNvPr id="40" name="Image 7" descr="connector">    </p:cNvPr>
          <p:cNvPicPr>
            <a:picLocks noChangeAspect="1"/>
          </p:cNvPicPr>
          <p:nvPr/>
        </p:nvPicPr>
        <p:blipFill>
          <a:blip r:embed="rId8"/>
          <a:srcRect l="0" r="0" t="0" b="0"/>
          <a:stretch/>
        </p:blipFill>
        <p:spPr>
          <a:xfrm>
            <a:off x="4737100" y="4140200"/>
            <a:ext cx="520700" cy="101600"/>
          </a:xfrm>
          <a:prstGeom prst="rect">
            <a:avLst/>
          </a:prstGeom>
        </p:spPr>
      </p:pic>
      <p:pic>
        <p:nvPicPr>
          <p:cNvPr id="41" name="Image 8" descr="connector">    </p:cNvPr>
          <p:cNvPicPr>
            <a:picLocks noChangeAspect="1"/>
          </p:cNvPicPr>
          <p:nvPr/>
        </p:nvPicPr>
        <p:blipFill>
          <a:blip r:embed="rId9"/>
          <a:srcRect l="0" r="0" t="0" b="0"/>
          <a:stretch/>
        </p:blipFill>
        <p:spPr>
          <a:xfrm>
            <a:off x="6934200" y="4140200"/>
            <a:ext cx="520700" cy="101600"/>
          </a:xfrm>
          <a:prstGeom prst="rect">
            <a:avLst/>
          </a:prstGeom>
        </p:spPr>
      </p:pic>
      <p:pic>
        <p:nvPicPr>
          <p:cNvPr id="42" name="Image 9" descr="connector">    </p:cNvPr>
          <p:cNvPicPr>
            <a:picLocks noChangeAspect="1"/>
          </p:cNvPicPr>
          <p:nvPr/>
        </p:nvPicPr>
        <p:blipFill>
          <a:blip r:embed="rId10"/>
          <a:srcRect l="0" r="0" t="0" b="0"/>
          <a:stretch/>
        </p:blipFill>
        <p:spPr>
          <a:xfrm>
            <a:off x="9131300" y="4140200"/>
            <a:ext cx="520700" cy="101600"/>
          </a:xfrm>
          <a:prstGeom prst="rect">
            <a:avLst/>
          </a:prstGeom>
        </p:spPr>
      </p:pic>
      <p:pic>
        <p:nvPicPr>
          <p:cNvPr id="43" name="Image 10" descr="connector">    </p:cNvPr>
          <p:cNvPicPr>
            <a:picLocks noChangeAspect="1"/>
          </p:cNvPicPr>
          <p:nvPr/>
        </p:nvPicPr>
        <p:blipFill>
          <a:blip r:embed="rId11"/>
          <a:srcRect l="0" r="0" t="0" b="0"/>
          <a:stretch/>
        </p:blipFill>
        <p:spPr>
          <a:xfrm>
            <a:off x="10744200" y="1612900"/>
            <a:ext cx="101600" cy="2120900"/>
          </a:xfrm>
          <a:prstGeom prst="rect">
            <a:avLst/>
          </a:prstGeom>
        </p:spPr>
      </p:pic>
      <p:pic>
        <p:nvPicPr>
          <p:cNvPr id="44" name="Image 11" descr="connector">    </p:cNvPr>
          <p:cNvPicPr>
            <a:picLocks noChangeAspect="1"/>
          </p:cNvPicPr>
          <p:nvPr/>
        </p:nvPicPr>
        <p:blipFill>
          <a:blip r:embed="rId12"/>
          <a:srcRect l="0" r="0" t="0" b="0"/>
          <a:stretch/>
        </p:blipFill>
        <p:spPr>
          <a:xfrm>
            <a:off x="1219200" y="1612900"/>
            <a:ext cx="9626600" cy="101600"/>
          </a:xfrm>
          <a:prstGeom prst="rect">
            <a:avLst/>
          </a:prstGeom>
        </p:spPr>
      </p:pic>
      <p:pic>
        <p:nvPicPr>
          <p:cNvPr id="45" name="Image 12" descr="connector">    </p:cNvPr>
          <p:cNvPicPr>
            <a:picLocks noChangeAspect="1"/>
          </p:cNvPicPr>
          <p:nvPr/>
        </p:nvPicPr>
        <p:blipFill>
          <a:blip r:embed="rId13"/>
          <a:srcRect l="0" r="0" t="0" b="0"/>
          <a:stretch/>
        </p:blipFill>
        <p:spPr>
          <a:xfrm>
            <a:off x="1219200" y="1612900"/>
            <a:ext cx="101600" cy="342900"/>
          </a:xfrm>
          <a:prstGeom prst="rect">
            <a:avLst/>
          </a:prstGeom>
        </p:spPr>
      </p:pic>
      <p:pic>
        <p:nvPicPr>
          <p:cNvPr id="46" name="Image 13" descr="connector">    </p:cNvPr>
          <p:cNvPicPr>
            <a:picLocks noChangeAspect="1"/>
          </p:cNvPicPr>
          <p:nvPr/>
        </p:nvPicPr>
        <p:blipFill>
          <a:blip r:embed="rId14"/>
          <a:srcRect l="0" r="0" t="0" b="0"/>
          <a:stretch/>
        </p:blipFill>
        <p:spPr>
          <a:xfrm>
            <a:off x="10439400" y="4648200"/>
            <a:ext cx="101600" cy="482600"/>
          </a:xfrm>
          <a:prstGeom prst="rect">
            <a:avLst/>
          </a:prstGeom>
        </p:spPr>
      </p:pic>
      <p:pic>
        <p:nvPicPr>
          <p:cNvPr id="47" name="Image 14" descr="connector">    </p:cNvPr>
          <p:cNvPicPr>
            <a:picLocks noChangeAspect="1"/>
          </p:cNvPicPr>
          <p:nvPr/>
        </p:nvPicPr>
        <p:blipFill>
          <a:blip r:embed="rId15"/>
          <a:srcRect l="0" r="0" t="0" b="0"/>
          <a:stretch/>
        </p:blipFill>
        <p:spPr>
          <a:xfrm>
            <a:off x="1651000" y="5029200"/>
            <a:ext cx="8890000" cy="101600"/>
          </a:xfrm>
          <a:prstGeom prst="rect">
            <a:avLst/>
          </a:prstGeom>
        </p:spPr>
      </p:pic>
      <p:pic>
        <p:nvPicPr>
          <p:cNvPr id="48" name="Image 15" descr="connector">    </p:cNvPr>
          <p:cNvPicPr>
            <a:picLocks noChangeAspect="1"/>
          </p:cNvPicPr>
          <p:nvPr/>
        </p:nvPicPr>
        <p:blipFill>
          <a:blip r:embed="rId16"/>
          <a:srcRect l="0" r="0" t="0" b="0"/>
          <a:stretch/>
        </p:blipFill>
        <p:spPr>
          <a:xfrm>
            <a:off x="1651000" y="4648200"/>
            <a:ext cx="101600" cy="482600"/>
          </a:xfrm>
          <a:prstGeom prst="rect">
            <a:avLst/>
          </a:prstGeom>
        </p:spPr>
      </p:pic>
      <p:sp>
        <p:nvSpPr>
          <p:cNvPr id="49" name="Text 31"/>
          <p:cNvSpPr/>
          <p:nvPr/>
        </p:nvSpPr>
        <p:spPr>
          <a:xfrm>
            <a:off x="3175000" y="3378200"/>
            <a:ext cx="379349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1FFF"/>
                </a:solidFill>
                <a:latin typeface="Poppins" pitchFamily="34" charset="0"/>
                <a:ea typeface="Poppins" pitchFamily="34" charset="-122"/>
                <a:cs typeface="Poppins" pitchFamily="34" charset="-120"/>
              </a:rPr>
              <a:t>Intertwined core: built together</a:t>
            </a:r>
            <a:endParaRPr lang="en-US" sz="1200" dirty="0"/>
          </a:p>
        </p:txBody>
      </p:sp>
      <p:sp>
        <p:nvSpPr>
          <p:cNvPr id="50" name="Text 32"/>
          <p:cNvSpPr/>
          <p:nvPr/>
        </p:nvSpPr>
        <p:spPr>
          <a:xfrm>
            <a:off x="7790180" y="1384300"/>
            <a:ext cx="287782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A8215A"/>
                </a:solidFill>
                <a:latin typeface="Poppins" pitchFamily="34" charset="0"/>
                <a:ea typeface="Poppins" pitchFamily="34" charset="-122"/>
                <a:cs typeface="Poppins" pitchFamily="34" charset="-120"/>
              </a:rPr>
              <a:t>8 → 1: revise scope &amp; CQs</a:t>
            </a:r>
            <a:endParaRPr lang="en-US" sz="1200" dirty="0"/>
          </a:p>
        </p:txBody>
      </p:sp>
      <p:sp>
        <p:nvSpPr>
          <p:cNvPr id="51" name="Text 33"/>
          <p:cNvSpPr/>
          <p:nvPr/>
        </p:nvSpPr>
        <p:spPr>
          <a:xfrm>
            <a:off x="3870325" y="5168900"/>
            <a:ext cx="457835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A8215A"/>
                </a:solidFill>
                <a:latin typeface="Poppins" pitchFamily="34" charset="0"/>
                <a:ea typeface="Poppins" pitchFamily="34" charset="-122"/>
                <a:cs typeface="Poppins" pitchFamily="34" charset="-120"/>
              </a:rPr>
              <a:t>8 → 4·5·6: revise the schema</a:t>
            </a:r>
            <a:endParaRPr lang="en-US" sz="1200" dirty="0"/>
          </a:p>
        </p:txBody>
      </p:sp>
      <p:sp>
        <p:nvSpPr>
          <p:cNvPr id="52" name="Text 34"/>
          <p:cNvSpPr/>
          <p:nvPr/>
        </p:nvSpPr>
        <p:spPr>
          <a:xfrm>
            <a:off x="812800" y="5588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1FFF"/>
                </a:solidFill>
                <a:latin typeface="Poppins" pitchFamily="34" charset="0"/>
                <a:ea typeface="Poppins" pitchFamily="34" charset="-122"/>
                <a:cs typeface="Poppins" pitchFamily="34" charset="-120"/>
              </a:rPr>
              <a:t>→ solid blue</a:t>
            </a:r>
            <a:r>
              <a:rPr lang="en-US" sz="1200" dirty="0">
                <a:solidFill>
                  <a:srgbClr val="3B5C7F"/>
                </a:solidFill>
                <a:latin typeface="Poppins" pitchFamily="34" charset="0"/>
                <a:ea typeface="Poppins" pitchFamily="34" charset="-122"/>
                <a:cs typeface="Poppins" pitchFamily="34" charset="-120"/>
              </a:rPr>
              <a:t> forward hand-off · </a:t>
            </a:r>
            <a:r>
              <a:rPr lang="en-US" sz="1200" b="1" dirty="0">
                <a:solidFill>
                  <a:srgbClr val="001FFF"/>
                </a:solidFill>
                <a:latin typeface="Poppins" pitchFamily="34" charset="0"/>
                <a:ea typeface="Poppins" pitchFamily="34" charset="-122"/>
                <a:cs typeface="Poppins" pitchFamily="34" charset="-120"/>
              </a:rPr>
              <a:t>↔</a:t>
            </a:r>
            <a:r>
              <a:rPr lang="en-US" sz="1200" dirty="0">
                <a:solidFill>
                  <a:srgbClr val="3B5C7F"/>
                </a:solidFill>
                <a:latin typeface="Poppins" pitchFamily="34" charset="0"/>
                <a:ea typeface="Poppins" pitchFamily="34" charset="-122"/>
                <a:cs typeface="Poppins" pitchFamily="34" charset="-120"/>
              </a:rPr>
              <a:t> built together · </a:t>
            </a:r>
            <a:r>
              <a:rPr lang="en-US" sz="1200" b="1" dirty="0">
                <a:solidFill>
                  <a:srgbClr val="A8215A"/>
                </a:solidFill>
                <a:latin typeface="Poppins" pitchFamily="34" charset="0"/>
                <a:ea typeface="Poppins" pitchFamily="34" charset="-122"/>
                <a:cs typeface="Poppins" pitchFamily="34" charset="-120"/>
              </a:rPr>
              <a:t>⇢ dashed magenta</a:t>
            </a:r>
            <a:r>
              <a:rPr lang="en-US" sz="1200" dirty="0">
                <a:solidFill>
                  <a:srgbClr val="3B5C7F"/>
                </a:solidFill>
                <a:latin typeface="Poppins" pitchFamily="34" charset="0"/>
                <a:ea typeface="Poppins" pitchFamily="34" charset="-122"/>
                <a:cs typeface="Poppins" pitchFamily="34" charset="-120"/>
              </a:rPr>
              <a:t> feedback · </a:t>
            </a:r>
            <a:r>
              <a:rPr lang="en-US" sz="1200" b="1" dirty="0">
                <a:solidFill>
                  <a:srgbClr val="3B5C7F"/>
                </a:solidFill>
                <a:latin typeface="Poppins" pitchFamily="34" charset="0"/>
                <a:ea typeface="Poppins" pitchFamily="34" charset="-122"/>
                <a:cs typeface="Poppins" pitchFamily="34" charset="-120"/>
              </a:rPr>
              <a:t>dashed box</a:t>
            </a:r>
            <a:r>
              <a:rPr lang="en-US" sz="1200" dirty="0">
                <a:solidFill>
                  <a:srgbClr val="3B5C7F"/>
                </a:solidFill>
                <a:latin typeface="Poppins" pitchFamily="34" charset="0"/>
                <a:ea typeface="Poppins" pitchFamily="34" charset="-122"/>
                <a:cs typeface="Poppins" pitchFamily="34" charset="-120"/>
              </a:rPr>
              <a:t> applies to all later phases</a:t>
            </a:r>
            <a:endParaRPr lang="en-US" sz="1200" dirty="0"/>
          </a:p>
        </p:txBody>
      </p:sp>
      <p:pic>
        <p:nvPicPr>
          <p:cNvPr id="53" name="Image 16" descr="Graphwise symbol">    </p:cNvPr>
          <p:cNvPicPr>
            <a:picLocks noChangeAspect="1"/>
          </p:cNvPicPr>
          <p:nvPr/>
        </p:nvPicPr>
        <p:blipFill>
          <a:blip r:embed="rId17"/>
          <a:srcRect l="-182" r="-182" t="0" b="0"/>
          <a:stretch/>
        </p:blipFill>
        <p:spPr>
          <a:xfrm>
            <a:off x="812800" y="6261100"/>
            <a:ext cx="203200" cy="209550"/>
          </a:xfrm>
          <a:prstGeom prst="rect">
            <a:avLst/>
          </a:prstGeom>
        </p:spPr>
      </p:pic>
      <p:sp>
        <p:nvSpPr>
          <p:cNvPr id="54" name="Text 35"/>
          <p:cNvSpPr/>
          <p:nvPr/>
        </p:nvSpPr>
        <p:spPr>
          <a:xfrm>
            <a:off x="1117600" y="62484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5C7F"/>
                </a:solidFill>
                <a:latin typeface="Poppins" pitchFamily="34" charset="0"/>
                <a:ea typeface="Poppins" pitchFamily="34" charset="-122"/>
                <a:cs typeface="Poppins" pitchFamily="34" charset="-120"/>
              </a:rPr>
              <a:t>Ontology Development 101 · Process &amp; dependencies</a:t>
            </a:r>
            <a:endParaRPr lang="en-US" sz="1200" dirty="0"/>
          </a:p>
        </p:txBody>
      </p:sp>
      <p:sp>
        <p:nvSpPr>
          <p:cNvPr id="55" name="Text 36"/>
          <p:cNvSpPr/>
          <p:nvPr/>
        </p:nvSpPr>
        <p:spPr>
          <a:xfrm>
            <a:off x="10058400" y="624840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B5C7F"/>
                </a:solidFill>
                <a:latin typeface="Poppins" pitchFamily="34" charset="0"/>
                <a:ea typeface="Poppins" pitchFamily="34" charset="-122"/>
                <a:cs typeface="Poppi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4064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215A"/>
                </a:solidFill>
                <a:latin typeface="Poppins" pitchFamily="34" charset="0"/>
                <a:ea typeface="Poppins" pitchFamily="34" charset="-122"/>
                <a:cs typeface="Poppins" pitchFamily="34" charset="-120"/>
              </a:rPr>
              <a:t>THE COMMON THREAD</a:t>
            </a:r>
            <a:endParaRPr lang="en-US" sz="1200" dirty="0"/>
          </a:p>
        </p:txBody>
      </p:sp>
      <p:sp>
        <p:nvSpPr>
          <p:cNvPr id="3" name="Text 1"/>
          <p:cNvSpPr/>
          <p:nvPr>
            <p:ph type="title"/>
          </p:nvPr>
        </p:nvSpPr>
        <p:spPr>
          <a:xfrm>
            <a:off x="812800" y="66040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220F60"/>
                </a:solidFill>
                <a:latin typeface="Poppins" pitchFamily="34" charset="0"/>
                <a:ea typeface="Poppins" pitchFamily="34" charset="-122"/>
                <a:cs typeface="Poppins" pitchFamily="34" charset="-120"/>
              </a:rPr>
              <a:t>Competency questions connect six phases</a:t>
            </a:r>
            <a:endParaRPr lang="en-US" sz="3000" dirty="0"/>
          </a:p>
        </p:txBody>
      </p:sp>
      <p:sp>
        <p:nvSpPr>
          <p:cNvPr id="4" name="Shape 2"/>
          <p:cNvSpPr/>
          <p:nvPr/>
        </p:nvSpPr>
        <p:spPr>
          <a:xfrm>
            <a:off x="4699000" y="2889250"/>
            <a:ext cx="2794000" cy="1270000"/>
          </a:xfrm>
          <a:prstGeom prst="roundRect">
            <a:avLst>
              <a:gd name="adj" fmla="val 10000"/>
            </a:avLst>
          </a:prstGeom>
          <a:solidFill>
            <a:srgbClr val="220F60"/>
          </a:solidFill>
          <a:ln/>
        </p:spPr>
      </p:sp>
      <p:sp>
        <p:nvSpPr>
          <p:cNvPr id="5" name="Text 3"/>
          <p:cNvSpPr/>
          <p:nvPr/>
        </p:nvSpPr>
        <p:spPr>
          <a:xfrm>
            <a:off x="4902200" y="3114774"/>
            <a:ext cx="245922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49AC1"/>
                </a:solidFill>
                <a:latin typeface="Poppins" pitchFamily="34" charset="0"/>
                <a:ea typeface="Poppins" pitchFamily="34" charset="-122"/>
                <a:cs typeface="Poppins" pitchFamily="34" charset="-120"/>
              </a:rPr>
              <a:t>ARTIFACT</a:t>
            </a:r>
            <a:endParaRPr lang="en-US" sz="1200" dirty="0"/>
          </a:p>
        </p:txBody>
      </p:sp>
      <p:sp>
        <p:nvSpPr>
          <p:cNvPr id="6" name="Text 4"/>
          <p:cNvSpPr/>
          <p:nvPr/>
        </p:nvSpPr>
        <p:spPr>
          <a:xfrm>
            <a:off x="4902200" y="3378895"/>
            <a:ext cx="2459228" cy="580231"/>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FFFFFF"/>
                </a:solidFill>
                <a:latin typeface="Poppins" pitchFamily="34" charset="0"/>
                <a:ea typeface="Poppins" pitchFamily="34" charset="-122"/>
                <a:cs typeface="Poppins" pitchFamily="34" charset="-120"/>
              </a:rPr>
              <a:t>Competency questions</a:t>
            </a:r>
            <a:endParaRPr lang="en-US" sz="1900" dirty="0"/>
          </a:p>
        </p:txBody>
      </p:sp>
      <p:sp>
        <p:nvSpPr>
          <p:cNvPr id="7" name="Shape 5"/>
          <p:cNvSpPr/>
          <p:nvPr/>
        </p:nvSpPr>
        <p:spPr>
          <a:xfrm>
            <a:off x="812800" y="1841500"/>
            <a:ext cx="2794000" cy="952500"/>
          </a:xfrm>
          <a:prstGeom prst="roundRect">
            <a:avLst>
              <a:gd name="adj" fmla="val 9333"/>
            </a:avLst>
          </a:prstGeom>
          <a:solidFill>
            <a:srgbClr val="F2F2F2"/>
          </a:solidFill>
          <a:ln/>
        </p:spPr>
      </p:sp>
      <p:sp>
        <p:nvSpPr>
          <p:cNvPr id="8" name="Text 6"/>
          <p:cNvSpPr/>
          <p:nvPr/>
        </p:nvSpPr>
        <p:spPr>
          <a:xfrm>
            <a:off x="965200" y="1993999"/>
            <a:ext cx="2563876"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1 · Scope</a:t>
            </a:r>
            <a:endParaRPr lang="en-US" sz="1300" dirty="0"/>
          </a:p>
        </p:txBody>
      </p:sp>
      <p:sp>
        <p:nvSpPr>
          <p:cNvPr id="9" name="Text 7"/>
          <p:cNvSpPr/>
          <p:nvPr/>
        </p:nvSpPr>
        <p:spPr>
          <a:xfrm>
            <a:off x="965200" y="2230140"/>
            <a:ext cx="2563876"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Written here; they define the scope</a:t>
            </a:r>
            <a:endParaRPr lang="en-US" sz="1200" dirty="0"/>
          </a:p>
        </p:txBody>
      </p:sp>
      <p:sp>
        <p:nvSpPr>
          <p:cNvPr id="10" name="Shape 8"/>
          <p:cNvSpPr/>
          <p:nvPr/>
        </p:nvSpPr>
        <p:spPr>
          <a:xfrm>
            <a:off x="812800" y="3048000"/>
            <a:ext cx="2794000" cy="952500"/>
          </a:xfrm>
          <a:prstGeom prst="roundRect">
            <a:avLst>
              <a:gd name="adj" fmla="val 9333"/>
            </a:avLst>
          </a:prstGeom>
          <a:solidFill>
            <a:srgbClr val="F2F2F2"/>
          </a:solidFill>
          <a:ln/>
        </p:spPr>
      </p:sp>
      <p:sp>
        <p:nvSpPr>
          <p:cNvPr id="11" name="Text 9"/>
          <p:cNvSpPr/>
          <p:nvPr/>
        </p:nvSpPr>
        <p:spPr>
          <a:xfrm>
            <a:off x="965200" y="3303290"/>
            <a:ext cx="2563876"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2 · Reuse</a:t>
            </a:r>
            <a:endParaRPr lang="en-US" sz="1300" dirty="0"/>
          </a:p>
        </p:txBody>
      </p:sp>
      <p:sp>
        <p:nvSpPr>
          <p:cNvPr id="12" name="Text 10"/>
          <p:cNvSpPr/>
          <p:nvPr/>
        </p:nvSpPr>
        <p:spPr>
          <a:xfrm>
            <a:off x="965200" y="3539430"/>
            <a:ext cx="25908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Filter which ontologies to import</a:t>
            </a:r>
            <a:endParaRPr lang="en-US" sz="1200" dirty="0"/>
          </a:p>
        </p:txBody>
      </p:sp>
      <p:sp>
        <p:nvSpPr>
          <p:cNvPr id="13" name="Shape 11"/>
          <p:cNvSpPr/>
          <p:nvPr/>
        </p:nvSpPr>
        <p:spPr>
          <a:xfrm>
            <a:off x="812800" y="4254500"/>
            <a:ext cx="2794000" cy="952500"/>
          </a:xfrm>
          <a:prstGeom prst="roundRect">
            <a:avLst>
              <a:gd name="adj" fmla="val 9333"/>
            </a:avLst>
          </a:prstGeom>
          <a:solidFill>
            <a:srgbClr val="F2F2F2"/>
          </a:solidFill>
          <a:ln/>
        </p:spPr>
      </p:sp>
      <p:sp>
        <p:nvSpPr>
          <p:cNvPr id="14" name="Text 12"/>
          <p:cNvSpPr/>
          <p:nvPr/>
        </p:nvSpPr>
        <p:spPr>
          <a:xfrm>
            <a:off x="965200" y="4509790"/>
            <a:ext cx="2563876"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3 · Terms</a:t>
            </a:r>
            <a:endParaRPr lang="en-US" sz="1300" dirty="0"/>
          </a:p>
        </p:txBody>
      </p:sp>
      <p:sp>
        <p:nvSpPr>
          <p:cNvPr id="15" name="Text 13"/>
          <p:cNvSpPr/>
          <p:nvPr/>
        </p:nvSpPr>
        <p:spPr>
          <a:xfrm>
            <a:off x="965200" y="4745930"/>
            <a:ext cx="2563876"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Seed the list of terms</a:t>
            </a:r>
            <a:endParaRPr lang="en-US" sz="1200" dirty="0"/>
          </a:p>
        </p:txBody>
      </p:sp>
      <p:sp>
        <p:nvSpPr>
          <p:cNvPr id="16" name="Shape 14"/>
          <p:cNvSpPr/>
          <p:nvPr/>
        </p:nvSpPr>
        <p:spPr>
          <a:xfrm>
            <a:off x="8585200" y="1841500"/>
            <a:ext cx="2794000" cy="952500"/>
          </a:xfrm>
          <a:prstGeom prst="roundRect">
            <a:avLst>
              <a:gd name="adj" fmla="val 9333"/>
            </a:avLst>
          </a:prstGeom>
          <a:solidFill>
            <a:srgbClr val="F2F2F2"/>
          </a:solidFill>
          <a:ln/>
        </p:spPr>
      </p:sp>
      <p:sp>
        <p:nvSpPr>
          <p:cNvPr id="17" name="Text 15"/>
          <p:cNvSpPr/>
          <p:nvPr/>
        </p:nvSpPr>
        <p:spPr>
          <a:xfrm>
            <a:off x="8737600" y="1993999"/>
            <a:ext cx="2563876"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4 · Classes</a:t>
            </a:r>
            <a:endParaRPr lang="en-US" sz="1300" dirty="0"/>
          </a:p>
        </p:txBody>
      </p:sp>
      <p:sp>
        <p:nvSpPr>
          <p:cNvPr id="18" name="Text 16"/>
          <p:cNvSpPr/>
          <p:nvPr/>
        </p:nvSpPr>
        <p:spPr>
          <a:xfrm>
            <a:off x="8737600" y="2230140"/>
            <a:ext cx="2563876"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Set granularity: class or instance?</a:t>
            </a:r>
            <a:endParaRPr lang="en-US" sz="1200" dirty="0"/>
          </a:p>
        </p:txBody>
      </p:sp>
      <p:sp>
        <p:nvSpPr>
          <p:cNvPr id="19" name="Shape 17"/>
          <p:cNvSpPr/>
          <p:nvPr/>
        </p:nvSpPr>
        <p:spPr>
          <a:xfrm>
            <a:off x="8585200" y="3048000"/>
            <a:ext cx="2794000" cy="952500"/>
          </a:xfrm>
          <a:prstGeom prst="roundRect">
            <a:avLst>
              <a:gd name="adj" fmla="val 9333"/>
            </a:avLst>
          </a:prstGeom>
          <a:solidFill>
            <a:srgbClr val="F2F2F2"/>
          </a:solidFill>
          <a:ln/>
        </p:spPr>
      </p:sp>
      <p:sp>
        <p:nvSpPr>
          <p:cNvPr id="20" name="Text 18"/>
          <p:cNvSpPr/>
          <p:nvPr/>
        </p:nvSpPr>
        <p:spPr>
          <a:xfrm>
            <a:off x="8737600" y="3200499"/>
            <a:ext cx="2563876"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7 · Instances</a:t>
            </a:r>
            <a:endParaRPr lang="en-US" sz="1300" dirty="0"/>
          </a:p>
        </p:txBody>
      </p:sp>
      <p:sp>
        <p:nvSpPr>
          <p:cNvPr id="21" name="Text 19"/>
          <p:cNvSpPr/>
          <p:nvPr/>
        </p:nvSpPr>
        <p:spPr>
          <a:xfrm>
            <a:off x="8737600" y="3436640"/>
            <a:ext cx="2563876"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Most specific answers become individuals</a:t>
            </a:r>
            <a:endParaRPr lang="en-US" sz="1200" dirty="0"/>
          </a:p>
        </p:txBody>
      </p:sp>
      <p:sp>
        <p:nvSpPr>
          <p:cNvPr id="22" name="Shape 20"/>
          <p:cNvSpPr/>
          <p:nvPr/>
        </p:nvSpPr>
        <p:spPr>
          <a:xfrm>
            <a:off x="8591550" y="4260850"/>
            <a:ext cx="2781300" cy="939800"/>
          </a:xfrm>
          <a:prstGeom prst="roundRect">
            <a:avLst>
              <a:gd name="adj" fmla="val 8784"/>
            </a:avLst>
          </a:prstGeom>
          <a:solidFill>
            <a:srgbClr val="FCEAF2"/>
          </a:solidFill>
          <a:ln w="12700">
            <a:solidFill>
              <a:srgbClr val="DF367C"/>
            </a:solidFill>
            <a:prstDash val="solid"/>
          </a:ln>
        </p:spPr>
      </p:sp>
      <p:sp>
        <p:nvSpPr>
          <p:cNvPr id="23" name="Text 21"/>
          <p:cNvSpPr/>
          <p:nvPr/>
        </p:nvSpPr>
        <p:spPr>
          <a:xfrm>
            <a:off x="8750300" y="4406999"/>
            <a:ext cx="2537714"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8 · Evaluate</a:t>
            </a:r>
            <a:endParaRPr lang="en-US" sz="1300" dirty="0"/>
          </a:p>
        </p:txBody>
      </p:sp>
      <p:sp>
        <p:nvSpPr>
          <p:cNvPr id="24" name="Text 22"/>
          <p:cNvSpPr/>
          <p:nvPr/>
        </p:nvSpPr>
        <p:spPr>
          <a:xfrm>
            <a:off x="8750300" y="4643140"/>
            <a:ext cx="2537714"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The test: can the KB answer them?</a:t>
            </a:r>
            <a:endParaRPr lang="en-US" sz="1200" dirty="0"/>
          </a:p>
        </p:txBody>
      </p:sp>
      <p:pic>
        <p:nvPicPr>
          <p:cNvPr id="25" name="Image 0" descr="connector">    </p:cNvPr>
          <p:cNvPicPr>
            <a:picLocks noChangeAspect="1"/>
          </p:cNvPicPr>
          <p:nvPr/>
        </p:nvPicPr>
        <p:blipFill>
          <a:blip r:embed="rId1"/>
          <a:srcRect l="0" r="0" t="0" b="0"/>
          <a:stretch/>
        </p:blipFill>
        <p:spPr>
          <a:xfrm>
            <a:off x="3556000" y="2266950"/>
            <a:ext cx="1193800" cy="990600"/>
          </a:xfrm>
          <a:prstGeom prst="rect">
            <a:avLst/>
          </a:prstGeom>
        </p:spPr>
      </p:pic>
      <p:pic>
        <p:nvPicPr>
          <p:cNvPr id="26" name="Image 1" descr="connector">    </p:cNvPr>
          <p:cNvPicPr>
            <a:picLocks noChangeAspect="1"/>
          </p:cNvPicPr>
          <p:nvPr/>
        </p:nvPicPr>
        <p:blipFill>
          <a:blip r:embed="rId2"/>
          <a:srcRect l="0" r="0" t="0" b="0"/>
          <a:stretch/>
        </p:blipFill>
        <p:spPr>
          <a:xfrm>
            <a:off x="3556000" y="3473450"/>
            <a:ext cx="1193800" cy="101600"/>
          </a:xfrm>
          <a:prstGeom prst="rect">
            <a:avLst/>
          </a:prstGeom>
        </p:spPr>
      </p:pic>
      <p:pic>
        <p:nvPicPr>
          <p:cNvPr id="27" name="Image 2" descr="connector">    </p:cNvPr>
          <p:cNvPicPr>
            <a:picLocks noChangeAspect="1"/>
          </p:cNvPicPr>
          <p:nvPr/>
        </p:nvPicPr>
        <p:blipFill>
          <a:blip r:embed="rId3"/>
          <a:srcRect l="0" r="0" t="0" b="0"/>
          <a:stretch/>
        </p:blipFill>
        <p:spPr>
          <a:xfrm>
            <a:off x="3556000" y="3790950"/>
            <a:ext cx="1193800" cy="990600"/>
          </a:xfrm>
          <a:prstGeom prst="rect">
            <a:avLst/>
          </a:prstGeom>
        </p:spPr>
      </p:pic>
      <p:pic>
        <p:nvPicPr>
          <p:cNvPr id="28" name="Image 3" descr="connector">    </p:cNvPr>
          <p:cNvPicPr>
            <a:picLocks noChangeAspect="1"/>
          </p:cNvPicPr>
          <p:nvPr/>
        </p:nvPicPr>
        <p:blipFill>
          <a:blip r:embed="rId4"/>
          <a:srcRect l="0" r="0" t="0" b="0"/>
          <a:stretch/>
        </p:blipFill>
        <p:spPr>
          <a:xfrm>
            <a:off x="7442200" y="2266950"/>
            <a:ext cx="1193800" cy="990600"/>
          </a:xfrm>
          <a:prstGeom prst="rect">
            <a:avLst/>
          </a:prstGeom>
        </p:spPr>
      </p:pic>
      <p:pic>
        <p:nvPicPr>
          <p:cNvPr id="29" name="Image 4" descr="connector">    </p:cNvPr>
          <p:cNvPicPr>
            <a:picLocks noChangeAspect="1"/>
          </p:cNvPicPr>
          <p:nvPr/>
        </p:nvPicPr>
        <p:blipFill>
          <a:blip r:embed="rId5"/>
          <a:srcRect l="0" r="0" t="0" b="0"/>
          <a:stretch/>
        </p:blipFill>
        <p:spPr>
          <a:xfrm>
            <a:off x="7442200" y="3473450"/>
            <a:ext cx="1193800" cy="101600"/>
          </a:xfrm>
          <a:prstGeom prst="rect">
            <a:avLst/>
          </a:prstGeom>
        </p:spPr>
      </p:pic>
      <p:pic>
        <p:nvPicPr>
          <p:cNvPr id="30" name="Image 5" descr="connector">    </p:cNvPr>
          <p:cNvPicPr>
            <a:picLocks noChangeAspect="1"/>
          </p:cNvPicPr>
          <p:nvPr/>
        </p:nvPicPr>
        <p:blipFill>
          <a:blip r:embed="rId6"/>
          <a:srcRect l="0" r="0" t="0" b="0"/>
          <a:stretch/>
        </p:blipFill>
        <p:spPr>
          <a:xfrm>
            <a:off x="7442200" y="3790950"/>
            <a:ext cx="1193800" cy="990600"/>
          </a:xfrm>
          <a:prstGeom prst="rect">
            <a:avLst/>
          </a:prstGeom>
        </p:spPr>
      </p:pic>
      <p:sp>
        <p:nvSpPr>
          <p:cNvPr id="31" name="Text 23"/>
          <p:cNvSpPr/>
          <p:nvPr/>
        </p:nvSpPr>
        <p:spPr>
          <a:xfrm>
            <a:off x="654304" y="5486400"/>
            <a:ext cx="10883392" cy="25648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3B5C7F"/>
                </a:solidFill>
                <a:latin typeface="Poppins" pitchFamily="34" charset="0"/>
                <a:ea typeface="Poppins" pitchFamily="34" charset="-122"/>
                <a:cs typeface="Poppins" pitchFamily="34" charset="-120"/>
              </a:rPr>
              <a:t>Written once in Phase 1, then the yardstick for five later phases.</a:t>
            </a:r>
            <a:endParaRPr lang="en-US" sz="1300" dirty="0"/>
          </a:p>
        </p:txBody>
      </p:sp>
      <p:pic>
        <p:nvPicPr>
          <p:cNvPr id="32" name="Image 6" descr="Graphwise symbol">    </p:cNvPr>
          <p:cNvPicPr>
            <a:picLocks noChangeAspect="1"/>
          </p:cNvPicPr>
          <p:nvPr/>
        </p:nvPicPr>
        <p:blipFill>
          <a:blip r:embed="rId7"/>
          <a:srcRect l="-182" r="-182" t="0" b="0"/>
          <a:stretch/>
        </p:blipFill>
        <p:spPr>
          <a:xfrm>
            <a:off x="812800" y="6261100"/>
            <a:ext cx="203200" cy="209550"/>
          </a:xfrm>
          <a:prstGeom prst="rect">
            <a:avLst/>
          </a:prstGeom>
        </p:spPr>
      </p:pic>
      <p:sp>
        <p:nvSpPr>
          <p:cNvPr id="33" name="Text 24"/>
          <p:cNvSpPr/>
          <p:nvPr/>
        </p:nvSpPr>
        <p:spPr>
          <a:xfrm>
            <a:off x="1117600" y="62484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5C7F"/>
                </a:solidFill>
                <a:latin typeface="Poppins" pitchFamily="34" charset="0"/>
                <a:ea typeface="Poppins" pitchFamily="34" charset="-122"/>
                <a:cs typeface="Poppins" pitchFamily="34" charset="-120"/>
              </a:rPr>
              <a:t>Ontology Development 101 · Process &amp; dependencies</a:t>
            </a:r>
            <a:endParaRPr lang="en-US" sz="1200" dirty="0"/>
          </a:p>
        </p:txBody>
      </p:sp>
      <p:sp>
        <p:nvSpPr>
          <p:cNvPr id="34" name="Text 25"/>
          <p:cNvSpPr/>
          <p:nvPr/>
        </p:nvSpPr>
        <p:spPr>
          <a:xfrm>
            <a:off x="10058400" y="624840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B5C7F"/>
                </a:solidFill>
                <a:latin typeface="Poppins" pitchFamily="34" charset="0"/>
                <a:ea typeface="Poppins" pitchFamily="34" charset="-122"/>
                <a:cs typeface="Poppi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20F60"/>
        </a:solidFill>
      </p:bgPr>
    </p:bg>
    <p:spTree>
      <p:nvGrpSpPr>
        <p:cNvPr id="1" name=""/>
        <p:cNvGrpSpPr/>
        <p:nvPr/>
      </p:nvGrpSpPr>
      <p:grpSpPr>
        <a:xfrm>
          <a:off x="0" y="0"/>
          <a:ext cx="0" cy="0"/>
          <a:chOff x="0" y="0"/>
          <a:chExt cx="0" cy="0"/>
        </a:xfrm>
      </p:grpSpPr>
      <p:sp>
        <p:nvSpPr>
          <p:cNvPr id="2" name="Text 0"/>
          <p:cNvSpPr/>
          <p:nvPr/>
        </p:nvSpPr>
        <p:spPr>
          <a:xfrm>
            <a:off x="812800" y="1905000"/>
            <a:ext cx="3924300" cy="1295400"/>
          </a:xfrm>
          <a:prstGeom prst="rect">
            <a:avLst/>
          </a:prstGeom>
          <a:noFill/>
          <a:ln/>
        </p:spPr>
        <p:txBody>
          <a:bodyPr wrap="square" lIns="0" tIns="0" rIns="0" bIns="0" rtlCol="0" anchor="t">
            <a:normAutofit/>
          </a:bodyPr>
          <a:lstStyle/>
          <a:p>
            <a:pPr algn="l" indent="0" marL="0">
              <a:lnSpc>
                <a:spcPts val="10000"/>
              </a:lnSpc>
              <a:buNone/>
            </a:pPr>
            <a:r>
              <a:rPr lang="en-US" sz="10000" b="1" dirty="0">
                <a:solidFill>
                  <a:srgbClr val="DF367C"/>
                </a:solidFill>
                <a:latin typeface="Poppins" pitchFamily="34" charset="0"/>
                <a:ea typeface="Poppins" pitchFamily="34" charset="-122"/>
                <a:cs typeface="Poppins" pitchFamily="34" charset="-120"/>
              </a:rPr>
              <a:t>02</a:t>
            </a:r>
            <a:endParaRPr lang="en-US" sz="10000" dirty="0"/>
          </a:p>
        </p:txBody>
      </p:sp>
      <p:sp>
        <p:nvSpPr>
          <p:cNvPr id="3" name="Text 1"/>
          <p:cNvSpPr/>
          <p:nvPr>
            <p:ph type="title"/>
          </p:nvPr>
        </p:nvSpPr>
        <p:spPr>
          <a:xfrm>
            <a:off x="812800" y="3556000"/>
            <a:ext cx="10883392" cy="6959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FFFFF"/>
                </a:solidFill>
                <a:latin typeface="Poppins" pitchFamily="34" charset="0"/>
                <a:ea typeface="Poppins" pitchFamily="34" charset="-122"/>
                <a:cs typeface="Poppins" pitchFamily="34" charset="-120"/>
              </a:rPr>
              <a:t>Phase by phase</a:t>
            </a:r>
            <a:endParaRPr lang="en-US" sz="4800" dirty="0"/>
          </a:p>
        </p:txBody>
      </p:sp>
      <p:sp>
        <p:nvSpPr>
          <p:cNvPr id="4" name="Text 2"/>
          <p:cNvSpPr/>
          <p:nvPr/>
        </p:nvSpPr>
        <p:spPr>
          <a:xfrm>
            <a:off x="812800" y="4445000"/>
            <a:ext cx="8502650"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D9D4F2"/>
                </a:solidFill>
                <a:latin typeface="Poppins" pitchFamily="34" charset="0"/>
                <a:ea typeface="Poppins" pitchFamily="34" charset="-122"/>
                <a:cs typeface="Poppins" pitchFamily="34" charset="-120"/>
              </a:rPr>
              <a:t>For each phase: what comes in, what happens, and what it hands on</a:t>
            </a:r>
            <a:endParaRPr lang="en-US" sz="1800" dirty="0"/>
          </a:p>
        </p:txBody>
      </p:sp>
      <p:sp>
        <p:nvSpPr>
          <p:cNvPr id="5" name="Text 3"/>
          <p:cNvSpPr/>
          <p:nvPr/>
        </p:nvSpPr>
        <p:spPr>
          <a:xfrm>
            <a:off x="812800" y="62484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C9C3E8"/>
                </a:solidFill>
                <a:latin typeface="Poppins" pitchFamily="34" charset="0"/>
                <a:ea typeface="Poppins" pitchFamily="34" charset="-122"/>
                <a:cs typeface="Poppins" pitchFamily="34" charset="-120"/>
              </a:rPr>
              <a:t>AI THRIVES ON WHOLE DATA</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4064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1FFF"/>
                </a:solidFill>
                <a:latin typeface="Poppins" pitchFamily="34" charset="0"/>
                <a:ea typeface="Poppins" pitchFamily="34" charset="-122"/>
                <a:cs typeface="Poppins" pitchFamily="34" charset="-120"/>
              </a:rPr>
              <a:t>PHASE 1 · FRAME THE PROBLEM</a:t>
            </a:r>
            <a:endParaRPr lang="en-US" sz="1200" dirty="0"/>
          </a:p>
        </p:txBody>
      </p:sp>
      <p:sp>
        <p:nvSpPr>
          <p:cNvPr id="3" name="Text 1"/>
          <p:cNvSpPr/>
          <p:nvPr>
            <p:ph type="title"/>
          </p:nvPr>
        </p:nvSpPr>
        <p:spPr>
          <a:xfrm>
            <a:off x="812800" y="66040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220F60"/>
                </a:solidFill>
                <a:latin typeface="Poppins" pitchFamily="34" charset="0"/>
                <a:ea typeface="Poppins" pitchFamily="34" charset="-122"/>
                <a:cs typeface="Poppins" pitchFamily="34" charset="-120"/>
              </a:rPr>
              <a:t>Determine domain and scope</a:t>
            </a:r>
            <a:endParaRPr lang="en-US" sz="3000" dirty="0"/>
          </a:p>
        </p:txBody>
      </p:sp>
      <p:sp>
        <p:nvSpPr>
          <p:cNvPr id="4" name="Text 2"/>
          <p:cNvSpPr/>
          <p:nvPr/>
        </p:nvSpPr>
        <p:spPr>
          <a:xfrm>
            <a:off x="812800" y="1600200"/>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B5C7F"/>
                </a:solidFill>
                <a:latin typeface="Poppins" pitchFamily="34" charset="0"/>
                <a:ea typeface="Poppins" pitchFamily="34" charset="-122"/>
                <a:cs typeface="Poppins" pitchFamily="34" charset="-120"/>
              </a:rPr>
              <a:t>INPUTS</a:t>
            </a:r>
            <a:endParaRPr lang="en-US" sz="1200" dirty="0"/>
          </a:p>
        </p:txBody>
      </p:sp>
      <p:sp>
        <p:nvSpPr>
          <p:cNvPr id="5" name="Text 3"/>
          <p:cNvSpPr/>
          <p:nvPr/>
        </p:nvSpPr>
        <p:spPr>
          <a:xfrm>
            <a:off x="8585200" y="1600200"/>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B5C7F"/>
                </a:solidFill>
                <a:latin typeface="Poppins" pitchFamily="34" charset="0"/>
                <a:ea typeface="Poppins" pitchFamily="34" charset="-122"/>
                <a:cs typeface="Poppins" pitchFamily="34" charset="-120"/>
              </a:rPr>
              <a:t>OUTPUTS</a:t>
            </a:r>
            <a:endParaRPr lang="en-US" sz="1200" dirty="0"/>
          </a:p>
        </p:txBody>
      </p:sp>
      <p:sp>
        <p:nvSpPr>
          <p:cNvPr id="6" name="Shape 4"/>
          <p:cNvSpPr/>
          <p:nvPr/>
        </p:nvSpPr>
        <p:spPr>
          <a:xfrm>
            <a:off x="819150" y="1936750"/>
            <a:ext cx="2781300" cy="977900"/>
          </a:xfrm>
          <a:prstGeom prst="roundRect">
            <a:avLst>
              <a:gd name="adj" fmla="val 8442"/>
            </a:avLst>
          </a:prstGeom>
          <a:solidFill>
            <a:srgbClr val="FFFFFF"/>
          </a:solidFill>
          <a:ln w="12700">
            <a:solidFill>
              <a:srgbClr val="9AA3AD"/>
            </a:solidFill>
            <a:prstDash val="dash"/>
          </a:ln>
        </p:spPr>
      </p:sp>
      <p:sp>
        <p:nvSpPr>
          <p:cNvPr id="7" name="Text 5"/>
          <p:cNvSpPr/>
          <p:nvPr/>
        </p:nvSpPr>
        <p:spPr>
          <a:xfrm>
            <a:off x="977900" y="2101949"/>
            <a:ext cx="2537714"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External · Use case</a:t>
            </a:r>
            <a:endParaRPr lang="en-US" sz="1300" dirty="0"/>
          </a:p>
        </p:txBody>
      </p:sp>
      <p:sp>
        <p:nvSpPr>
          <p:cNvPr id="8" name="Text 6"/>
          <p:cNvSpPr/>
          <p:nvPr/>
        </p:nvSpPr>
        <p:spPr>
          <a:xfrm>
            <a:off x="977900" y="2338090"/>
            <a:ext cx="2537714"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What the ontology is for, and its users</a:t>
            </a:r>
            <a:endParaRPr lang="en-US" sz="1200" dirty="0"/>
          </a:p>
        </p:txBody>
      </p:sp>
      <p:sp>
        <p:nvSpPr>
          <p:cNvPr id="9" name="Shape 7"/>
          <p:cNvSpPr/>
          <p:nvPr/>
        </p:nvSpPr>
        <p:spPr>
          <a:xfrm>
            <a:off x="819150" y="3079750"/>
            <a:ext cx="2781300" cy="977900"/>
          </a:xfrm>
          <a:prstGeom prst="roundRect">
            <a:avLst>
              <a:gd name="adj" fmla="val 8442"/>
            </a:avLst>
          </a:prstGeom>
          <a:solidFill>
            <a:srgbClr val="FFFFFF"/>
          </a:solidFill>
          <a:ln w="12700">
            <a:solidFill>
              <a:srgbClr val="9AA3AD"/>
            </a:solidFill>
            <a:prstDash val="dash"/>
          </a:ln>
        </p:spPr>
      </p:sp>
      <p:sp>
        <p:nvSpPr>
          <p:cNvPr id="10" name="Text 8"/>
          <p:cNvSpPr/>
          <p:nvPr/>
        </p:nvSpPr>
        <p:spPr>
          <a:xfrm>
            <a:off x="977900" y="3244949"/>
            <a:ext cx="2537714"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External · Experts</a:t>
            </a:r>
            <a:endParaRPr lang="en-US" sz="1300" dirty="0"/>
          </a:p>
        </p:txBody>
      </p:sp>
      <p:sp>
        <p:nvSpPr>
          <p:cNvPr id="11" name="Text 9"/>
          <p:cNvSpPr/>
          <p:nvPr/>
        </p:nvSpPr>
        <p:spPr>
          <a:xfrm>
            <a:off x="977900" y="3481090"/>
            <a:ext cx="2537714"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Domain knowledge and vocabulary</a:t>
            </a:r>
            <a:endParaRPr lang="en-US" sz="1200" dirty="0"/>
          </a:p>
        </p:txBody>
      </p:sp>
      <p:sp>
        <p:nvSpPr>
          <p:cNvPr id="12" name="Shape 10"/>
          <p:cNvSpPr/>
          <p:nvPr/>
        </p:nvSpPr>
        <p:spPr>
          <a:xfrm>
            <a:off x="819150" y="4222750"/>
            <a:ext cx="2781300" cy="977900"/>
          </a:xfrm>
          <a:prstGeom prst="roundRect">
            <a:avLst>
              <a:gd name="adj" fmla="val 8442"/>
            </a:avLst>
          </a:prstGeom>
          <a:solidFill>
            <a:srgbClr val="FCEAF2"/>
          </a:solidFill>
          <a:ln w="12700">
            <a:solidFill>
              <a:srgbClr val="DF367C"/>
            </a:solidFill>
            <a:prstDash val="solid"/>
          </a:ln>
        </p:spPr>
      </p:sp>
      <p:sp>
        <p:nvSpPr>
          <p:cNvPr id="13" name="Text 11"/>
          <p:cNvSpPr/>
          <p:nvPr/>
        </p:nvSpPr>
        <p:spPr>
          <a:xfrm>
            <a:off x="977900" y="4387949"/>
            <a:ext cx="2537714"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 8 · Evaluate</a:t>
            </a:r>
            <a:endParaRPr lang="en-US" sz="1300" dirty="0"/>
          </a:p>
        </p:txBody>
      </p:sp>
      <p:sp>
        <p:nvSpPr>
          <p:cNvPr id="14" name="Text 12"/>
          <p:cNvSpPr/>
          <p:nvPr/>
        </p:nvSpPr>
        <p:spPr>
          <a:xfrm>
            <a:off x="977900" y="4624090"/>
            <a:ext cx="2537714"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Findings that change scope or CQs</a:t>
            </a:r>
            <a:endParaRPr lang="en-US" sz="1200" dirty="0"/>
          </a:p>
        </p:txBody>
      </p:sp>
      <p:sp>
        <p:nvSpPr>
          <p:cNvPr id="15" name="Shape 13"/>
          <p:cNvSpPr/>
          <p:nvPr/>
        </p:nvSpPr>
        <p:spPr>
          <a:xfrm>
            <a:off x="4216400" y="1930400"/>
            <a:ext cx="3759200" cy="3276600"/>
          </a:xfrm>
          <a:prstGeom prst="roundRect">
            <a:avLst>
              <a:gd name="adj" fmla="val 3876"/>
            </a:avLst>
          </a:prstGeom>
          <a:solidFill>
            <a:srgbClr val="220F60"/>
          </a:solidFill>
          <a:ln/>
        </p:spPr>
      </p:sp>
      <p:sp>
        <p:nvSpPr>
          <p:cNvPr id="16" name="Text 14"/>
          <p:cNvSpPr/>
          <p:nvPr/>
        </p:nvSpPr>
        <p:spPr>
          <a:xfrm>
            <a:off x="4470400" y="2184400"/>
            <a:ext cx="334873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FADFF"/>
                </a:solidFill>
                <a:latin typeface="Poppins" pitchFamily="34" charset="0"/>
                <a:ea typeface="Poppins" pitchFamily="34" charset="-122"/>
                <a:cs typeface="Poppins" pitchFamily="34" charset="-120"/>
              </a:rPr>
              <a:t>ACTIVITIES</a:t>
            </a:r>
            <a:endParaRPr lang="en-US" sz="1200" dirty="0"/>
          </a:p>
        </p:txBody>
      </p:sp>
      <p:sp>
        <p:nvSpPr>
          <p:cNvPr id="17" name="Text 15"/>
          <p:cNvSpPr/>
          <p:nvPr/>
        </p:nvSpPr>
        <p:spPr>
          <a:xfrm>
            <a:off x="4470400" y="2499320"/>
            <a:ext cx="3348736"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FFFF"/>
                </a:solidFill>
                <a:latin typeface="Poppins" pitchFamily="34" charset="0"/>
                <a:ea typeface="Poppins" pitchFamily="34" charset="-122"/>
                <a:cs typeface="Poppins" pitchFamily="34" charset="-120"/>
              </a:rPr>
              <a:t>Scope &amp; competency questions</a:t>
            </a:r>
            <a:endParaRPr lang="en-US" sz="1800" dirty="0"/>
          </a:p>
        </p:txBody>
      </p:sp>
      <p:sp>
        <p:nvSpPr>
          <p:cNvPr id="18" name="Text 16"/>
          <p:cNvSpPr/>
          <p:nvPr/>
        </p:nvSpPr>
        <p:spPr>
          <a:xfrm>
            <a:off x="4569206" y="3149402"/>
            <a:ext cx="3242310" cy="1092002"/>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D9D4F2"/>
                </a:solidFill>
                <a:latin typeface="Poppins" pitchFamily="34" charset="0"/>
                <a:ea typeface="Poppins" pitchFamily="34" charset="-122"/>
                <a:cs typeface="Poppins" pitchFamily="34" charset="-120"/>
              </a:rPr>
              <a:t>What domain, what use, which questions, who maintains?</a:t>
            </a:r>
            <a:endParaRPr lang="en-US" sz="1200" dirty="0"/>
          </a:p>
          <a:p>
            <a:pPr algn="l" marL="155194" indent="-155194">
              <a:lnSpc>
                <a:spcPts val="1680"/>
              </a:lnSpc>
              <a:buSzPct val="100000"/>
              <a:buChar char="•"/>
            </a:pPr>
            <a:r>
              <a:rPr lang="en-US" sz="1200" dirty="0">
                <a:solidFill>
                  <a:srgbClr val="D9D4F2"/>
                </a:solidFill>
                <a:latin typeface="Poppins" pitchFamily="34" charset="0"/>
                <a:ea typeface="Poppins" pitchFamily="34" charset="-122"/>
                <a:cs typeface="Poppins" pitchFamily="34" charset="-120"/>
              </a:rPr>
              <a:t>Draft competency questions (CQs)</a:t>
            </a:r>
            <a:endParaRPr lang="en-US" sz="1200" dirty="0"/>
          </a:p>
          <a:p>
            <a:pPr algn="l" marL="155194" indent="-155194">
              <a:lnSpc>
                <a:spcPts val="1680"/>
              </a:lnSpc>
              <a:buSzPct val="100000"/>
              <a:buChar char="•"/>
            </a:pPr>
            <a:r>
              <a:rPr lang="en-US" sz="1200" dirty="0">
                <a:solidFill>
                  <a:srgbClr val="D9D4F2"/>
                </a:solidFill>
                <a:latin typeface="Poppins" pitchFamily="34" charset="0"/>
                <a:ea typeface="Poppins" pitchFamily="34" charset="-122"/>
                <a:cs typeface="Poppins" pitchFamily="34" charset="-120"/>
              </a:rPr>
              <a:t>Set level of detail and exclusions</a:t>
            </a:r>
            <a:endParaRPr lang="en-US" sz="1200" dirty="0"/>
          </a:p>
          <a:p>
            <a:pPr algn="l" marL="155194" indent="-155194">
              <a:lnSpc>
                <a:spcPts val="1680"/>
              </a:lnSpc>
              <a:buSzPct val="100000"/>
              <a:buChar char="•"/>
            </a:pPr>
            <a:r>
              <a:rPr lang="en-US" sz="1200" dirty="0">
                <a:solidFill>
                  <a:srgbClr val="D9D4F2"/>
                </a:solidFill>
                <a:latin typeface="Poppins" pitchFamily="34" charset="0"/>
                <a:ea typeface="Poppins" pitchFamily="34" charset="-122"/>
                <a:cs typeface="Poppins" pitchFamily="34" charset="-120"/>
              </a:rPr>
              <a:t>Note synonym and language needs</a:t>
            </a:r>
            <a:endParaRPr lang="en-US" sz="1200" dirty="0"/>
          </a:p>
        </p:txBody>
      </p:sp>
      <p:sp>
        <p:nvSpPr>
          <p:cNvPr id="19" name="Shape 17"/>
          <p:cNvSpPr/>
          <p:nvPr/>
        </p:nvSpPr>
        <p:spPr>
          <a:xfrm>
            <a:off x="8585200" y="1930400"/>
            <a:ext cx="2794000" cy="990600"/>
          </a:xfrm>
          <a:prstGeom prst="roundRect">
            <a:avLst>
              <a:gd name="adj" fmla="val 8974"/>
            </a:avLst>
          </a:prstGeom>
          <a:solidFill>
            <a:srgbClr val="F2F2F2"/>
          </a:solidFill>
          <a:ln/>
        </p:spPr>
      </p:sp>
      <p:sp>
        <p:nvSpPr>
          <p:cNvPr id="20" name="Text 18"/>
          <p:cNvSpPr/>
          <p:nvPr/>
        </p:nvSpPr>
        <p:spPr>
          <a:xfrm>
            <a:off x="8737600" y="2101949"/>
            <a:ext cx="2563876"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2 · Reuse</a:t>
            </a:r>
            <a:endParaRPr lang="en-US" sz="1300" dirty="0"/>
          </a:p>
        </p:txBody>
      </p:sp>
      <p:sp>
        <p:nvSpPr>
          <p:cNvPr id="21" name="Text 19"/>
          <p:cNvSpPr/>
          <p:nvPr/>
        </p:nvSpPr>
        <p:spPr>
          <a:xfrm>
            <a:off x="8737600" y="2338090"/>
            <a:ext cx="2563876"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Scope statement filters candidates</a:t>
            </a:r>
            <a:endParaRPr lang="en-US" sz="1200" dirty="0"/>
          </a:p>
        </p:txBody>
      </p:sp>
      <p:sp>
        <p:nvSpPr>
          <p:cNvPr id="22" name="Shape 20"/>
          <p:cNvSpPr/>
          <p:nvPr/>
        </p:nvSpPr>
        <p:spPr>
          <a:xfrm>
            <a:off x="8585200" y="3073400"/>
            <a:ext cx="2794000" cy="990600"/>
          </a:xfrm>
          <a:prstGeom prst="roundRect">
            <a:avLst>
              <a:gd name="adj" fmla="val 8974"/>
            </a:avLst>
          </a:prstGeom>
          <a:solidFill>
            <a:srgbClr val="F2F2F2"/>
          </a:solidFill>
          <a:ln/>
        </p:spPr>
      </p:sp>
      <p:sp>
        <p:nvSpPr>
          <p:cNvPr id="23" name="Text 21"/>
          <p:cNvSpPr/>
          <p:nvPr/>
        </p:nvSpPr>
        <p:spPr>
          <a:xfrm>
            <a:off x="8737600" y="3347740"/>
            <a:ext cx="2563876"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3 · Terms</a:t>
            </a:r>
            <a:endParaRPr lang="en-US" sz="1300" dirty="0"/>
          </a:p>
        </p:txBody>
      </p:sp>
      <p:sp>
        <p:nvSpPr>
          <p:cNvPr id="24" name="Text 22"/>
          <p:cNvSpPr/>
          <p:nvPr/>
        </p:nvSpPr>
        <p:spPr>
          <a:xfrm>
            <a:off x="8737600" y="3583880"/>
            <a:ext cx="2563876"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CQs seed the vocabulary</a:t>
            </a:r>
            <a:endParaRPr lang="en-US" sz="1200" dirty="0"/>
          </a:p>
        </p:txBody>
      </p:sp>
      <p:sp>
        <p:nvSpPr>
          <p:cNvPr id="25" name="Shape 23"/>
          <p:cNvSpPr/>
          <p:nvPr/>
        </p:nvSpPr>
        <p:spPr>
          <a:xfrm>
            <a:off x="8585200" y="4216400"/>
            <a:ext cx="2794000" cy="990600"/>
          </a:xfrm>
          <a:prstGeom prst="roundRect">
            <a:avLst>
              <a:gd name="adj" fmla="val 8974"/>
            </a:avLst>
          </a:prstGeom>
          <a:solidFill>
            <a:srgbClr val="F2F2F2"/>
          </a:solidFill>
          <a:ln/>
        </p:spPr>
      </p:sp>
      <p:sp>
        <p:nvSpPr>
          <p:cNvPr id="26" name="Text 24"/>
          <p:cNvSpPr/>
          <p:nvPr/>
        </p:nvSpPr>
        <p:spPr>
          <a:xfrm>
            <a:off x="8737600" y="4387949"/>
            <a:ext cx="2563876"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4 · 7 · 8</a:t>
            </a:r>
            <a:endParaRPr lang="en-US" sz="1300" dirty="0"/>
          </a:p>
        </p:txBody>
      </p:sp>
      <p:sp>
        <p:nvSpPr>
          <p:cNvPr id="27" name="Text 25"/>
          <p:cNvSpPr/>
          <p:nvPr/>
        </p:nvSpPr>
        <p:spPr>
          <a:xfrm>
            <a:off x="8737600" y="4624090"/>
            <a:ext cx="2563876"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CQs fix granularity, then test the KB</a:t>
            </a:r>
            <a:endParaRPr lang="en-US" sz="1200" dirty="0"/>
          </a:p>
        </p:txBody>
      </p:sp>
      <p:pic>
        <p:nvPicPr>
          <p:cNvPr id="28" name="Image 0" descr="connector">    </p:cNvPr>
          <p:cNvPicPr>
            <a:picLocks noChangeAspect="1"/>
          </p:cNvPicPr>
          <p:nvPr/>
        </p:nvPicPr>
        <p:blipFill>
          <a:blip r:embed="rId1"/>
          <a:srcRect l="0" r="0" t="0" b="0"/>
          <a:stretch/>
        </p:blipFill>
        <p:spPr>
          <a:xfrm>
            <a:off x="3556000" y="2374900"/>
            <a:ext cx="711200" cy="101600"/>
          </a:xfrm>
          <a:prstGeom prst="rect">
            <a:avLst/>
          </a:prstGeom>
        </p:spPr>
      </p:pic>
      <p:pic>
        <p:nvPicPr>
          <p:cNvPr id="29" name="Image 1" descr="connector">    </p:cNvPr>
          <p:cNvPicPr>
            <a:picLocks noChangeAspect="1"/>
          </p:cNvPicPr>
          <p:nvPr/>
        </p:nvPicPr>
        <p:blipFill>
          <a:blip r:embed="rId2"/>
          <a:srcRect l="0" r="0" t="0" b="0"/>
          <a:stretch/>
        </p:blipFill>
        <p:spPr>
          <a:xfrm>
            <a:off x="3556000" y="3517900"/>
            <a:ext cx="711200" cy="101600"/>
          </a:xfrm>
          <a:prstGeom prst="rect">
            <a:avLst/>
          </a:prstGeom>
        </p:spPr>
      </p:pic>
      <p:pic>
        <p:nvPicPr>
          <p:cNvPr id="30" name="Image 2" descr="connector">    </p:cNvPr>
          <p:cNvPicPr>
            <a:picLocks noChangeAspect="1"/>
          </p:cNvPicPr>
          <p:nvPr/>
        </p:nvPicPr>
        <p:blipFill>
          <a:blip r:embed="rId3"/>
          <a:srcRect l="0" r="0" t="0" b="0"/>
          <a:stretch/>
        </p:blipFill>
        <p:spPr>
          <a:xfrm>
            <a:off x="3556000" y="4660900"/>
            <a:ext cx="711200" cy="101600"/>
          </a:xfrm>
          <a:prstGeom prst="rect">
            <a:avLst/>
          </a:prstGeom>
        </p:spPr>
      </p:pic>
      <p:pic>
        <p:nvPicPr>
          <p:cNvPr id="31" name="Image 3" descr="connector">    </p:cNvPr>
          <p:cNvPicPr>
            <a:picLocks noChangeAspect="1"/>
          </p:cNvPicPr>
          <p:nvPr/>
        </p:nvPicPr>
        <p:blipFill>
          <a:blip r:embed="rId4"/>
          <a:srcRect l="0" r="0" t="0" b="0"/>
          <a:stretch/>
        </p:blipFill>
        <p:spPr>
          <a:xfrm>
            <a:off x="7924800" y="2374900"/>
            <a:ext cx="711200" cy="101600"/>
          </a:xfrm>
          <a:prstGeom prst="rect">
            <a:avLst/>
          </a:prstGeom>
        </p:spPr>
      </p:pic>
      <p:pic>
        <p:nvPicPr>
          <p:cNvPr id="32" name="Image 4" descr="connector">    </p:cNvPr>
          <p:cNvPicPr>
            <a:picLocks noChangeAspect="1"/>
          </p:cNvPicPr>
          <p:nvPr/>
        </p:nvPicPr>
        <p:blipFill>
          <a:blip r:embed="rId5"/>
          <a:srcRect l="0" r="0" t="0" b="0"/>
          <a:stretch/>
        </p:blipFill>
        <p:spPr>
          <a:xfrm>
            <a:off x="7924800" y="3517900"/>
            <a:ext cx="711200" cy="101600"/>
          </a:xfrm>
          <a:prstGeom prst="rect">
            <a:avLst/>
          </a:prstGeom>
        </p:spPr>
      </p:pic>
      <p:pic>
        <p:nvPicPr>
          <p:cNvPr id="33" name="Image 5" descr="connector">    </p:cNvPr>
          <p:cNvPicPr>
            <a:picLocks noChangeAspect="1"/>
          </p:cNvPicPr>
          <p:nvPr/>
        </p:nvPicPr>
        <p:blipFill>
          <a:blip r:embed="rId6"/>
          <a:srcRect l="0" r="0" t="0" b="0"/>
          <a:stretch/>
        </p:blipFill>
        <p:spPr>
          <a:xfrm>
            <a:off x="7924800" y="4660900"/>
            <a:ext cx="711200" cy="101600"/>
          </a:xfrm>
          <a:prstGeom prst="rect">
            <a:avLst/>
          </a:prstGeom>
        </p:spPr>
      </p:pic>
      <p:sp>
        <p:nvSpPr>
          <p:cNvPr id="34" name="Text 26"/>
          <p:cNvSpPr/>
          <p:nvPr/>
        </p:nvSpPr>
        <p:spPr>
          <a:xfrm>
            <a:off x="812800" y="5410200"/>
            <a:ext cx="10566400" cy="383480"/>
          </a:xfrm>
          <a:prstGeom prst="roundRect">
            <a:avLst>
              <a:gd name="adj" fmla="val 19871"/>
            </a:avLst>
          </a:prstGeom>
          <a:solidFill>
            <a:srgbClr val="FCEAF2"/>
          </a:solidFill>
          <a:ln/>
        </p:spPr>
        <p:txBody>
          <a:bodyPr wrap="square" lIns="130082" tIns="66582" rIns="0" bIns="41182" rtlCol="0" anchor="t">
            <a:normAutofit/>
          </a:bodyPr>
          <a:lstStyle/>
          <a:p>
            <a:pPr algn="l" indent="0" marL="0">
              <a:lnSpc>
                <a:spcPts val="1620"/>
              </a:lnSpc>
              <a:buNone/>
            </a:pPr>
            <a:r>
              <a:rPr lang="en-US" sz="1200" b="1" dirty="0">
                <a:solidFill>
                  <a:srgbClr val="A8215A"/>
                </a:solidFill>
                <a:latin typeface="Poppins" pitchFamily="34" charset="0"/>
                <a:ea typeface="Poppins" pitchFamily="34" charset="-122"/>
                <a:cs typeface="Poppins" pitchFamily="34" charset="-120"/>
              </a:rPr>
              <a:t>Loop:</a:t>
            </a:r>
            <a:r>
              <a:rPr lang="en-US" sz="1200" dirty="0">
                <a:solidFill>
                  <a:srgbClr val="15103A"/>
                </a:solidFill>
                <a:latin typeface="Poppins" pitchFamily="34" charset="0"/>
                <a:ea typeface="Poppins" pitchFamily="34" charset="-122"/>
                <a:cs typeface="Poppins" pitchFamily="34" charset="-120"/>
              </a:rPr>
              <a:t> scope may change during design; any phase can send you back to restate scope or CQs.</a:t>
            </a:r>
            <a:endParaRPr lang="en-US" sz="1200" dirty="0"/>
          </a:p>
        </p:txBody>
      </p:sp>
      <p:pic>
        <p:nvPicPr>
          <p:cNvPr id="35" name="Image 6" descr="Graphwise symbol">    </p:cNvPr>
          <p:cNvPicPr>
            <a:picLocks noChangeAspect="1"/>
          </p:cNvPicPr>
          <p:nvPr/>
        </p:nvPicPr>
        <p:blipFill>
          <a:blip r:embed="rId7"/>
          <a:srcRect l="-182" r="-182" t="0" b="0"/>
          <a:stretch/>
        </p:blipFill>
        <p:spPr>
          <a:xfrm>
            <a:off x="812800" y="6261100"/>
            <a:ext cx="203200" cy="209550"/>
          </a:xfrm>
          <a:prstGeom prst="rect">
            <a:avLst/>
          </a:prstGeom>
        </p:spPr>
      </p:pic>
      <p:sp>
        <p:nvSpPr>
          <p:cNvPr id="36" name="Text 27"/>
          <p:cNvSpPr/>
          <p:nvPr/>
        </p:nvSpPr>
        <p:spPr>
          <a:xfrm>
            <a:off x="1117600" y="62484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5C7F"/>
                </a:solidFill>
                <a:latin typeface="Poppins" pitchFamily="34" charset="0"/>
                <a:ea typeface="Poppins" pitchFamily="34" charset="-122"/>
                <a:cs typeface="Poppins" pitchFamily="34" charset="-120"/>
              </a:rPr>
              <a:t>Ontology Development 101 · Process &amp; dependencies</a:t>
            </a:r>
            <a:endParaRPr lang="en-US" sz="1200" dirty="0"/>
          </a:p>
        </p:txBody>
      </p:sp>
      <p:sp>
        <p:nvSpPr>
          <p:cNvPr id="37" name="Text 28"/>
          <p:cNvSpPr/>
          <p:nvPr/>
        </p:nvSpPr>
        <p:spPr>
          <a:xfrm>
            <a:off x="10058400" y="624840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B5C7F"/>
                </a:solidFill>
                <a:latin typeface="Poppins" pitchFamily="34" charset="0"/>
                <a:ea typeface="Poppins" pitchFamily="34" charset="-122"/>
                <a:cs typeface="Poppi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4064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1FFF"/>
                </a:solidFill>
                <a:latin typeface="Poppins" pitchFamily="34" charset="0"/>
                <a:ea typeface="Poppins" pitchFamily="34" charset="-122"/>
                <a:cs typeface="Poppins" pitchFamily="34" charset="-120"/>
              </a:rPr>
              <a:t>PHASE 2 · FRAME THE PROBLEM</a:t>
            </a:r>
            <a:endParaRPr lang="en-US" sz="1200" dirty="0"/>
          </a:p>
        </p:txBody>
      </p:sp>
      <p:sp>
        <p:nvSpPr>
          <p:cNvPr id="3" name="Text 1"/>
          <p:cNvSpPr/>
          <p:nvPr>
            <p:ph type="title"/>
          </p:nvPr>
        </p:nvSpPr>
        <p:spPr>
          <a:xfrm>
            <a:off x="812800" y="66040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220F60"/>
                </a:solidFill>
                <a:latin typeface="Poppins" pitchFamily="34" charset="0"/>
                <a:ea typeface="Poppins" pitchFamily="34" charset="-122"/>
                <a:cs typeface="Poppins" pitchFamily="34" charset="-120"/>
              </a:rPr>
              <a:t>Consider reusing existing ontologies</a:t>
            </a:r>
            <a:endParaRPr lang="en-US" sz="3000" dirty="0"/>
          </a:p>
        </p:txBody>
      </p:sp>
      <p:sp>
        <p:nvSpPr>
          <p:cNvPr id="4" name="Text 2"/>
          <p:cNvSpPr/>
          <p:nvPr/>
        </p:nvSpPr>
        <p:spPr>
          <a:xfrm>
            <a:off x="812800" y="1600200"/>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B5C7F"/>
                </a:solidFill>
                <a:latin typeface="Poppins" pitchFamily="34" charset="0"/>
                <a:ea typeface="Poppins" pitchFamily="34" charset="-122"/>
                <a:cs typeface="Poppins" pitchFamily="34" charset="-120"/>
              </a:rPr>
              <a:t>INPUTS</a:t>
            </a:r>
            <a:endParaRPr lang="en-US" sz="1200" dirty="0"/>
          </a:p>
        </p:txBody>
      </p:sp>
      <p:sp>
        <p:nvSpPr>
          <p:cNvPr id="5" name="Text 3"/>
          <p:cNvSpPr/>
          <p:nvPr/>
        </p:nvSpPr>
        <p:spPr>
          <a:xfrm>
            <a:off x="8585200" y="1600200"/>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B5C7F"/>
                </a:solidFill>
                <a:latin typeface="Poppins" pitchFamily="34" charset="0"/>
                <a:ea typeface="Poppins" pitchFamily="34" charset="-122"/>
                <a:cs typeface="Poppins" pitchFamily="34" charset="-120"/>
              </a:rPr>
              <a:t>OUTPUTS</a:t>
            </a:r>
            <a:endParaRPr lang="en-US" sz="1200" dirty="0"/>
          </a:p>
        </p:txBody>
      </p:sp>
      <p:sp>
        <p:nvSpPr>
          <p:cNvPr id="6" name="Shape 4"/>
          <p:cNvSpPr/>
          <p:nvPr/>
        </p:nvSpPr>
        <p:spPr>
          <a:xfrm>
            <a:off x="812800" y="1930400"/>
            <a:ext cx="2794000" cy="990600"/>
          </a:xfrm>
          <a:prstGeom prst="roundRect">
            <a:avLst>
              <a:gd name="adj" fmla="val 8974"/>
            </a:avLst>
          </a:prstGeom>
          <a:solidFill>
            <a:srgbClr val="F2F2F2"/>
          </a:solidFill>
          <a:ln/>
        </p:spPr>
      </p:sp>
      <p:sp>
        <p:nvSpPr>
          <p:cNvPr id="7" name="Text 5"/>
          <p:cNvSpPr/>
          <p:nvPr/>
        </p:nvSpPr>
        <p:spPr>
          <a:xfrm>
            <a:off x="965200" y="2101949"/>
            <a:ext cx="2563876"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1 · Scope</a:t>
            </a:r>
            <a:endParaRPr lang="en-US" sz="1300" dirty="0"/>
          </a:p>
        </p:txBody>
      </p:sp>
      <p:sp>
        <p:nvSpPr>
          <p:cNvPr id="8" name="Text 6"/>
          <p:cNvSpPr/>
          <p:nvPr/>
        </p:nvSpPr>
        <p:spPr>
          <a:xfrm>
            <a:off x="965200" y="2338090"/>
            <a:ext cx="2563876"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Scope and CQs to match against</a:t>
            </a:r>
            <a:endParaRPr lang="en-US" sz="1200" dirty="0"/>
          </a:p>
        </p:txBody>
      </p:sp>
      <p:sp>
        <p:nvSpPr>
          <p:cNvPr id="9" name="Shape 7"/>
          <p:cNvSpPr/>
          <p:nvPr/>
        </p:nvSpPr>
        <p:spPr>
          <a:xfrm>
            <a:off x="819150" y="3079750"/>
            <a:ext cx="2781300" cy="977900"/>
          </a:xfrm>
          <a:prstGeom prst="roundRect">
            <a:avLst>
              <a:gd name="adj" fmla="val 8442"/>
            </a:avLst>
          </a:prstGeom>
          <a:solidFill>
            <a:srgbClr val="FFFFFF"/>
          </a:solidFill>
          <a:ln w="12700">
            <a:solidFill>
              <a:srgbClr val="9AA3AD"/>
            </a:solidFill>
            <a:prstDash val="dash"/>
          </a:ln>
        </p:spPr>
      </p:sp>
      <p:sp>
        <p:nvSpPr>
          <p:cNvPr id="10" name="Text 8"/>
          <p:cNvSpPr/>
          <p:nvPr/>
        </p:nvSpPr>
        <p:spPr>
          <a:xfrm>
            <a:off x="977900" y="3244949"/>
            <a:ext cx="2537714"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External · Libraries</a:t>
            </a:r>
            <a:endParaRPr lang="en-US" sz="1300" dirty="0"/>
          </a:p>
        </p:txBody>
      </p:sp>
      <p:sp>
        <p:nvSpPr>
          <p:cNvPr id="11" name="Text 9"/>
          <p:cNvSpPr/>
          <p:nvPr/>
        </p:nvSpPr>
        <p:spPr>
          <a:xfrm>
            <a:off x="977900" y="3481090"/>
            <a:ext cx="2537714"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Published ontologies and standards</a:t>
            </a:r>
            <a:endParaRPr lang="en-US" sz="1200" dirty="0"/>
          </a:p>
        </p:txBody>
      </p:sp>
      <p:sp>
        <p:nvSpPr>
          <p:cNvPr id="12" name="Shape 10"/>
          <p:cNvSpPr/>
          <p:nvPr/>
        </p:nvSpPr>
        <p:spPr>
          <a:xfrm>
            <a:off x="819150" y="4222750"/>
            <a:ext cx="2781300" cy="977900"/>
          </a:xfrm>
          <a:prstGeom prst="roundRect">
            <a:avLst>
              <a:gd name="adj" fmla="val 8442"/>
            </a:avLst>
          </a:prstGeom>
          <a:solidFill>
            <a:srgbClr val="FFFFFF"/>
          </a:solidFill>
          <a:ln w="12700">
            <a:solidFill>
              <a:srgbClr val="9AA3AD"/>
            </a:solidFill>
            <a:prstDash val="dash"/>
          </a:ln>
        </p:spPr>
      </p:sp>
      <p:sp>
        <p:nvSpPr>
          <p:cNvPr id="13" name="Text 11"/>
          <p:cNvSpPr/>
          <p:nvPr/>
        </p:nvSpPr>
        <p:spPr>
          <a:xfrm>
            <a:off x="977900" y="4387949"/>
            <a:ext cx="2537714"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External · Partners</a:t>
            </a:r>
            <a:endParaRPr lang="en-US" sz="1300" dirty="0"/>
          </a:p>
        </p:txBody>
      </p:sp>
      <p:sp>
        <p:nvSpPr>
          <p:cNvPr id="14" name="Text 12"/>
          <p:cNvSpPr/>
          <p:nvPr/>
        </p:nvSpPr>
        <p:spPr>
          <a:xfrm>
            <a:off x="977900" y="4624090"/>
            <a:ext cx="2537714"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Systems already bound to a vocabulary</a:t>
            </a:r>
            <a:endParaRPr lang="en-US" sz="1200" dirty="0"/>
          </a:p>
        </p:txBody>
      </p:sp>
      <p:sp>
        <p:nvSpPr>
          <p:cNvPr id="15" name="Shape 13"/>
          <p:cNvSpPr/>
          <p:nvPr/>
        </p:nvSpPr>
        <p:spPr>
          <a:xfrm>
            <a:off x="4216400" y="1930400"/>
            <a:ext cx="3759200" cy="3276600"/>
          </a:xfrm>
          <a:prstGeom prst="roundRect">
            <a:avLst>
              <a:gd name="adj" fmla="val 3876"/>
            </a:avLst>
          </a:prstGeom>
          <a:solidFill>
            <a:srgbClr val="220F60"/>
          </a:solidFill>
          <a:ln/>
        </p:spPr>
      </p:sp>
      <p:sp>
        <p:nvSpPr>
          <p:cNvPr id="16" name="Text 14"/>
          <p:cNvSpPr/>
          <p:nvPr/>
        </p:nvSpPr>
        <p:spPr>
          <a:xfrm>
            <a:off x="4470400" y="2184400"/>
            <a:ext cx="334873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FADFF"/>
                </a:solidFill>
                <a:latin typeface="Poppins" pitchFamily="34" charset="0"/>
                <a:ea typeface="Poppins" pitchFamily="34" charset="-122"/>
                <a:cs typeface="Poppins" pitchFamily="34" charset="-120"/>
              </a:rPr>
              <a:t>ACTIVITIES</a:t>
            </a:r>
            <a:endParaRPr lang="en-US" sz="1200" dirty="0"/>
          </a:p>
        </p:txBody>
      </p:sp>
      <p:sp>
        <p:nvSpPr>
          <p:cNvPr id="17" name="Text 15"/>
          <p:cNvSpPr/>
          <p:nvPr/>
        </p:nvSpPr>
        <p:spPr>
          <a:xfrm>
            <a:off x="4470400" y="2499320"/>
            <a:ext cx="334873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FFFF"/>
                </a:solidFill>
                <a:latin typeface="Poppins" pitchFamily="34" charset="0"/>
                <a:ea typeface="Poppins" pitchFamily="34" charset="-122"/>
                <a:cs typeface="Poppins" pitchFamily="34" charset="-120"/>
              </a:rPr>
              <a:t>Reuse before you build</a:t>
            </a:r>
            <a:endParaRPr lang="en-US" sz="1800" dirty="0"/>
          </a:p>
        </p:txBody>
      </p:sp>
      <p:sp>
        <p:nvSpPr>
          <p:cNvPr id="18" name="Text 16"/>
          <p:cNvSpPr/>
          <p:nvPr/>
        </p:nvSpPr>
        <p:spPr>
          <a:xfrm>
            <a:off x="4569206" y="2875161"/>
            <a:ext cx="3242310" cy="878681"/>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D9D4F2"/>
                </a:solidFill>
                <a:latin typeface="Poppins" pitchFamily="34" charset="0"/>
                <a:ea typeface="Poppins" pitchFamily="34" charset="-122"/>
                <a:cs typeface="Poppins" pitchFamily="34" charset="-120"/>
              </a:rPr>
              <a:t>Survey libraries and standards</a:t>
            </a:r>
            <a:endParaRPr lang="en-US" sz="1200" dirty="0"/>
          </a:p>
          <a:p>
            <a:pPr algn="l" marL="155194" indent="-155194">
              <a:lnSpc>
                <a:spcPts val="1680"/>
              </a:lnSpc>
              <a:buSzPct val="100000"/>
              <a:buChar char="•"/>
            </a:pPr>
            <a:r>
              <a:rPr lang="en-US" sz="1200" dirty="0">
                <a:solidFill>
                  <a:srgbClr val="D9D4F2"/>
                </a:solidFill>
                <a:latin typeface="Poppins" pitchFamily="34" charset="0"/>
                <a:ea typeface="Poppins" pitchFamily="34" charset="-122"/>
                <a:cs typeface="Poppins" pitchFamily="34" charset="-120"/>
              </a:rPr>
              <a:t>Assess fit to scope and CQs</a:t>
            </a:r>
            <a:endParaRPr lang="en-US" sz="1200" dirty="0"/>
          </a:p>
          <a:p>
            <a:pPr algn="l" marL="155194" indent="-155194">
              <a:lnSpc>
                <a:spcPts val="1680"/>
              </a:lnSpc>
              <a:buSzPct val="100000"/>
              <a:buChar char="•"/>
            </a:pPr>
            <a:r>
              <a:rPr lang="en-US" sz="1200" dirty="0">
                <a:solidFill>
                  <a:srgbClr val="D9D4F2"/>
                </a:solidFill>
                <a:latin typeface="Poppins" pitchFamily="34" charset="0"/>
                <a:ea typeface="Poppins" pitchFamily="34" charset="-122"/>
                <a:cs typeface="Poppins" pitchFamily="34" charset="-120"/>
              </a:rPr>
              <a:t>Plan translation between formalisms</a:t>
            </a:r>
            <a:endParaRPr lang="en-US" sz="1200" dirty="0"/>
          </a:p>
          <a:p>
            <a:pPr algn="l" marL="155194" indent="-155194">
              <a:lnSpc>
                <a:spcPts val="1680"/>
              </a:lnSpc>
              <a:buSzPct val="100000"/>
              <a:buChar char="•"/>
            </a:pPr>
            <a:r>
              <a:rPr lang="en-US" sz="1200" dirty="0">
                <a:solidFill>
                  <a:srgbClr val="D9D4F2"/>
                </a:solidFill>
                <a:latin typeface="Poppins" pitchFamily="34" charset="0"/>
                <a:ea typeface="Poppins" pitchFamily="34" charset="-122"/>
                <a:cs typeface="Poppins" pitchFamily="34" charset="-120"/>
              </a:rPr>
              <a:t>Record what is still missing</a:t>
            </a:r>
            <a:endParaRPr lang="en-US" sz="1200" dirty="0"/>
          </a:p>
        </p:txBody>
      </p:sp>
      <p:sp>
        <p:nvSpPr>
          <p:cNvPr id="19" name="Shape 17"/>
          <p:cNvSpPr/>
          <p:nvPr/>
        </p:nvSpPr>
        <p:spPr>
          <a:xfrm>
            <a:off x="8585200" y="1930400"/>
            <a:ext cx="2794000" cy="990600"/>
          </a:xfrm>
          <a:prstGeom prst="roundRect">
            <a:avLst>
              <a:gd name="adj" fmla="val 8974"/>
            </a:avLst>
          </a:prstGeom>
          <a:solidFill>
            <a:srgbClr val="F2F2F2"/>
          </a:solidFill>
          <a:ln/>
        </p:spPr>
      </p:sp>
      <p:sp>
        <p:nvSpPr>
          <p:cNvPr id="20" name="Text 18"/>
          <p:cNvSpPr/>
          <p:nvPr/>
        </p:nvSpPr>
        <p:spPr>
          <a:xfrm>
            <a:off x="8737600" y="2101949"/>
            <a:ext cx="2563876"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3 · Terms</a:t>
            </a:r>
            <a:endParaRPr lang="en-US" sz="1300" dirty="0"/>
          </a:p>
        </p:txBody>
      </p:sp>
      <p:sp>
        <p:nvSpPr>
          <p:cNvPr id="21" name="Text 19"/>
          <p:cNvSpPr/>
          <p:nvPr/>
        </p:nvSpPr>
        <p:spPr>
          <a:xfrm>
            <a:off x="8737600" y="2338090"/>
            <a:ext cx="2563876"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Imported vocabulary plus a gap list</a:t>
            </a:r>
            <a:endParaRPr lang="en-US" sz="1200" dirty="0"/>
          </a:p>
        </p:txBody>
      </p:sp>
      <p:sp>
        <p:nvSpPr>
          <p:cNvPr id="22" name="Shape 20"/>
          <p:cNvSpPr/>
          <p:nvPr/>
        </p:nvSpPr>
        <p:spPr>
          <a:xfrm>
            <a:off x="8591550" y="3079750"/>
            <a:ext cx="2781300" cy="977900"/>
          </a:xfrm>
          <a:prstGeom prst="roundRect">
            <a:avLst>
              <a:gd name="adj" fmla="val 8442"/>
            </a:avLst>
          </a:prstGeom>
          <a:solidFill>
            <a:srgbClr val="FFFFFF"/>
          </a:solidFill>
          <a:ln w="12700">
            <a:solidFill>
              <a:srgbClr val="9AA3AD"/>
            </a:solidFill>
            <a:prstDash val="dash"/>
          </a:ln>
        </p:spPr>
      </p:sp>
      <p:sp>
        <p:nvSpPr>
          <p:cNvPr id="23" name="Text 21"/>
          <p:cNvSpPr/>
          <p:nvPr/>
        </p:nvSpPr>
        <p:spPr>
          <a:xfrm>
            <a:off x="8750300" y="3244949"/>
            <a:ext cx="2537714"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3b · Naming</a:t>
            </a:r>
            <a:endParaRPr lang="en-US" sz="1300" dirty="0"/>
          </a:p>
        </p:txBody>
      </p:sp>
      <p:sp>
        <p:nvSpPr>
          <p:cNvPr id="24" name="Text 22"/>
          <p:cNvSpPr/>
          <p:nvPr/>
        </p:nvSpPr>
        <p:spPr>
          <a:xfrm>
            <a:off x="8750300" y="3481090"/>
            <a:ext cx="2537714"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Conventions of imported models</a:t>
            </a:r>
            <a:endParaRPr lang="en-US" sz="1200" dirty="0"/>
          </a:p>
        </p:txBody>
      </p:sp>
      <p:sp>
        <p:nvSpPr>
          <p:cNvPr id="25" name="Shape 23"/>
          <p:cNvSpPr/>
          <p:nvPr/>
        </p:nvSpPr>
        <p:spPr>
          <a:xfrm>
            <a:off x="8585200" y="4216400"/>
            <a:ext cx="2794000" cy="990600"/>
          </a:xfrm>
          <a:prstGeom prst="roundRect">
            <a:avLst>
              <a:gd name="adj" fmla="val 8974"/>
            </a:avLst>
          </a:prstGeom>
          <a:solidFill>
            <a:srgbClr val="F2F2F2"/>
          </a:solidFill>
          <a:ln/>
        </p:spPr>
      </p:sp>
      <p:sp>
        <p:nvSpPr>
          <p:cNvPr id="26" name="Text 24"/>
          <p:cNvSpPr/>
          <p:nvPr/>
        </p:nvSpPr>
        <p:spPr>
          <a:xfrm>
            <a:off x="8737600" y="4490740"/>
            <a:ext cx="2563876"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4 · Classes</a:t>
            </a:r>
            <a:endParaRPr lang="en-US" sz="1300" dirty="0"/>
          </a:p>
        </p:txBody>
      </p:sp>
      <p:sp>
        <p:nvSpPr>
          <p:cNvPr id="27" name="Text 25"/>
          <p:cNvSpPr/>
          <p:nvPr/>
        </p:nvSpPr>
        <p:spPr>
          <a:xfrm>
            <a:off x="8737600" y="4726880"/>
            <a:ext cx="2563876"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Inherited classes to refine</a:t>
            </a:r>
            <a:endParaRPr lang="en-US" sz="1200" dirty="0"/>
          </a:p>
        </p:txBody>
      </p:sp>
      <p:pic>
        <p:nvPicPr>
          <p:cNvPr id="28" name="Image 0" descr="connector">    </p:cNvPr>
          <p:cNvPicPr>
            <a:picLocks noChangeAspect="1"/>
          </p:cNvPicPr>
          <p:nvPr/>
        </p:nvPicPr>
        <p:blipFill>
          <a:blip r:embed="rId1"/>
          <a:srcRect l="0" r="0" t="0" b="0"/>
          <a:stretch/>
        </p:blipFill>
        <p:spPr>
          <a:xfrm>
            <a:off x="3556000" y="2374900"/>
            <a:ext cx="711200" cy="101600"/>
          </a:xfrm>
          <a:prstGeom prst="rect">
            <a:avLst/>
          </a:prstGeom>
        </p:spPr>
      </p:pic>
      <p:pic>
        <p:nvPicPr>
          <p:cNvPr id="29" name="Image 1" descr="connector">    </p:cNvPr>
          <p:cNvPicPr>
            <a:picLocks noChangeAspect="1"/>
          </p:cNvPicPr>
          <p:nvPr/>
        </p:nvPicPr>
        <p:blipFill>
          <a:blip r:embed="rId2"/>
          <a:srcRect l="0" r="0" t="0" b="0"/>
          <a:stretch/>
        </p:blipFill>
        <p:spPr>
          <a:xfrm>
            <a:off x="3556000" y="3517900"/>
            <a:ext cx="711200" cy="101600"/>
          </a:xfrm>
          <a:prstGeom prst="rect">
            <a:avLst/>
          </a:prstGeom>
        </p:spPr>
      </p:pic>
      <p:pic>
        <p:nvPicPr>
          <p:cNvPr id="30" name="Image 2" descr="connector">    </p:cNvPr>
          <p:cNvPicPr>
            <a:picLocks noChangeAspect="1"/>
          </p:cNvPicPr>
          <p:nvPr/>
        </p:nvPicPr>
        <p:blipFill>
          <a:blip r:embed="rId3"/>
          <a:srcRect l="0" r="0" t="0" b="0"/>
          <a:stretch/>
        </p:blipFill>
        <p:spPr>
          <a:xfrm>
            <a:off x="3556000" y="4660900"/>
            <a:ext cx="711200" cy="101600"/>
          </a:xfrm>
          <a:prstGeom prst="rect">
            <a:avLst/>
          </a:prstGeom>
        </p:spPr>
      </p:pic>
      <p:pic>
        <p:nvPicPr>
          <p:cNvPr id="31" name="Image 3" descr="connector">    </p:cNvPr>
          <p:cNvPicPr>
            <a:picLocks noChangeAspect="1"/>
          </p:cNvPicPr>
          <p:nvPr/>
        </p:nvPicPr>
        <p:blipFill>
          <a:blip r:embed="rId4"/>
          <a:srcRect l="0" r="0" t="0" b="0"/>
          <a:stretch/>
        </p:blipFill>
        <p:spPr>
          <a:xfrm>
            <a:off x="7924800" y="2374900"/>
            <a:ext cx="711200" cy="101600"/>
          </a:xfrm>
          <a:prstGeom prst="rect">
            <a:avLst/>
          </a:prstGeom>
        </p:spPr>
      </p:pic>
      <p:pic>
        <p:nvPicPr>
          <p:cNvPr id="32" name="Image 4" descr="connector">    </p:cNvPr>
          <p:cNvPicPr>
            <a:picLocks noChangeAspect="1"/>
          </p:cNvPicPr>
          <p:nvPr/>
        </p:nvPicPr>
        <p:blipFill>
          <a:blip r:embed="rId5"/>
          <a:srcRect l="0" r="0" t="0" b="0"/>
          <a:stretch/>
        </p:blipFill>
        <p:spPr>
          <a:xfrm>
            <a:off x="7924800" y="3517900"/>
            <a:ext cx="711200" cy="101600"/>
          </a:xfrm>
          <a:prstGeom prst="rect">
            <a:avLst/>
          </a:prstGeom>
        </p:spPr>
      </p:pic>
      <p:pic>
        <p:nvPicPr>
          <p:cNvPr id="33" name="Image 5" descr="connector">    </p:cNvPr>
          <p:cNvPicPr>
            <a:picLocks noChangeAspect="1"/>
          </p:cNvPicPr>
          <p:nvPr/>
        </p:nvPicPr>
        <p:blipFill>
          <a:blip r:embed="rId6"/>
          <a:srcRect l="0" r="0" t="0" b="0"/>
          <a:stretch/>
        </p:blipFill>
        <p:spPr>
          <a:xfrm>
            <a:off x="7924800" y="4660900"/>
            <a:ext cx="711200" cy="101600"/>
          </a:xfrm>
          <a:prstGeom prst="rect">
            <a:avLst/>
          </a:prstGeom>
        </p:spPr>
      </p:pic>
      <p:sp>
        <p:nvSpPr>
          <p:cNvPr id="34" name="Text 26"/>
          <p:cNvSpPr/>
          <p:nvPr/>
        </p:nvSpPr>
        <p:spPr>
          <a:xfrm>
            <a:off x="812800" y="5410200"/>
            <a:ext cx="10566400" cy="383480"/>
          </a:xfrm>
          <a:prstGeom prst="roundRect">
            <a:avLst>
              <a:gd name="adj" fmla="val 19871"/>
            </a:avLst>
          </a:prstGeom>
          <a:solidFill>
            <a:srgbClr val="FCEAF2"/>
          </a:solidFill>
          <a:ln/>
        </p:spPr>
        <p:txBody>
          <a:bodyPr wrap="square" lIns="130082" tIns="66582" rIns="0" bIns="41182" rtlCol="0" anchor="t">
            <a:normAutofit/>
          </a:bodyPr>
          <a:lstStyle/>
          <a:p>
            <a:pPr algn="l" indent="0" marL="0">
              <a:lnSpc>
                <a:spcPts val="1620"/>
              </a:lnSpc>
              <a:buNone/>
            </a:pPr>
            <a:r>
              <a:rPr lang="en-US" sz="1200" b="1" dirty="0">
                <a:solidFill>
                  <a:srgbClr val="A8215A"/>
                </a:solidFill>
                <a:latin typeface="Poppins" pitchFamily="34" charset="0"/>
                <a:ea typeface="Poppins" pitchFamily="34" charset="-122"/>
                <a:cs typeface="Poppins" pitchFamily="34" charset="-120"/>
              </a:rPr>
              <a:t>Loop:</a:t>
            </a:r>
            <a:r>
              <a:rPr lang="en-US" sz="1200" dirty="0">
                <a:solidFill>
                  <a:srgbClr val="15103A"/>
                </a:solidFill>
                <a:latin typeface="Poppins" pitchFamily="34" charset="0"/>
                <a:ea typeface="Poppins" pitchFamily="34" charset="-122"/>
                <a:cs typeface="Poppins" pitchFamily="34" charset="-120"/>
              </a:rPr>
              <a:t> reuse constrains every later phase; a new interoperability need found in use reopens it.</a:t>
            </a:r>
            <a:endParaRPr lang="en-US" sz="1200" dirty="0"/>
          </a:p>
        </p:txBody>
      </p:sp>
      <p:pic>
        <p:nvPicPr>
          <p:cNvPr id="35" name="Image 6" descr="Graphwise symbol">    </p:cNvPr>
          <p:cNvPicPr>
            <a:picLocks noChangeAspect="1"/>
          </p:cNvPicPr>
          <p:nvPr/>
        </p:nvPicPr>
        <p:blipFill>
          <a:blip r:embed="rId7"/>
          <a:srcRect l="-182" r="-182" t="0" b="0"/>
          <a:stretch/>
        </p:blipFill>
        <p:spPr>
          <a:xfrm>
            <a:off x="812800" y="6261100"/>
            <a:ext cx="203200" cy="209550"/>
          </a:xfrm>
          <a:prstGeom prst="rect">
            <a:avLst/>
          </a:prstGeom>
        </p:spPr>
      </p:pic>
      <p:sp>
        <p:nvSpPr>
          <p:cNvPr id="36" name="Text 27"/>
          <p:cNvSpPr/>
          <p:nvPr/>
        </p:nvSpPr>
        <p:spPr>
          <a:xfrm>
            <a:off x="1117600" y="62484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5C7F"/>
                </a:solidFill>
                <a:latin typeface="Poppins" pitchFamily="34" charset="0"/>
                <a:ea typeface="Poppins" pitchFamily="34" charset="-122"/>
                <a:cs typeface="Poppins" pitchFamily="34" charset="-120"/>
              </a:rPr>
              <a:t>Ontology Development 101 · Process &amp; dependencies</a:t>
            </a:r>
            <a:endParaRPr lang="en-US" sz="1200" dirty="0"/>
          </a:p>
        </p:txBody>
      </p:sp>
      <p:sp>
        <p:nvSpPr>
          <p:cNvPr id="37" name="Text 28"/>
          <p:cNvSpPr/>
          <p:nvPr/>
        </p:nvSpPr>
        <p:spPr>
          <a:xfrm>
            <a:off x="10058400" y="624840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B5C7F"/>
                </a:solidFill>
                <a:latin typeface="Poppins" pitchFamily="34" charset="0"/>
                <a:ea typeface="Poppins" pitchFamily="34" charset="-122"/>
                <a:cs typeface="Poppi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4064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1FFF"/>
                </a:solidFill>
                <a:latin typeface="Poppins" pitchFamily="34" charset="0"/>
                <a:ea typeface="Poppins" pitchFamily="34" charset="-122"/>
                <a:cs typeface="Poppins" pitchFamily="34" charset="-120"/>
              </a:rPr>
              <a:t>PHASE 3 · FRAME THE PROBLEM</a:t>
            </a:r>
            <a:endParaRPr lang="en-US" sz="1200" dirty="0"/>
          </a:p>
        </p:txBody>
      </p:sp>
      <p:sp>
        <p:nvSpPr>
          <p:cNvPr id="3" name="Text 1"/>
          <p:cNvSpPr/>
          <p:nvPr>
            <p:ph type="title"/>
          </p:nvPr>
        </p:nvSpPr>
        <p:spPr>
          <a:xfrm>
            <a:off x="812800" y="66040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220F60"/>
                </a:solidFill>
                <a:latin typeface="Poppins" pitchFamily="34" charset="0"/>
                <a:ea typeface="Poppins" pitchFamily="34" charset="-122"/>
                <a:cs typeface="Poppins" pitchFamily="34" charset="-120"/>
              </a:rPr>
              <a:t>Enumerate important terms</a:t>
            </a:r>
            <a:endParaRPr lang="en-US" sz="3000" dirty="0"/>
          </a:p>
        </p:txBody>
      </p:sp>
      <p:sp>
        <p:nvSpPr>
          <p:cNvPr id="4" name="Text 2"/>
          <p:cNvSpPr/>
          <p:nvPr/>
        </p:nvSpPr>
        <p:spPr>
          <a:xfrm>
            <a:off x="812800" y="1600200"/>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B5C7F"/>
                </a:solidFill>
                <a:latin typeface="Poppins" pitchFamily="34" charset="0"/>
                <a:ea typeface="Poppins" pitchFamily="34" charset="-122"/>
                <a:cs typeface="Poppins" pitchFamily="34" charset="-120"/>
              </a:rPr>
              <a:t>INPUTS</a:t>
            </a:r>
            <a:endParaRPr lang="en-US" sz="1200" dirty="0"/>
          </a:p>
        </p:txBody>
      </p:sp>
      <p:sp>
        <p:nvSpPr>
          <p:cNvPr id="5" name="Text 3"/>
          <p:cNvSpPr/>
          <p:nvPr/>
        </p:nvSpPr>
        <p:spPr>
          <a:xfrm>
            <a:off x="8585200" y="1600200"/>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B5C7F"/>
                </a:solidFill>
                <a:latin typeface="Poppins" pitchFamily="34" charset="0"/>
                <a:ea typeface="Poppins" pitchFamily="34" charset="-122"/>
                <a:cs typeface="Poppins" pitchFamily="34" charset="-120"/>
              </a:rPr>
              <a:t>OUTPUTS</a:t>
            </a:r>
            <a:endParaRPr lang="en-US" sz="1200" dirty="0"/>
          </a:p>
        </p:txBody>
      </p:sp>
      <p:sp>
        <p:nvSpPr>
          <p:cNvPr id="6" name="Shape 4"/>
          <p:cNvSpPr/>
          <p:nvPr/>
        </p:nvSpPr>
        <p:spPr>
          <a:xfrm>
            <a:off x="812800" y="1930400"/>
            <a:ext cx="2794000" cy="990600"/>
          </a:xfrm>
          <a:prstGeom prst="roundRect">
            <a:avLst>
              <a:gd name="adj" fmla="val 8974"/>
            </a:avLst>
          </a:prstGeom>
          <a:solidFill>
            <a:srgbClr val="F2F2F2"/>
          </a:solidFill>
          <a:ln/>
        </p:spPr>
      </p:sp>
      <p:sp>
        <p:nvSpPr>
          <p:cNvPr id="7" name="Text 5"/>
          <p:cNvSpPr/>
          <p:nvPr/>
        </p:nvSpPr>
        <p:spPr>
          <a:xfrm>
            <a:off x="965200" y="2101949"/>
            <a:ext cx="2563876"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1 · Scope</a:t>
            </a:r>
            <a:endParaRPr lang="en-US" sz="1300" dirty="0"/>
          </a:p>
        </p:txBody>
      </p:sp>
      <p:sp>
        <p:nvSpPr>
          <p:cNvPr id="8" name="Text 6"/>
          <p:cNvSpPr/>
          <p:nvPr/>
        </p:nvSpPr>
        <p:spPr>
          <a:xfrm>
            <a:off x="965200" y="2338090"/>
            <a:ext cx="2563876"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CQs name what we must talk about</a:t>
            </a:r>
            <a:endParaRPr lang="en-US" sz="1200" dirty="0"/>
          </a:p>
        </p:txBody>
      </p:sp>
      <p:sp>
        <p:nvSpPr>
          <p:cNvPr id="9" name="Shape 7"/>
          <p:cNvSpPr/>
          <p:nvPr/>
        </p:nvSpPr>
        <p:spPr>
          <a:xfrm>
            <a:off x="812800" y="3073400"/>
            <a:ext cx="2794000" cy="990600"/>
          </a:xfrm>
          <a:prstGeom prst="roundRect">
            <a:avLst>
              <a:gd name="adj" fmla="val 8974"/>
            </a:avLst>
          </a:prstGeom>
          <a:solidFill>
            <a:srgbClr val="F2F2F2"/>
          </a:solidFill>
          <a:ln/>
        </p:spPr>
      </p:sp>
      <p:sp>
        <p:nvSpPr>
          <p:cNvPr id="10" name="Text 8"/>
          <p:cNvSpPr/>
          <p:nvPr/>
        </p:nvSpPr>
        <p:spPr>
          <a:xfrm>
            <a:off x="965200" y="3347740"/>
            <a:ext cx="2563876"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2 · Reuse</a:t>
            </a:r>
            <a:endParaRPr lang="en-US" sz="1300" dirty="0"/>
          </a:p>
        </p:txBody>
      </p:sp>
      <p:sp>
        <p:nvSpPr>
          <p:cNvPr id="11" name="Text 9"/>
          <p:cNvSpPr/>
          <p:nvPr/>
        </p:nvSpPr>
        <p:spPr>
          <a:xfrm>
            <a:off x="965200" y="3583880"/>
            <a:ext cx="25908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Imported terms plus the gap list</a:t>
            </a:r>
            <a:endParaRPr lang="en-US" sz="1200" dirty="0"/>
          </a:p>
        </p:txBody>
      </p:sp>
      <p:sp>
        <p:nvSpPr>
          <p:cNvPr id="12" name="Shape 10"/>
          <p:cNvSpPr/>
          <p:nvPr/>
        </p:nvSpPr>
        <p:spPr>
          <a:xfrm>
            <a:off x="819150" y="4222750"/>
            <a:ext cx="2781300" cy="977900"/>
          </a:xfrm>
          <a:prstGeom prst="roundRect">
            <a:avLst>
              <a:gd name="adj" fmla="val 8442"/>
            </a:avLst>
          </a:prstGeom>
          <a:solidFill>
            <a:srgbClr val="FFFFFF"/>
          </a:solidFill>
          <a:ln w="12700">
            <a:solidFill>
              <a:srgbClr val="9AA3AD"/>
            </a:solidFill>
            <a:prstDash val="dash"/>
          </a:ln>
        </p:spPr>
      </p:sp>
      <p:sp>
        <p:nvSpPr>
          <p:cNvPr id="13" name="Text 11"/>
          <p:cNvSpPr/>
          <p:nvPr/>
        </p:nvSpPr>
        <p:spPr>
          <a:xfrm>
            <a:off x="977900" y="4490740"/>
            <a:ext cx="2537714"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External · Sources</a:t>
            </a:r>
            <a:endParaRPr lang="en-US" sz="1300" dirty="0"/>
          </a:p>
        </p:txBody>
      </p:sp>
      <p:sp>
        <p:nvSpPr>
          <p:cNvPr id="14" name="Text 12"/>
          <p:cNvSpPr/>
          <p:nvPr/>
        </p:nvSpPr>
        <p:spPr>
          <a:xfrm>
            <a:off x="977900" y="4726880"/>
            <a:ext cx="25781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Domain documents and experts</a:t>
            </a:r>
            <a:endParaRPr lang="en-US" sz="1200" dirty="0"/>
          </a:p>
        </p:txBody>
      </p:sp>
      <p:sp>
        <p:nvSpPr>
          <p:cNvPr id="15" name="Shape 13"/>
          <p:cNvSpPr/>
          <p:nvPr/>
        </p:nvSpPr>
        <p:spPr>
          <a:xfrm>
            <a:off x="4216400" y="1930400"/>
            <a:ext cx="3759200" cy="3276600"/>
          </a:xfrm>
          <a:prstGeom prst="roundRect">
            <a:avLst>
              <a:gd name="adj" fmla="val 3876"/>
            </a:avLst>
          </a:prstGeom>
          <a:solidFill>
            <a:srgbClr val="220F60"/>
          </a:solidFill>
          <a:ln/>
        </p:spPr>
      </p:sp>
      <p:sp>
        <p:nvSpPr>
          <p:cNvPr id="16" name="Text 14"/>
          <p:cNvSpPr/>
          <p:nvPr/>
        </p:nvSpPr>
        <p:spPr>
          <a:xfrm>
            <a:off x="4470400" y="2184400"/>
            <a:ext cx="334873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FADFF"/>
                </a:solidFill>
                <a:latin typeface="Poppins" pitchFamily="34" charset="0"/>
                <a:ea typeface="Poppins" pitchFamily="34" charset="-122"/>
                <a:cs typeface="Poppins" pitchFamily="34" charset="-120"/>
              </a:rPr>
              <a:t>ACTIVITIES</a:t>
            </a:r>
            <a:endParaRPr lang="en-US" sz="1200" dirty="0"/>
          </a:p>
        </p:txBody>
      </p:sp>
      <p:sp>
        <p:nvSpPr>
          <p:cNvPr id="17" name="Text 15"/>
          <p:cNvSpPr/>
          <p:nvPr/>
        </p:nvSpPr>
        <p:spPr>
          <a:xfrm>
            <a:off x="4470400" y="2499320"/>
            <a:ext cx="350520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FFFF"/>
                </a:solidFill>
                <a:latin typeface="Poppins" pitchFamily="34" charset="0"/>
                <a:ea typeface="Poppins" pitchFamily="34" charset="-122"/>
                <a:cs typeface="Poppins" pitchFamily="34" charset="-120"/>
              </a:rPr>
              <a:t>Brainstorm, don't structure</a:t>
            </a:r>
            <a:endParaRPr lang="en-US" sz="1800" dirty="0"/>
          </a:p>
        </p:txBody>
      </p:sp>
      <p:sp>
        <p:nvSpPr>
          <p:cNvPr id="18" name="Text 16"/>
          <p:cNvSpPr/>
          <p:nvPr/>
        </p:nvSpPr>
        <p:spPr>
          <a:xfrm>
            <a:off x="4569206" y="2875161"/>
            <a:ext cx="3242310" cy="878681"/>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D9D4F2"/>
                </a:solidFill>
                <a:latin typeface="Poppins" pitchFamily="34" charset="0"/>
                <a:ea typeface="Poppins" pitchFamily="34" charset="-122"/>
                <a:cs typeface="Poppins" pitchFamily="34" charset="-120"/>
              </a:rPr>
              <a:t>List every term to state or explain</a:t>
            </a:r>
            <a:endParaRPr lang="en-US" sz="1200" dirty="0"/>
          </a:p>
          <a:p>
            <a:pPr algn="l" marL="155194" indent="-155194">
              <a:lnSpc>
                <a:spcPts val="1680"/>
              </a:lnSpc>
              <a:buSzPct val="100000"/>
              <a:buChar char="•"/>
            </a:pPr>
            <a:r>
              <a:rPr lang="en-US" sz="1200" dirty="0">
                <a:solidFill>
                  <a:srgbClr val="D9D4F2"/>
                </a:solidFill>
                <a:latin typeface="Poppins" pitchFamily="34" charset="0"/>
                <a:ea typeface="Poppins" pitchFamily="34" charset="-122"/>
                <a:cs typeface="Poppins" pitchFamily="34" charset="-120"/>
              </a:rPr>
              <a:t>Note what to say about each term</a:t>
            </a:r>
            <a:endParaRPr lang="en-US" sz="1200" dirty="0"/>
          </a:p>
          <a:p>
            <a:pPr algn="l" marL="155194" indent="-155194">
              <a:lnSpc>
                <a:spcPts val="1680"/>
              </a:lnSpc>
              <a:buSzPct val="100000"/>
              <a:buChar char="•"/>
            </a:pPr>
            <a:r>
              <a:rPr lang="en-US" sz="1200" dirty="0">
                <a:solidFill>
                  <a:srgbClr val="D9D4F2"/>
                </a:solidFill>
                <a:latin typeface="Poppins" pitchFamily="34" charset="0"/>
                <a:ea typeface="Poppins" pitchFamily="34" charset="-122"/>
                <a:cs typeface="Poppins" pitchFamily="34" charset="-120"/>
              </a:rPr>
              <a:t>Ignore overlaps and relations</a:t>
            </a:r>
            <a:endParaRPr lang="en-US" sz="1200" dirty="0"/>
          </a:p>
          <a:p>
            <a:pPr algn="l" marL="155194" indent="-155194">
              <a:lnSpc>
                <a:spcPts val="1680"/>
              </a:lnSpc>
              <a:buSzPct val="100000"/>
              <a:buChar char="•"/>
            </a:pPr>
            <a:r>
              <a:rPr lang="en-US" sz="1200" dirty="0">
                <a:solidFill>
                  <a:srgbClr val="D9D4F2"/>
                </a:solidFill>
                <a:latin typeface="Poppins" pitchFamily="34" charset="0"/>
                <a:ea typeface="Poppins" pitchFamily="34" charset="-122"/>
                <a:cs typeface="Poppins" pitchFamily="34" charset="-120"/>
              </a:rPr>
              <a:t>Don't decide class vs property yet</a:t>
            </a:r>
            <a:endParaRPr lang="en-US" sz="1200" dirty="0"/>
          </a:p>
        </p:txBody>
      </p:sp>
      <p:sp>
        <p:nvSpPr>
          <p:cNvPr id="19" name="Shape 17"/>
          <p:cNvSpPr/>
          <p:nvPr/>
        </p:nvSpPr>
        <p:spPr>
          <a:xfrm>
            <a:off x="8585200" y="1930400"/>
            <a:ext cx="2794000" cy="990600"/>
          </a:xfrm>
          <a:prstGeom prst="roundRect">
            <a:avLst>
              <a:gd name="adj" fmla="val 8974"/>
            </a:avLst>
          </a:prstGeom>
          <a:solidFill>
            <a:srgbClr val="F2F2F2"/>
          </a:solidFill>
          <a:ln/>
        </p:spPr>
      </p:sp>
      <p:sp>
        <p:nvSpPr>
          <p:cNvPr id="20" name="Text 18"/>
          <p:cNvSpPr/>
          <p:nvPr/>
        </p:nvSpPr>
        <p:spPr>
          <a:xfrm>
            <a:off x="8737600" y="2101949"/>
            <a:ext cx="2563876"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4 · Classes</a:t>
            </a:r>
            <a:endParaRPr lang="en-US" sz="1300" dirty="0"/>
          </a:p>
        </p:txBody>
      </p:sp>
      <p:sp>
        <p:nvSpPr>
          <p:cNvPr id="21" name="Text 19"/>
          <p:cNvSpPr/>
          <p:nvPr/>
        </p:nvSpPr>
        <p:spPr>
          <a:xfrm>
            <a:off x="8737600" y="2338090"/>
            <a:ext cx="2563876"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Terms for things that exist on their own</a:t>
            </a:r>
            <a:endParaRPr lang="en-US" sz="1200" dirty="0"/>
          </a:p>
        </p:txBody>
      </p:sp>
      <p:sp>
        <p:nvSpPr>
          <p:cNvPr id="22" name="Shape 20"/>
          <p:cNvSpPr/>
          <p:nvPr/>
        </p:nvSpPr>
        <p:spPr>
          <a:xfrm>
            <a:off x="8585200" y="3073400"/>
            <a:ext cx="2794000" cy="990600"/>
          </a:xfrm>
          <a:prstGeom prst="roundRect">
            <a:avLst>
              <a:gd name="adj" fmla="val 8974"/>
            </a:avLst>
          </a:prstGeom>
          <a:solidFill>
            <a:srgbClr val="F2F2F2"/>
          </a:solidFill>
          <a:ln/>
        </p:spPr>
      </p:sp>
      <p:sp>
        <p:nvSpPr>
          <p:cNvPr id="23" name="Text 21"/>
          <p:cNvSpPr/>
          <p:nvPr/>
        </p:nvSpPr>
        <p:spPr>
          <a:xfrm>
            <a:off x="8737600" y="3244949"/>
            <a:ext cx="2563876"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5 · Properties</a:t>
            </a:r>
            <a:endParaRPr lang="en-US" sz="1300" dirty="0"/>
          </a:p>
        </p:txBody>
      </p:sp>
      <p:sp>
        <p:nvSpPr>
          <p:cNvPr id="24" name="Text 22"/>
          <p:cNvSpPr/>
          <p:nvPr/>
        </p:nvSpPr>
        <p:spPr>
          <a:xfrm>
            <a:off x="8737600" y="3481090"/>
            <a:ext cx="2563876"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Terms that describe those things</a:t>
            </a:r>
            <a:endParaRPr lang="en-US" sz="1200" dirty="0"/>
          </a:p>
        </p:txBody>
      </p:sp>
      <p:sp>
        <p:nvSpPr>
          <p:cNvPr id="25" name="Shape 23"/>
          <p:cNvSpPr/>
          <p:nvPr/>
        </p:nvSpPr>
        <p:spPr>
          <a:xfrm>
            <a:off x="8591550" y="4222750"/>
            <a:ext cx="2781300" cy="977900"/>
          </a:xfrm>
          <a:prstGeom prst="roundRect">
            <a:avLst>
              <a:gd name="adj" fmla="val 8442"/>
            </a:avLst>
          </a:prstGeom>
          <a:solidFill>
            <a:srgbClr val="FFFFFF"/>
          </a:solidFill>
          <a:ln w="12700">
            <a:solidFill>
              <a:srgbClr val="9AA3AD"/>
            </a:solidFill>
            <a:prstDash val="dash"/>
          </a:ln>
        </p:spPr>
      </p:sp>
      <p:sp>
        <p:nvSpPr>
          <p:cNvPr id="26" name="Text 24"/>
          <p:cNvSpPr/>
          <p:nvPr/>
        </p:nvSpPr>
        <p:spPr>
          <a:xfrm>
            <a:off x="8750300" y="4490740"/>
            <a:ext cx="2537714"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3b · Naming</a:t>
            </a:r>
            <a:endParaRPr lang="en-US" sz="1300" dirty="0"/>
          </a:p>
        </p:txBody>
      </p:sp>
      <p:sp>
        <p:nvSpPr>
          <p:cNvPr id="27" name="Text 25"/>
          <p:cNvSpPr/>
          <p:nvPr/>
        </p:nvSpPr>
        <p:spPr>
          <a:xfrm>
            <a:off x="8750300" y="4726880"/>
            <a:ext cx="2537714"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Raw names to normalize</a:t>
            </a:r>
            <a:endParaRPr lang="en-US" sz="1200" dirty="0"/>
          </a:p>
        </p:txBody>
      </p:sp>
      <p:pic>
        <p:nvPicPr>
          <p:cNvPr id="28" name="Image 0" descr="connector">    </p:cNvPr>
          <p:cNvPicPr>
            <a:picLocks noChangeAspect="1"/>
          </p:cNvPicPr>
          <p:nvPr/>
        </p:nvPicPr>
        <p:blipFill>
          <a:blip r:embed="rId1"/>
          <a:srcRect l="0" r="0" t="0" b="0"/>
          <a:stretch/>
        </p:blipFill>
        <p:spPr>
          <a:xfrm>
            <a:off x="3556000" y="2374900"/>
            <a:ext cx="711200" cy="101600"/>
          </a:xfrm>
          <a:prstGeom prst="rect">
            <a:avLst/>
          </a:prstGeom>
        </p:spPr>
      </p:pic>
      <p:pic>
        <p:nvPicPr>
          <p:cNvPr id="29" name="Image 1" descr="connector">    </p:cNvPr>
          <p:cNvPicPr>
            <a:picLocks noChangeAspect="1"/>
          </p:cNvPicPr>
          <p:nvPr/>
        </p:nvPicPr>
        <p:blipFill>
          <a:blip r:embed="rId2"/>
          <a:srcRect l="0" r="0" t="0" b="0"/>
          <a:stretch/>
        </p:blipFill>
        <p:spPr>
          <a:xfrm>
            <a:off x="3556000" y="3517900"/>
            <a:ext cx="711200" cy="101600"/>
          </a:xfrm>
          <a:prstGeom prst="rect">
            <a:avLst/>
          </a:prstGeom>
        </p:spPr>
      </p:pic>
      <p:pic>
        <p:nvPicPr>
          <p:cNvPr id="30" name="Image 2" descr="connector">    </p:cNvPr>
          <p:cNvPicPr>
            <a:picLocks noChangeAspect="1"/>
          </p:cNvPicPr>
          <p:nvPr/>
        </p:nvPicPr>
        <p:blipFill>
          <a:blip r:embed="rId3"/>
          <a:srcRect l="0" r="0" t="0" b="0"/>
          <a:stretch/>
        </p:blipFill>
        <p:spPr>
          <a:xfrm>
            <a:off x="3556000" y="4660900"/>
            <a:ext cx="711200" cy="101600"/>
          </a:xfrm>
          <a:prstGeom prst="rect">
            <a:avLst/>
          </a:prstGeom>
        </p:spPr>
      </p:pic>
      <p:pic>
        <p:nvPicPr>
          <p:cNvPr id="31" name="Image 3" descr="connector">    </p:cNvPr>
          <p:cNvPicPr>
            <a:picLocks noChangeAspect="1"/>
          </p:cNvPicPr>
          <p:nvPr/>
        </p:nvPicPr>
        <p:blipFill>
          <a:blip r:embed="rId4"/>
          <a:srcRect l="0" r="0" t="0" b="0"/>
          <a:stretch/>
        </p:blipFill>
        <p:spPr>
          <a:xfrm>
            <a:off x="7924800" y="2374900"/>
            <a:ext cx="711200" cy="101600"/>
          </a:xfrm>
          <a:prstGeom prst="rect">
            <a:avLst/>
          </a:prstGeom>
        </p:spPr>
      </p:pic>
      <p:pic>
        <p:nvPicPr>
          <p:cNvPr id="32" name="Image 4" descr="connector">    </p:cNvPr>
          <p:cNvPicPr>
            <a:picLocks noChangeAspect="1"/>
          </p:cNvPicPr>
          <p:nvPr/>
        </p:nvPicPr>
        <p:blipFill>
          <a:blip r:embed="rId5"/>
          <a:srcRect l="0" r="0" t="0" b="0"/>
          <a:stretch/>
        </p:blipFill>
        <p:spPr>
          <a:xfrm>
            <a:off x="7924800" y="3517900"/>
            <a:ext cx="711200" cy="101600"/>
          </a:xfrm>
          <a:prstGeom prst="rect">
            <a:avLst/>
          </a:prstGeom>
        </p:spPr>
      </p:pic>
      <p:pic>
        <p:nvPicPr>
          <p:cNvPr id="33" name="Image 5" descr="connector">    </p:cNvPr>
          <p:cNvPicPr>
            <a:picLocks noChangeAspect="1"/>
          </p:cNvPicPr>
          <p:nvPr/>
        </p:nvPicPr>
        <p:blipFill>
          <a:blip r:embed="rId6"/>
          <a:srcRect l="0" r="0" t="0" b="0"/>
          <a:stretch/>
        </p:blipFill>
        <p:spPr>
          <a:xfrm>
            <a:off x="7924800" y="4660900"/>
            <a:ext cx="711200" cy="101600"/>
          </a:xfrm>
          <a:prstGeom prst="rect">
            <a:avLst/>
          </a:prstGeom>
        </p:spPr>
      </p:pic>
      <p:sp>
        <p:nvSpPr>
          <p:cNvPr id="34" name="Text 26"/>
          <p:cNvSpPr/>
          <p:nvPr/>
        </p:nvSpPr>
        <p:spPr>
          <a:xfrm>
            <a:off x="812800" y="5410200"/>
            <a:ext cx="10566400" cy="383480"/>
          </a:xfrm>
          <a:prstGeom prst="roundRect">
            <a:avLst>
              <a:gd name="adj" fmla="val 19871"/>
            </a:avLst>
          </a:prstGeom>
          <a:solidFill>
            <a:srgbClr val="FCEAF2"/>
          </a:solidFill>
          <a:ln/>
        </p:spPr>
        <p:txBody>
          <a:bodyPr wrap="square" lIns="130082" tIns="66582" rIns="0" bIns="41182" rtlCol="0" anchor="t">
            <a:normAutofit/>
          </a:bodyPr>
          <a:lstStyle/>
          <a:p>
            <a:pPr algn="l" indent="0" marL="0">
              <a:lnSpc>
                <a:spcPts val="1620"/>
              </a:lnSpc>
              <a:buNone/>
            </a:pPr>
            <a:r>
              <a:rPr lang="en-US" sz="1200" b="1" dirty="0">
                <a:solidFill>
                  <a:srgbClr val="A8215A"/>
                </a:solidFill>
                <a:latin typeface="Poppins" pitchFamily="34" charset="0"/>
                <a:ea typeface="Poppins" pitchFamily="34" charset="-122"/>
                <a:cs typeface="Poppins" pitchFamily="34" charset="-120"/>
              </a:rPr>
              <a:t>Loop:</a:t>
            </a:r>
            <a:r>
              <a:rPr lang="en-US" sz="1200" dirty="0">
                <a:solidFill>
                  <a:srgbClr val="15103A"/>
                </a:solidFill>
                <a:latin typeface="Poppins" pitchFamily="34" charset="0"/>
                <a:ea typeface="Poppins" pitchFamily="34" charset="-122"/>
                <a:cs typeface="Poppins" pitchFamily="34" charset="-120"/>
              </a:rPr>
              <a:t> new terms surface whenever modeling or evaluation reveals gaps in coverage.</a:t>
            </a:r>
            <a:endParaRPr lang="en-US" sz="1200" dirty="0"/>
          </a:p>
        </p:txBody>
      </p:sp>
      <p:pic>
        <p:nvPicPr>
          <p:cNvPr id="35" name="Image 6" descr="Graphwise symbol">    </p:cNvPr>
          <p:cNvPicPr>
            <a:picLocks noChangeAspect="1"/>
          </p:cNvPicPr>
          <p:nvPr/>
        </p:nvPicPr>
        <p:blipFill>
          <a:blip r:embed="rId7"/>
          <a:srcRect l="-182" r="-182" t="0" b="0"/>
          <a:stretch/>
        </p:blipFill>
        <p:spPr>
          <a:xfrm>
            <a:off x="812800" y="6261100"/>
            <a:ext cx="203200" cy="209550"/>
          </a:xfrm>
          <a:prstGeom prst="rect">
            <a:avLst/>
          </a:prstGeom>
        </p:spPr>
      </p:pic>
      <p:sp>
        <p:nvSpPr>
          <p:cNvPr id="36" name="Text 27"/>
          <p:cNvSpPr/>
          <p:nvPr/>
        </p:nvSpPr>
        <p:spPr>
          <a:xfrm>
            <a:off x="1117600" y="62484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5C7F"/>
                </a:solidFill>
                <a:latin typeface="Poppins" pitchFamily="34" charset="0"/>
                <a:ea typeface="Poppins" pitchFamily="34" charset="-122"/>
                <a:cs typeface="Poppins" pitchFamily="34" charset="-120"/>
              </a:rPr>
              <a:t>Ontology Development 101 · Process &amp; dependencies</a:t>
            </a:r>
            <a:endParaRPr lang="en-US" sz="1200" dirty="0"/>
          </a:p>
        </p:txBody>
      </p:sp>
      <p:sp>
        <p:nvSpPr>
          <p:cNvPr id="37" name="Text 28"/>
          <p:cNvSpPr/>
          <p:nvPr/>
        </p:nvSpPr>
        <p:spPr>
          <a:xfrm>
            <a:off x="10058400" y="624840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B5C7F"/>
                </a:solidFill>
                <a:latin typeface="Poppins" pitchFamily="34" charset="0"/>
                <a:ea typeface="Poppins" pitchFamily="34" charset="-122"/>
                <a:cs typeface="Poppins"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4064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1FFF"/>
                </a:solidFill>
                <a:latin typeface="Poppins" pitchFamily="34" charset="0"/>
                <a:ea typeface="Poppins" pitchFamily="34" charset="-122"/>
                <a:cs typeface="Poppins" pitchFamily="34" charset="-120"/>
              </a:rPr>
              <a:t>PHASE 3B · CROSS-CUTTING</a:t>
            </a:r>
            <a:endParaRPr lang="en-US" sz="1200" dirty="0"/>
          </a:p>
        </p:txBody>
      </p:sp>
      <p:sp>
        <p:nvSpPr>
          <p:cNvPr id="3" name="Text 1"/>
          <p:cNvSpPr/>
          <p:nvPr>
            <p:ph type="title"/>
          </p:nvPr>
        </p:nvSpPr>
        <p:spPr>
          <a:xfrm>
            <a:off x="812800" y="66040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220F60"/>
                </a:solidFill>
                <a:latin typeface="Poppins" pitchFamily="34" charset="0"/>
                <a:ea typeface="Poppins" pitchFamily="34" charset="-122"/>
                <a:cs typeface="Poppins" pitchFamily="34" charset="-120"/>
              </a:rPr>
              <a:t>Fix naming conventions and hold to them</a:t>
            </a:r>
            <a:endParaRPr lang="en-US" sz="3000" dirty="0"/>
          </a:p>
        </p:txBody>
      </p:sp>
      <p:sp>
        <p:nvSpPr>
          <p:cNvPr id="4" name="Text 2"/>
          <p:cNvSpPr/>
          <p:nvPr/>
        </p:nvSpPr>
        <p:spPr>
          <a:xfrm>
            <a:off x="812800" y="1600200"/>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B5C7F"/>
                </a:solidFill>
                <a:latin typeface="Poppins" pitchFamily="34" charset="0"/>
                <a:ea typeface="Poppins" pitchFamily="34" charset="-122"/>
                <a:cs typeface="Poppins" pitchFamily="34" charset="-120"/>
              </a:rPr>
              <a:t>INPUTS</a:t>
            </a:r>
            <a:endParaRPr lang="en-US" sz="1200" dirty="0"/>
          </a:p>
        </p:txBody>
      </p:sp>
      <p:sp>
        <p:nvSpPr>
          <p:cNvPr id="5" name="Text 3"/>
          <p:cNvSpPr/>
          <p:nvPr/>
        </p:nvSpPr>
        <p:spPr>
          <a:xfrm>
            <a:off x="8585200" y="1600200"/>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B5C7F"/>
                </a:solidFill>
                <a:latin typeface="Poppins" pitchFamily="34" charset="0"/>
                <a:ea typeface="Poppins" pitchFamily="34" charset="-122"/>
                <a:cs typeface="Poppins" pitchFamily="34" charset="-120"/>
              </a:rPr>
              <a:t>OUTPUTS</a:t>
            </a:r>
            <a:endParaRPr lang="en-US" sz="1200" dirty="0"/>
          </a:p>
        </p:txBody>
      </p:sp>
      <p:sp>
        <p:nvSpPr>
          <p:cNvPr id="6" name="Shape 4"/>
          <p:cNvSpPr/>
          <p:nvPr/>
        </p:nvSpPr>
        <p:spPr>
          <a:xfrm>
            <a:off x="819150" y="1936750"/>
            <a:ext cx="2781300" cy="977900"/>
          </a:xfrm>
          <a:prstGeom prst="roundRect">
            <a:avLst>
              <a:gd name="adj" fmla="val 8442"/>
            </a:avLst>
          </a:prstGeom>
          <a:solidFill>
            <a:srgbClr val="FFFFFF"/>
          </a:solidFill>
          <a:ln w="12700">
            <a:solidFill>
              <a:srgbClr val="9AA3AD"/>
            </a:solidFill>
            <a:prstDash val="dash"/>
          </a:ln>
        </p:spPr>
      </p:sp>
      <p:sp>
        <p:nvSpPr>
          <p:cNvPr id="7" name="Text 5"/>
          <p:cNvSpPr/>
          <p:nvPr/>
        </p:nvSpPr>
        <p:spPr>
          <a:xfrm>
            <a:off x="977900" y="2101949"/>
            <a:ext cx="2537714"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External · KR system</a:t>
            </a:r>
            <a:endParaRPr lang="en-US" sz="1300" dirty="0"/>
          </a:p>
        </p:txBody>
      </p:sp>
      <p:sp>
        <p:nvSpPr>
          <p:cNvPr id="8" name="Text 6"/>
          <p:cNvSpPr/>
          <p:nvPr/>
        </p:nvSpPr>
        <p:spPr>
          <a:xfrm>
            <a:off x="977900" y="2338090"/>
            <a:ext cx="2537714"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Namespaces, case rules, delimiters</a:t>
            </a:r>
            <a:endParaRPr lang="en-US" sz="1200" dirty="0"/>
          </a:p>
        </p:txBody>
      </p:sp>
      <p:sp>
        <p:nvSpPr>
          <p:cNvPr id="9" name="Shape 7"/>
          <p:cNvSpPr/>
          <p:nvPr/>
        </p:nvSpPr>
        <p:spPr>
          <a:xfrm>
            <a:off x="812800" y="3073400"/>
            <a:ext cx="2794000" cy="990600"/>
          </a:xfrm>
          <a:prstGeom prst="roundRect">
            <a:avLst>
              <a:gd name="adj" fmla="val 8974"/>
            </a:avLst>
          </a:prstGeom>
          <a:solidFill>
            <a:srgbClr val="F2F2F2"/>
          </a:solidFill>
          <a:ln/>
        </p:spPr>
      </p:sp>
      <p:sp>
        <p:nvSpPr>
          <p:cNvPr id="10" name="Text 8"/>
          <p:cNvSpPr/>
          <p:nvPr/>
        </p:nvSpPr>
        <p:spPr>
          <a:xfrm>
            <a:off x="965200" y="3347740"/>
            <a:ext cx="2563876"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2 · Reuse</a:t>
            </a:r>
            <a:endParaRPr lang="en-US" sz="1300" dirty="0"/>
          </a:p>
        </p:txBody>
      </p:sp>
      <p:sp>
        <p:nvSpPr>
          <p:cNvPr id="11" name="Text 9"/>
          <p:cNvSpPr/>
          <p:nvPr/>
        </p:nvSpPr>
        <p:spPr>
          <a:xfrm>
            <a:off x="965200" y="3583880"/>
            <a:ext cx="25908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Conventions of partner systems</a:t>
            </a:r>
            <a:endParaRPr lang="en-US" sz="1200" dirty="0"/>
          </a:p>
        </p:txBody>
      </p:sp>
      <p:sp>
        <p:nvSpPr>
          <p:cNvPr id="12" name="Shape 10"/>
          <p:cNvSpPr/>
          <p:nvPr/>
        </p:nvSpPr>
        <p:spPr>
          <a:xfrm>
            <a:off x="812800" y="4216400"/>
            <a:ext cx="2794000" cy="990600"/>
          </a:xfrm>
          <a:prstGeom prst="roundRect">
            <a:avLst>
              <a:gd name="adj" fmla="val 8974"/>
            </a:avLst>
          </a:prstGeom>
          <a:solidFill>
            <a:srgbClr val="F2F2F2"/>
          </a:solidFill>
          <a:ln/>
        </p:spPr>
      </p:sp>
      <p:sp>
        <p:nvSpPr>
          <p:cNvPr id="13" name="Text 11"/>
          <p:cNvSpPr/>
          <p:nvPr/>
        </p:nvSpPr>
        <p:spPr>
          <a:xfrm>
            <a:off x="965200" y="4490740"/>
            <a:ext cx="2563876"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3 · Terms</a:t>
            </a:r>
            <a:endParaRPr lang="en-US" sz="1300" dirty="0"/>
          </a:p>
        </p:txBody>
      </p:sp>
      <p:sp>
        <p:nvSpPr>
          <p:cNvPr id="14" name="Text 12"/>
          <p:cNvSpPr/>
          <p:nvPr/>
        </p:nvSpPr>
        <p:spPr>
          <a:xfrm>
            <a:off x="965200" y="4726880"/>
            <a:ext cx="2563876"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The raw term list to name</a:t>
            </a:r>
            <a:endParaRPr lang="en-US" sz="1200" dirty="0"/>
          </a:p>
        </p:txBody>
      </p:sp>
      <p:sp>
        <p:nvSpPr>
          <p:cNvPr id="15" name="Shape 13"/>
          <p:cNvSpPr/>
          <p:nvPr/>
        </p:nvSpPr>
        <p:spPr>
          <a:xfrm>
            <a:off x="4216400" y="1930400"/>
            <a:ext cx="3759200" cy="3276600"/>
          </a:xfrm>
          <a:prstGeom prst="roundRect">
            <a:avLst>
              <a:gd name="adj" fmla="val 3876"/>
            </a:avLst>
          </a:prstGeom>
          <a:solidFill>
            <a:srgbClr val="220F60"/>
          </a:solidFill>
          <a:ln/>
        </p:spPr>
      </p:sp>
      <p:sp>
        <p:nvSpPr>
          <p:cNvPr id="16" name="Text 14"/>
          <p:cNvSpPr/>
          <p:nvPr/>
        </p:nvSpPr>
        <p:spPr>
          <a:xfrm>
            <a:off x="4470400" y="2184400"/>
            <a:ext cx="334873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FADFF"/>
                </a:solidFill>
                <a:latin typeface="Poppins" pitchFamily="34" charset="0"/>
                <a:ea typeface="Poppins" pitchFamily="34" charset="-122"/>
                <a:cs typeface="Poppins" pitchFamily="34" charset="-120"/>
              </a:rPr>
              <a:t>DECISIONS</a:t>
            </a:r>
            <a:endParaRPr lang="en-US" sz="1200" dirty="0"/>
          </a:p>
        </p:txBody>
      </p:sp>
      <p:sp>
        <p:nvSpPr>
          <p:cNvPr id="17" name="Text 15"/>
          <p:cNvSpPr/>
          <p:nvPr/>
        </p:nvSpPr>
        <p:spPr>
          <a:xfrm>
            <a:off x="4470400" y="2499320"/>
            <a:ext cx="3348736"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FFFF"/>
                </a:solidFill>
                <a:latin typeface="Poppins" pitchFamily="34" charset="0"/>
                <a:ea typeface="Poppins" pitchFamily="34" charset="-122"/>
                <a:cs typeface="Poppins" pitchFamily="34" charset="-120"/>
              </a:rPr>
              <a:t>One convention, everywhere</a:t>
            </a:r>
            <a:endParaRPr lang="en-US" sz="1800" dirty="0"/>
          </a:p>
        </p:txBody>
      </p:sp>
      <p:sp>
        <p:nvSpPr>
          <p:cNvPr id="18" name="Text 16"/>
          <p:cNvSpPr/>
          <p:nvPr/>
        </p:nvSpPr>
        <p:spPr>
          <a:xfrm>
            <a:off x="4569206" y="3149402"/>
            <a:ext cx="3242310" cy="1305322"/>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D9D4F2"/>
                </a:solidFill>
                <a:latin typeface="Poppins" pitchFamily="34" charset="0"/>
                <a:ea typeface="Poppins" pitchFamily="34" charset="-122"/>
                <a:cs typeface="Poppins" pitchFamily="34" charset="-120"/>
              </a:rPr>
              <a:t>Capitalized classes, lowercase properties</a:t>
            </a:r>
            <a:endParaRPr lang="en-US" sz="1200" dirty="0"/>
          </a:p>
          <a:p>
            <a:pPr algn="l" marL="155194" indent="-155194">
              <a:lnSpc>
                <a:spcPts val="1680"/>
              </a:lnSpc>
              <a:buSzPct val="100000"/>
              <a:buChar char="•"/>
            </a:pPr>
            <a:r>
              <a:rPr lang="en-US" sz="1200" dirty="0">
                <a:solidFill>
                  <a:srgbClr val="D9D4F2"/>
                </a:solidFill>
                <a:latin typeface="Poppins" pitchFamily="34" charset="0"/>
                <a:ea typeface="Poppins" pitchFamily="34" charset="-122"/>
                <a:cs typeface="Poppins" pitchFamily="34" charset="-120"/>
              </a:rPr>
              <a:t>One delimiter style</a:t>
            </a:r>
            <a:endParaRPr lang="en-US" sz="1200" dirty="0"/>
          </a:p>
          <a:p>
            <a:pPr algn="l" marL="155194" indent="-155194">
              <a:lnSpc>
                <a:spcPts val="1680"/>
              </a:lnSpc>
              <a:buSzPct val="100000"/>
              <a:buChar char="•"/>
            </a:pPr>
            <a:r>
              <a:rPr lang="en-US" sz="1200" dirty="0">
                <a:solidFill>
                  <a:srgbClr val="D9D4F2"/>
                </a:solidFill>
                <a:latin typeface="Poppins" pitchFamily="34" charset="0"/>
                <a:ea typeface="Poppins" pitchFamily="34" charset="-122"/>
                <a:cs typeface="Poppins" pitchFamily="34" charset="-120"/>
              </a:rPr>
              <a:t>Singular or plural, never both</a:t>
            </a:r>
            <a:endParaRPr lang="en-US" sz="1200" dirty="0"/>
          </a:p>
          <a:p>
            <a:pPr algn="l" marL="155194" indent="-155194">
              <a:lnSpc>
                <a:spcPts val="1680"/>
              </a:lnSpc>
              <a:buSzPct val="100000"/>
              <a:buChar char="•"/>
            </a:pPr>
            <a:r>
              <a:rPr lang="en-US" sz="1200" dirty="0">
                <a:solidFill>
                  <a:srgbClr val="D9D4F2"/>
                </a:solidFill>
                <a:latin typeface="Poppins" pitchFamily="34" charset="0"/>
                <a:ea typeface="Poppins" pitchFamily="34" charset="-122"/>
                <a:cs typeface="Poppins" pitchFamily="34" charset="-120"/>
              </a:rPr>
              <a:t>has- / -of prefix or suffix for properties?</a:t>
            </a:r>
            <a:endParaRPr lang="en-US" sz="1200" dirty="0"/>
          </a:p>
          <a:p>
            <a:pPr algn="l" marL="155194" indent="-155194">
              <a:lnSpc>
                <a:spcPts val="1680"/>
              </a:lnSpc>
              <a:buSzPct val="100000"/>
              <a:buChar char="•"/>
            </a:pPr>
            <a:r>
              <a:rPr lang="en-US" sz="1200" dirty="0">
                <a:solidFill>
                  <a:srgbClr val="D9D4F2"/>
                </a:solidFill>
                <a:latin typeface="Poppins" pitchFamily="34" charset="0"/>
                <a:ea typeface="Poppins" pitchFamily="34" charset="-122"/>
                <a:cs typeface="Poppins" pitchFamily="34" charset="-120"/>
              </a:rPr>
              <a:t>No abbreviations, no “class” in names</a:t>
            </a:r>
            <a:endParaRPr lang="en-US" sz="1200" dirty="0"/>
          </a:p>
        </p:txBody>
      </p:sp>
      <p:sp>
        <p:nvSpPr>
          <p:cNvPr id="19" name="Shape 17"/>
          <p:cNvSpPr/>
          <p:nvPr/>
        </p:nvSpPr>
        <p:spPr>
          <a:xfrm>
            <a:off x="8585200" y="1930400"/>
            <a:ext cx="2794000" cy="990600"/>
          </a:xfrm>
          <a:prstGeom prst="roundRect">
            <a:avLst>
              <a:gd name="adj" fmla="val 8974"/>
            </a:avLst>
          </a:prstGeom>
          <a:solidFill>
            <a:srgbClr val="F2F2F2"/>
          </a:solidFill>
          <a:ln/>
        </p:spPr>
      </p:sp>
      <p:sp>
        <p:nvSpPr>
          <p:cNvPr id="20" name="Text 18"/>
          <p:cNvSpPr/>
          <p:nvPr/>
        </p:nvSpPr>
        <p:spPr>
          <a:xfrm>
            <a:off x="8737600" y="2101949"/>
            <a:ext cx="2563876"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4 · Classes</a:t>
            </a:r>
            <a:endParaRPr lang="en-US" sz="1300" dirty="0"/>
          </a:p>
        </p:txBody>
      </p:sp>
      <p:sp>
        <p:nvSpPr>
          <p:cNvPr id="21" name="Text 19"/>
          <p:cNvSpPr/>
          <p:nvPr/>
        </p:nvSpPr>
        <p:spPr>
          <a:xfrm>
            <a:off x="8737600" y="2338090"/>
            <a:ext cx="2563876"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Prevents “Wine under Wines” errors</a:t>
            </a:r>
            <a:endParaRPr lang="en-US" sz="1200" dirty="0"/>
          </a:p>
        </p:txBody>
      </p:sp>
      <p:sp>
        <p:nvSpPr>
          <p:cNvPr id="22" name="Shape 20"/>
          <p:cNvSpPr/>
          <p:nvPr/>
        </p:nvSpPr>
        <p:spPr>
          <a:xfrm>
            <a:off x="8585200" y="3073400"/>
            <a:ext cx="2794000" cy="990600"/>
          </a:xfrm>
          <a:prstGeom prst="roundRect">
            <a:avLst>
              <a:gd name="adj" fmla="val 8974"/>
            </a:avLst>
          </a:prstGeom>
          <a:solidFill>
            <a:srgbClr val="F2F2F2"/>
          </a:solidFill>
          <a:ln/>
        </p:spPr>
      </p:sp>
      <p:sp>
        <p:nvSpPr>
          <p:cNvPr id="23" name="Text 21"/>
          <p:cNvSpPr/>
          <p:nvPr/>
        </p:nvSpPr>
        <p:spPr>
          <a:xfrm>
            <a:off x="8737600" y="3244949"/>
            <a:ext cx="2563876"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5 · 6 · Properties, axioms</a:t>
            </a:r>
            <a:endParaRPr lang="en-US" sz="1300" dirty="0"/>
          </a:p>
        </p:txBody>
      </p:sp>
      <p:sp>
        <p:nvSpPr>
          <p:cNvPr id="24" name="Text 22"/>
          <p:cNvSpPr/>
          <p:nvPr/>
        </p:nvSpPr>
        <p:spPr>
          <a:xfrm>
            <a:off x="8737600" y="3481090"/>
            <a:ext cx="2563876"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Property names readable at a glance</a:t>
            </a:r>
            <a:endParaRPr lang="en-US" sz="1200" dirty="0"/>
          </a:p>
        </p:txBody>
      </p:sp>
      <p:sp>
        <p:nvSpPr>
          <p:cNvPr id="25" name="Shape 23"/>
          <p:cNvSpPr/>
          <p:nvPr/>
        </p:nvSpPr>
        <p:spPr>
          <a:xfrm>
            <a:off x="8591550" y="4222750"/>
            <a:ext cx="2781300" cy="977900"/>
          </a:xfrm>
          <a:prstGeom prst="roundRect">
            <a:avLst>
              <a:gd name="adj" fmla="val 8442"/>
            </a:avLst>
          </a:prstGeom>
          <a:solidFill>
            <a:srgbClr val="FFFFFF"/>
          </a:solidFill>
          <a:ln w="12700">
            <a:solidFill>
              <a:srgbClr val="9AA3AD"/>
            </a:solidFill>
            <a:prstDash val="dash"/>
          </a:ln>
        </p:spPr>
      </p:sp>
      <p:sp>
        <p:nvSpPr>
          <p:cNvPr id="26" name="Text 24"/>
          <p:cNvSpPr/>
          <p:nvPr/>
        </p:nvSpPr>
        <p:spPr>
          <a:xfrm>
            <a:off x="8750300" y="4490740"/>
            <a:ext cx="2537714"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External · Reusers</a:t>
            </a:r>
            <a:endParaRPr lang="en-US" sz="1300" dirty="0"/>
          </a:p>
        </p:txBody>
      </p:sp>
      <p:sp>
        <p:nvSpPr>
          <p:cNvPr id="27" name="Text 25"/>
          <p:cNvSpPr/>
          <p:nvPr/>
        </p:nvSpPr>
        <p:spPr>
          <a:xfrm>
            <a:off x="8750300" y="4726880"/>
            <a:ext cx="2537714"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An ontology others can extend</a:t>
            </a:r>
            <a:endParaRPr lang="en-US" sz="1200" dirty="0"/>
          </a:p>
        </p:txBody>
      </p:sp>
      <p:pic>
        <p:nvPicPr>
          <p:cNvPr id="28" name="Image 0" descr="connector">    </p:cNvPr>
          <p:cNvPicPr>
            <a:picLocks noChangeAspect="1"/>
          </p:cNvPicPr>
          <p:nvPr/>
        </p:nvPicPr>
        <p:blipFill>
          <a:blip r:embed="rId1"/>
          <a:srcRect l="0" r="0" t="0" b="0"/>
          <a:stretch/>
        </p:blipFill>
        <p:spPr>
          <a:xfrm>
            <a:off x="3556000" y="2374900"/>
            <a:ext cx="711200" cy="101600"/>
          </a:xfrm>
          <a:prstGeom prst="rect">
            <a:avLst/>
          </a:prstGeom>
        </p:spPr>
      </p:pic>
      <p:pic>
        <p:nvPicPr>
          <p:cNvPr id="29" name="Image 1" descr="connector">    </p:cNvPr>
          <p:cNvPicPr>
            <a:picLocks noChangeAspect="1"/>
          </p:cNvPicPr>
          <p:nvPr/>
        </p:nvPicPr>
        <p:blipFill>
          <a:blip r:embed="rId2"/>
          <a:srcRect l="0" r="0" t="0" b="0"/>
          <a:stretch/>
        </p:blipFill>
        <p:spPr>
          <a:xfrm>
            <a:off x="3556000" y="3517900"/>
            <a:ext cx="711200" cy="101600"/>
          </a:xfrm>
          <a:prstGeom prst="rect">
            <a:avLst/>
          </a:prstGeom>
        </p:spPr>
      </p:pic>
      <p:pic>
        <p:nvPicPr>
          <p:cNvPr id="30" name="Image 2" descr="connector">    </p:cNvPr>
          <p:cNvPicPr>
            <a:picLocks noChangeAspect="1"/>
          </p:cNvPicPr>
          <p:nvPr/>
        </p:nvPicPr>
        <p:blipFill>
          <a:blip r:embed="rId3"/>
          <a:srcRect l="0" r="0" t="0" b="0"/>
          <a:stretch/>
        </p:blipFill>
        <p:spPr>
          <a:xfrm>
            <a:off x="3556000" y="4660900"/>
            <a:ext cx="711200" cy="101600"/>
          </a:xfrm>
          <a:prstGeom prst="rect">
            <a:avLst/>
          </a:prstGeom>
        </p:spPr>
      </p:pic>
      <p:pic>
        <p:nvPicPr>
          <p:cNvPr id="31" name="Image 3" descr="connector">    </p:cNvPr>
          <p:cNvPicPr>
            <a:picLocks noChangeAspect="1"/>
          </p:cNvPicPr>
          <p:nvPr/>
        </p:nvPicPr>
        <p:blipFill>
          <a:blip r:embed="rId4"/>
          <a:srcRect l="0" r="0" t="0" b="0"/>
          <a:stretch/>
        </p:blipFill>
        <p:spPr>
          <a:xfrm>
            <a:off x="7924800" y="2374900"/>
            <a:ext cx="711200" cy="101600"/>
          </a:xfrm>
          <a:prstGeom prst="rect">
            <a:avLst/>
          </a:prstGeom>
        </p:spPr>
      </p:pic>
      <p:pic>
        <p:nvPicPr>
          <p:cNvPr id="32" name="Image 4" descr="connector">    </p:cNvPr>
          <p:cNvPicPr>
            <a:picLocks noChangeAspect="1"/>
          </p:cNvPicPr>
          <p:nvPr/>
        </p:nvPicPr>
        <p:blipFill>
          <a:blip r:embed="rId5"/>
          <a:srcRect l="0" r="0" t="0" b="0"/>
          <a:stretch/>
        </p:blipFill>
        <p:spPr>
          <a:xfrm>
            <a:off x="7924800" y="3517900"/>
            <a:ext cx="711200" cy="101600"/>
          </a:xfrm>
          <a:prstGeom prst="rect">
            <a:avLst/>
          </a:prstGeom>
        </p:spPr>
      </p:pic>
      <p:pic>
        <p:nvPicPr>
          <p:cNvPr id="33" name="Image 5" descr="connector">    </p:cNvPr>
          <p:cNvPicPr>
            <a:picLocks noChangeAspect="1"/>
          </p:cNvPicPr>
          <p:nvPr/>
        </p:nvPicPr>
        <p:blipFill>
          <a:blip r:embed="rId6"/>
          <a:srcRect l="0" r="0" t="0" b="0"/>
          <a:stretch/>
        </p:blipFill>
        <p:spPr>
          <a:xfrm>
            <a:off x="7924800" y="4660900"/>
            <a:ext cx="711200" cy="101600"/>
          </a:xfrm>
          <a:prstGeom prst="rect">
            <a:avLst/>
          </a:prstGeom>
        </p:spPr>
      </p:pic>
      <p:sp>
        <p:nvSpPr>
          <p:cNvPr id="34" name="Text 26"/>
          <p:cNvSpPr/>
          <p:nvPr/>
        </p:nvSpPr>
        <p:spPr>
          <a:xfrm>
            <a:off x="812800" y="5410200"/>
            <a:ext cx="10566400" cy="383480"/>
          </a:xfrm>
          <a:prstGeom prst="roundRect">
            <a:avLst>
              <a:gd name="adj" fmla="val 19871"/>
            </a:avLst>
          </a:prstGeom>
          <a:solidFill>
            <a:srgbClr val="E8EBFF"/>
          </a:solidFill>
          <a:ln/>
        </p:spPr>
        <p:txBody>
          <a:bodyPr wrap="square" lIns="130082" tIns="66582" rIns="0" bIns="41182" rtlCol="0" anchor="t">
            <a:normAutofit/>
          </a:bodyPr>
          <a:lstStyle/>
          <a:p>
            <a:pPr algn="l" indent="0" marL="0">
              <a:lnSpc>
                <a:spcPts val="1620"/>
              </a:lnSpc>
              <a:buNone/>
            </a:pPr>
            <a:r>
              <a:rPr lang="en-US" sz="1200" b="1" dirty="0">
                <a:solidFill>
                  <a:srgbClr val="001FFF"/>
                </a:solidFill>
                <a:latin typeface="Poppins" pitchFamily="34" charset="0"/>
                <a:ea typeface="Poppins" pitchFamily="34" charset="-122"/>
                <a:cs typeface="Poppins" pitchFamily="34" charset="-120"/>
              </a:rPr>
              <a:t>Cross-cutting:</a:t>
            </a:r>
            <a:r>
              <a:rPr lang="en-US" sz="1200" dirty="0">
                <a:solidFill>
                  <a:srgbClr val="15103A"/>
                </a:solidFill>
                <a:latin typeface="Poppins" pitchFamily="34" charset="0"/>
                <a:ea typeface="Poppins" pitchFamily="34" charset="-122"/>
                <a:cs typeface="Poppins" pitchFamily="34" charset="-120"/>
              </a:rPr>
              <a:t> not one of the paper's seven steps, but its Section 6 governs every phase from 4 on.</a:t>
            </a:r>
            <a:endParaRPr lang="en-US" sz="1200" dirty="0"/>
          </a:p>
        </p:txBody>
      </p:sp>
      <p:pic>
        <p:nvPicPr>
          <p:cNvPr id="35" name="Image 6" descr="Graphwise symbol">    </p:cNvPr>
          <p:cNvPicPr>
            <a:picLocks noChangeAspect="1"/>
          </p:cNvPicPr>
          <p:nvPr/>
        </p:nvPicPr>
        <p:blipFill>
          <a:blip r:embed="rId7"/>
          <a:srcRect l="-182" r="-182" t="0" b="0"/>
          <a:stretch/>
        </p:blipFill>
        <p:spPr>
          <a:xfrm>
            <a:off x="812800" y="6261100"/>
            <a:ext cx="203200" cy="209550"/>
          </a:xfrm>
          <a:prstGeom prst="rect">
            <a:avLst/>
          </a:prstGeom>
        </p:spPr>
      </p:pic>
      <p:sp>
        <p:nvSpPr>
          <p:cNvPr id="36" name="Text 27"/>
          <p:cNvSpPr/>
          <p:nvPr/>
        </p:nvSpPr>
        <p:spPr>
          <a:xfrm>
            <a:off x="1117600" y="62484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5C7F"/>
                </a:solidFill>
                <a:latin typeface="Poppins" pitchFamily="34" charset="0"/>
                <a:ea typeface="Poppins" pitchFamily="34" charset="-122"/>
                <a:cs typeface="Poppins" pitchFamily="34" charset="-120"/>
              </a:rPr>
              <a:t>Ontology Development 101 · Process &amp; dependencies</a:t>
            </a:r>
            <a:endParaRPr lang="en-US" sz="1200" dirty="0"/>
          </a:p>
        </p:txBody>
      </p:sp>
      <p:sp>
        <p:nvSpPr>
          <p:cNvPr id="37" name="Text 28"/>
          <p:cNvSpPr/>
          <p:nvPr/>
        </p:nvSpPr>
        <p:spPr>
          <a:xfrm>
            <a:off x="10058400" y="624840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B5C7F"/>
                </a:solidFill>
                <a:latin typeface="Poppins" pitchFamily="34" charset="0"/>
                <a:ea typeface="Poppins" pitchFamily="34" charset="-122"/>
                <a:cs typeface="Poppi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4064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1FFF"/>
                </a:solidFill>
                <a:latin typeface="Poppins" pitchFamily="34" charset="0"/>
                <a:ea typeface="Poppins" pitchFamily="34" charset="-122"/>
                <a:cs typeface="Poppins" pitchFamily="34" charset="-120"/>
              </a:rPr>
              <a:t>PHASE 4 · MODEL (INTERTWINED CORE)</a:t>
            </a:r>
            <a:endParaRPr lang="en-US" sz="1200" dirty="0"/>
          </a:p>
        </p:txBody>
      </p:sp>
      <p:sp>
        <p:nvSpPr>
          <p:cNvPr id="3" name="Text 1"/>
          <p:cNvSpPr/>
          <p:nvPr>
            <p:ph type="title"/>
          </p:nvPr>
        </p:nvSpPr>
        <p:spPr>
          <a:xfrm>
            <a:off x="812800" y="66040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220F60"/>
                </a:solidFill>
                <a:latin typeface="Poppins" pitchFamily="34" charset="0"/>
                <a:ea typeface="Poppins" pitchFamily="34" charset="-122"/>
                <a:cs typeface="Poppins" pitchFamily="34" charset="-120"/>
              </a:rPr>
              <a:t>Define classes and the class hierarchy</a:t>
            </a:r>
            <a:endParaRPr lang="en-US" sz="3000" dirty="0"/>
          </a:p>
        </p:txBody>
      </p:sp>
      <p:sp>
        <p:nvSpPr>
          <p:cNvPr id="4" name="Text 2"/>
          <p:cNvSpPr/>
          <p:nvPr/>
        </p:nvSpPr>
        <p:spPr>
          <a:xfrm>
            <a:off x="812800" y="1600200"/>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B5C7F"/>
                </a:solidFill>
                <a:latin typeface="Poppins" pitchFamily="34" charset="0"/>
                <a:ea typeface="Poppins" pitchFamily="34" charset="-122"/>
                <a:cs typeface="Poppins" pitchFamily="34" charset="-120"/>
              </a:rPr>
              <a:t>INPUTS</a:t>
            </a:r>
            <a:endParaRPr lang="en-US" sz="1200" dirty="0"/>
          </a:p>
        </p:txBody>
      </p:sp>
      <p:sp>
        <p:nvSpPr>
          <p:cNvPr id="5" name="Text 3"/>
          <p:cNvSpPr/>
          <p:nvPr/>
        </p:nvSpPr>
        <p:spPr>
          <a:xfrm>
            <a:off x="8585200" y="1600200"/>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B5C7F"/>
                </a:solidFill>
                <a:latin typeface="Poppins" pitchFamily="34" charset="0"/>
                <a:ea typeface="Poppins" pitchFamily="34" charset="-122"/>
                <a:cs typeface="Poppins" pitchFamily="34" charset="-120"/>
              </a:rPr>
              <a:t>OUTPUTS</a:t>
            </a:r>
            <a:endParaRPr lang="en-US" sz="1200" dirty="0"/>
          </a:p>
        </p:txBody>
      </p:sp>
      <p:sp>
        <p:nvSpPr>
          <p:cNvPr id="6" name="Shape 4"/>
          <p:cNvSpPr/>
          <p:nvPr/>
        </p:nvSpPr>
        <p:spPr>
          <a:xfrm>
            <a:off x="812800" y="1930400"/>
            <a:ext cx="2794000" cy="990600"/>
          </a:xfrm>
          <a:prstGeom prst="roundRect">
            <a:avLst>
              <a:gd name="adj" fmla="val 8974"/>
            </a:avLst>
          </a:prstGeom>
          <a:solidFill>
            <a:srgbClr val="F2F2F2"/>
          </a:solidFill>
          <a:ln/>
        </p:spPr>
      </p:sp>
      <p:sp>
        <p:nvSpPr>
          <p:cNvPr id="7" name="Text 5"/>
          <p:cNvSpPr/>
          <p:nvPr/>
        </p:nvSpPr>
        <p:spPr>
          <a:xfrm>
            <a:off x="965200" y="2101949"/>
            <a:ext cx="2563876"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3 · Terms</a:t>
            </a:r>
            <a:endParaRPr lang="en-US" sz="1300" dirty="0"/>
          </a:p>
        </p:txBody>
      </p:sp>
      <p:sp>
        <p:nvSpPr>
          <p:cNvPr id="8" name="Text 6"/>
          <p:cNvSpPr/>
          <p:nvPr/>
        </p:nvSpPr>
        <p:spPr>
          <a:xfrm>
            <a:off x="965200" y="2338090"/>
            <a:ext cx="2563876"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Terms for objects that exist on their own</a:t>
            </a:r>
            <a:endParaRPr lang="en-US" sz="1200" dirty="0"/>
          </a:p>
        </p:txBody>
      </p:sp>
      <p:sp>
        <p:nvSpPr>
          <p:cNvPr id="9" name="Shape 7"/>
          <p:cNvSpPr/>
          <p:nvPr/>
        </p:nvSpPr>
        <p:spPr>
          <a:xfrm>
            <a:off x="812800" y="3073400"/>
            <a:ext cx="2794000" cy="990600"/>
          </a:xfrm>
          <a:prstGeom prst="roundRect">
            <a:avLst>
              <a:gd name="adj" fmla="val 8974"/>
            </a:avLst>
          </a:prstGeom>
          <a:solidFill>
            <a:srgbClr val="F2F2F2"/>
          </a:solidFill>
          <a:ln/>
        </p:spPr>
      </p:sp>
      <p:sp>
        <p:nvSpPr>
          <p:cNvPr id="10" name="Text 8"/>
          <p:cNvSpPr/>
          <p:nvPr/>
        </p:nvSpPr>
        <p:spPr>
          <a:xfrm>
            <a:off x="965200" y="3244949"/>
            <a:ext cx="2563876"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1 · 3b · Scope, names</a:t>
            </a:r>
            <a:endParaRPr lang="en-US" sz="1300" dirty="0"/>
          </a:p>
        </p:txBody>
      </p:sp>
      <p:sp>
        <p:nvSpPr>
          <p:cNvPr id="11" name="Text 9"/>
          <p:cNvSpPr/>
          <p:nvPr/>
        </p:nvSpPr>
        <p:spPr>
          <a:xfrm>
            <a:off x="965200" y="3481090"/>
            <a:ext cx="2563876"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CQ granularity and naming rules</a:t>
            </a:r>
            <a:endParaRPr lang="en-US" sz="1200" dirty="0"/>
          </a:p>
        </p:txBody>
      </p:sp>
      <p:sp>
        <p:nvSpPr>
          <p:cNvPr id="12" name="Shape 10"/>
          <p:cNvSpPr/>
          <p:nvPr/>
        </p:nvSpPr>
        <p:spPr>
          <a:xfrm>
            <a:off x="819150" y="4222750"/>
            <a:ext cx="2781300" cy="977900"/>
          </a:xfrm>
          <a:prstGeom prst="roundRect">
            <a:avLst>
              <a:gd name="adj" fmla="val 8442"/>
            </a:avLst>
          </a:prstGeom>
          <a:solidFill>
            <a:srgbClr val="FCEAF2"/>
          </a:solidFill>
          <a:ln w="12700">
            <a:solidFill>
              <a:srgbClr val="DF367C"/>
            </a:solidFill>
            <a:prstDash val="solid"/>
          </a:ln>
        </p:spPr>
      </p:sp>
      <p:sp>
        <p:nvSpPr>
          <p:cNvPr id="13" name="Text 11"/>
          <p:cNvSpPr/>
          <p:nvPr/>
        </p:nvSpPr>
        <p:spPr>
          <a:xfrm>
            <a:off x="977900" y="4387949"/>
            <a:ext cx="2537714"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 5 · 6 · 7 · 8</a:t>
            </a:r>
            <a:endParaRPr lang="en-US" sz="1300" dirty="0"/>
          </a:p>
        </p:txBody>
      </p:sp>
      <p:sp>
        <p:nvSpPr>
          <p:cNvPr id="14" name="Text 12"/>
          <p:cNvSpPr/>
          <p:nvPr/>
        </p:nvSpPr>
        <p:spPr>
          <a:xfrm>
            <a:off x="977900" y="4624090"/>
            <a:ext cx="2537714"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Signals a class is missing or wrong</a:t>
            </a:r>
            <a:endParaRPr lang="en-US" sz="1200" dirty="0"/>
          </a:p>
        </p:txBody>
      </p:sp>
      <p:sp>
        <p:nvSpPr>
          <p:cNvPr id="15" name="Shape 13"/>
          <p:cNvSpPr/>
          <p:nvPr/>
        </p:nvSpPr>
        <p:spPr>
          <a:xfrm>
            <a:off x="4216400" y="1930400"/>
            <a:ext cx="3759200" cy="3276600"/>
          </a:xfrm>
          <a:prstGeom prst="roundRect">
            <a:avLst>
              <a:gd name="adj" fmla="val 3876"/>
            </a:avLst>
          </a:prstGeom>
          <a:solidFill>
            <a:srgbClr val="220F60"/>
          </a:solidFill>
          <a:ln/>
        </p:spPr>
      </p:sp>
      <p:sp>
        <p:nvSpPr>
          <p:cNvPr id="16" name="Text 14"/>
          <p:cNvSpPr/>
          <p:nvPr/>
        </p:nvSpPr>
        <p:spPr>
          <a:xfrm>
            <a:off x="4470400" y="2184400"/>
            <a:ext cx="334873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FADFF"/>
                </a:solidFill>
                <a:latin typeface="Poppins" pitchFamily="34" charset="0"/>
                <a:ea typeface="Poppins" pitchFamily="34" charset="-122"/>
                <a:cs typeface="Poppins" pitchFamily="34" charset="-120"/>
              </a:rPr>
              <a:t>ACTIVITIES</a:t>
            </a:r>
            <a:endParaRPr lang="en-US" sz="1200" dirty="0"/>
          </a:p>
        </p:txBody>
      </p:sp>
      <p:sp>
        <p:nvSpPr>
          <p:cNvPr id="17" name="Text 15"/>
          <p:cNvSpPr/>
          <p:nvPr/>
        </p:nvSpPr>
        <p:spPr>
          <a:xfrm>
            <a:off x="4470400" y="2499320"/>
            <a:ext cx="3348736"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FFFF"/>
                </a:solidFill>
                <a:latin typeface="Poppins" pitchFamily="34" charset="0"/>
                <a:ea typeface="Poppins" pitchFamily="34" charset="-122"/>
                <a:cs typeface="Poppins" pitchFamily="34" charset="-120"/>
              </a:rPr>
              <a:t>Build and check the taxonomy</a:t>
            </a:r>
            <a:endParaRPr lang="en-US" sz="1800" dirty="0"/>
          </a:p>
        </p:txBody>
      </p:sp>
      <p:sp>
        <p:nvSpPr>
          <p:cNvPr id="18" name="Text 16"/>
          <p:cNvSpPr/>
          <p:nvPr/>
        </p:nvSpPr>
        <p:spPr>
          <a:xfrm>
            <a:off x="4569206" y="3149402"/>
            <a:ext cx="3242310" cy="1092002"/>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D9D4F2"/>
                </a:solidFill>
                <a:latin typeface="Poppins" pitchFamily="34" charset="0"/>
                <a:ea typeface="Poppins" pitchFamily="34" charset="-122"/>
                <a:cs typeface="Poppins" pitchFamily="34" charset="-120"/>
              </a:rPr>
              <a:t>Top-down, bottom-up or combination</a:t>
            </a:r>
            <a:endParaRPr lang="en-US" sz="1200" dirty="0"/>
          </a:p>
          <a:p>
            <a:pPr algn="l" marL="155194" indent="-155194">
              <a:lnSpc>
                <a:spcPts val="1680"/>
              </a:lnSpc>
              <a:buSzPct val="100000"/>
              <a:buChar char="•"/>
            </a:pPr>
            <a:r>
              <a:rPr lang="en-US" sz="1200" dirty="0">
                <a:solidFill>
                  <a:srgbClr val="D9D4F2"/>
                </a:solidFill>
                <a:latin typeface="Poppins" pitchFamily="34" charset="0"/>
                <a:ea typeface="Poppins" pitchFamily="34" charset="-122"/>
                <a:cs typeface="Poppins" pitchFamily="34" charset="-120"/>
              </a:rPr>
              <a:t>Test is-a; no cycles, no synonym classes</a:t>
            </a:r>
            <a:endParaRPr lang="en-US" sz="1200" dirty="0"/>
          </a:p>
          <a:p>
            <a:pPr algn="l" marL="155194" indent="-155194">
              <a:lnSpc>
                <a:spcPts val="1680"/>
              </a:lnSpc>
              <a:buSzPct val="100000"/>
              <a:buChar char="•"/>
            </a:pPr>
            <a:r>
              <a:rPr lang="en-US" sz="1200" dirty="0">
                <a:solidFill>
                  <a:srgbClr val="D9D4F2"/>
                </a:solidFill>
                <a:latin typeface="Poppins" pitchFamily="34" charset="0"/>
                <a:ea typeface="Poppins" pitchFamily="34" charset="-122"/>
                <a:cs typeface="Poppins" pitchFamily="34" charset="-120"/>
              </a:rPr>
              <a:t>Siblings at one level; 2–12 per parent</a:t>
            </a:r>
            <a:endParaRPr lang="en-US" sz="1200" dirty="0"/>
          </a:p>
          <a:p>
            <a:pPr algn="l" marL="155194" indent="-155194">
              <a:lnSpc>
                <a:spcPts val="1680"/>
              </a:lnSpc>
              <a:buSzPct val="100000"/>
              <a:buChar char="•"/>
            </a:pPr>
            <a:r>
              <a:rPr lang="en-US" sz="1200" dirty="0">
                <a:solidFill>
                  <a:srgbClr val="D9D4F2"/>
                </a:solidFill>
                <a:latin typeface="Poppins" pitchFamily="34" charset="0"/>
                <a:ea typeface="Poppins" pitchFamily="34" charset="-122"/>
                <a:cs typeface="Poppins" pitchFamily="34" charset="-120"/>
              </a:rPr>
              <a:t>Class vs value vs instance; disjointness</a:t>
            </a:r>
            <a:endParaRPr lang="en-US" sz="1200" dirty="0"/>
          </a:p>
        </p:txBody>
      </p:sp>
      <p:sp>
        <p:nvSpPr>
          <p:cNvPr id="19" name="Shape 17"/>
          <p:cNvSpPr/>
          <p:nvPr/>
        </p:nvSpPr>
        <p:spPr>
          <a:xfrm>
            <a:off x="8585200" y="1930400"/>
            <a:ext cx="2794000" cy="990600"/>
          </a:xfrm>
          <a:prstGeom prst="roundRect">
            <a:avLst>
              <a:gd name="adj" fmla="val 8974"/>
            </a:avLst>
          </a:prstGeom>
          <a:solidFill>
            <a:srgbClr val="F2F2F2"/>
          </a:solidFill>
          <a:ln/>
        </p:spPr>
      </p:sp>
      <p:sp>
        <p:nvSpPr>
          <p:cNvPr id="20" name="Text 18"/>
          <p:cNvSpPr/>
          <p:nvPr/>
        </p:nvSpPr>
        <p:spPr>
          <a:xfrm>
            <a:off x="8737600" y="2101949"/>
            <a:ext cx="2563876"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5 · Properties</a:t>
            </a:r>
            <a:endParaRPr lang="en-US" sz="1300" dirty="0"/>
          </a:p>
        </p:txBody>
      </p:sp>
      <p:sp>
        <p:nvSpPr>
          <p:cNvPr id="21" name="Text 19"/>
          <p:cNvSpPr/>
          <p:nvPr/>
        </p:nvSpPr>
        <p:spPr>
          <a:xfrm>
            <a:off x="8737600" y="2338090"/>
            <a:ext cx="2563876"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The hierarchy to attach properties to</a:t>
            </a:r>
            <a:endParaRPr lang="en-US" sz="1200" dirty="0"/>
          </a:p>
        </p:txBody>
      </p:sp>
      <p:sp>
        <p:nvSpPr>
          <p:cNvPr id="22" name="Shape 20"/>
          <p:cNvSpPr/>
          <p:nvPr/>
        </p:nvSpPr>
        <p:spPr>
          <a:xfrm>
            <a:off x="8585200" y="3073400"/>
            <a:ext cx="2794000" cy="990600"/>
          </a:xfrm>
          <a:prstGeom prst="roundRect">
            <a:avLst>
              <a:gd name="adj" fmla="val 8974"/>
            </a:avLst>
          </a:prstGeom>
          <a:solidFill>
            <a:srgbClr val="F2F2F2"/>
          </a:solidFill>
          <a:ln/>
        </p:spPr>
      </p:sp>
      <p:sp>
        <p:nvSpPr>
          <p:cNvPr id="23" name="Text 21"/>
          <p:cNvSpPr/>
          <p:nvPr/>
        </p:nvSpPr>
        <p:spPr>
          <a:xfrm>
            <a:off x="8737600" y="3347740"/>
            <a:ext cx="2563876"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6 · Logical axioms</a:t>
            </a:r>
            <a:endParaRPr lang="en-US" sz="1300" dirty="0"/>
          </a:p>
        </p:txBody>
      </p:sp>
      <p:sp>
        <p:nvSpPr>
          <p:cNvPr id="24" name="Text 22"/>
          <p:cNvSpPr/>
          <p:nvPr/>
        </p:nvSpPr>
        <p:spPr>
          <a:xfrm>
            <a:off x="8737600" y="3583880"/>
            <a:ext cx="26416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Classes for domains and ranges</a:t>
            </a:r>
            <a:endParaRPr lang="en-US" sz="1200" dirty="0"/>
          </a:p>
        </p:txBody>
      </p:sp>
      <p:sp>
        <p:nvSpPr>
          <p:cNvPr id="25" name="Shape 23"/>
          <p:cNvSpPr/>
          <p:nvPr/>
        </p:nvSpPr>
        <p:spPr>
          <a:xfrm>
            <a:off x="8585200" y="4216400"/>
            <a:ext cx="2794000" cy="990600"/>
          </a:xfrm>
          <a:prstGeom prst="roundRect">
            <a:avLst>
              <a:gd name="adj" fmla="val 8974"/>
            </a:avLst>
          </a:prstGeom>
          <a:solidFill>
            <a:srgbClr val="F2F2F2"/>
          </a:solidFill>
          <a:ln/>
        </p:spPr>
      </p:sp>
      <p:sp>
        <p:nvSpPr>
          <p:cNvPr id="26" name="Text 24"/>
          <p:cNvSpPr/>
          <p:nvPr/>
        </p:nvSpPr>
        <p:spPr>
          <a:xfrm>
            <a:off x="8737600" y="4490740"/>
            <a:ext cx="2563876"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7 · Instances</a:t>
            </a:r>
            <a:endParaRPr lang="en-US" sz="1300" dirty="0"/>
          </a:p>
        </p:txBody>
      </p:sp>
      <p:sp>
        <p:nvSpPr>
          <p:cNvPr id="27" name="Text 25"/>
          <p:cNvSpPr/>
          <p:nvPr/>
        </p:nvSpPr>
        <p:spPr>
          <a:xfrm>
            <a:off x="8737600" y="4726880"/>
            <a:ext cx="26416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Leaf classes ready to instantiate</a:t>
            </a:r>
            <a:endParaRPr lang="en-US" sz="1200" dirty="0"/>
          </a:p>
        </p:txBody>
      </p:sp>
      <p:pic>
        <p:nvPicPr>
          <p:cNvPr id="28" name="Image 0" descr="connector">    </p:cNvPr>
          <p:cNvPicPr>
            <a:picLocks noChangeAspect="1"/>
          </p:cNvPicPr>
          <p:nvPr/>
        </p:nvPicPr>
        <p:blipFill>
          <a:blip r:embed="rId1"/>
          <a:srcRect l="0" r="0" t="0" b="0"/>
          <a:stretch/>
        </p:blipFill>
        <p:spPr>
          <a:xfrm>
            <a:off x="3556000" y="2374900"/>
            <a:ext cx="711200" cy="101600"/>
          </a:xfrm>
          <a:prstGeom prst="rect">
            <a:avLst/>
          </a:prstGeom>
        </p:spPr>
      </p:pic>
      <p:pic>
        <p:nvPicPr>
          <p:cNvPr id="29" name="Image 1" descr="connector">    </p:cNvPr>
          <p:cNvPicPr>
            <a:picLocks noChangeAspect="1"/>
          </p:cNvPicPr>
          <p:nvPr/>
        </p:nvPicPr>
        <p:blipFill>
          <a:blip r:embed="rId2"/>
          <a:srcRect l="0" r="0" t="0" b="0"/>
          <a:stretch/>
        </p:blipFill>
        <p:spPr>
          <a:xfrm>
            <a:off x="3556000" y="3517900"/>
            <a:ext cx="711200" cy="101600"/>
          </a:xfrm>
          <a:prstGeom prst="rect">
            <a:avLst/>
          </a:prstGeom>
        </p:spPr>
      </p:pic>
      <p:pic>
        <p:nvPicPr>
          <p:cNvPr id="30" name="Image 2" descr="connector">    </p:cNvPr>
          <p:cNvPicPr>
            <a:picLocks noChangeAspect="1"/>
          </p:cNvPicPr>
          <p:nvPr/>
        </p:nvPicPr>
        <p:blipFill>
          <a:blip r:embed="rId3"/>
          <a:srcRect l="0" r="0" t="0" b="0"/>
          <a:stretch/>
        </p:blipFill>
        <p:spPr>
          <a:xfrm>
            <a:off x="3556000" y="4660900"/>
            <a:ext cx="711200" cy="101600"/>
          </a:xfrm>
          <a:prstGeom prst="rect">
            <a:avLst/>
          </a:prstGeom>
        </p:spPr>
      </p:pic>
      <p:pic>
        <p:nvPicPr>
          <p:cNvPr id="31" name="Image 3" descr="connector">    </p:cNvPr>
          <p:cNvPicPr>
            <a:picLocks noChangeAspect="1"/>
          </p:cNvPicPr>
          <p:nvPr/>
        </p:nvPicPr>
        <p:blipFill>
          <a:blip r:embed="rId4"/>
          <a:srcRect l="0" r="0" t="0" b="0"/>
          <a:stretch/>
        </p:blipFill>
        <p:spPr>
          <a:xfrm>
            <a:off x="7924800" y="2374900"/>
            <a:ext cx="711200" cy="101600"/>
          </a:xfrm>
          <a:prstGeom prst="rect">
            <a:avLst/>
          </a:prstGeom>
        </p:spPr>
      </p:pic>
      <p:pic>
        <p:nvPicPr>
          <p:cNvPr id="32" name="Image 4" descr="connector">    </p:cNvPr>
          <p:cNvPicPr>
            <a:picLocks noChangeAspect="1"/>
          </p:cNvPicPr>
          <p:nvPr/>
        </p:nvPicPr>
        <p:blipFill>
          <a:blip r:embed="rId5"/>
          <a:srcRect l="0" r="0" t="0" b="0"/>
          <a:stretch/>
        </p:blipFill>
        <p:spPr>
          <a:xfrm>
            <a:off x="7924800" y="3517900"/>
            <a:ext cx="711200" cy="101600"/>
          </a:xfrm>
          <a:prstGeom prst="rect">
            <a:avLst/>
          </a:prstGeom>
        </p:spPr>
      </p:pic>
      <p:pic>
        <p:nvPicPr>
          <p:cNvPr id="33" name="Image 5" descr="connector">    </p:cNvPr>
          <p:cNvPicPr>
            <a:picLocks noChangeAspect="1"/>
          </p:cNvPicPr>
          <p:nvPr/>
        </p:nvPicPr>
        <p:blipFill>
          <a:blip r:embed="rId6"/>
          <a:srcRect l="0" r="0" t="0" b="0"/>
          <a:stretch/>
        </p:blipFill>
        <p:spPr>
          <a:xfrm>
            <a:off x="7924800" y="4660900"/>
            <a:ext cx="711200" cy="101600"/>
          </a:xfrm>
          <a:prstGeom prst="rect">
            <a:avLst/>
          </a:prstGeom>
        </p:spPr>
      </p:pic>
      <p:sp>
        <p:nvSpPr>
          <p:cNvPr id="34" name="Text 26"/>
          <p:cNvSpPr/>
          <p:nvPr/>
        </p:nvSpPr>
        <p:spPr>
          <a:xfrm>
            <a:off x="812800" y="5410200"/>
            <a:ext cx="10566400" cy="383480"/>
          </a:xfrm>
          <a:prstGeom prst="roundRect">
            <a:avLst>
              <a:gd name="adj" fmla="val 19871"/>
            </a:avLst>
          </a:prstGeom>
          <a:solidFill>
            <a:srgbClr val="FCEAF2"/>
          </a:solidFill>
          <a:ln/>
        </p:spPr>
        <p:txBody>
          <a:bodyPr wrap="square" lIns="130082" tIns="66582" rIns="0" bIns="41182" rtlCol="0" anchor="t">
            <a:normAutofit/>
          </a:bodyPr>
          <a:lstStyle/>
          <a:p>
            <a:pPr algn="l" indent="0" marL="0">
              <a:lnSpc>
                <a:spcPts val="1620"/>
              </a:lnSpc>
              <a:buNone/>
            </a:pPr>
            <a:r>
              <a:rPr lang="en-US" sz="1200" b="1" dirty="0">
                <a:solidFill>
                  <a:srgbClr val="A8215A"/>
                </a:solidFill>
                <a:latin typeface="Poppins" pitchFamily="34" charset="0"/>
                <a:ea typeface="Poppins" pitchFamily="34" charset="-122"/>
                <a:cs typeface="Poppins" pitchFamily="34" charset="-120"/>
              </a:rPr>
              <a:t>Loop:</a:t>
            </a:r>
            <a:r>
              <a:rPr lang="en-US" sz="1200" dirty="0">
                <a:solidFill>
                  <a:srgbClr val="15103A"/>
                </a:solidFill>
                <a:latin typeface="Poppins" pitchFamily="34" charset="0"/>
                <a:ea typeface="Poppins" pitchFamily="34" charset="-122"/>
                <a:cs typeface="Poppins" pitchFamily="34" charset="-120"/>
              </a:rPr>
              <a:t> the most-revisited phase. New properties, axioms, instance churn or domain change reshape it.</a:t>
            </a:r>
            <a:endParaRPr lang="en-US" sz="1200" dirty="0"/>
          </a:p>
        </p:txBody>
      </p:sp>
      <p:pic>
        <p:nvPicPr>
          <p:cNvPr id="35" name="Image 6" descr="Graphwise symbol">    </p:cNvPr>
          <p:cNvPicPr>
            <a:picLocks noChangeAspect="1"/>
          </p:cNvPicPr>
          <p:nvPr/>
        </p:nvPicPr>
        <p:blipFill>
          <a:blip r:embed="rId7"/>
          <a:srcRect l="-182" r="-182" t="0" b="0"/>
          <a:stretch/>
        </p:blipFill>
        <p:spPr>
          <a:xfrm>
            <a:off x="812800" y="6261100"/>
            <a:ext cx="203200" cy="209550"/>
          </a:xfrm>
          <a:prstGeom prst="rect">
            <a:avLst/>
          </a:prstGeom>
        </p:spPr>
      </p:pic>
      <p:sp>
        <p:nvSpPr>
          <p:cNvPr id="36" name="Text 27"/>
          <p:cNvSpPr/>
          <p:nvPr/>
        </p:nvSpPr>
        <p:spPr>
          <a:xfrm>
            <a:off x="1117600" y="62484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5C7F"/>
                </a:solidFill>
                <a:latin typeface="Poppins" pitchFamily="34" charset="0"/>
                <a:ea typeface="Poppins" pitchFamily="34" charset="-122"/>
                <a:cs typeface="Poppins" pitchFamily="34" charset="-120"/>
              </a:rPr>
              <a:t>Ontology Development 101 · Process &amp; dependencies</a:t>
            </a:r>
            <a:endParaRPr lang="en-US" sz="1200" dirty="0"/>
          </a:p>
        </p:txBody>
      </p:sp>
      <p:sp>
        <p:nvSpPr>
          <p:cNvPr id="37" name="Text 28"/>
          <p:cNvSpPr/>
          <p:nvPr/>
        </p:nvSpPr>
        <p:spPr>
          <a:xfrm>
            <a:off x="10058400" y="624840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B5C7F"/>
                </a:solidFill>
                <a:latin typeface="Poppins" pitchFamily="34" charset="0"/>
                <a:ea typeface="Poppins" pitchFamily="34" charset="-122"/>
                <a:cs typeface="Poppi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4064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1FFF"/>
                </a:solidFill>
                <a:latin typeface="Poppins" pitchFamily="34" charset="0"/>
                <a:ea typeface="Poppins" pitchFamily="34" charset="-122"/>
                <a:cs typeface="Poppins" pitchFamily="34" charset="-120"/>
              </a:rPr>
              <a:t>PHASE 5 · MODEL (INTERTWINED CORE)</a:t>
            </a:r>
            <a:endParaRPr lang="en-US" sz="1200" dirty="0"/>
          </a:p>
        </p:txBody>
      </p:sp>
      <p:sp>
        <p:nvSpPr>
          <p:cNvPr id="3" name="Text 1"/>
          <p:cNvSpPr/>
          <p:nvPr>
            <p:ph type="title"/>
          </p:nvPr>
        </p:nvSpPr>
        <p:spPr>
          <a:xfrm>
            <a:off x="812800" y="66040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220F60"/>
                </a:solidFill>
                <a:latin typeface="Poppins" pitchFamily="34" charset="0"/>
                <a:ea typeface="Poppins" pitchFamily="34" charset="-122"/>
                <a:cs typeface="Poppins" pitchFamily="34" charset="-120"/>
              </a:rPr>
              <a:t>Define the properties of classes</a:t>
            </a:r>
            <a:endParaRPr lang="en-US" sz="3000" dirty="0"/>
          </a:p>
        </p:txBody>
      </p:sp>
      <p:sp>
        <p:nvSpPr>
          <p:cNvPr id="4" name="Text 2"/>
          <p:cNvSpPr/>
          <p:nvPr/>
        </p:nvSpPr>
        <p:spPr>
          <a:xfrm>
            <a:off x="812800" y="1600200"/>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B5C7F"/>
                </a:solidFill>
                <a:latin typeface="Poppins" pitchFamily="34" charset="0"/>
                <a:ea typeface="Poppins" pitchFamily="34" charset="-122"/>
                <a:cs typeface="Poppins" pitchFamily="34" charset="-120"/>
              </a:rPr>
              <a:t>INPUTS</a:t>
            </a:r>
            <a:endParaRPr lang="en-US" sz="1200" dirty="0"/>
          </a:p>
        </p:txBody>
      </p:sp>
      <p:sp>
        <p:nvSpPr>
          <p:cNvPr id="5" name="Text 3"/>
          <p:cNvSpPr/>
          <p:nvPr/>
        </p:nvSpPr>
        <p:spPr>
          <a:xfrm>
            <a:off x="8585200" y="1600200"/>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B5C7F"/>
                </a:solidFill>
                <a:latin typeface="Poppins" pitchFamily="34" charset="0"/>
                <a:ea typeface="Poppins" pitchFamily="34" charset="-122"/>
                <a:cs typeface="Poppins" pitchFamily="34" charset="-120"/>
              </a:rPr>
              <a:t>OUTPUTS</a:t>
            </a:r>
            <a:endParaRPr lang="en-US" sz="1200" dirty="0"/>
          </a:p>
        </p:txBody>
      </p:sp>
      <p:sp>
        <p:nvSpPr>
          <p:cNvPr id="6" name="Shape 4"/>
          <p:cNvSpPr/>
          <p:nvPr/>
        </p:nvSpPr>
        <p:spPr>
          <a:xfrm>
            <a:off x="812800" y="1930400"/>
            <a:ext cx="2794000" cy="990600"/>
          </a:xfrm>
          <a:prstGeom prst="roundRect">
            <a:avLst>
              <a:gd name="adj" fmla="val 8974"/>
            </a:avLst>
          </a:prstGeom>
          <a:solidFill>
            <a:srgbClr val="F2F2F2"/>
          </a:solidFill>
          <a:ln/>
        </p:spPr>
      </p:sp>
      <p:sp>
        <p:nvSpPr>
          <p:cNvPr id="7" name="Text 5"/>
          <p:cNvSpPr/>
          <p:nvPr/>
        </p:nvSpPr>
        <p:spPr>
          <a:xfrm>
            <a:off x="965200" y="2101949"/>
            <a:ext cx="2563876"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4 · Classes</a:t>
            </a:r>
            <a:endParaRPr lang="en-US" sz="1300" dirty="0"/>
          </a:p>
        </p:txBody>
      </p:sp>
      <p:sp>
        <p:nvSpPr>
          <p:cNvPr id="8" name="Text 6"/>
          <p:cNvSpPr/>
          <p:nvPr/>
        </p:nvSpPr>
        <p:spPr>
          <a:xfrm>
            <a:off x="965200" y="2338090"/>
            <a:ext cx="2563876"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The hierarchy properties attach to</a:t>
            </a:r>
            <a:endParaRPr lang="en-US" sz="1200" dirty="0"/>
          </a:p>
        </p:txBody>
      </p:sp>
      <p:sp>
        <p:nvSpPr>
          <p:cNvPr id="9" name="Shape 7"/>
          <p:cNvSpPr/>
          <p:nvPr/>
        </p:nvSpPr>
        <p:spPr>
          <a:xfrm>
            <a:off x="812800" y="3073400"/>
            <a:ext cx="2794000" cy="990600"/>
          </a:xfrm>
          <a:prstGeom prst="roundRect">
            <a:avLst>
              <a:gd name="adj" fmla="val 8974"/>
            </a:avLst>
          </a:prstGeom>
          <a:solidFill>
            <a:srgbClr val="F2F2F2"/>
          </a:solidFill>
          <a:ln/>
        </p:spPr>
      </p:sp>
      <p:sp>
        <p:nvSpPr>
          <p:cNvPr id="10" name="Text 8"/>
          <p:cNvSpPr/>
          <p:nvPr/>
        </p:nvSpPr>
        <p:spPr>
          <a:xfrm>
            <a:off x="965200" y="3244949"/>
            <a:ext cx="2563876"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3 · Terms</a:t>
            </a:r>
            <a:endParaRPr lang="en-US" sz="1300" dirty="0"/>
          </a:p>
        </p:txBody>
      </p:sp>
      <p:sp>
        <p:nvSpPr>
          <p:cNvPr id="11" name="Text 9"/>
          <p:cNvSpPr/>
          <p:nvPr/>
        </p:nvSpPr>
        <p:spPr>
          <a:xfrm>
            <a:off x="965200" y="3481090"/>
            <a:ext cx="2563876"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Leftover terms that describe objects</a:t>
            </a:r>
            <a:endParaRPr lang="en-US" sz="1200" dirty="0"/>
          </a:p>
        </p:txBody>
      </p:sp>
      <p:sp>
        <p:nvSpPr>
          <p:cNvPr id="12" name="Shape 10"/>
          <p:cNvSpPr/>
          <p:nvPr/>
        </p:nvSpPr>
        <p:spPr>
          <a:xfrm>
            <a:off x="812800" y="4216400"/>
            <a:ext cx="2794000" cy="990600"/>
          </a:xfrm>
          <a:prstGeom prst="roundRect">
            <a:avLst>
              <a:gd name="adj" fmla="val 8974"/>
            </a:avLst>
          </a:prstGeom>
          <a:solidFill>
            <a:srgbClr val="F2F2F2"/>
          </a:solidFill>
          <a:ln/>
        </p:spPr>
      </p:sp>
      <p:sp>
        <p:nvSpPr>
          <p:cNvPr id="13" name="Text 11"/>
          <p:cNvSpPr/>
          <p:nvPr/>
        </p:nvSpPr>
        <p:spPr>
          <a:xfrm>
            <a:off x="965200" y="4387949"/>
            <a:ext cx="2563876"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1 · Scope</a:t>
            </a:r>
            <a:endParaRPr lang="en-US" sz="1300" dirty="0"/>
          </a:p>
        </p:txBody>
      </p:sp>
      <p:sp>
        <p:nvSpPr>
          <p:cNvPr id="14" name="Text 12"/>
          <p:cNvSpPr/>
          <p:nvPr/>
        </p:nvSpPr>
        <p:spPr>
          <a:xfrm>
            <a:off x="965200" y="4624090"/>
            <a:ext cx="2563876"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CQs that classes alone can't answer</a:t>
            </a:r>
            <a:endParaRPr lang="en-US" sz="1200" dirty="0"/>
          </a:p>
        </p:txBody>
      </p:sp>
      <p:sp>
        <p:nvSpPr>
          <p:cNvPr id="15" name="Shape 13"/>
          <p:cNvSpPr/>
          <p:nvPr/>
        </p:nvSpPr>
        <p:spPr>
          <a:xfrm>
            <a:off x="4216400" y="1930400"/>
            <a:ext cx="3759200" cy="3276600"/>
          </a:xfrm>
          <a:prstGeom prst="roundRect">
            <a:avLst>
              <a:gd name="adj" fmla="val 3876"/>
            </a:avLst>
          </a:prstGeom>
          <a:solidFill>
            <a:srgbClr val="220F60"/>
          </a:solidFill>
          <a:ln/>
        </p:spPr>
      </p:sp>
      <p:sp>
        <p:nvSpPr>
          <p:cNvPr id="16" name="Text 14"/>
          <p:cNvSpPr/>
          <p:nvPr/>
        </p:nvSpPr>
        <p:spPr>
          <a:xfrm>
            <a:off x="4470400" y="2184400"/>
            <a:ext cx="334873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FADFF"/>
                </a:solidFill>
                <a:latin typeface="Poppins" pitchFamily="34" charset="0"/>
                <a:ea typeface="Poppins" pitchFamily="34" charset="-122"/>
                <a:cs typeface="Poppins" pitchFamily="34" charset="-120"/>
              </a:rPr>
              <a:t>ACTIVITIES</a:t>
            </a:r>
            <a:endParaRPr lang="en-US" sz="1200" dirty="0"/>
          </a:p>
        </p:txBody>
      </p:sp>
      <p:sp>
        <p:nvSpPr>
          <p:cNvPr id="17" name="Text 15"/>
          <p:cNvSpPr/>
          <p:nvPr/>
        </p:nvSpPr>
        <p:spPr>
          <a:xfrm>
            <a:off x="4470400" y="2499320"/>
            <a:ext cx="3348736"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FFFF"/>
                </a:solidFill>
                <a:latin typeface="Poppins" pitchFamily="34" charset="0"/>
                <a:ea typeface="Poppins" pitchFamily="34" charset="-122"/>
                <a:cs typeface="Poppins" pitchFamily="34" charset="-120"/>
              </a:rPr>
              <a:t>Give classes internal structure</a:t>
            </a:r>
            <a:endParaRPr lang="en-US" sz="1800" dirty="0"/>
          </a:p>
        </p:txBody>
      </p:sp>
      <p:sp>
        <p:nvSpPr>
          <p:cNvPr id="18" name="Text 16"/>
          <p:cNvSpPr/>
          <p:nvPr/>
        </p:nvSpPr>
        <p:spPr>
          <a:xfrm>
            <a:off x="4569206" y="3149402"/>
            <a:ext cx="3242310" cy="1305322"/>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D9D4F2"/>
                </a:solidFill>
                <a:latin typeface="Poppins" pitchFamily="34" charset="0"/>
                <a:ea typeface="Poppins" pitchFamily="34" charset="-122"/>
                <a:cs typeface="Poppins" pitchFamily="34" charset="-120"/>
              </a:rPr>
              <a:t>Type: intrinsic, extrinsic, part, relationship</a:t>
            </a:r>
            <a:endParaRPr lang="en-US" sz="1200" dirty="0"/>
          </a:p>
          <a:p>
            <a:pPr algn="l" marL="155194" indent="-155194">
              <a:lnSpc>
                <a:spcPts val="1680"/>
              </a:lnSpc>
              <a:buSzPct val="100000"/>
              <a:buChar char="•"/>
            </a:pPr>
            <a:r>
              <a:rPr lang="en-US" sz="1200" dirty="0">
                <a:solidFill>
                  <a:srgbClr val="D9D4F2"/>
                </a:solidFill>
                <a:latin typeface="Poppins" pitchFamily="34" charset="0"/>
                <a:ea typeface="Poppins" pitchFamily="34" charset="-122"/>
                <a:cs typeface="Poppins" pitchFamily="34" charset="-120"/>
              </a:rPr>
              <a:t>Attach at the most general class that has it</a:t>
            </a:r>
            <a:endParaRPr lang="en-US" sz="1200" dirty="0"/>
          </a:p>
          <a:p>
            <a:pPr algn="l" marL="155194" indent="-155194">
              <a:lnSpc>
                <a:spcPts val="1680"/>
              </a:lnSpc>
              <a:buSzPct val="100000"/>
              <a:buChar char="•"/>
            </a:pPr>
            <a:r>
              <a:rPr lang="en-US" sz="1200" dirty="0">
                <a:solidFill>
                  <a:srgbClr val="D9D4F2"/>
                </a:solidFill>
                <a:latin typeface="Poppins" pitchFamily="34" charset="0"/>
                <a:ea typeface="Poppins" pitchFamily="34" charset="-122"/>
                <a:cs typeface="Poppins" pitchFamily="34" charset="-120"/>
              </a:rPr>
              <a:t>Subclasses inherit; don't repeat</a:t>
            </a:r>
            <a:endParaRPr lang="en-US" sz="1200" dirty="0"/>
          </a:p>
          <a:p>
            <a:pPr algn="l" marL="155194" indent="-155194">
              <a:lnSpc>
                <a:spcPts val="1680"/>
              </a:lnSpc>
              <a:buSzPct val="100000"/>
              <a:buChar char="•"/>
            </a:pPr>
            <a:r>
              <a:rPr lang="en-US" sz="1200" dirty="0">
                <a:solidFill>
                  <a:srgbClr val="D9D4F2"/>
                </a:solidFill>
                <a:latin typeface="Poppins" pitchFamily="34" charset="0"/>
                <a:ea typeface="Poppins" pitchFamily="34" charset="-122"/>
                <a:cs typeface="Poppins" pitchFamily="34" charset="-120"/>
              </a:rPr>
              <a:t>Pair inverses: maker ↔ produces</a:t>
            </a:r>
            <a:endParaRPr lang="en-US" sz="1200" dirty="0"/>
          </a:p>
        </p:txBody>
      </p:sp>
      <p:sp>
        <p:nvSpPr>
          <p:cNvPr id="19" name="Shape 17"/>
          <p:cNvSpPr/>
          <p:nvPr/>
        </p:nvSpPr>
        <p:spPr>
          <a:xfrm>
            <a:off x="8585200" y="1930400"/>
            <a:ext cx="2794000" cy="990600"/>
          </a:xfrm>
          <a:prstGeom prst="roundRect">
            <a:avLst>
              <a:gd name="adj" fmla="val 8974"/>
            </a:avLst>
          </a:prstGeom>
          <a:solidFill>
            <a:srgbClr val="F2F2F2"/>
          </a:solidFill>
          <a:ln/>
        </p:spPr>
      </p:sp>
      <p:sp>
        <p:nvSpPr>
          <p:cNvPr id="20" name="Text 18"/>
          <p:cNvSpPr/>
          <p:nvPr/>
        </p:nvSpPr>
        <p:spPr>
          <a:xfrm>
            <a:off x="8737600" y="2204740"/>
            <a:ext cx="2563876"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6 · Logical axioms</a:t>
            </a:r>
            <a:endParaRPr lang="en-US" sz="1300" dirty="0"/>
          </a:p>
        </p:txBody>
      </p:sp>
      <p:sp>
        <p:nvSpPr>
          <p:cNvPr id="21" name="Text 19"/>
          <p:cNvSpPr/>
          <p:nvPr/>
        </p:nvSpPr>
        <p:spPr>
          <a:xfrm>
            <a:off x="8737600" y="2440880"/>
            <a:ext cx="2563876"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Properties ready to axiomatize</a:t>
            </a:r>
            <a:endParaRPr lang="en-US" sz="1200" dirty="0"/>
          </a:p>
        </p:txBody>
      </p:sp>
      <p:sp>
        <p:nvSpPr>
          <p:cNvPr id="22" name="Shape 20"/>
          <p:cNvSpPr/>
          <p:nvPr/>
        </p:nvSpPr>
        <p:spPr>
          <a:xfrm>
            <a:off x="8585200" y="3073400"/>
            <a:ext cx="2794000" cy="990600"/>
          </a:xfrm>
          <a:prstGeom prst="roundRect">
            <a:avLst>
              <a:gd name="adj" fmla="val 8974"/>
            </a:avLst>
          </a:prstGeom>
          <a:solidFill>
            <a:srgbClr val="F2F2F2"/>
          </a:solidFill>
          <a:ln/>
        </p:spPr>
      </p:sp>
      <p:sp>
        <p:nvSpPr>
          <p:cNvPr id="23" name="Text 21"/>
          <p:cNvSpPr/>
          <p:nvPr/>
        </p:nvSpPr>
        <p:spPr>
          <a:xfrm>
            <a:off x="8737600" y="3244949"/>
            <a:ext cx="2563876"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7 · Instances</a:t>
            </a:r>
            <a:endParaRPr lang="en-US" sz="1300" dirty="0"/>
          </a:p>
        </p:txBody>
      </p:sp>
      <p:sp>
        <p:nvSpPr>
          <p:cNvPr id="24" name="Text 22"/>
          <p:cNvSpPr/>
          <p:nvPr/>
        </p:nvSpPr>
        <p:spPr>
          <a:xfrm>
            <a:off x="8737600" y="3481090"/>
            <a:ext cx="2563876"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The properties each individual fills in</a:t>
            </a:r>
            <a:endParaRPr lang="en-US" sz="1200" dirty="0"/>
          </a:p>
        </p:txBody>
      </p:sp>
      <p:sp>
        <p:nvSpPr>
          <p:cNvPr id="25" name="Shape 23"/>
          <p:cNvSpPr/>
          <p:nvPr/>
        </p:nvSpPr>
        <p:spPr>
          <a:xfrm>
            <a:off x="8591550" y="4222750"/>
            <a:ext cx="2781300" cy="977900"/>
          </a:xfrm>
          <a:prstGeom prst="roundRect">
            <a:avLst>
              <a:gd name="adj" fmla="val 8442"/>
            </a:avLst>
          </a:prstGeom>
          <a:solidFill>
            <a:srgbClr val="FCEAF2"/>
          </a:solidFill>
          <a:ln w="12700">
            <a:solidFill>
              <a:srgbClr val="DF367C"/>
            </a:solidFill>
            <a:prstDash val="solid"/>
          </a:ln>
        </p:spPr>
      </p:sp>
      <p:sp>
        <p:nvSpPr>
          <p:cNvPr id="26" name="Text 24"/>
          <p:cNvSpPr/>
          <p:nvPr/>
        </p:nvSpPr>
        <p:spPr>
          <a:xfrm>
            <a:off x="8750300" y="4387949"/>
            <a:ext cx="2537714"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 4 · Classes</a:t>
            </a:r>
            <a:endParaRPr lang="en-US" sz="1300" dirty="0"/>
          </a:p>
        </p:txBody>
      </p:sp>
      <p:sp>
        <p:nvSpPr>
          <p:cNvPr id="27" name="Text 25"/>
          <p:cNvSpPr/>
          <p:nvPr/>
        </p:nvSpPr>
        <p:spPr>
          <a:xfrm>
            <a:off x="8750300" y="4624090"/>
            <a:ext cx="2537714"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New properties can justify a subclass</a:t>
            </a:r>
            <a:endParaRPr lang="en-US" sz="1200" dirty="0"/>
          </a:p>
        </p:txBody>
      </p:sp>
      <p:pic>
        <p:nvPicPr>
          <p:cNvPr id="28" name="Image 0" descr="connector">    </p:cNvPr>
          <p:cNvPicPr>
            <a:picLocks noChangeAspect="1"/>
          </p:cNvPicPr>
          <p:nvPr/>
        </p:nvPicPr>
        <p:blipFill>
          <a:blip r:embed="rId1"/>
          <a:srcRect l="0" r="0" t="0" b="0"/>
          <a:stretch/>
        </p:blipFill>
        <p:spPr>
          <a:xfrm>
            <a:off x="3556000" y="2374900"/>
            <a:ext cx="711200" cy="101600"/>
          </a:xfrm>
          <a:prstGeom prst="rect">
            <a:avLst/>
          </a:prstGeom>
        </p:spPr>
      </p:pic>
      <p:pic>
        <p:nvPicPr>
          <p:cNvPr id="29" name="Image 1" descr="connector">    </p:cNvPr>
          <p:cNvPicPr>
            <a:picLocks noChangeAspect="1"/>
          </p:cNvPicPr>
          <p:nvPr/>
        </p:nvPicPr>
        <p:blipFill>
          <a:blip r:embed="rId2"/>
          <a:srcRect l="0" r="0" t="0" b="0"/>
          <a:stretch/>
        </p:blipFill>
        <p:spPr>
          <a:xfrm>
            <a:off x="3556000" y="3517900"/>
            <a:ext cx="711200" cy="101600"/>
          </a:xfrm>
          <a:prstGeom prst="rect">
            <a:avLst/>
          </a:prstGeom>
        </p:spPr>
      </p:pic>
      <p:pic>
        <p:nvPicPr>
          <p:cNvPr id="30" name="Image 2" descr="connector">    </p:cNvPr>
          <p:cNvPicPr>
            <a:picLocks noChangeAspect="1"/>
          </p:cNvPicPr>
          <p:nvPr/>
        </p:nvPicPr>
        <p:blipFill>
          <a:blip r:embed="rId3"/>
          <a:srcRect l="0" r="0" t="0" b="0"/>
          <a:stretch/>
        </p:blipFill>
        <p:spPr>
          <a:xfrm>
            <a:off x="3556000" y="4660900"/>
            <a:ext cx="711200" cy="101600"/>
          </a:xfrm>
          <a:prstGeom prst="rect">
            <a:avLst/>
          </a:prstGeom>
        </p:spPr>
      </p:pic>
      <p:pic>
        <p:nvPicPr>
          <p:cNvPr id="31" name="Image 3" descr="connector">    </p:cNvPr>
          <p:cNvPicPr>
            <a:picLocks noChangeAspect="1"/>
          </p:cNvPicPr>
          <p:nvPr/>
        </p:nvPicPr>
        <p:blipFill>
          <a:blip r:embed="rId4"/>
          <a:srcRect l="0" r="0" t="0" b="0"/>
          <a:stretch/>
        </p:blipFill>
        <p:spPr>
          <a:xfrm>
            <a:off x="7924800" y="2374900"/>
            <a:ext cx="711200" cy="101600"/>
          </a:xfrm>
          <a:prstGeom prst="rect">
            <a:avLst/>
          </a:prstGeom>
        </p:spPr>
      </p:pic>
      <p:pic>
        <p:nvPicPr>
          <p:cNvPr id="32" name="Image 4" descr="connector">    </p:cNvPr>
          <p:cNvPicPr>
            <a:picLocks noChangeAspect="1"/>
          </p:cNvPicPr>
          <p:nvPr/>
        </p:nvPicPr>
        <p:blipFill>
          <a:blip r:embed="rId5"/>
          <a:srcRect l="0" r="0" t="0" b="0"/>
          <a:stretch/>
        </p:blipFill>
        <p:spPr>
          <a:xfrm>
            <a:off x="7924800" y="3517900"/>
            <a:ext cx="711200" cy="101600"/>
          </a:xfrm>
          <a:prstGeom prst="rect">
            <a:avLst/>
          </a:prstGeom>
        </p:spPr>
      </p:pic>
      <p:pic>
        <p:nvPicPr>
          <p:cNvPr id="33" name="Image 5" descr="connector">    </p:cNvPr>
          <p:cNvPicPr>
            <a:picLocks noChangeAspect="1"/>
          </p:cNvPicPr>
          <p:nvPr/>
        </p:nvPicPr>
        <p:blipFill>
          <a:blip r:embed="rId6"/>
          <a:srcRect l="0" r="0" t="0" b="0"/>
          <a:stretch/>
        </p:blipFill>
        <p:spPr>
          <a:xfrm>
            <a:off x="7924800" y="4660900"/>
            <a:ext cx="711200" cy="101600"/>
          </a:xfrm>
          <a:prstGeom prst="rect">
            <a:avLst/>
          </a:prstGeom>
        </p:spPr>
      </p:pic>
      <p:sp>
        <p:nvSpPr>
          <p:cNvPr id="34" name="Text 26"/>
          <p:cNvSpPr/>
          <p:nvPr/>
        </p:nvSpPr>
        <p:spPr>
          <a:xfrm>
            <a:off x="812800" y="5410200"/>
            <a:ext cx="10566400" cy="383480"/>
          </a:xfrm>
          <a:prstGeom prst="roundRect">
            <a:avLst>
              <a:gd name="adj" fmla="val 19871"/>
            </a:avLst>
          </a:prstGeom>
          <a:solidFill>
            <a:srgbClr val="FCEAF2"/>
          </a:solidFill>
          <a:ln/>
        </p:spPr>
        <p:txBody>
          <a:bodyPr wrap="square" lIns="130082" tIns="66582" rIns="0" bIns="41182" rtlCol="0" anchor="t">
            <a:normAutofit/>
          </a:bodyPr>
          <a:lstStyle/>
          <a:p>
            <a:pPr algn="l" indent="0" marL="0">
              <a:lnSpc>
                <a:spcPts val="1620"/>
              </a:lnSpc>
              <a:buNone/>
            </a:pPr>
            <a:r>
              <a:rPr lang="en-US" sz="1200" b="1" dirty="0">
                <a:solidFill>
                  <a:srgbClr val="A8215A"/>
                </a:solidFill>
                <a:latin typeface="Poppins" pitchFamily="34" charset="0"/>
                <a:ea typeface="Poppins" pitchFamily="34" charset="-122"/>
                <a:cs typeface="Poppins" pitchFamily="34" charset="-120"/>
              </a:rPr>
              <a:t>Loop:</a:t>
            </a:r>
            <a:r>
              <a:rPr lang="en-US" sz="1200" dirty="0">
                <a:solidFill>
                  <a:srgbClr val="15103A"/>
                </a:solidFill>
                <a:latin typeface="Poppins" pitchFamily="34" charset="0"/>
                <a:ea typeface="Poppins" pitchFamily="34" charset="-122"/>
                <a:cs typeface="Poppins" pitchFamily="34" charset="-120"/>
              </a:rPr>
              <a:t> 4 and 5 can't run one after the other; moving a property's attachment reshapes the tree.</a:t>
            </a:r>
            <a:endParaRPr lang="en-US" sz="1200" dirty="0"/>
          </a:p>
        </p:txBody>
      </p:sp>
      <p:pic>
        <p:nvPicPr>
          <p:cNvPr id="35" name="Image 6" descr="Graphwise symbol">    </p:cNvPr>
          <p:cNvPicPr>
            <a:picLocks noChangeAspect="1"/>
          </p:cNvPicPr>
          <p:nvPr/>
        </p:nvPicPr>
        <p:blipFill>
          <a:blip r:embed="rId7"/>
          <a:srcRect l="-182" r="-182" t="0" b="0"/>
          <a:stretch/>
        </p:blipFill>
        <p:spPr>
          <a:xfrm>
            <a:off x="812800" y="6261100"/>
            <a:ext cx="203200" cy="209550"/>
          </a:xfrm>
          <a:prstGeom prst="rect">
            <a:avLst/>
          </a:prstGeom>
        </p:spPr>
      </p:pic>
      <p:sp>
        <p:nvSpPr>
          <p:cNvPr id="36" name="Text 27"/>
          <p:cNvSpPr/>
          <p:nvPr/>
        </p:nvSpPr>
        <p:spPr>
          <a:xfrm>
            <a:off x="1117600" y="62484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5C7F"/>
                </a:solidFill>
                <a:latin typeface="Poppins" pitchFamily="34" charset="0"/>
                <a:ea typeface="Poppins" pitchFamily="34" charset="-122"/>
                <a:cs typeface="Poppins" pitchFamily="34" charset="-120"/>
              </a:rPr>
              <a:t>Ontology Development 101 · Process &amp; dependencies</a:t>
            </a:r>
            <a:endParaRPr lang="en-US" sz="1200" dirty="0"/>
          </a:p>
        </p:txBody>
      </p:sp>
      <p:sp>
        <p:nvSpPr>
          <p:cNvPr id="37" name="Text 28"/>
          <p:cNvSpPr/>
          <p:nvPr/>
        </p:nvSpPr>
        <p:spPr>
          <a:xfrm>
            <a:off x="10058400" y="624840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B5C7F"/>
                </a:solidFill>
                <a:latin typeface="Poppins" pitchFamily="34" charset="0"/>
                <a:ea typeface="Poppins" pitchFamily="34" charset="-122"/>
                <a:cs typeface="Poppi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4064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1FFF"/>
                </a:solidFill>
                <a:latin typeface="Poppins" pitchFamily="34" charset="0"/>
                <a:ea typeface="Poppins" pitchFamily="34" charset="-122"/>
                <a:cs typeface="Poppins" pitchFamily="34" charset="-120"/>
              </a:rPr>
              <a:t>PHASE 6 · MODEL (INTERTWINED CORE)</a:t>
            </a:r>
            <a:endParaRPr lang="en-US" sz="1200" dirty="0"/>
          </a:p>
        </p:txBody>
      </p:sp>
      <p:sp>
        <p:nvSpPr>
          <p:cNvPr id="3" name="Text 1"/>
          <p:cNvSpPr/>
          <p:nvPr>
            <p:ph type="title"/>
          </p:nvPr>
        </p:nvSpPr>
        <p:spPr>
          <a:xfrm>
            <a:off x="812800" y="66040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220F60"/>
                </a:solidFill>
                <a:latin typeface="Poppins" pitchFamily="34" charset="0"/>
                <a:ea typeface="Poppins" pitchFamily="34" charset="-122"/>
                <a:cs typeface="Poppins" pitchFamily="34" charset="-120"/>
              </a:rPr>
              <a:t>Define the logical axioms</a:t>
            </a:r>
            <a:endParaRPr lang="en-US" sz="3000" dirty="0"/>
          </a:p>
        </p:txBody>
      </p:sp>
      <p:sp>
        <p:nvSpPr>
          <p:cNvPr id="4" name="Text 2"/>
          <p:cNvSpPr/>
          <p:nvPr/>
        </p:nvSpPr>
        <p:spPr>
          <a:xfrm>
            <a:off x="812800" y="1600200"/>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B5C7F"/>
                </a:solidFill>
                <a:latin typeface="Poppins" pitchFamily="34" charset="0"/>
                <a:ea typeface="Poppins" pitchFamily="34" charset="-122"/>
                <a:cs typeface="Poppins" pitchFamily="34" charset="-120"/>
              </a:rPr>
              <a:t>INPUTS</a:t>
            </a:r>
            <a:endParaRPr lang="en-US" sz="1200" dirty="0"/>
          </a:p>
        </p:txBody>
      </p:sp>
      <p:sp>
        <p:nvSpPr>
          <p:cNvPr id="5" name="Text 3"/>
          <p:cNvSpPr/>
          <p:nvPr/>
        </p:nvSpPr>
        <p:spPr>
          <a:xfrm>
            <a:off x="8585200" y="1600200"/>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B5C7F"/>
                </a:solidFill>
                <a:latin typeface="Poppins" pitchFamily="34" charset="0"/>
                <a:ea typeface="Poppins" pitchFamily="34" charset="-122"/>
                <a:cs typeface="Poppins" pitchFamily="34" charset="-120"/>
              </a:rPr>
              <a:t>OUTPUTS</a:t>
            </a:r>
            <a:endParaRPr lang="en-US" sz="1200" dirty="0"/>
          </a:p>
        </p:txBody>
      </p:sp>
      <p:sp>
        <p:nvSpPr>
          <p:cNvPr id="6" name="Shape 4"/>
          <p:cNvSpPr/>
          <p:nvPr/>
        </p:nvSpPr>
        <p:spPr>
          <a:xfrm>
            <a:off x="812800" y="1930400"/>
            <a:ext cx="2794000" cy="990600"/>
          </a:xfrm>
          <a:prstGeom prst="roundRect">
            <a:avLst>
              <a:gd name="adj" fmla="val 8974"/>
            </a:avLst>
          </a:prstGeom>
          <a:solidFill>
            <a:srgbClr val="F2F2F2"/>
          </a:solidFill>
          <a:ln/>
        </p:spPr>
      </p:sp>
      <p:sp>
        <p:nvSpPr>
          <p:cNvPr id="7" name="Text 5"/>
          <p:cNvSpPr/>
          <p:nvPr/>
        </p:nvSpPr>
        <p:spPr>
          <a:xfrm>
            <a:off x="965200" y="2101949"/>
            <a:ext cx="2563876"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5 · Properties</a:t>
            </a:r>
            <a:endParaRPr lang="en-US" sz="1300" dirty="0"/>
          </a:p>
        </p:txBody>
      </p:sp>
      <p:sp>
        <p:nvSpPr>
          <p:cNvPr id="8" name="Text 6"/>
          <p:cNvSpPr/>
          <p:nvPr/>
        </p:nvSpPr>
        <p:spPr>
          <a:xfrm>
            <a:off x="965200" y="2338090"/>
            <a:ext cx="2563876"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Properties and where they attach</a:t>
            </a:r>
            <a:endParaRPr lang="en-US" sz="1200" dirty="0"/>
          </a:p>
        </p:txBody>
      </p:sp>
      <p:sp>
        <p:nvSpPr>
          <p:cNvPr id="9" name="Shape 7"/>
          <p:cNvSpPr/>
          <p:nvPr/>
        </p:nvSpPr>
        <p:spPr>
          <a:xfrm>
            <a:off x="812800" y="3073400"/>
            <a:ext cx="2794000" cy="990600"/>
          </a:xfrm>
          <a:prstGeom prst="roundRect">
            <a:avLst>
              <a:gd name="adj" fmla="val 8974"/>
            </a:avLst>
          </a:prstGeom>
          <a:solidFill>
            <a:srgbClr val="F2F2F2"/>
          </a:solidFill>
          <a:ln/>
        </p:spPr>
      </p:sp>
      <p:sp>
        <p:nvSpPr>
          <p:cNvPr id="10" name="Text 8"/>
          <p:cNvSpPr/>
          <p:nvPr/>
        </p:nvSpPr>
        <p:spPr>
          <a:xfrm>
            <a:off x="965200" y="3347740"/>
            <a:ext cx="2563876"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4 · Classes</a:t>
            </a:r>
            <a:endParaRPr lang="en-US" sz="1300" dirty="0"/>
          </a:p>
        </p:txBody>
      </p:sp>
      <p:sp>
        <p:nvSpPr>
          <p:cNvPr id="11" name="Text 9"/>
          <p:cNvSpPr/>
          <p:nvPr/>
        </p:nvSpPr>
        <p:spPr>
          <a:xfrm>
            <a:off x="965200" y="3583880"/>
            <a:ext cx="25908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Candidate domains and ranges</a:t>
            </a:r>
            <a:endParaRPr lang="en-US" sz="1200" dirty="0"/>
          </a:p>
        </p:txBody>
      </p:sp>
      <p:sp>
        <p:nvSpPr>
          <p:cNvPr id="12" name="Shape 10"/>
          <p:cNvSpPr/>
          <p:nvPr/>
        </p:nvSpPr>
        <p:spPr>
          <a:xfrm>
            <a:off x="812800" y="4216400"/>
            <a:ext cx="2794000" cy="990600"/>
          </a:xfrm>
          <a:prstGeom prst="roundRect">
            <a:avLst>
              <a:gd name="adj" fmla="val 8974"/>
            </a:avLst>
          </a:prstGeom>
          <a:solidFill>
            <a:srgbClr val="F2F2F2"/>
          </a:solidFill>
          <a:ln/>
        </p:spPr>
      </p:sp>
      <p:sp>
        <p:nvSpPr>
          <p:cNvPr id="13" name="Text 11"/>
          <p:cNvSpPr/>
          <p:nvPr/>
        </p:nvSpPr>
        <p:spPr>
          <a:xfrm>
            <a:off x="965200" y="4387949"/>
            <a:ext cx="2563876"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1 · Scope</a:t>
            </a:r>
            <a:endParaRPr lang="en-US" sz="1300" dirty="0"/>
          </a:p>
        </p:txBody>
      </p:sp>
      <p:sp>
        <p:nvSpPr>
          <p:cNvPr id="14" name="Text 12"/>
          <p:cNvSpPr/>
          <p:nvPr/>
        </p:nvSpPr>
        <p:spPr>
          <a:xfrm>
            <a:off x="965200" y="4624090"/>
            <a:ext cx="2563876"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Level of detail the use case needs</a:t>
            </a:r>
            <a:endParaRPr lang="en-US" sz="1200" dirty="0"/>
          </a:p>
        </p:txBody>
      </p:sp>
      <p:sp>
        <p:nvSpPr>
          <p:cNvPr id="15" name="Shape 13"/>
          <p:cNvSpPr/>
          <p:nvPr/>
        </p:nvSpPr>
        <p:spPr>
          <a:xfrm>
            <a:off x="4216400" y="1930400"/>
            <a:ext cx="3759200" cy="3276600"/>
          </a:xfrm>
          <a:prstGeom prst="roundRect">
            <a:avLst>
              <a:gd name="adj" fmla="val 3876"/>
            </a:avLst>
          </a:prstGeom>
          <a:solidFill>
            <a:srgbClr val="220F60"/>
          </a:solidFill>
          <a:ln/>
        </p:spPr>
      </p:sp>
      <p:sp>
        <p:nvSpPr>
          <p:cNvPr id="16" name="Text 14"/>
          <p:cNvSpPr/>
          <p:nvPr/>
        </p:nvSpPr>
        <p:spPr>
          <a:xfrm>
            <a:off x="4470400" y="2184400"/>
            <a:ext cx="334873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FADFF"/>
                </a:solidFill>
                <a:latin typeface="Poppins" pitchFamily="34" charset="0"/>
                <a:ea typeface="Poppins" pitchFamily="34" charset="-122"/>
                <a:cs typeface="Poppins" pitchFamily="34" charset="-120"/>
              </a:rPr>
              <a:t>ACTIVITIES</a:t>
            </a:r>
            <a:endParaRPr lang="en-US" sz="1200" dirty="0"/>
          </a:p>
        </p:txBody>
      </p:sp>
      <p:sp>
        <p:nvSpPr>
          <p:cNvPr id="17" name="Text 15"/>
          <p:cNvSpPr/>
          <p:nvPr/>
        </p:nvSpPr>
        <p:spPr>
          <a:xfrm>
            <a:off x="4470400" y="2499320"/>
            <a:ext cx="334873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FFFF"/>
                </a:solidFill>
                <a:latin typeface="Poppins" pitchFamily="34" charset="0"/>
                <a:ea typeface="Poppins" pitchFamily="34" charset="-122"/>
                <a:cs typeface="Poppins" pitchFamily="34" charset="-120"/>
              </a:rPr>
              <a:t>Axiomatize every property</a:t>
            </a:r>
            <a:endParaRPr lang="en-US" sz="1800" dirty="0"/>
          </a:p>
        </p:txBody>
      </p:sp>
      <p:sp>
        <p:nvSpPr>
          <p:cNvPr id="18" name="Text 16"/>
          <p:cNvSpPr/>
          <p:nvPr/>
        </p:nvSpPr>
        <p:spPr>
          <a:xfrm>
            <a:off x="4569206" y="2875161"/>
            <a:ext cx="3242310" cy="1518642"/>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D9D4F2"/>
                </a:solidFill>
                <a:latin typeface="Poppins" pitchFamily="34" charset="0"/>
                <a:ea typeface="Poppins" pitchFamily="34" charset="-122"/>
                <a:cs typeface="Poppins" pitchFamily="34" charset="-120"/>
              </a:rPr>
              <a:t>Cardinality: single or multiple, min and max</a:t>
            </a:r>
            <a:endParaRPr lang="en-US" sz="1200" dirty="0"/>
          </a:p>
          <a:p>
            <a:pPr algn="l" marL="155194" indent="-155194">
              <a:lnSpc>
                <a:spcPts val="1680"/>
              </a:lnSpc>
              <a:buSzPct val="100000"/>
              <a:buChar char="•"/>
            </a:pPr>
            <a:r>
              <a:rPr lang="en-US" sz="1200" dirty="0">
                <a:solidFill>
                  <a:srgbClr val="D9D4F2"/>
                </a:solidFill>
                <a:latin typeface="Poppins" pitchFamily="34" charset="0"/>
                <a:ea typeface="Poppins" pitchFamily="34" charset="-122"/>
                <a:cs typeface="Poppins" pitchFamily="34" charset="-120"/>
              </a:rPr>
              <a:t>Value type: String, Number, Boolean, Enum, Instance</a:t>
            </a:r>
            <a:endParaRPr lang="en-US" sz="1200" dirty="0"/>
          </a:p>
          <a:p>
            <a:pPr algn="l" marL="155194" indent="-155194">
              <a:lnSpc>
                <a:spcPts val="1680"/>
              </a:lnSpc>
              <a:buSzPct val="100000"/>
              <a:buChar char="•"/>
            </a:pPr>
            <a:r>
              <a:rPr lang="en-US" sz="1200" dirty="0">
                <a:solidFill>
                  <a:srgbClr val="D9D4F2"/>
                </a:solidFill>
                <a:latin typeface="Poppins" pitchFamily="34" charset="0"/>
                <a:ea typeface="Poppins" pitchFamily="34" charset="-122"/>
                <a:cs typeface="Poppins" pitchFamily="34" charset="-120"/>
              </a:rPr>
              <a:t>Domain and range: most general, never THING</a:t>
            </a:r>
            <a:endParaRPr lang="en-US" sz="1200" dirty="0"/>
          </a:p>
          <a:p>
            <a:pPr algn="l" marL="155194" indent="-155194">
              <a:lnSpc>
                <a:spcPts val="1680"/>
              </a:lnSpc>
              <a:buSzPct val="100000"/>
              <a:buChar char="•"/>
            </a:pPr>
            <a:r>
              <a:rPr lang="en-US" sz="1200" dirty="0">
                <a:solidFill>
                  <a:srgbClr val="D9D4F2"/>
                </a:solidFill>
                <a:latin typeface="Poppins" pitchFamily="34" charset="0"/>
                <a:ea typeface="Poppins" pitchFamily="34" charset="-122"/>
                <a:cs typeface="Poppins" pitchFamily="34" charset="-120"/>
              </a:rPr>
              <a:t>Default values vs fixed property values</a:t>
            </a:r>
            <a:endParaRPr lang="en-US" sz="1200" dirty="0"/>
          </a:p>
        </p:txBody>
      </p:sp>
      <p:sp>
        <p:nvSpPr>
          <p:cNvPr id="19" name="Shape 17"/>
          <p:cNvSpPr/>
          <p:nvPr/>
        </p:nvSpPr>
        <p:spPr>
          <a:xfrm>
            <a:off x="8585200" y="1930400"/>
            <a:ext cx="2794000" cy="990600"/>
          </a:xfrm>
          <a:prstGeom prst="roundRect">
            <a:avLst>
              <a:gd name="adj" fmla="val 8974"/>
            </a:avLst>
          </a:prstGeom>
          <a:solidFill>
            <a:srgbClr val="F2F2F2"/>
          </a:solidFill>
          <a:ln/>
        </p:spPr>
      </p:sp>
      <p:sp>
        <p:nvSpPr>
          <p:cNvPr id="20" name="Text 18"/>
          <p:cNvSpPr/>
          <p:nvPr/>
        </p:nvSpPr>
        <p:spPr>
          <a:xfrm>
            <a:off x="8737600" y="2204740"/>
            <a:ext cx="2563876"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7 · Instances</a:t>
            </a:r>
            <a:endParaRPr lang="en-US" sz="1300" dirty="0"/>
          </a:p>
        </p:txBody>
      </p:sp>
      <p:sp>
        <p:nvSpPr>
          <p:cNvPr id="21" name="Text 19"/>
          <p:cNvSpPr/>
          <p:nvPr/>
        </p:nvSpPr>
        <p:spPr>
          <a:xfrm>
            <a:off x="8737600" y="2440880"/>
            <a:ext cx="26416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A fully axiomatized schema to fill</a:t>
            </a:r>
            <a:endParaRPr lang="en-US" sz="1200" dirty="0"/>
          </a:p>
        </p:txBody>
      </p:sp>
      <p:sp>
        <p:nvSpPr>
          <p:cNvPr id="22" name="Shape 20"/>
          <p:cNvSpPr/>
          <p:nvPr/>
        </p:nvSpPr>
        <p:spPr>
          <a:xfrm>
            <a:off x="8585200" y="3073400"/>
            <a:ext cx="2794000" cy="990600"/>
          </a:xfrm>
          <a:prstGeom prst="roundRect">
            <a:avLst>
              <a:gd name="adj" fmla="val 8974"/>
            </a:avLst>
          </a:prstGeom>
          <a:solidFill>
            <a:srgbClr val="F2F2F2"/>
          </a:solidFill>
          <a:ln/>
        </p:spPr>
      </p:sp>
      <p:sp>
        <p:nvSpPr>
          <p:cNvPr id="23" name="Text 21"/>
          <p:cNvSpPr/>
          <p:nvPr/>
        </p:nvSpPr>
        <p:spPr>
          <a:xfrm>
            <a:off x="8737600" y="3244949"/>
            <a:ext cx="2563876"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8 · Evaluate</a:t>
            </a:r>
            <a:endParaRPr lang="en-US" sz="1300" dirty="0"/>
          </a:p>
        </p:txBody>
      </p:sp>
      <p:sp>
        <p:nvSpPr>
          <p:cNvPr id="24" name="Text 22"/>
          <p:cNvSpPr/>
          <p:nvPr/>
        </p:nvSpPr>
        <p:spPr>
          <a:xfrm>
            <a:off x="8737600" y="3481090"/>
            <a:ext cx="2563876"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Axioms to infer from and validate</a:t>
            </a:r>
            <a:endParaRPr lang="en-US" sz="1200" dirty="0"/>
          </a:p>
        </p:txBody>
      </p:sp>
      <p:sp>
        <p:nvSpPr>
          <p:cNvPr id="25" name="Shape 23"/>
          <p:cNvSpPr/>
          <p:nvPr/>
        </p:nvSpPr>
        <p:spPr>
          <a:xfrm>
            <a:off x="8591550" y="4222750"/>
            <a:ext cx="2781300" cy="977900"/>
          </a:xfrm>
          <a:prstGeom prst="roundRect">
            <a:avLst>
              <a:gd name="adj" fmla="val 8442"/>
            </a:avLst>
          </a:prstGeom>
          <a:solidFill>
            <a:srgbClr val="FCEAF2"/>
          </a:solidFill>
          <a:ln w="12700">
            <a:solidFill>
              <a:srgbClr val="DF367C"/>
            </a:solidFill>
            <a:prstDash val="solid"/>
          </a:ln>
        </p:spPr>
      </p:sp>
      <p:sp>
        <p:nvSpPr>
          <p:cNvPr id="26" name="Text 24"/>
          <p:cNvSpPr/>
          <p:nvPr/>
        </p:nvSpPr>
        <p:spPr>
          <a:xfrm>
            <a:off x="8750300" y="4490740"/>
            <a:ext cx="2537714"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 4 · Classes</a:t>
            </a:r>
            <a:endParaRPr lang="en-US" sz="1300" dirty="0"/>
          </a:p>
        </p:txBody>
      </p:sp>
      <p:sp>
        <p:nvSpPr>
          <p:cNvPr id="27" name="Text 25"/>
          <p:cNvSpPr/>
          <p:nvPr/>
        </p:nvSpPr>
        <p:spPr>
          <a:xfrm>
            <a:off x="8750300" y="4726880"/>
            <a:ext cx="2537714"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New axioms justify subclasses</a:t>
            </a:r>
            <a:endParaRPr lang="en-US" sz="1200" dirty="0"/>
          </a:p>
        </p:txBody>
      </p:sp>
      <p:pic>
        <p:nvPicPr>
          <p:cNvPr id="28" name="Image 0" descr="connector">    </p:cNvPr>
          <p:cNvPicPr>
            <a:picLocks noChangeAspect="1"/>
          </p:cNvPicPr>
          <p:nvPr/>
        </p:nvPicPr>
        <p:blipFill>
          <a:blip r:embed="rId1"/>
          <a:srcRect l="0" r="0" t="0" b="0"/>
          <a:stretch/>
        </p:blipFill>
        <p:spPr>
          <a:xfrm>
            <a:off x="3556000" y="2374900"/>
            <a:ext cx="711200" cy="101600"/>
          </a:xfrm>
          <a:prstGeom prst="rect">
            <a:avLst/>
          </a:prstGeom>
        </p:spPr>
      </p:pic>
      <p:pic>
        <p:nvPicPr>
          <p:cNvPr id="29" name="Image 1" descr="connector">    </p:cNvPr>
          <p:cNvPicPr>
            <a:picLocks noChangeAspect="1"/>
          </p:cNvPicPr>
          <p:nvPr/>
        </p:nvPicPr>
        <p:blipFill>
          <a:blip r:embed="rId2"/>
          <a:srcRect l="0" r="0" t="0" b="0"/>
          <a:stretch/>
        </p:blipFill>
        <p:spPr>
          <a:xfrm>
            <a:off x="3556000" y="3517900"/>
            <a:ext cx="711200" cy="101600"/>
          </a:xfrm>
          <a:prstGeom prst="rect">
            <a:avLst/>
          </a:prstGeom>
        </p:spPr>
      </p:pic>
      <p:pic>
        <p:nvPicPr>
          <p:cNvPr id="30" name="Image 2" descr="connector">    </p:cNvPr>
          <p:cNvPicPr>
            <a:picLocks noChangeAspect="1"/>
          </p:cNvPicPr>
          <p:nvPr/>
        </p:nvPicPr>
        <p:blipFill>
          <a:blip r:embed="rId3"/>
          <a:srcRect l="0" r="0" t="0" b="0"/>
          <a:stretch/>
        </p:blipFill>
        <p:spPr>
          <a:xfrm>
            <a:off x="3556000" y="4660900"/>
            <a:ext cx="711200" cy="101600"/>
          </a:xfrm>
          <a:prstGeom prst="rect">
            <a:avLst/>
          </a:prstGeom>
        </p:spPr>
      </p:pic>
      <p:pic>
        <p:nvPicPr>
          <p:cNvPr id="31" name="Image 3" descr="connector">    </p:cNvPr>
          <p:cNvPicPr>
            <a:picLocks noChangeAspect="1"/>
          </p:cNvPicPr>
          <p:nvPr/>
        </p:nvPicPr>
        <p:blipFill>
          <a:blip r:embed="rId4"/>
          <a:srcRect l="0" r="0" t="0" b="0"/>
          <a:stretch/>
        </p:blipFill>
        <p:spPr>
          <a:xfrm>
            <a:off x="7924800" y="2374900"/>
            <a:ext cx="711200" cy="101600"/>
          </a:xfrm>
          <a:prstGeom prst="rect">
            <a:avLst/>
          </a:prstGeom>
        </p:spPr>
      </p:pic>
      <p:pic>
        <p:nvPicPr>
          <p:cNvPr id="32" name="Image 4" descr="connector">    </p:cNvPr>
          <p:cNvPicPr>
            <a:picLocks noChangeAspect="1"/>
          </p:cNvPicPr>
          <p:nvPr/>
        </p:nvPicPr>
        <p:blipFill>
          <a:blip r:embed="rId5"/>
          <a:srcRect l="0" r="0" t="0" b="0"/>
          <a:stretch/>
        </p:blipFill>
        <p:spPr>
          <a:xfrm>
            <a:off x="7924800" y="3517900"/>
            <a:ext cx="711200" cy="101600"/>
          </a:xfrm>
          <a:prstGeom prst="rect">
            <a:avLst/>
          </a:prstGeom>
        </p:spPr>
      </p:pic>
      <p:pic>
        <p:nvPicPr>
          <p:cNvPr id="33" name="Image 5" descr="connector">    </p:cNvPr>
          <p:cNvPicPr>
            <a:picLocks noChangeAspect="1"/>
          </p:cNvPicPr>
          <p:nvPr/>
        </p:nvPicPr>
        <p:blipFill>
          <a:blip r:embed="rId6"/>
          <a:srcRect l="0" r="0" t="0" b="0"/>
          <a:stretch/>
        </p:blipFill>
        <p:spPr>
          <a:xfrm>
            <a:off x="7924800" y="4660900"/>
            <a:ext cx="711200" cy="101600"/>
          </a:xfrm>
          <a:prstGeom prst="rect">
            <a:avLst/>
          </a:prstGeom>
        </p:spPr>
      </p:pic>
      <p:sp>
        <p:nvSpPr>
          <p:cNvPr id="34" name="Text 26"/>
          <p:cNvSpPr/>
          <p:nvPr/>
        </p:nvSpPr>
        <p:spPr>
          <a:xfrm>
            <a:off x="812800" y="5410200"/>
            <a:ext cx="10566400" cy="383480"/>
          </a:xfrm>
          <a:prstGeom prst="roundRect">
            <a:avLst>
              <a:gd name="adj" fmla="val 19871"/>
            </a:avLst>
          </a:prstGeom>
          <a:solidFill>
            <a:srgbClr val="FCEAF2"/>
          </a:solidFill>
          <a:ln/>
        </p:spPr>
        <p:txBody>
          <a:bodyPr wrap="square" lIns="130082" tIns="66582" rIns="0" bIns="41182" rtlCol="0" anchor="t">
            <a:normAutofit/>
          </a:bodyPr>
          <a:lstStyle/>
          <a:p>
            <a:pPr algn="l" indent="0" marL="0">
              <a:lnSpc>
                <a:spcPts val="1620"/>
              </a:lnSpc>
              <a:buNone/>
            </a:pPr>
            <a:r>
              <a:rPr lang="en-US" sz="1200" b="1" dirty="0">
                <a:solidFill>
                  <a:srgbClr val="A8215A"/>
                </a:solidFill>
                <a:latin typeface="Poppins" pitchFamily="34" charset="0"/>
                <a:ea typeface="Poppins" pitchFamily="34" charset="-122"/>
                <a:cs typeface="Poppins" pitchFamily="34" charset="-120"/>
              </a:rPr>
              <a:t>Loop:</a:t>
            </a:r>
            <a:r>
              <a:rPr lang="en-US" sz="1200" dirty="0">
                <a:solidFill>
                  <a:srgbClr val="15103A"/>
                </a:solidFill>
                <a:latin typeface="Poppins" pitchFamily="34" charset="0"/>
                <a:ea typeface="Poppins" pitchFamily="34" charset="-122"/>
                <a:cs typeface="Poppins" pitchFamily="34" charset="-120"/>
              </a:rPr>
              <a:t> a value that restricts properties of other classes should become a class itself (6 → 4).</a:t>
            </a:r>
            <a:endParaRPr lang="en-US" sz="1200" dirty="0"/>
          </a:p>
        </p:txBody>
      </p:sp>
      <p:pic>
        <p:nvPicPr>
          <p:cNvPr id="35" name="Image 6" descr="Graphwise symbol">    </p:cNvPr>
          <p:cNvPicPr>
            <a:picLocks noChangeAspect="1"/>
          </p:cNvPicPr>
          <p:nvPr/>
        </p:nvPicPr>
        <p:blipFill>
          <a:blip r:embed="rId7"/>
          <a:srcRect l="-182" r="-182" t="0" b="0"/>
          <a:stretch/>
        </p:blipFill>
        <p:spPr>
          <a:xfrm>
            <a:off x="812800" y="6261100"/>
            <a:ext cx="203200" cy="209550"/>
          </a:xfrm>
          <a:prstGeom prst="rect">
            <a:avLst/>
          </a:prstGeom>
        </p:spPr>
      </p:pic>
      <p:sp>
        <p:nvSpPr>
          <p:cNvPr id="36" name="Text 27"/>
          <p:cNvSpPr/>
          <p:nvPr/>
        </p:nvSpPr>
        <p:spPr>
          <a:xfrm>
            <a:off x="1117600" y="62484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5C7F"/>
                </a:solidFill>
                <a:latin typeface="Poppins" pitchFamily="34" charset="0"/>
                <a:ea typeface="Poppins" pitchFamily="34" charset="-122"/>
                <a:cs typeface="Poppins" pitchFamily="34" charset="-120"/>
              </a:rPr>
              <a:t>Ontology Development 101 · Process &amp; dependencies</a:t>
            </a:r>
            <a:endParaRPr lang="en-US" sz="1200" dirty="0"/>
          </a:p>
        </p:txBody>
      </p:sp>
      <p:sp>
        <p:nvSpPr>
          <p:cNvPr id="37" name="Text 28"/>
          <p:cNvSpPr/>
          <p:nvPr/>
        </p:nvSpPr>
        <p:spPr>
          <a:xfrm>
            <a:off x="10058400" y="624840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B5C7F"/>
                </a:solidFill>
                <a:latin typeface="Poppins" pitchFamily="34" charset="0"/>
                <a:ea typeface="Poppins" pitchFamily="34" charset="-122"/>
                <a:cs typeface="Poppi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4064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1FFF"/>
                </a:solidFill>
                <a:latin typeface="Poppins" pitchFamily="34" charset="0"/>
                <a:ea typeface="Poppins" pitchFamily="34" charset="-122"/>
                <a:cs typeface="Poppins" pitchFamily="34" charset="-120"/>
              </a:rPr>
              <a:t>PHASE 7 · POPULATE</a:t>
            </a:r>
            <a:endParaRPr lang="en-US" sz="1200" dirty="0"/>
          </a:p>
        </p:txBody>
      </p:sp>
      <p:sp>
        <p:nvSpPr>
          <p:cNvPr id="3" name="Text 1"/>
          <p:cNvSpPr/>
          <p:nvPr>
            <p:ph type="title"/>
          </p:nvPr>
        </p:nvSpPr>
        <p:spPr>
          <a:xfrm>
            <a:off x="812800" y="66040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220F60"/>
                </a:solidFill>
                <a:latin typeface="Poppins" pitchFamily="34" charset="0"/>
                <a:ea typeface="Poppins" pitchFamily="34" charset="-122"/>
                <a:cs typeface="Poppins" pitchFamily="34" charset="-120"/>
              </a:rPr>
              <a:t>Create instances</a:t>
            </a:r>
            <a:endParaRPr lang="en-US" sz="3000" dirty="0"/>
          </a:p>
        </p:txBody>
      </p:sp>
      <p:sp>
        <p:nvSpPr>
          <p:cNvPr id="4" name="Text 2"/>
          <p:cNvSpPr/>
          <p:nvPr/>
        </p:nvSpPr>
        <p:spPr>
          <a:xfrm>
            <a:off x="812800" y="1600200"/>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B5C7F"/>
                </a:solidFill>
                <a:latin typeface="Poppins" pitchFamily="34" charset="0"/>
                <a:ea typeface="Poppins" pitchFamily="34" charset="-122"/>
                <a:cs typeface="Poppins" pitchFamily="34" charset="-120"/>
              </a:rPr>
              <a:t>INPUTS</a:t>
            </a:r>
            <a:endParaRPr lang="en-US" sz="1200" dirty="0"/>
          </a:p>
        </p:txBody>
      </p:sp>
      <p:sp>
        <p:nvSpPr>
          <p:cNvPr id="5" name="Text 3"/>
          <p:cNvSpPr/>
          <p:nvPr/>
        </p:nvSpPr>
        <p:spPr>
          <a:xfrm>
            <a:off x="8585200" y="1600200"/>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B5C7F"/>
                </a:solidFill>
                <a:latin typeface="Poppins" pitchFamily="34" charset="0"/>
                <a:ea typeface="Poppins" pitchFamily="34" charset="-122"/>
                <a:cs typeface="Poppins" pitchFamily="34" charset="-120"/>
              </a:rPr>
              <a:t>OUTPUTS</a:t>
            </a:r>
            <a:endParaRPr lang="en-US" sz="1200" dirty="0"/>
          </a:p>
        </p:txBody>
      </p:sp>
      <p:sp>
        <p:nvSpPr>
          <p:cNvPr id="6" name="Shape 4"/>
          <p:cNvSpPr/>
          <p:nvPr/>
        </p:nvSpPr>
        <p:spPr>
          <a:xfrm>
            <a:off x="812800" y="1930400"/>
            <a:ext cx="2794000" cy="990600"/>
          </a:xfrm>
          <a:prstGeom prst="roundRect">
            <a:avLst>
              <a:gd name="adj" fmla="val 8974"/>
            </a:avLst>
          </a:prstGeom>
          <a:solidFill>
            <a:srgbClr val="F2F2F2"/>
          </a:solidFill>
          <a:ln/>
        </p:spPr>
      </p:sp>
      <p:sp>
        <p:nvSpPr>
          <p:cNvPr id="7" name="Text 5"/>
          <p:cNvSpPr/>
          <p:nvPr/>
        </p:nvSpPr>
        <p:spPr>
          <a:xfrm>
            <a:off x="965200" y="2101949"/>
            <a:ext cx="2563876"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4 · 5 · 6 · Schema</a:t>
            </a:r>
            <a:endParaRPr lang="en-US" sz="1300" dirty="0"/>
          </a:p>
        </p:txBody>
      </p:sp>
      <p:sp>
        <p:nvSpPr>
          <p:cNvPr id="8" name="Text 6"/>
          <p:cNvSpPr/>
          <p:nvPr/>
        </p:nvSpPr>
        <p:spPr>
          <a:xfrm>
            <a:off x="965200" y="2338090"/>
            <a:ext cx="2563876"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Classes, properties, logical axioms</a:t>
            </a:r>
            <a:endParaRPr lang="en-US" sz="1200" dirty="0"/>
          </a:p>
        </p:txBody>
      </p:sp>
      <p:sp>
        <p:nvSpPr>
          <p:cNvPr id="9" name="Shape 7"/>
          <p:cNvSpPr/>
          <p:nvPr/>
        </p:nvSpPr>
        <p:spPr>
          <a:xfrm>
            <a:off x="812800" y="3073400"/>
            <a:ext cx="2794000" cy="990600"/>
          </a:xfrm>
          <a:prstGeom prst="roundRect">
            <a:avLst>
              <a:gd name="adj" fmla="val 8974"/>
            </a:avLst>
          </a:prstGeom>
          <a:solidFill>
            <a:srgbClr val="F2F2F2"/>
          </a:solidFill>
          <a:ln/>
        </p:spPr>
      </p:sp>
      <p:sp>
        <p:nvSpPr>
          <p:cNvPr id="10" name="Text 8"/>
          <p:cNvSpPr/>
          <p:nvPr/>
        </p:nvSpPr>
        <p:spPr>
          <a:xfrm>
            <a:off x="965200" y="3347740"/>
            <a:ext cx="2563876"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1 · Scope</a:t>
            </a:r>
            <a:endParaRPr lang="en-US" sz="1300" dirty="0"/>
          </a:p>
        </p:txBody>
      </p:sp>
      <p:sp>
        <p:nvSpPr>
          <p:cNvPr id="11" name="Text 9"/>
          <p:cNvSpPr/>
          <p:nvPr/>
        </p:nvSpPr>
        <p:spPr>
          <a:xfrm>
            <a:off x="965200" y="3583880"/>
            <a:ext cx="2563876"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What counts as an individual</a:t>
            </a:r>
            <a:endParaRPr lang="en-US" sz="1200" dirty="0"/>
          </a:p>
        </p:txBody>
      </p:sp>
      <p:sp>
        <p:nvSpPr>
          <p:cNvPr id="12" name="Shape 10"/>
          <p:cNvSpPr/>
          <p:nvPr/>
        </p:nvSpPr>
        <p:spPr>
          <a:xfrm>
            <a:off x="819150" y="4222750"/>
            <a:ext cx="2781300" cy="977900"/>
          </a:xfrm>
          <a:prstGeom prst="roundRect">
            <a:avLst>
              <a:gd name="adj" fmla="val 8442"/>
            </a:avLst>
          </a:prstGeom>
          <a:solidFill>
            <a:srgbClr val="FFFFFF"/>
          </a:solidFill>
          <a:ln w="12700">
            <a:solidFill>
              <a:srgbClr val="9AA3AD"/>
            </a:solidFill>
            <a:prstDash val="dash"/>
          </a:ln>
        </p:spPr>
      </p:sp>
      <p:sp>
        <p:nvSpPr>
          <p:cNvPr id="13" name="Text 11"/>
          <p:cNvSpPr/>
          <p:nvPr/>
        </p:nvSpPr>
        <p:spPr>
          <a:xfrm>
            <a:off x="977900" y="4490740"/>
            <a:ext cx="2537714"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External · Data</a:t>
            </a:r>
            <a:endParaRPr lang="en-US" sz="1300" dirty="0"/>
          </a:p>
        </p:txBody>
      </p:sp>
      <p:sp>
        <p:nvSpPr>
          <p:cNvPr id="14" name="Text 12"/>
          <p:cNvSpPr/>
          <p:nvPr/>
        </p:nvSpPr>
        <p:spPr>
          <a:xfrm>
            <a:off x="977900" y="4726880"/>
            <a:ext cx="2537714"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Facts about real individuals</a:t>
            </a:r>
            <a:endParaRPr lang="en-US" sz="1200" dirty="0"/>
          </a:p>
        </p:txBody>
      </p:sp>
      <p:sp>
        <p:nvSpPr>
          <p:cNvPr id="15" name="Shape 13"/>
          <p:cNvSpPr/>
          <p:nvPr/>
        </p:nvSpPr>
        <p:spPr>
          <a:xfrm>
            <a:off x="4216400" y="1930400"/>
            <a:ext cx="3759200" cy="3276600"/>
          </a:xfrm>
          <a:prstGeom prst="roundRect">
            <a:avLst>
              <a:gd name="adj" fmla="val 3876"/>
            </a:avLst>
          </a:prstGeom>
          <a:solidFill>
            <a:srgbClr val="220F60"/>
          </a:solidFill>
          <a:ln/>
        </p:spPr>
      </p:sp>
      <p:sp>
        <p:nvSpPr>
          <p:cNvPr id="16" name="Text 14"/>
          <p:cNvSpPr/>
          <p:nvPr/>
        </p:nvSpPr>
        <p:spPr>
          <a:xfrm>
            <a:off x="4470400" y="2184400"/>
            <a:ext cx="334873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FADFF"/>
                </a:solidFill>
                <a:latin typeface="Poppins" pitchFamily="34" charset="0"/>
                <a:ea typeface="Poppins" pitchFamily="34" charset="-122"/>
                <a:cs typeface="Poppins" pitchFamily="34" charset="-120"/>
              </a:rPr>
              <a:t>ACTIVITIES</a:t>
            </a:r>
            <a:endParaRPr lang="en-US" sz="1200" dirty="0"/>
          </a:p>
        </p:txBody>
      </p:sp>
      <p:sp>
        <p:nvSpPr>
          <p:cNvPr id="17" name="Text 15"/>
          <p:cNvSpPr/>
          <p:nvPr/>
        </p:nvSpPr>
        <p:spPr>
          <a:xfrm>
            <a:off x="4470400" y="2499320"/>
            <a:ext cx="3348736"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FFFF"/>
                </a:solidFill>
                <a:latin typeface="Poppins" pitchFamily="34" charset="0"/>
                <a:ea typeface="Poppins" pitchFamily="34" charset="-122"/>
                <a:cs typeface="Poppins" pitchFamily="34" charset="-120"/>
              </a:rPr>
              <a:t>Populate the knowledge base</a:t>
            </a:r>
            <a:endParaRPr lang="en-US" sz="1800" dirty="0"/>
          </a:p>
        </p:txBody>
      </p:sp>
      <p:sp>
        <p:nvSpPr>
          <p:cNvPr id="18" name="Text 16"/>
          <p:cNvSpPr/>
          <p:nvPr/>
        </p:nvSpPr>
        <p:spPr>
          <a:xfrm>
            <a:off x="4569206" y="3149402"/>
            <a:ext cx="3242310" cy="1092002"/>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D9D4F2"/>
                </a:solidFill>
                <a:latin typeface="Poppins" pitchFamily="34" charset="0"/>
                <a:ea typeface="Poppins" pitchFamily="34" charset="-122"/>
                <a:cs typeface="Poppins" pitchFamily="34" charset="-120"/>
              </a:rPr>
              <a:t>Choose the most specific class</a:t>
            </a:r>
            <a:endParaRPr lang="en-US" sz="1200" dirty="0"/>
          </a:p>
          <a:p>
            <a:pPr algn="l" marL="155194" indent="-155194">
              <a:lnSpc>
                <a:spcPts val="1680"/>
              </a:lnSpc>
              <a:buSzPct val="100000"/>
              <a:buChar char="•"/>
            </a:pPr>
            <a:r>
              <a:rPr lang="en-US" sz="1200" dirty="0">
                <a:solidFill>
                  <a:srgbClr val="D9D4F2"/>
                </a:solidFill>
                <a:latin typeface="Poppins" pitchFamily="34" charset="0"/>
                <a:ea typeface="Poppins" pitchFamily="34" charset="-122"/>
                <a:cs typeface="Poppins" pitchFamily="34" charset="-120"/>
              </a:rPr>
              <a:t>Create the individual</a:t>
            </a:r>
            <a:endParaRPr lang="en-US" sz="1200" dirty="0"/>
          </a:p>
          <a:p>
            <a:pPr algn="l" marL="155194" indent="-155194">
              <a:lnSpc>
                <a:spcPts val="1680"/>
              </a:lnSpc>
              <a:buSzPct val="100000"/>
              <a:buChar char="•"/>
            </a:pPr>
            <a:r>
              <a:rPr lang="en-US" sz="1200" dirty="0">
                <a:solidFill>
                  <a:srgbClr val="D9D4F2"/>
                </a:solidFill>
                <a:latin typeface="Poppins" pitchFamily="34" charset="0"/>
                <a:ea typeface="Poppins" pitchFamily="34" charset="-122"/>
                <a:cs typeface="Poppins" pitchFamily="34" charset="-120"/>
              </a:rPr>
              <a:t>Fill property values within the axioms</a:t>
            </a:r>
            <a:endParaRPr lang="en-US" sz="1200" dirty="0"/>
          </a:p>
          <a:p>
            <a:pPr algn="l" marL="155194" indent="-155194">
              <a:lnSpc>
                <a:spcPts val="1680"/>
              </a:lnSpc>
              <a:buSzPct val="100000"/>
              <a:buChar char="•"/>
            </a:pPr>
            <a:r>
              <a:rPr lang="en-US" sz="1200" dirty="0">
                <a:solidFill>
                  <a:srgbClr val="D9D4F2"/>
                </a:solidFill>
                <a:latin typeface="Poppins" pitchFamily="34" charset="0"/>
                <a:ea typeface="Poppins" pitchFamily="34" charset="-122"/>
                <a:cs typeface="Poppins" pitchFamily="34" charset="-120"/>
              </a:rPr>
              <a:t>Inverse properties complete automatically</a:t>
            </a:r>
            <a:endParaRPr lang="en-US" sz="1200" dirty="0"/>
          </a:p>
        </p:txBody>
      </p:sp>
      <p:sp>
        <p:nvSpPr>
          <p:cNvPr id="19" name="Shape 17"/>
          <p:cNvSpPr/>
          <p:nvPr/>
        </p:nvSpPr>
        <p:spPr>
          <a:xfrm>
            <a:off x="8585200" y="1930400"/>
            <a:ext cx="2794000" cy="990600"/>
          </a:xfrm>
          <a:prstGeom prst="roundRect">
            <a:avLst>
              <a:gd name="adj" fmla="val 8974"/>
            </a:avLst>
          </a:prstGeom>
          <a:solidFill>
            <a:srgbClr val="F2F2F2"/>
          </a:solidFill>
          <a:ln/>
        </p:spPr>
      </p:sp>
      <p:sp>
        <p:nvSpPr>
          <p:cNvPr id="20" name="Text 18"/>
          <p:cNvSpPr/>
          <p:nvPr/>
        </p:nvSpPr>
        <p:spPr>
          <a:xfrm>
            <a:off x="8737600" y="2101949"/>
            <a:ext cx="2563876"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8 · Evaluate</a:t>
            </a:r>
            <a:endParaRPr lang="en-US" sz="1300" dirty="0"/>
          </a:p>
        </p:txBody>
      </p:sp>
      <p:sp>
        <p:nvSpPr>
          <p:cNvPr id="21" name="Text 19"/>
          <p:cNvSpPr/>
          <p:nvPr/>
        </p:nvSpPr>
        <p:spPr>
          <a:xfrm>
            <a:off x="8737600" y="2338090"/>
            <a:ext cx="2563876"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A knowledge base to query and test</a:t>
            </a:r>
            <a:endParaRPr lang="en-US" sz="1200" dirty="0"/>
          </a:p>
        </p:txBody>
      </p:sp>
      <p:sp>
        <p:nvSpPr>
          <p:cNvPr id="22" name="Shape 20"/>
          <p:cNvSpPr/>
          <p:nvPr/>
        </p:nvSpPr>
        <p:spPr>
          <a:xfrm>
            <a:off x="8591550" y="3079750"/>
            <a:ext cx="2781300" cy="977900"/>
          </a:xfrm>
          <a:prstGeom prst="roundRect">
            <a:avLst>
              <a:gd name="adj" fmla="val 8442"/>
            </a:avLst>
          </a:prstGeom>
          <a:solidFill>
            <a:srgbClr val="FFFFFF"/>
          </a:solidFill>
          <a:ln w="12700">
            <a:solidFill>
              <a:srgbClr val="9AA3AD"/>
            </a:solidFill>
            <a:prstDash val="dash"/>
          </a:ln>
        </p:spPr>
      </p:sp>
      <p:sp>
        <p:nvSpPr>
          <p:cNvPr id="23" name="Text 21"/>
          <p:cNvSpPr/>
          <p:nvPr/>
        </p:nvSpPr>
        <p:spPr>
          <a:xfrm>
            <a:off x="8750300" y="3347740"/>
            <a:ext cx="2537714"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External · Apps</a:t>
            </a:r>
            <a:endParaRPr lang="en-US" sz="1300" dirty="0"/>
          </a:p>
        </p:txBody>
      </p:sp>
      <p:sp>
        <p:nvSpPr>
          <p:cNvPr id="24" name="Text 22"/>
          <p:cNvSpPr/>
          <p:nvPr/>
        </p:nvSpPr>
        <p:spPr>
          <a:xfrm>
            <a:off x="8750300" y="3583880"/>
            <a:ext cx="2537714"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Data for the applications</a:t>
            </a:r>
            <a:endParaRPr lang="en-US" sz="1200" dirty="0"/>
          </a:p>
        </p:txBody>
      </p:sp>
      <p:sp>
        <p:nvSpPr>
          <p:cNvPr id="25" name="Shape 23"/>
          <p:cNvSpPr/>
          <p:nvPr/>
        </p:nvSpPr>
        <p:spPr>
          <a:xfrm>
            <a:off x="8591550" y="4222750"/>
            <a:ext cx="2781300" cy="977900"/>
          </a:xfrm>
          <a:prstGeom prst="roundRect">
            <a:avLst>
              <a:gd name="adj" fmla="val 8442"/>
            </a:avLst>
          </a:prstGeom>
          <a:solidFill>
            <a:srgbClr val="FCEAF2"/>
          </a:solidFill>
          <a:ln w="12700">
            <a:solidFill>
              <a:srgbClr val="DF367C"/>
            </a:solidFill>
            <a:prstDash val="solid"/>
          </a:ln>
        </p:spPr>
      </p:sp>
      <p:sp>
        <p:nvSpPr>
          <p:cNvPr id="26" name="Text 24"/>
          <p:cNvSpPr/>
          <p:nvPr/>
        </p:nvSpPr>
        <p:spPr>
          <a:xfrm>
            <a:off x="8750300" y="4387949"/>
            <a:ext cx="2537714"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 4 · Classes</a:t>
            </a:r>
            <a:endParaRPr lang="en-US" sz="1300" dirty="0"/>
          </a:p>
        </p:txBody>
      </p:sp>
      <p:sp>
        <p:nvSpPr>
          <p:cNvPr id="27" name="Text 25"/>
          <p:cNvSpPr/>
          <p:nvPr/>
        </p:nvSpPr>
        <p:spPr>
          <a:xfrm>
            <a:off x="8750300" y="4624090"/>
            <a:ext cx="2537714"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Instance churn exposes bad classes</a:t>
            </a:r>
            <a:endParaRPr lang="en-US" sz="1200" dirty="0"/>
          </a:p>
        </p:txBody>
      </p:sp>
      <p:pic>
        <p:nvPicPr>
          <p:cNvPr id="28" name="Image 0" descr="connector">    </p:cNvPr>
          <p:cNvPicPr>
            <a:picLocks noChangeAspect="1"/>
          </p:cNvPicPr>
          <p:nvPr/>
        </p:nvPicPr>
        <p:blipFill>
          <a:blip r:embed="rId1"/>
          <a:srcRect l="0" r="0" t="0" b="0"/>
          <a:stretch/>
        </p:blipFill>
        <p:spPr>
          <a:xfrm>
            <a:off x="3556000" y="2374900"/>
            <a:ext cx="711200" cy="101600"/>
          </a:xfrm>
          <a:prstGeom prst="rect">
            <a:avLst/>
          </a:prstGeom>
        </p:spPr>
      </p:pic>
      <p:pic>
        <p:nvPicPr>
          <p:cNvPr id="29" name="Image 1" descr="connector">    </p:cNvPr>
          <p:cNvPicPr>
            <a:picLocks noChangeAspect="1"/>
          </p:cNvPicPr>
          <p:nvPr/>
        </p:nvPicPr>
        <p:blipFill>
          <a:blip r:embed="rId2"/>
          <a:srcRect l="0" r="0" t="0" b="0"/>
          <a:stretch/>
        </p:blipFill>
        <p:spPr>
          <a:xfrm>
            <a:off x="3556000" y="3517900"/>
            <a:ext cx="711200" cy="101600"/>
          </a:xfrm>
          <a:prstGeom prst="rect">
            <a:avLst/>
          </a:prstGeom>
        </p:spPr>
      </p:pic>
      <p:pic>
        <p:nvPicPr>
          <p:cNvPr id="30" name="Image 2" descr="connector">    </p:cNvPr>
          <p:cNvPicPr>
            <a:picLocks noChangeAspect="1"/>
          </p:cNvPicPr>
          <p:nvPr/>
        </p:nvPicPr>
        <p:blipFill>
          <a:blip r:embed="rId3"/>
          <a:srcRect l="0" r="0" t="0" b="0"/>
          <a:stretch/>
        </p:blipFill>
        <p:spPr>
          <a:xfrm>
            <a:off x="3556000" y="4660900"/>
            <a:ext cx="711200" cy="101600"/>
          </a:xfrm>
          <a:prstGeom prst="rect">
            <a:avLst/>
          </a:prstGeom>
        </p:spPr>
      </p:pic>
      <p:pic>
        <p:nvPicPr>
          <p:cNvPr id="31" name="Image 3" descr="connector">    </p:cNvPr>
          <p:cNvPicPr>
            <a:picLocks noChangeAspect="1"/>
          </p:cNvPicPr>
          <p:nvPr/>
        </p:nvPicPr>
        <p:blipFill>
          <a:blip r:embed="rId4"/>
          <a:srcRect l="0" r="0" t="0" b="0"/>
          <a:stretch/>
        </p:blipFill>
        <p:spPr>
          <a:xfrm>
            <a:off x="7924800" y="2374900"/>
            <a:ext cx="711200" cy="101600"/>
          </a:xfrm>
          <a:prstGeom prst="rect">
            <a:avLst/>
          </a:prstGeom>
        </p:spPr>
      </p:pic>
      <p:pic>
        <p:nvPicPr>
          <p:cNvPr id="32" name="Image 4" descr="connector">    </p:cNvPr>
          <p:cNvPicPr>
            <a:picLocks noChangeAspect="1"/>
          </p:cNvPicPr>
          <p:nvPr/>
        </p:nvPicPr>
        <p:blipFill>
          <a:blip r:embed="rId5"/>
          <a:srcRect l="0" r="0" t="0" b="0"/>
          <a:stretch/>
        </p:blipFill>
        <p:spPr>
          <a:xfrm>
            <a:off x="7924800" y="3517900"/>
            <a:ext cx="711200" cy="101600"/>
          </a:xfrm>
          <a:prstGeom prst="rect">
            <a:avLst/>
          </a:prstGeom>
        </p:spPr>
      </p:pic>
      <p:pic>
        <p:nvPicPr>
          <p:cNvPr id="33" name="Image 5" descr="connector">    </p:cNvPr>
          <p:cNvPicPr>
            <a:picLocks noChangeAspect="1"/>
          </p:cNvPicPr>
          <p:nvPr/>
        </p:nvPicPr>
        <p:blipFill>
          <a:blip r:embed="rId6"/>
          <a:srcRect l="0" r="0" t="0" b="0"/>
          <a:stretch/>
        </p:blipFill>
        <p:spPr>
          <a:xfrm>
            <a:off x="7924800" y="4660900"/>
            <a:ext cx="711200" cy="101600"/>
          </a:xfrm>
          <a:prstGeom prst="rect">
            <a:avLst/>
          </a:prstGeom>
        </p:spPr>
      </p:pic>
      <p:sp>
        <p:nvSpPr>
          <p:cNvPr id="34" name="Text 26"/>
          <p:cNvSpPr/>
          <p:nvPr/>
        </p:nvSpPr>
        <p:spPr>
          <a:xfrm>
            <a:off x="812800" y="5410200"/>
            <a:ext cx="10566400" cy="383480"/>
          </a:xfrm>
          <a:prstGeom prst="roundRect">
            <a:avLst>
              <a:gd name="adj" fmla="val 19871"/>
            </a:avLst>
          </a:prstGeom>
          <a:solidFill>
            <a:srgbClr val="FCEAF2"/>
          </a:solidFill>
          <a:ln/>
        </p:spPr>
        <p:txBody>
          <a:bodyPr wrap="square" lIns="130082" tIns="66582" rIns="0" bIns="41182" rtlCol="0" anchor="t">
            <a:normAutofit/>
          </a:bodyPr>
          <a:lstStyle/>
          <a:p>
            <a:pPr algn="l" indent="0" marL="0">
              <a:lnSpc>
                <a:spcPts val="1620"/>
              </a:lnSpc>
              <a:buNone/>
            </a:pPr>
            <a:r>
              <a:rPr lang="en-US" sz="1200" b="1" dirty="0">
                <a:solidFill>
                  <a:srgbClr val="A8215A"/>
                </a:solidFill>
                <a:latin typeface="Poppins" pitchFamily="34" charset="0"/>
                <a:ea typeface="Poppins" pitchFamily="34" charset="-122"/>
                <a:cs typeface="Poppins" pitchFamily="34" charset="-120"/>
              </a:rPr>
              <a:t>Loop:</a:t>
            </a:r>
            <a:r>
              <a:rPr lang="en-US" sz="1200" dirty="0">
                <a:solidFill>
                  <a:srgbClr val="15103A"/>
                </a:solidFill>
                <a:latin typeface="Poppins" pitchFamily="34" charset="0"/>
                <a:ea typeface="Poppins" pitchFamily="34" charset="-122"/>
                <a:cs typeface="Poppins" pitchFamily="34" charset="-120"/>
              </a:rPr>
              <a:t> if individuals keep migrating between classes, the distinction belongs in a property value.</a:t>
            </a:r>
            <a:endParaRPr lang="en-US" sz="1200" dirty="0"/>
          </a:p>
        </p:txBody>
      </p:sp>
      <p:pic>
        <p:nvPicPr>
          <p:cNvPr id="35" name="Image 6" descr="Graphwise symbol">    </p:cNvPr>
          <p:cNvPicPr>
            <a:picLocks noChangeAspect="1"/>
          </p:cNvPicPr>
          <p:nvPr/>
        </p:nvPicPr>
        <p:blipFill>
          <a:blip r:embed="rId7"/>
          <a:srcRect l="-182" r="-182" t="0" b="0"/>
          <a:stretch/>
        </p:blipFill>
        <p:spPr>
          <a:xfrm>
            <a:off x="812800" y="6261100"/>
            <a:ext cx="203200" cy="209550"/>
          </a:xfrm>
          <a:prstGeom prst="rect">
            <a:avLst/>
          </a:prstGeom>
        </p:spPr>
      </p:pic>
      <p:sp>
        <p:nvSpPr>
          <p:cNvPr id="36" name="Text 27"/>
          <p:cNvSpPr/>
          <p:nvPr/>
        </p:nvSpPr>
        <p:spPr>
          <a:xfrm>
            <a:off x="1117600" y="62484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5C7F"/>
                </a:solidFill>
                <a:latin typeface="Poppins" pitchFamily="34" charset="0"/>
                <a:ea typeface="Poppins" pitchFamily="34" charset="-122"/>
                <a:cs typeface="Poppins" pitchFamily="34" charset="-120"/>
              </a:rPr>
              <a:t>Ontology Development 101 · Process &amp; dependencies</a:t>
            </a:r>
            <a:endParaRPr lang="en-US" sz="1200" dirty="0"/>
          </a:p>
        </p:txBody>
      </p:sp>
      <p:sp>
        <p:nvSpPr>
          <p:cNvPr id="37" name="Text 28"/>
          <p:cNvSpPr/>
          <p:nvPr/>
        </p:nvSpPr>
        <p:spPr>
          <a:xfrm>
            <a:off x="10058400" y="624840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B5C7F"/>
                </a:solidFill>
                <a:latin typeface="Poppins" pitchFamily="34" charset="0"/>
                <a:ea typeface="Poppins" pitchFamily="34" charset="-122"/>
                <a:cs typeface="Poppi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4064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215A"/>
                </a:solidFill>
                <a:latin typeface="Poppins" pitchFamily="34" charset="0"/>
                <a:ea typeface="Poppins" pitchFamily="34" charset="-122"/>
                <a:cs typeface="Poppins" pitchFamily="34" charset="-120"/>
              </a:rPr>
              <a:t>PHASE 8 · TEST AND CLOSE THE LOOP</a:t>
            </a:r>
            <a:endParaRPr lang="en-US" sz="1200" dirty="0"/>
          </a:p>
        </p:txBody>
      </p:sp>
      <p:sp>
        <p:nvSpPr>
          <p:cNvPr id="3" name="Text 1"/>
          <p:cNvSpPr/>
          <p:nvPr>
            <p:ph type="title"/>
          </p:nvPr>
        </p:nvSpPr>
        <p:spPr>
          <a:xfrm>
            <a:off x="812800" y="66040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220F60"/>
                </a:solidFill>
                <a:latin typeface="Poppins" pitchFamily="34" charset="0"/>
                <a:ea typeface="Poppins" pitchFamily="34" charset="-122"/>
                <a:cs typeface="Poppins" pitchFamily="34" charset="-120"/>
              </a:rPr>
              <a:t>Evaluate, document and iterate</a:t>
            </a:r>
            <a:endParaRPr lang="en-US" sz="3000" dirty="0"/>
          </a:p>
        </p:txBody>
      </p:sp>
      <p:sp>
        <p:nvSpPr>
          <p:cNvPr id="4" name="Text 2"/>
          <p:cNvSpPr/>
          <p:nvPr/>
        </p:nvSpPr>
        <p:spPr>
          <a:xfrm>
            <a:off x="812800" y="1600200"/>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B5C7F"/>
                </a:solidFill>
                <a:latin typeface="Poppins" pitchFamily="34" charset="0"/>
                <a:ea typeface="Poppins" pitchFamily="34" charset="-122"/>
                <a:cs typeface="Poppins" pitchFamily="34" charset="-120"/>
              </a:rPr>
              <a:t>INPUTS</a:t>
            </a:r>
            <a:endParaRPr lang="en-US" sz="1200" dirty="0"/>
          </a:p>
        </p:txBody>
      </p:sp>
      <p:sp>
        <p:nvSpPr>
          <p:cNvPr id="5" name="Text 3"/>
          <p:cNvSpPr/>
          <p:nvPr/>
        </p:nvSpPr>
        <p:spPr>
          <a:xfrm>
            <a:off x="8585200" y="1600200"/>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B5C7F"/>
                </a:solidFill>
                <a:latin typeface="Poppins" pitchFamily="34" charset="0"/>
                <a:ea typeface="Poppins" pitchFamily="34" charset="-122"/>
                <a:cs typeface="Poppins" pitchFamily="34" charset="-120"/>
              </a:rPr>
              <a:t>SENDS BACK TO</a:t>
            </a:r>
            <a:endParaRPr lang="en-US" sz="1200" dirty="0"/>
          </a:p>
        </p:txBody>
      </p:sp>
      <p:sp>
        <p:nvSpPr>
          <p:cNvPr id="6" name="Shape 4"/>
          <p:cNvSpPr/>
          <p:nvPr/>
        </p:nvSpPr>
        <p:spPr>
          <a:xfrm>
            <a:off x="812800" y="1930400"/>
            <a:ext cx="2794000" cy="990600"/>
          </a:xfrm>
          <a:prstGeom prst="roundRect">
            <a:avLst>
              <a:gd name="adj" fmla="val 8974"/>
            </a:avLst>
          </a:prstGeom>
          <a:solidFill>
            <a:srgbClr val="F2F2F2"/>
          </a:solidFill>
          <a:ln/>
        </p:spPr>
      </p:sp>
      <p:sp>
        <p:nvSpPr>
          <p:cNvPr id="7" name="Text 5"/>
          <p:cNvSpPr/>
          <p:nvPr/>
        </p:nvSpPr>
        <p:spPr>
          <a:xfrm>
            <a:off x="965200" y="2204740"/>
            <a:ext cx="2563876"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7 · Instances</a:t>
            </a:r>
            <a:endParaRPr lang="en-US" sz="1300" dirty="0"/>
          </a:p>
        </p:txBody>
      </p:sp>
      <p:sp>
        <p:nvSpPr>
          <p:cNvPr id="8" name="Text 6"/>
          <p:cNvSpPr/>
          <p:nvPr/>
        </p:nvSpPr>
        <p:spPr>
          <a:xfrm>
            <a:off x="965200" y="2440880"/>
            <a:ext cx="2563876"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The populated knowledge base</a:t>
            </a:r>
            <a:endParaRPr lang="en-US" sz="1200" dirty="0"/>
          </a:p>
        </p:txBody>
      </p:sp>
      <p:sp>
        <p:nvSpPr>
          <p:cNvPr id="9" name="Shape 7"/>
          <p:cNvSpPr/>
          <p:nvPr/>
        </p:nvSpPr>
        <p:spPr>
          <a:xfrm>
            <a:off x="812800" y="3073400"/>
            <a:ext cx="2794000" cy="990600"/>
          </a:xfrm>
          <a:prstGeom prst="roundRect">
            <a:avLst>
              <a:gd name="adj" fmla="val 8974"/>
            </a:avLst>
          </a:prstGeom>
          <a:solidFill>
            <a:srgbClr val="F2F2F2"/>
          </a:solidFill>
          <a:ln/>
        </p:spPr>
      </p:sp>
      <p:sp>
        <p:nvSpPr>
          <p:cNvPr id="10" name="Text 8"/>
          <p:cNvSpPr/>
          <p:nvPr/>
        </p:nvSpPr>
        <p:spPr>
          <a:xfrm>
            <a:off x="965200" y="3347740"/>
            <a:ext cx="2563876"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1 · Scope</a:t>
            </a:r>
            <a:endParaRPr lang="en-US" sz="1300" dirty="0"/>
          </a:p>
        </p:txBody>
      </p:sp>
      <p:sp>
        <p:nvSpPr>
          <p:cNvPr id="11" name="Text 9"/>
          <p:cNvSpPr/>
          <p:nvPr/>
        </p:nvSpPr>
        <p:spPr>
          <a:xfrm>
            <a:off x="965200" y="3583880"/>
            <a:ext cx="2563876"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CQs as the acceptance test</a:t>
            </a:r>
            <a:endParaRPr lang="en-US" sz="1200" dirty="0"/>
          </a:p>
        </p:txBody>
      </p:sp>
      <p:sp>
        <p:nvSpPr>
          <p:cNvPr id="12" name="Shape 10"/>
          <p:cNvSpPr/>
          <p:nvPr/>
        </p:nvSpPr>
        <p:spPr>
          <a:xfrm>
            <a:off x="819150" y="4222750"/>
            <a:ext cx="2781300" cy="977900"/>
          </a:xfrm>
          <a:prstGeom prst="roundRect">
            <a:avLst>
              <a:gd name="adj" fmla="val 8442"/>
            </a:avLst>
          </a:prstGeom>
          <a:solidFill>
            <a:srgbClr val="FFFFFF"/>
          </a:solidFill>
          <a:ln w="12700">
            <a:solidFill>
              <a:srgbClr val="9AA3AD"/>
            </a:solidFill>
            <a:prstDash val="dash"/>
          </a:ln>
        </p:spPr>
      </p:sp>
      <p:sp>
        <p:nvSpPr>
          <p:cNvPr id="13" name="Text 11"/>
          <p:cNvSpPr/>
          <p:nvPr/>
        </p:nvSpPr>
        <p:spPr>
          <a:xfrm>
            <a:off x="977900" y="4490740"/>
            <a:ext cx="2537714"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External · Use</a:t>
            </a:r>
            <a:endParaRPr lang="en-US" sz="1300" dirty="0"/>
          </a:p>
        </p:txBody>
      </p:sp>
      <p:sp>
        <p:nvSpPr>
          <p:cNvPr id="14" name="Text 12"/>
          <p:cNvSpPr/>
          <p:nvPr/>
        </p:nvSpPr>
        <p:spPr>
          <a:xfrm>
            <a:off x="977900" y="4726880"/>
            <a:ext cx="2537714"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Apps, experts, diagnostic tools</a:t>
            </a:r>
            <a:endParaRPr lang="en-US" sz="1200" dirty="0"/>
          </a:p>
        </p:txBody>
      </p:sp>
      <p:sp>
        <p:nvSpPr>
          <p:cNvPr id="15" name="Shape 13"/>
          <p:cNvSpPr/>
          <p:nvPr/>
        </p:nvSpPr>
        <p:spPr>
          <a:xfrm>
            <a:off x="4216400" y="1930400"/>
            <a:ext cx="3759200" cy="3276600"/>
          </a:xfrm>
          <a:prstGeom prst="roundRect">
            <a:avLst>
              <a:gd name="adj" fmla="val 3876"/>
            </a:avLst>
          </a:prstGeom>
          <a:solidFill>
            <a:srgbClr val="220F60"/>
          </a:solidFill>
          <a:ln/>
        </p:spPr>
      </p:sp>
      <p:sp>
        <p:nvSpPr>
          <p:cNvPr id="16" name="Text 14"/>
          <p:cNvSpPr/>
          <p:nvPr/>
        </p:nvSpPr>
        <p:spPr>
          <a:xfrm>
            <a:off x="4470400" y="2184400"/>
            <a:ext cx="334873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49AC1"/>
                </a:solidFill>
                <a:latin typeface="Poppins" pitchFamily="34" charset="0"/>
                <a:ea typeface="Poppins" pitchFamily="34" charset="-122"/>
                <a:cs typeface="Poppins" pitchFamily="34" charset="-120"/>
              </a:rPr>
              <a:t>ACTIVITIES</a:t>
            </a:r>
            <a:endParaRPr lang="en-US" sz="1200" dirty="0"/>
          </a:p>
        </p:txBody>
      </p:sp>
      <p:sp>
        <p:nvSpPr>
          <p:cNvPr id="17" name="Text 15"/>
          <p:cNvSpPr/>
          <p:nvPr/>
        </p:nvSpPr>
        <p:spPr>
          <a:xfrm>
            <a:off x="4470400" y="2499320"/>
            <a:ext cx="334873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FFFF"/>
                </a:solidFill>
                <a:latin typeface="Poppins" pitchFamily="34" charset="0"/>
                <a:ea typeface="Poppins" pitchFamily="34" charset="-122"/>
                <a:cs typeface="Poppins" pitchFamily="34" charset="-120"/>
              </a:rPr>
              <a:t>Prove it in use</a:t>
            </a:r>
            <a:endParaRPr lang="en-US" sz="1800" dirty="0"/>
          </a:p>
        </p:txBody>
      </p:sp>
      <p:sp>
        <p:nvSpPr>
          <p:cNvPr id="18" name="Text 16"/>
          <p:cNvSpPr/>
          <p:nvPr/>
        </p:nvSpPr>
        <p:spPr>
          <a:xfrm>
            <a:off x="4569206" y="2875161"/>
            <a:ext cx="3242310" cy="1092002"/>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D9D4F2"/>
                </a:solidFill>
                <a:latin typeface="Poppins" pitchFamily="34" charset="0"/>
                <a:ea typeface="Poppins" pitchFamily="34" charset="-122"/>
                <a:cs typeface="Poppins" pitchFamily="34" charset="-120"/>
              </a:rPr>
              <a:t>Answer the CQs against the KB</a:t>
            </a:r>
            <a:endParaRPr lang="en-US" sz="1200" dirty="0"/>
          </a:p>
          <a:p>
            <a:pPr algn="l" marL="155194" indent="-155194">
              <a:lnSpc>
                <a:spcPts val="1680"/>
              </a:lnSpc>
              <a:buSzPct val="100000"/>
              <a:buChar char="•"/>
            </a:pPr>
            <a:r>
              <a:rPr lang="en-US" sz="1200" dirty="0">
                <a:solidFill>
                  <a:srgbClr val="D9D4F2"/>
                </a:solidFill>
                <a:latin typeface="Poppins" pitchFamily="34" charset="0"/>
                <a:ea typeface="Poppins" pitchFamily="34" charset="-122"/>
                <a:cs typeface="Poppins" pitchFamily="34" charset="-120"/>
              </a:rPr>
              <a:t>Check consistency, e.g. disjointness</a:t>
            </a:r>
            <a:endParaRPr lang="en-US" sz="1200" dirty="0"/>
          </a:p>
          <a:p>
            <a:pPr algn="l" marL="155194" indent="-155194">
              <a:lnSpc>
                <a:spcPts val="1680"/>
              </a:lnSpc>
              <a:buSzPct val="100000"/>
              <a:buChar char="•"/>
            </a:pPr>
            <a:r>
              <a:rPr lang="en-US" sz="1200" dirty="0">
                <a:solidFill>
                  <a:srgbClr val="D9D4F2"/>
                </a:solidFill>
                <a:latin typeface="Poppins" pitchFamily="34" charset="0"/>
                <a:ea typeface="Poppins" pitchFamily="34" charset="-122"/>
                <a:cs typeface="Poppins" pitchFamily="34" charset="-120"/>
              </a:rPr>
              <a:t>Review with domain experts</a:t>
            </a:r>
            <a:endParaRPr lang="en-US" sz="1200" dirty="0"/>
          </a:p>
          <a:p>
            <a:pPr algn="l" marL="155194" indent="-155194">
              <a:lnSpc>
                <a:spcPts val="1680"/>
              </a:lnSpc>
              <a:buSzPct val="100000"/>
              <a:buChar char="•"/>
            </a:pPr>
            <a:r>
              <a:rPr lang="en-US" sz="1200" dirty="0">
                <a:solidFill>
                  <a:srgbClr val="D9D4F2"/>
                </a:solidFill>
                <a:latin typeface="Poppins" pitchFamily="34" charset="0"/>
                <a:ea typeface="Poppins" pitchFamily="34" charset="-122"/>
                <a:cs typeface="Poppins" pitchFamily="34" charset="-120"/>
              </a:rPr>
              <a:t>Record design decisions and exclusions</a:t>
            </a:r>
            <a:endParaRPr lang="en-US" sz="1200" dirty="0"/>
          </a:p>
        </p:txBody>
      </p:sp>
      <p:sp>
        <p:nvSpPr>
          <p:cNvPr id="19" name="Shape 17"/>
          <p:cNvSpPr/>
          <p:nvPr/>
        </p:nvSpPr>
        <p:spPr>
          <a:xfrm>
            <a:off x="8591550" y="1936750"/>
            <a:ext cx="2781300" cy="977900"/>
          </a:xfrm>
          <a:prstGeom prst="roundRect">
            <a:avLst>
              <a:gd name="adj" fmla="val 8442"/>
            </a:avLst>
          </a:prstGeom>
          <a:solidFill>
            <a:srgbClr val="FCEAF2"/>
          </a:solidFill>
          <a:ln w="12700">
            <a:solidFill>
              <a:srgbClr val="DF367C"/>
            </a:solidFill>
            <a:prstDash val="solid"/>
          </a:ln>
        </p:spPr>
      </p:sp>
      <p:sp>
        <p:nvSpPr>
          <p:cNvPr id="20" name="Text 18"/>
          <p:cNvSpPr/>
          <p:nvPr/>
        </p:nvSpPr>
        <p:spPr>
          <a:xfrm>
            <a:off x="8750300" y="2204740"/>
            <a:ext cx="2537714"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 1 · Scope</a:t>
            </a:r>
            <a:endParaRPr lang="en-US" sz="1300" dirty="0"/>
          </a:p>
        </p:txBody>
      </p:sp>
      <p:sp>
        <p:nvSpPr>
          <p:cNvPr id="21" name="Text 19"/>
          <p:cNvSpPr/>
          <p:nvPr/>
        </p:nvSpPr>
        <p:spPr>
          <a:xfrm>
            <a:off x="8750300" y="2440880"/>
            <a:ext cx="2537714"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Revised scope and CQs</a:t>
            </a:r>
            <a:endParaRPr lang="en-US" sz="1200" dirty="0"/>
          </a:p>
        </p:txBody>
      </p:sp>
      <p:sp>
        <p:nvSpPr>
          <p:cNvPr id="22" name="Shape 20"/>
          <p:cNvSpPr/>
          <p:nvPr/>
        </p:nvSpPr>
        <p:spPr>
          <a:xfrm>
            <a:off x="8591550" y="3079750"/>
            <a:ext cx="2781300" cy="977900"/>
          </a:xfrm>
          <a:prstGeom prst="roundRect">
            <a:avLst>
              <a:gd name="adj" fmla="val 8442"/>
            </a:avLst>
          </a:prstGeom>
          <a:solidFill>
            <a:srgbClr val="FCEAF2"/>
          </a:solidFill>
          <a:ln w="12700">
            <a:solidFill>
              <a:srgbClr val="DF367C"/>
            </a:solidFill>
            <a:prstDash val="solid"/>
          </a:ln>
        </p:spPr>
      </p:sp>
      <p:sp>
        <p:nvSpPr>
          <p:cNvPr id="23" name="Text 21"/>
          <p:cNvSpPr/>
          <p:nvPr/>
        </p:nvSpPr>
        <p:spPr>
          <a:xfrm>
            <a:off x="8750300" y="3347740"/>
            <a:ext cx="2537714"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 4 · 5 · 6 · Schema</a:t>
            </a:r>
            <a:endParaRPr lang="en-US" sz="1300" dirty="0"/>
          </a:p>
        </p:txBody>
      </p:sp>
      <p:sp>
        <p:nvSpPr>
          <p:cNvPr id="24" name="Text 22"/>
          <p:cNvSpPr/>
          <p:nvPr/>
        </p:nvSpPr>
        <p:spPr>
          <a:xfrm>
            <a:off x="8750300" y="3583880"/>
            <a:ext cx="2537714"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Class, property and axiom fixes</a:t>
            </a:r>
            <a:endParaRPr lang="en-US" sz="1200" dirty="0"/>
          </a:p>
        </p:txBody>
      </p:sp>
      <p:sp>
        <p:nvSpPr>
          <p:cNvPr id="25" name="Shape 23"/>
          <p:cNvSpPr/>
          <p:nvPr/>
        </p:nvSpPr>
        <p:spPr>
          <a:xfrm>
            <a:off x="8591550" y="4222750"/>
            <a:ext cx="2781300" cy="977900"/>
          </a:xfrm>
          <a:prstGeom prst="roundRect">
            <a:avLst>
              <a:gd name="adj" fmla="val 8442"/>
            </a:avLst>
          </a:prstGeom>
          <a:solidFill>
            <a:srgbClr val="FFFFFF"/>
          </a:solidFill>
          <a:ln w="12700">
            <a:solidFill>
              <a:srgbClr val="9AA3AD"/>
            </a:solidFill>
            <a:prstDash val="dash"/>
          </a:ln>
        </p:spPr>
      </p:sp>
      <p:sp>
        <p:nvSpPr>
          <p:cNvPr id="26" name="Text 24"/>
          <p:cNvSpPr/>
          <p:nvPr/>
        </p:nvSpPr>
        <p:spPr>
          <a:xfrm>
            <a:off x="8750300" y="4490740"/>
            <a:ext cx="2537714"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0F60"/>
                </a:solidFill>
                <a:latin typeface="Poppins" pitchFamily="34" charset="0"/>
                <a:ea typeface="Poppins" pitchFamily="34" charset="-122"/>
                <a:cs typeface="Poppins" pitchFamily="34" charset="-120"/>
              </a:rPr>
              <a:t>External · Reusers</a:t>
            </a:r>
            <a:endParaRPr lang="en-US" sz="1300" dirty="0"/>
          </a:p>
        </p:txBody>
      </p:sp>
      <p:sp>
        <p:nvSpPr>
          <p:cNvPr id="27" name="Text 25"/>
          <p:cNvSpPr/>
          <p:nvPr/>
        </p:nvSpPr>
        <p:spPr>
          <a:xfrm>
            <a:off x="8750300" y="4726880"/>
            <a:ext cx="2537714"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5C7F"/>
                </a:solidFill>
                <a:latin typeface="Poppins" pitchFamily="34" charset="0"/>
                <a:ea typeface="Poppins" pitchFamily="34" charset="-122"/>
                <a:cs typeface="Poppins" pitchFamily="34" charset="-120"/>
              </a:rPr>
              <a:t>Documented design rationale</a:t>
            </a:r>
            <a:endParaRPr lang="en-US" sz="1200" dirty="0"/>
          </a:p>
        </p:txBody>
      </p:sp>
      <p:pic>
        <p:nvPicPr>
          <p:cNvPr id="28" name="Image 0" descr="connector">    </p:cNvPr>
          <p:cNvPicPr>
            <a:picLocks noChangeAspect="1"/>
          </p:cNvPicPr>
          <p:nvPr/>
        </p:nvPicPr>
        <p:blipFill>
          <a:blip r:embed="rId1"/>
          <a:srcRect l="0" r="0" t="0" b="0"/>
          <a:stretch/>
        </p:blipFill>
        <p:spPr>
          <a:xfrm>
            <a:off x="3556000" y="2374900"/>
            <a:ext cx="711200" cy="101600"/>
          </a:xfrm>
          <a:prstGeom prst="rect">
            <a:avLst/>
          </a:prstGeom>
        </p:spPr>
      </p:pic>
      <p:pic>
        <p:nvPicPr>
          <p:cNvPr id="29" name="Image 1" descr="connector">    </p:cNvPr>
          <p:cNvPicPr>
            <a:picLocks noChangeAspect="1"/>
          </p:cNvPicPr>
          <p:nvPr/>
        </p:nvPicPr>
        <p:blipFill>
          <a:blip r:embed="rId2"/>
          <a:srcRect l="0" r="0" t="0" b="0"/>
          <a:stretch/>
        </p:blipFill>
        <p:spPr>
          <a:xfrm>
            <a:off x="3556000" y="3517900"/>
            <a:ext cx="711200" cy="101600"/>
          </a:xfrm>
          <a:prstGeom prst="rect">
            <a:avLst/>
          </a:prstGeom>
        </p:spPr>
      </p:pic>
      <p:pic>
        <p:nvPicPr>
          <p:cNvPr id="30" name="Image 2" descr="connector">    </p:cNvPr>
          <p:cNvPicPr>
            <a:picLocks noChangeAspect="1"/>
          </p:cNvPicPr>
          <p:nvPr/>
        </p:nvPicPr>
        <p:blipFill>
          <a:blip r:embed="rId3"/>
          <a:srcRect l="0" r="0" t="0" b="0"/>
          <a:stretch/>
        </p:blipFill>
        <p:spPr>
          <a:xfrm>
            <a:off x="3556000" y="4660900"/>
            <a:ext cx="711200" cy="101600"/>
          </a:xfrm>
          <a:prstGeom prst="rect">
            <a:avLst/>
          </a:prstGeom>
        </p:spPr>
      </p:pic>
      <p:pic>
        <p:nvPicPr>
          <p:cNvPr id="31" name="Image 3" descr="connector">    </p:cNvPr>
          <p:cNvPicPr>
            <a:picLocks noChangeAspect="1"/>
          </p:cNvPicPr>
          <p:nvPr/>
        </p:nvPicPr>
        <p:blipFill>
          <a:blip r:embed="rId4"/>
          <a:srcRect l="0" r="0" t="0" b="0"/>
          <a:stretch/>
        </p:blipFill>
        <p:spPr>
          <a:xfrm>
            <a:off x="7924800" y="2374900"/>
            <a:ext cx="711200" cy="101600"/>
          </a:xfrm>
          <a:prstGeom prst="rect">
            <a:avLst/>
          </a:prstGeom>
        </p:spPr>
      </p:pic>
      <p:pic>
        <p:nvPicPr>
          <p:cNvPr id="32" name="Image 4" descr="connector">    </p:cNvPr>
          <p:cNvPicPr>
            <a:picLocks noChangeAspect="1"/>
          </p:cNvPicPr>
          <p:nvPr/>
        </p:nvPicPr>
        <p:blipFill>
          <a:blip r:embed="rId5"/>
          <a:srcRect l="0" r="0" t="0" b="0"/>
          <a:stretch/>
        </p:blipFill>
        <p:spPr>
          <a:xfrm>
            <a:off x="7924800" y="3517900"/>
            <a:ext cx="711200" cy="101600"/>
          </a:xfrm>
          <a:prstGeom prst="rect">
            <a:avLst/>
          </a:prstGeom>
        </p:spPr>
      </p:pic>
      <p:pic>
        <p:nvPicPr>
          <p:cNvPr id="33" name="Image 5" descr="connector">    </p:cNvPr>
          <p:cNvPicPr>
            <a:picLocks noChangeAspect="1"/>
          </p:cNvPicPr>
          <p:nvPr/>
        </p:nvPicPr>
        <p:blipFill>
          <a:blip r:embed="rId6"/>
          <a:srcRect l="0" r="0" t="0" b="0"/>
          <a:stretch/>
        </p:blipFill>
        <p:spPr>
          <a:xfrm>
            <a:off x="7924800" y="4660900"/>
            <a:ext cx="711200" cy="101600"/>
          </a:xfrm>
          <a:prstGeom prst="rect">
            <a:avLst/>
          </a:prstGeom>
        </p:spPr>
      </p:pic>
      <p:sp>
        <p:nvSpPr>
          <p:cNvPr id="34" name="Text 26"/>
          <p:cNvSpPr/>
          <p:nvPr/>
        </p:nvSpPr>
        <p:spPr>
          <a:xfrm>
            <a:off x="812800" y="5410200"/>
            <a:ext cx="10566400" cy="383480"/>
          </a:xfrm>
          <a:prstGeom prst="roundRect">
            <a:avLst>
              <a:gd name="adj" fmla="val 19871"/>
            </a:avLst>
          </a:prstGeom>
          <a:solidFill>
            <a:srgbClr val="FCEAF2"/>
          </a:solidFill>
          <a:ln/>
        </p:spPr>
        <p:txBody>
          <a:bodyPr wrap="square" lIns="130082" tIns="66582" rIns="0" bIns="41182" rtlCol="0" anchor="t">
            <a:normAutofit/>
          </a:bodyPr>
          <a:lstStyle/>
          <a:p>
            <a:pPr algn="l" indent="0" marL="0">
              <a:lnSpc>
                <a:spcPts val="1620"/>
              </a:lnSpc>
              <a:buNone/>
            </a:pPr>
            <a:r>
              <a:rPr lang="en-US" sz="1200" b="1" dirty="0">
                <a:solidFill>
                  <a:srgbClr val="A8215A"/>
                </a:solidFill>
                <a:latin typeface="Poppins" pitchFamily="34" charset="0"/>
                <a:ea typeface="Poppins" pitchFamily="34" charset="-122"/>
                <a:cs typeface="Poppins" pitchFamily="34" charset="-120"/>
              </a:rPr>
              <a:t>Never final:</a:t>
            </a:r>
            <a:r>
              <a:rPr lang="en-US" sz="1200" dirty="0">
                <a:solidFill>
                  <a:srgbClr val="15103A"/>
                </a:solidFill>
                <a:latin typeface="Poppins" pitchFamily="34" charset="0"/>
                <a:ea typeface="Poppins" pitchFamily="34" charset="-122"/>
                <a:cs typeface="Poppins" pitchFamily="34" charset="-120"/>
              </a:rPr>
              <a:t> this phase only hands work back. Quality is judged by using the ontology.</a:t>
            </a:r>
            <a:endParaRPr lang="en-US" sz="1200" dirty="0"/>
          </a:p>
        </p:txBody>
      </p:sp>
      <p:pic>
        <p:nvPicPr>
          <p:cNvPr id="35" name="Image 6" descr="Graphwise symbol">    </p:cNvPr>
          <p:cNvPicPr>
            <a:picLocks noChangeAspect="1"/>
          </p:cNvPicPr>
          <p:nvPr/>
        </p:nvPicPr>
        <p:blipFill>
          <a:blip r:embed="rId7"/>
          <a:srcRect l="-182" r="-182" t="0" b="0"/>
          <a:stretch/>
        </p:blipFill>
        <p:spPr>
          <a:xfrm>
            <a:off x="812800" y="6261100"/>
            <a:ext cx="203200" cy="209550"/>
          </a:xfrm>
          <a:prstGeom prst="rect">
            <a:avLst/>
          </a:prstGeom>
        </p:spPr>
      </p:pic>
      <p:sp>
        <p:nvSpPr>
          <p:cNvPr id="36" name="Text 27"/>
          <p:cNvSpPr/>
          <p:nvPr/>
        </p:nvSpPr>
        <p:spPr>
          <a:xfrm>
            <a:off x="1117600" y="62484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5C7F"/>
                </a:solidFill>
                <a:latin typeface="Poppins" pitchFamily="34" charset="0"/>
                <a:ea typeface="Poppins" pitchFamily="34" charset="-122"/>
                <a:cs typeface="Poppins" pitchFamily="34" charset="-120"/>
              </a:rPr>
              <a:t>Ontology Development 101 · Process &amp; dependencies</a:t>
            </a:r>
            <a:endParaRPr lang="en-US" sz="1200" dirty="0"/>
          </a:p>
        </p:txBody>
      </p:sp>
      <p:sp>
        <p:nvSpPr>
          <p:cNvPr id="37" name="Text 28"/>
          <p:cNvSpPr/>
          <p:nvPr/>
        </p:nvSpPr>
        <p:spPr>
          <a:xfrm>
            <a:off x="10058400" y="624840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B5C7F"/>
                </a:solidFill>
                <a:latin typeface="Poppins" pitchFamily="34" charset="0"/>
                <a:ea typeface="Poppins" pitchFamily="34" charset="-122"/>
                <a:cs typeface="Poppi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20F60"/>
        </a:solidFill>
      </p:bgPr>
    </p:bg>
    <p:spTree>
      <p:nvGrpSpPr>
        <p:cNvPr id="1" name=""/>
        <p:cNvGrpSpPr/>
        <p:nvPr/>
      </p:nvGrpSpPr>
      <p:grpSpPr>
        <a:xfrm>
          <a:off x="0" y="0"/>
          <a:ext cx="0" cy="0"/>
          <a:chOff x="0" y="0"/>
          <a:chExt cx="0" cy="0"/>
        </a:xfrm>
      </p:grpSpPr>
      <p:sp>
        <p:nvSpPr>
          <p:cNvPr id="2" name="Text 0"/>
          <p:cNvSpPr/>
          <p:nvPr/>
        </p:nvSpPr>
        <p:spPr>
          <a:xfrm>
            <a:off x="812800" y="1905000"/>
            <a:ext cx="3924300" cy="1295400"/>
          </a:xfrm>
          <a:prstGeom prst="rect">
            <a:avLst/>
          </a:prstGeom>
          <a:noFill/>
          <a:ln/>
        </p:spPr>
        <p:txBody>
          <a:bodyPr wrap="square" lIns="0" tIns="0" rIns="0" bIns="0" rtlCol="0" anchor="t">
            <a:normAutofit/>
          </a:bodyPr>
          <a:lstStyle/>
          <a:p>
            <a:pPr algn="l" indent="0" marL="0">
              <a:lnSpc>
                <a:spcPts val="10000"/>
              </a:lnSpc>
              <a:buNone/>
            </a:pPr>
            <a:r>
              <a:rPr lang="en-US" sz="10000" b="1" dirty="0">
                <a:solidFill>
                  <a:srgbClr val="DF367C"/>
                </a:solidFill>
                <a:latin typeface="Poppins" pitchFamily="34" charset="0"/>
                <a:ea typeface="Poppins" pitchFamily="34" charset="-122"/>
                <a:cs typeface="Poppins" pitchFamily="34" charset="-120"/>
              </a:rPr>
              <a:t>03</a:t>
            </a:r>
            <a:endParaRPr lang="en-US" sz="10000" dirty="0"/>
          </a:p>
        </p:txBody>
      </p:sp>
      <p:sp>
        <p:nvSpPr>
          <p:cNvPr id="3" name="Text 1"/>
          <p:cNvSpPr/>
          <p:nvPr>
            <p:ph type="title"/>
          </p:nvPr>
        </p:nvSpPr>
        <p:spPr>
          <a:xfrm>
            <a:off x="812800" y="3556000"/>
            <a:ext cx="10883392" cy="6959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FFFFF"/>
                </a:solidFill>
                <a:latin typeface="Poppins" pitchFamily="34" charset="0"/>
                <a:ea typeface="Poppins" pitchFamily="34" charset="-122"/>
                <a:cs typeface="Poppins" pitchFamily="34" charset="-120"/>
              </a:rPr>
              <a:t>Interdependencies</a:t>
            </a:r>
            <a:endParaRPr lang="en-US" sz="4800" dirty="0"/>
          </a:p>
        </p:txBody>
      </p:sp>
      <p:sp>
        <p:nvSpPr>
          <p:cNvPr id="4" name="Text 2"/>
          <p:cNvSpPr/>
          <p:nvPr/>
        </p:nvSpPr>
        <p:spPr>
          <a:xfrm>
            <a:off x="812800" y="4445000"/>
            <a:ext cx="8502650"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D9D4F2"/>
                </a:solidFill>
                <a:latin typeface="Poppins" pitchFamily="34" charset="0"/>
                <a:ea typeface="Poppins" pitchFamily="34" charset="-122"/>
                <a:cs typeface="Poppins" pitchFamily="34" charset="-120"/>
              </a:rPr>
              <a:t>The core modeling loop, and every path that sends work back</a:t>
            </a:r>
            <a:endParaRPr lang="en-US" sz="1800" dirty="0"/>
          </a:p>
        </p:txBody>
      </p:sp>
      <p:sp>
        <p:nvSpPr>
          <p:cNvPr id="5" name="Text 3"/>
          <p:cNvSpPr/>
          <p:nvPr/>
        </p:nvSpPr>
        <p:spPr>
          <a:xfrm>
            <a:off x="812800" y="62484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C9C3E8"/>
                </a:solidFill>
                <a:latin typeface="Poppins" pitchFamily="34" charset="0"/>
                <a:ea typeface="Poppins" pitchFamily="34" charset="-122"/>
                <a:cs typeface="Poppins" pitchFamily="34" charset="-120"/>
              </a:rPr>
              <a:t>AI THRIVES ON WHOLE DATA</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4064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1FFF"/>
                </a:solidFill>
                <a:latin typeface="Poppins" pitchFamily="34" charset="0"/>
                <a:ea typeface="Poppins" pitchFamily="34" charset="-122"/>
                <a:cs typeface="Poppins" pitchFamily="34" charset="-120"/>
              </a:rPr>
              <a:t>INTERDEPENDENCY · THE CORE LOOP</a:t>
            </a:r>
            <a:endParaRPr lang="en-US" sz="1200" dirty="0"/>
          </a:p>
        </p:txBody>
      </p:sp>
      <p:sp>
        <p:nvSpPr>
          <p:cNvPr id="3" name="Text 1"/>
          <p:cNvSpPr/>
          <p:nvPr>
            <p:ph type="title"/>
          </p:nvPr>
        </p:nvSpPr>
        <p:spPr>
          <a:xfrm>
            <a:off x="812800" y="660400"/>
            <a:ext cx="10883392" cy="90170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220F60"/>
                </a:solidFill>
                <a:latin typeface="Poppins" pitchFamily="34" charset="0"/>
                <a:ea typeface="Poppins" pitchFamily="34" charset="-122"/>
                <a:cs typeface="Poppins" pitchFamily="34" charset="-120"/>
              </a:rPr>
              <a:t>Classes, properties and logical axioms evolve together</a:t>
            </a:r>
            <a:endParaRPr lang="en-US" sz="3000" dirty="0"/>
          </a:p>
        </p:txBody>
      </p:sp>
      <p:sp>
        <p:nvSpPr>
          <p:cNvPr id="4" name="Shape 2"/>
          <p:cNvSpPr/>
          <p:nvPr/>
        </p:nvSpPr>
        <p:spPr>
          <a:xfrm>
            <a:off x="812800" y="2984500"/>
            <a:ext cx="2286000" cy="1143000"/>
          </a:xfrm>
          <a:prstGeom prst="roundRect">
            <a:avLst>
              <a:gd name="adj" fmla="val 11111"/>
            </a:avLst>
          </a:prstGeom>
          <a:solidFill>
            <a:srgbClr val="220F60"/>
          </a:solidFill>
          <a:ln/>
        </p:spPr>
      </p:sp>
      <p:sp>
        <p:nvSpPr>
          <p:cNvPr id="5" name="Text 3"/>
          <p:cNvSpPr/>
          <p:nvPr/>
        </p:nvSpPr>
        <p:spPr>
          <a:xfrm>
            <a:off x="990600" y="3201690"/>
            <a:ext cx="198831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FADFF"/>
                </a:solidFill>
                <a:latin typeface="Poppins" pitchFamily="34" charset="0"/>
                <a:ea typeface="Poppins" pitchFamily="34" charset="-122"/>
                <a:cs typeface="Poppins" pitchFamily="34" charset="-120"/>
              </a:rPr>
              <a:t>Phase 4</a:t>
            </a:r>
            <a:endParaRPr lang="en-US" sz="1200" dirty="0"/>
          </a:p>
        </p:txBody>
      </p:sp>
      <p:sp>
        <p:nvSpPr>
          <p:cNvPr id="6" name="Text 4"/>
          <p:cNvSpPr/>
          <p:nvPr/>
        </p:nvSpPr>
        <p:spPr>
          <a:xfrm>
            <a:off x="990600" y="3453110"/>
            <a:ext cx="1988312"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FFFFF"/>
                </a:solidFill>
                <a:latin typeface="Poppins" pitchFamily="34" charset="0"/>
                <a:ea typeface="Poppins" pitchFamily="34" charset="-122"/>
                <a:cs typeface="Poppins" pitchFamily="34" charset="-120"/>
              </a:rPr>
              <a:t>Classes &amp; hierarchy</a:t>
            </a:r>
            <a:endParaRPr lang="en-US" sz="1500" dirty="0"/>
          </a:p>
        </p:txBody>
      </p:sp>
      <p:sp>
        <p:nvSpPr>
          <p:cNvPr id="7" name="Shape 5"/>
          <p:cNvSpPr/>
          <p:nvPr/>
        </p:nvSpPr>
        <p:spPr>
          <a:xfrm>
            <a:off x="4953000" y="2984500"/>
            <a:ext cx="2286000" cy="1143000"/>
          </a:xfrm>
          <a:prstGeom prst="roundRect">
            <a:avLst>
              <a:gd name="adj" fmla="val 11111"/>
            </a:avLst>
          </a:prstGeom>
          <a:solidFill>
            <a:srgbClr val="220F60"/>
          </a:solidFill>
          <a:ln/>
        </p:spPr>
      </p:sp>
      <p:sp>
        <p:nvSpPr>
          <p:cNvPr id="8" name="Text 6"/>
          <p:cNvSpPr/>
          <p:nvPr/>
        </p:nvSpPr>
        <p:spPr>
          <a:xfrm>
            <a:off x="5130800" y="3315990"/>
            <a:ext cx="198831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FADFF"/>
                </a:solidFill>
                <a:latin typeface="Poppins" pitchFamily="34" charset="0"/>
                <a:ea typeface="Poppins" pitchFamily="34" charset="-122"/>
                <a:cs typeface="Poppins" pitchFamily="34" charset="-120"/>
              </a:rPr>
              <a:t>Phase 5</a:t>
            </a:r>
            <a:endParaRPr lang="en-US" sz="1200" dirty="0"/>
          </a:p>
        </p:txBody>
      </p:sp>
      <p:sp>
        <p:nvSpPr>
          <p:cNvPr id="9" name="Text 7"/>
          <p:cNvSpPr/>
          <p:nvPr/>
        </p:nvSpPr>
        <p:spPr>
          <a:xfrm>
            <a:off x="5130800" y="3567410"/>
            <a:ext cx="198831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FFFFF"/>
                </a:solidFill>
                <a:latin typeface="Poppins" pitchFamily="34" charset="0"/>
                <a:ea typeface="Poppins" pitchFamily="34" charset="-122"/>
                <a:cs typeface="Poppins" pitchFamily="34" charset="-120"/>
              </a:rPr>
              <a:t>Properties</a:t>
            </a:r>
            <a:endParaRPr lang="en-US" sz="1500" dirty="0"/>
          </a:p>
        </p:txBody>
      </p:sp>
      <p:sp>
        <p:nvSpPr>
          <p:cNvPr id="10" name="Shape 8"/>
          <p:cNvSpPr/>
          <p:nvPr/>
        </p:nvSpPr>
        <p:spPr>
          <a:xfrm>
            <a:off x="9093200" y="2984500"/>
            <a:ext cx="2286000" cy="1143000"/>
          </a:xfrm>
          <a:prstGeom prst="roundRect">
            <a:avLst>
              <a:gd name="adj" fmla="val 11111"/>
            </a:avLst>
          </a:prstGeom>
          <a:solidFill>
            <a:srgbClr val="220F60"/>
          </a:solidFill>
          <a:ln/>
        </p:spPr>
      </p:sp>
      <p:sp>
        <p:nvSpPr>
          <p:cNvPr id="11" name="Text 9"/>
          <p:cNvSpPr/>
          <p:nvPr/>
        </p:nvSpPr>
        <p:spPr>
          <a:xfrm>
            <a:off x="9271000" y="3315990"/>
            <a:ext cx="198831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FADFF"/>
                </a:solidFill>
                <a:latin typeface="Poppins" pitchFamily="34" charset="0"/>
                <a:ea typeface="Poppins" pitchFamily="34" charset="-122"/>
                <a:cs typeface="Poppins" pitchFamily="34" charset="-120"/>
              </a:rPr>
              <a:t>Phase 6</a:t>
            </a:r>
            <a:endParaRPr lang="en-US" sz="1200" dirty="0"/>
          </a:p>
        </p:txBody>
      </p:sp>
      <p:sp>
        <p:nvSpPr>
          <p:cNvPr id="12" name="Text 10"/>
          <p:cNvSpPr/>
          <p:nvPr/>
        </p:nvSpPr>
        <p:spPr>
          <a:xfrm>
            <a:off x="9271000" y="3567410"/>
            <a:ext cx="198831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FFFFF"/>
                </a:solidFill>
                <a:latin typeface="Poppins" pitchFamily="34" charset="0"/>
                <a:ea typeface="Poppins" pitchFamily="34" charset="-122"/>
                <a:cs typeface="Poppins" pitchFamily="34" charset="-120"/>
              </a:rPr>
              <a:t>Logical axioms</a:t>
            </a:r>
            <a:endParaRPr lang="en-US" sz="1500" dirty="0"/>
          </a:p>
        </p:txBody>
      </p:sp>
      <p:pic>
        <p:nvPicPr>
          <p:cNvPr id="13" name="Image 0" descr="connector">    </p:cNvPr>
          <p:cNvPicPr>
            <a:picLocks noChangeAspect="1"/>
          </p:cNvPicPr>
          <p:nvPr/>
        </p:nvPicPr>
        <p:blipFill>
          <a:blip r:embed="rId1"/>
          <a:srcRect l="0" r="0" t="0" b="0"/>
          <a:stretch/>
        </p:blipFill>
        <p:spPr>
          <a:xfrm>
            <a:off x="3048000" y="3314700"/>
            <a:ext cx="1955800" cy="101600"/>
          </a:xfrm>
          <a:prstGeom prst="rect">
            <a:avLst/>
          </a:prstGeom>
        </p:spPr>
      </p:pic>
      <p:pic>
        <p:nvPicPr>
          <p:cNvPr id="14" name="Image 1" descr="connector">    </p:cNvPr>
          <p:cNvPicPr>
            <a:picLocks noChangeAspect="1"/>
          </p:cNvPicPr>
          <p:nvPr/>
        </p:nvPicPr>
        <p:blipFill>
          <a:blip r:embed="rId2"/>
          <a:srcRect l="0" r="0" t="0" b="0"/>
          <a:stretch/>
        </p:blipFill>
        <p:spPr>
          <a:xfrm>
            <a:off x="7188200" y="3314700"/>
            <a:ext cx="1955800" cy="101600"/>
          </a:xfrm>
          <a:prstGeom prst="rect">
            <a:avLst/>
          </a:prstGeom>
        </p:spPr>
      </p:pic>
      <p:pic>
        <p:nvPicPr>
          <p:cNvPr id="15" name="Image 2" descr="connector">    </p:cNvPr>
          <p:cNvPicPr>
            <a:picLocks noChangeAspect="1"/>
          </p:cNvPicPr>
          <p:nvPr/>
        </p:nvPicPr>
        <p:blipFill>
          <a:blip r:embed="rId3"/>
          <a:srcRect l="0" r="0" t="0" b="0"/>
          <a:stretch/>
        </p:blipFill>
        <p:spPr>
          <a:xfrm>
            <a:off x="3048000" y="3759200"/>
            <a:ext cx="1955800" cy="101600"/>
          </a:xfrm>
          <a:prstGeom prst="rect">
            <a:avLst/>
          </a:prstGeom>
        </p:spPr>
      </p:pic>
      <p:pic>
        <p:nvPicPr>
          <p:cNvPr id="16" name="Image 3" descr="connector">    </p:cNvPr>
          <p:cNvPicPr>
            <a:picLocks noChangeAspect="1"/>
          </p:cNvPicPr>
          <p:nvPr/>
        </p:nvPicPr>
        <p:blipFill>
          <a:blip r:embed="rId4"/>
          <a:srcRect l="0" r="0" t="0" b="0"/>
          <a:stretch/>
        </p:blipFill>
        <p:spPr>
          <a:xfrm>
            <a:off x="7188200" y="3759200"/>
            <a:ext cx="1955800" cy="101600"/>
          </a:xfrm>
          <a:prstGeom prst="rect">
            <a:avLst/>
          </a:prstGeom>
        </p:spPr>
      </p:pic>
      <p:pic>
        <p:nvPicPr>
          <p:cNvPr id="17" name="Image 4" descr="connector">    </p:cNvPr>
          <p:cNvPicPr>
            <a:picLocks noChangeAspect="1"/>
          </p:cNvPicPr>
          <p:nvPr/>
        </p:nvPicPr>
        <p:blipFill>
          <a:blip r:embed="rId5"/>
          <a:srcRect l="0" r="0" t="0" b="0"/>
          <a:stretch/>
        </p:blipFill>
        <p:spPr>
          <a:xfrm>
            <a:off x="1905000" y="2044700"/>
            <a:ext cx="101600" cy="990600"/>
          </a:xfrm>
          <a:prstGeom prst="rect">
            <a:avLst/>
          </a:prstGeom>
        </p:spPr>
      </p:pic>
      <p:pic>
        <p:nvPicPr>
          <p:cNvPr id="18" name="Image 5" descr="connector">    </p:cNvPr>
          <p:cNvPicPr>
            <a:picLocks noChangeAspect="1"/>
          </p:cNvPicPr>
          <p:nvPr/>
        </p:nvPicPr>
        <p:blipFill>
          <a:blip r:embed="rId6"/>
          <a:srcRect l="0" r="0" t="0" b="0"/>
          <a:stretch/>
        </p:blipFill>
        <p:spPr>
          <a:xfrm>
            <a:off x="1905000" y="2044700"/>
            <a:ext cx="8382000" cy="101600"/>
          </a:xfrm>
          <a:prstGeom prst="rect">
            <a:avLst/>
          </a:prstGeom>
        </p:spPr>
      </p:pic>
      <p:pic>
        <p:nvPicPr>
          <p:cNvPr id="19" name="Image 6" descr="connector">    </p:cNvPr>
          <p:cNvPicPr>
            <a:picLocks noChangeAspect="1"/>
          </p:cNvPicPr>
          <p:nvPr/>
        </p:nvPicPr>
        <p:blipFill>
          <a:blip r:embed="rId7"/>
          <a:srcRect l="0" r="0" t="0" b="0"/>
          <a:stretch/>
        </p:blipFill>
        <p:spPr>
          <a:xfrm>
            <a:off x="10185400" y="2044700"/>
            <a:ext cx="101600" cy="990600"/>
          </a:xfrm>
          <a:prstGeom prst="rect">
            <a:avLst/>
          </a:prstGeom>
        </p:spPr>
      </p:pic>
      <p:pic>
        <p:nvPicPr>
          <p:cNvPr id="20" name="Image 7" descr="connector">    </p:cNvPr>
          <p:cNvPicPr>
            <a:picLocks noChangeAspect="1"/>
          </p:cNvPicPr>
          <p:nvPr/>
        </p:nvPicPr>
        <p:blipFill>
          <a:blip r:embed="rId8"/>
          <a:srcRect l="0" r="0" t="0" b="0"/>
          <a:stretch/>
        </p:blipFill>
        <p:spPr>
          <a:xfrm>
            <a:off x="10185400" y="4076700"/>
            <a:ext cx="101600" cy="800100"/>
          </a:xfrm>
          <a:prstGeom prst="rect">
            <a:avLst/>
          </a:prstGeom>
        </p:spPr>
      </p:pic>
      <p:pic>
        <p:nvPicPr>
          <p:cNvPr id="21" name="Image 8" descr="connector">    </p:cNvPr>
          <p:cNvPicPr>
            <a:picLocks noChangeAspect="1"/>
          </p:cNvPicPr>
          <p:nvPr/>
        </p:nvPicPr>
        <p:blipFill>
          <a:blip r:embed="rId9"/>
          <a:srcRect l="0" r="0" t="0" b="0"/>
          <a:stretch/>
        </p:blipFill>
        <p:spPr>
          <a:xfrm>
            <a:off x="1905000" y="4775200"/>
            <a:ext cx="8382000" cy="101600"/>
          </a:xfrm>
          <a:prstGeom prst="rect">
            <a:avLst/>
          </a:prstGeom>
        </p:spPr>
      </p:pic>
      <p:pic>
        <p:nvPicPr>
          <p:cNvPr id="22" name="Image 9" descr="connector">    </p:cNvPr>
          <p:cNvPicPr>
            <a:picLocks noChangeAspect="1"/>
          </p:cNvPicPr>
          <p:nvPr/>
        </p:nvPicPr>
        <p:blipFill>
          <a:blip r:embed="rId10"/>
          <a:srcRect l="0" r="0" t="0" b="0"/>
          <a:stretch/>
        </p:blipFill>
        <p:spPr>
          <a:xfrm>
            <a:off x="1905000" y="4076700"/>
            <a:ext cx="101600" cy="800100"/>
          </a:xfrm>
          <a:prstGeom prst="rect">
            <a:avLst/>
          </a:prstGeom>
        </p:spPr>
      </p:pic>
      <p:sp>
        <p:nvSpPr>
          <p:cNvPr id="23" name="Text 11"/>
          <p:cNvSpPr/>
          <p:nvPr/>
        </p:nvSpPr>
        <p:spPr>
          <a:xfrm>
            <a:off x="2825750" y="1765300"/>
            <a:ext cx="65405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01FFF"/>
                </a:solidFill>
                <a:latin typeface="Poppins" pitchFamily="34" charset="0"/>
                <a:ea typeface="Poppins" pitchFamily="34" charset="-122"/>
                <a:cs typeface="Poppins" pitchFamily="34" charset="-120"/>
              </a:rPr>
              <a:t>4 → 6: classes become the domains and ranges of properties</a:t>
            </a:r>
            <a:endParaRPr lang="en-US" sz="1200" dirty="0"/>
          </a:p>
        </p:txBody>
      </p:sp>
      <p:sp>
        <p:nvSpPr>
          <p:cNvPr id="24" name="Text 12"/>
          <p:cNvSpPr/>
          <p:nvPr/>
        </p:nvSpPr>
        <p:spPr>
          <a:xfrm>
            <a:off x="3149473" y="2832100"/>
            <a:ext cx="1752854" cy="421481"/>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001FFF"/>
                </a:solidFill>
                <a:latin typeface="Poppins" pitchFamily="34" charset="0"/>
                <a:ea typeface="Poppins" pitchFamily="34" charset="-122"/>
                <a:cs typeface="Poppins" pitchFamily="34" charset="-120"/>
              </a:rPr>
              <a:t>Classes to attach properties to</a:t>
            </a:r>
            <a:endParaRPr lang="en-US" sz="1200" dirty="0"/>
          </a:p>
        </p:txBody>
      </p:sp>
      <p:sp>
        <p:nvSpPr>
          <p:cNvPr id="25" name="Text 13"/>
          <p:cNvSpPr/>
          <p:nvPr/>
        </p:nvSpPr>
        <p:spPr>
          <a:xfrm>
            <a:off x="7289673" y="2832100"/>
            <a:ext cx="1752854" cy="421481"/>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001FFF"/>
                </a:solidFill>
                <a:latin typeface="Poppins" pitchFamily="34" charset="0"/>
                <a:ea typeface="Poppins" pitchFamily="34" charset="-122"/>
                <a:cs typeface="Poppins" pitchFamily="34" charset="-120"/>
              </a:rPr>
              <a:t>Properties to axiomatize</a:t>
            </a:r>
            <a:endParaRPr lang="en-US" sz="1200" dirty="0"/>
          </a:p>
        </p:txBody>
      </p:sp>
      <p:sp>
        <p:nvSpPr>
          <p:cNvPr id="26" name="Text 14"/>
          <p:cNvSpPr/>
          <p:nvPr/>
        </p:nvSpPr>
        <p:spPr>
          <a:xfrm>
            <a:off x="3149473" y="3911600"/>
            <a:ext cx="1752854" cy="421481"/>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A8215A"/>
                </a:solidFill>
                <a:latin typeface="Poppins" pitchFamily="34" charset="0"/>
                <a:ea typeface="Poppins" pitchFamily="34" charset="-122"/>
                <a:cs typeface="Poppins" pitchFamily="34" charset="-120"/>
              </a:rPr>
              <a:t>Property placement reshapes classes</a:t>
            </a:r>
            <a:endParaRPr lang="en-US" sz="1200" dirty="0"/>
          </a:p>
        </p:txBody>
      </p:sp>
      <p:sp>
        <p:nvSpPr>
          <p:cNvPr id="27" name="Text 15"/>
          <p:cNvSpPr/>
          <p:nvPr/>
        </p:nvSpPr>
        <p:spPr>
          <a:xfrm>
            <a:off x="7289673" y="3911600"/>
            <a:ext cx="1752854" cy="421481"/>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A8215A"/>
                </a:solidFill>
                <a:latin typeface="Poppins" pitchFamily="34" charset="0"/>
                <a:ea typeface="Poppins" pitchFamily="34" charset="-122"/>
                <a:cs typeface="Poppins" pitchFamily="34" charset="-120"/>
              </a:rPr>
              <a:t>Max cardinality 0 drops a property</a:t>
            </a:r>
            <a:endParaRPr lang="en-US" sz="1200" dirty="0"/>
          </a:p>
        </p:txBody>
      </p:sp>
      <p:sp>
        <p:nvSpPr>
          <p:cNvPr id="28" name="Text 16"/>
          <p:cNvSpPr/>
          <p:nvPr/>
        </p:nvSpPr>
        <p:spPr>
          <a:xfrm>
            <a:off x="1975485" y="4927600"/>
            <a:ext cx="824103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A8215A"/>
                </a:solidFill>
                <a:latin typeface="Poppins" pitchFamily="34" charset="0"/>
                <a:ea typeface="Poppins" pitchFamily="34" charset="-122"/>
                <a:cs typeface="Poppins" pitchFamily="34" charset="-120"/>
              </a:rPr>
              <a:t>6 → 4: a new axiom, or a value needing its own class, adds a subclass</a:t>
            </a:r>
            <a:endParaRPr lang="en-US" sz="1200" dirty="0"/>
          </a:p>
        </p:txBody>
      </p:sp>
      <p:sp>
        <p:nvSpPr>
          <p:cNvPr id="29" name="Text 17"/>
          <p:cNvSpPr/>
          <p:nvPr/>
        </p:nvSpPr>
        <p:spPr>
          <a:xfrm>
            <a:off x="654304" y="5499100"/>
            <a:ext cx="10883392" cy="274241"/>
          </a:xfrm>
          <a:prstGeom prst="rect">
            <a:avLst/>
          </a:prstGeom>
          <a:noFill/>
          <a:ln/>
        </p:spPr>
        <p:txBody>
          <a:bodyPr wrap="square" lIns="0" tIns="0" rIns="0" bIns="0" rtlCol="0" anchor="t">
            <a:normAutofit/>
          </a:bodyPr>
          <a:lstStyle/>
          <a:p>
            <a:pPr algn="ctr" indent="0" marL="0">
              <a:lnSpc>
                <a:spcPts val="1960"/>
              </a:lnSpc>
              <a:buNone/>
            </a:pPr>
            <a:r>
              <a:rPr lang="en-US" sz="1400" i="1" dirty="0">
                <a:solidFill>
                  <a:srgbClr val="3B5C7F"/>
                </a:solidFill>
                <a:latin typeface="Poppins" pitchFamily="34" charset="0"/>
                <a:ea typeface="Poppins" pitchFamily="34" charset="-122"/>
                <a:cs typeface="Poppins" pitchFamily="34" charset="-120"/>
              </a:rPr>
              <a:t>“It is hard to do one of them first and then do the other.” Noy &amp; McGuinness</a:t>
            </a:r>
            <a:endParaRPr lang="en-US" sz="1400" dirty="0"/>
          </a:p>
        </p:txBody>
      </p:sp>
      <p:pic>
        <p:nvPicPr>
          <p:cNvPr id="30" name="Image 10" descr="Graphwise symbol">    </p:cNvPr>
          <p:cNvPicPr>
            <a:picLocks noChangeAspect="1"/>
          </p:cNvPicPr>
          <p:nvPr/>
        </p:nvPicPr>
        <p:blipFill>
          <a:blip r:embed="rId11"/>
          <a:srcRect l="-182" r="-182" t="0" b="0"/>
          <a:stretch/>
        </p:blipFill>
        <p:spPr>
          <a:xfrm>
            <a:off x="812800" y="6261100"/>
            <a:ext cx="203200" cy="209550"/>
          </a:xfrm>
          <a:prstGeom prst="rect">
            <a:avLst/>
          </a:prstGeom>
        </p:spPr>
      </p:pic>
      <p:sp>
        <p:nvSpPr>
          <p:cNvPr id="31" name="Text 18"/>
          <p:cNvSpPr/>
          <p:nvPr/>
        </p:nvSpPr>
        <p:spPr>
          <a:xfrm>
            <a:off x="1117600" y="62484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5C7F"/>
                </a:solidFill>
                <a:latin typeface="Poppins" pitchFamily="34" charset="0"/>
                <a:ea typeface="Poppins" pitchFamily="34" charset="-122"/>
                <a:cs typeface="Poppins" pitchFamily="34" charset="-120"/>
              </a:rPr>
              <a:t>Ontology Development 101 · Process &amp; dependencies</a:t>
            </a:r>
            <a:endParaRPr lang="en-US" sz="1200" dirty="0"/>
          </a:p>
        </p:txBody>
      </p:sp>
      <p:sp>
        <p:nvSpPr>
          <p:cNvPr id="32" name="Text 19"/>
          <p:cNvSpPr/>
          <p:nvPr/>
        </p:nvSpPr>
        <p:spPr>
          <a:xfrm>
            <a:off x="10058400" y="624840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B5C7F"/>
                </a:solidFill>
                <a:latin typeface="Poppins" pitchFamily="34" charset="0"/>
                <a:ea typeface="Poppins" pitchFamily="34" charset="-122"/>
                <a:cs typeface="Poppins"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4064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215A"/>
                </a:solidFill>
                <a:latin typeface="Poppins" pitchFamily="34" charset="0"/>
                <a:ea typeface="Poppins" pitchFamily="34" charset="-122"/>
                <a:cs typeface="Poppins" pitchFamily="34" charset="-120"/>
              </a:rPr>
              <a:t>INTERDEPENDENCY · FEEDBACK PATHS</a:t>
            </a:r>
            <a:endParaRPr lang="en-US" sz="1200" dirty="0"/>
          </a:p>
        </p:txBody>
      </p:sp>
      <p:sp>
        <p:nvSpPr>
          <p:cNvPr id="3" name="Text 1"/>
          <p:cNvSpPr/>
          <p:nvPr>
            <p:ph type="title"/>
          </p:nvPr>
        </p:nvSpPr>
        <p:spPr>
          <a:xfrm>
            <a:off x="812800" y="66040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220F60"/>
                </a:solidFill>
                <a:latin typeface="Poppins" pitchFamily="34" charset="0"/>
                <a:ea typeface="Poppins" pitchFamily="34" charset="-122"/>
                <a:cs typeface="Poppins" pitchFamily="34" charset="-120"/>
              </a:rPr>
              <a:t>What sends you back, and where</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12900"/>
          <a:ext cx="10553700" cy="2874169"/>
        </p:xfrm>
        <a:graphic>
          <a:graphicData uri="http://schemas.openxmlformats.org/drawingml/2006/table">
            <a:tbl>
              <a:tblPr/>
              <a:tblGrid>
                <a:gridCol w="1688592"/>
                <a:gridCol w="4432554"/>
                <a:gridCol w="4432554"/>
              </a:tblGrid>
              <a:tr h="359271">
                <a:tc>
                  <a:txBody>
                    <a:bodyPr/>
                    <a:lstStyle/>
                    <a:p>
                      <a:pPr indent="0" marL="0">
                        <a:lnSpc>
                          <a:spcPts val="1820"/>
                        </a:lnSpc>
                        <a:buNone/>
                      </a:pPr>
                      <a:r>
                        <a:rPr lang="en-US" sz="1300" b="1" dirty="0">
                          <a:solidFill>
                            <a:srgbClr val="FFFFFF"/>
                          </a:solidFill>
                          <a:latin typeface="Poppins" pitchFamily="34" charset="0"/>
                          <a:ea typeface="Poppins" pitchFamily="34" charset="-122"/>
                          <a:cs typeface="Poppins" pitchFamily="34" charset="-120"/>
                        </a:rPr>
                        <a:t>Path</a:t>
                      </a:r>
                      <a:endParaRPr lang="en-US" sz="1300" dirty="0">
                        <a:latin typeface="Poppins" charset="0"/>
                        <a:ea typeface="Poppins" charset="0"/>
                        <a:cs typeface="Poppi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1F104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F104F"/>
                      </a:solidFill>
                      <a:prstDash val="solid"/>
                      <a:round/>
                      <a:headEnd type="none" w="med" len="med"/>
                      <a:tailEnd type="none" w="med" len="med"/>
                    </a:lnB>
                    <a:solidFill>
                      <a:srgbClr val="220F60"/>
                    </a:solidFill>
                  </a:tcPr>
                </a:tc>
                <a:tc>
                  <a:txBody>
                    <a:bodyPr/>
                    <a:lstStyle/>
                    <a:p>
                      <a:pPr indent="0" marL="0">
                        <a:lnSpc>
                          <a:spcPts val="1820"/>
                        </a:lnSpc>
                        <a:buNone/>
                      </a:pPr>
                      <a:r>
                        <a:rPr lang="en-US" sz="1300" b="1" dirty="0">
                          <a:solidFill>
                            <a:srgbClr val="FFFFFF"/>
                          </a:solidFill>
                          <a:latin typeface="Poppins" pitchFamily="34" charset="0"/>
                          <a:ea typeface="Poppins" pitchFamily="34" charset="-122"/>
                          <a:cs typeface="Poppins" pitchFamily="34" charset="-120"/>
                        </a:rPr>
                        <a:t>Trigger</a:t>
                      </a:r>
                      <a:endParaRPr lang="en-US" sz="1300" dirty="0">
                        <a:latin typeface="Poppins" charset="0"/>
                        <a:ea typeface="Poppins" charset="0"/>
                        <a:cs typeface="Poppins" charset="0"/>
                      </a:endParaRPr>
                    </a:p>
                  </a:txBody>
                  <a:tcPr marL="57785" marR="57785" marT="57785" marB="57785" anchor="t">
                    <a:lnL w="12700" cap="flat" cmpd="sng" algn="ctr">
                      <a:solidFill>
                        <a:srgbClr val="1F104F"/>
                      </a:solidFill>
                      <a:prstDash val="solid"/>
                      <a:round/>
                      <a:headEnd type="none" w="med" len="med"/>
                      <a:tailEnd type="none" w="med" len="med"/>
                    </a:lnL>
                    <a:lnR w="12700" cap="flat" cmpd="sng" algn="ctr">
                      <a:solidFill>
                        <a:srgbClr val="1F104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F104F"/>
                      </a:solidFill>
                      <a:prstDash val="solid"/>
                      <a:round/>
                      <a:headEnd type="none" w="med" len="med"/>
                      <a:tailEnd type="none" w="med" len="med"/>
                    </a:lnB>
                    <a:solidFill>
                      <a:srgbClr val="220F60"/>
                    </a:solidFill>
                  </a:tcPr>
                </a:tc>
                <a:tc>
                  <a:txBody>
                    <a:bodyPr/>
                    <a:lstStyle/>
                    <a:p>
                      <a:pPr indent="0" marL="0">
                        <a:lnSpc>
                          <a:spcPts val="1820"/>
                        </a:lnSpc>
                        <a:buNone/>
                      </a:pPr>
                      <a:r>
                        <a:rPr lang="en-US" sz="1300" b="1" dirty="0">
                          <a:solidFill>
                            <a:srgbClr val="FFFFFF"/>
                          </a:solidFill>
                          <a:latin typeface="Poppins" pitchFamily="34" charset="0"/>
                          <a:ea typeface="Poppins" pitchFamily="34" charset="-122"/>
                          <a:cs typeface="Poppins" pitchFamily="34" charset="-120"/>
                        </a:rPr>
                        <a:t>Wine-domain example</a:t>
                      </a:r>
                      <a:endParaRPr lang="en-US" sz="1300" dirty="0">
                        <a:latin typeface="Poppins" charset="0"/>
                        <a:ea typeface="Poppins" charset="0"/>
                        <a:cs typeface="Poppins" charset="0"/>
                      </a:endParaRPr>
                    </a:p>
                  </a:txBody>
                  <a:tcPr marL="57785" marR="57785" marT="57785" marB="57785" anchor="t">
                    <a:lnL w="12700" cap="flat" cmpd="sng" algn="ctr">
                      <a:solidFill>
                        <a:srgbClr val="1F104F"/>
                      </a:solidFill>
                      <a:prstDash val="solid"/>
                      <a:round/>
                      <a:headEnd type="none" w="med" len="med"/>
                      <a:tailEnd type="none" w="med" len="med"/>
                    </a:lnL>
                    <a:lnR w="12700" cap="flat" cmpd="sng" algn="ctr">
                      <a:solidFill>
                        <a:srgbClr val="1F104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F104F"/>
                      </a:solidFill>
                      <a:prstDash val="solid"/>
                      <a:round/>
                      <a:headEnd type="none" w="med" len="med"/>
                      <a:tailEnd type="none" w="med" len="med"/>
                    </a:lnB>
                    <a:solidFill>
                      <a:srgbClr val="220F60"/>
                    </a:solidFill>
                  </a:tcPr>
                </a:tc>
              </a:tr>
              <a:tr h="359271">
                <a:tc>
                  <a:txBody>
                    <a:bodyPr/>
                    <a:lstStyle/>
                    <a:p>
                      <a:pPr indent="0" marL="0">
                        <a:lnSpc>
                          <a:spcPts val="1820"/>
                        </a:lnSpc>
                        <a:buNone/>
                      </a:pPr>
                      <a:r>
                        <a:rPr lang="en-US" sz="1300" dirty="0">
                          <a:solidFill>
                            <a:srgbClr val="15103A"/>
                          </a:solidFill>
                          <a:latin typeface="Poppins" pitchFamily="34" charset="0"/>
                          <a:ea typeface="Poppins" pitchFamily="34" charset="-122"/>
                          <a:cs typeface="Poppins" pitchFamily="34" charset="-120"/>
                        </a:rPr>
                        <a:t>8 → 1</a:t>
                      </a:r>
                      <a:endParaRPr lang="en-US" sz="1300" dirty="0">
                        <a:latin typeface="Poppins" charset="0"/>
                        <a:ea typeface="Poppins" charset="0"/>
                        <a:cs typeface="Poppi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F104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5103A"/>
                          </a:solidFill>
                          <a:latin typeface="Poppins" pitchFamily="34" charset="0"/>
                          <a:ea typeface="Poppins" pitchFamily="34" charset="-122"/>
                          <a:cs typeface="Poppins" pitchFamily="34" charset="-120"/>
                        </a:rPr>
                        <a:t>CQs fail or the scope was wrong</a:t>
                      </a:r>
                      <a:endParaRPr lang="en-US" sz="1300" dirty="0">
                        <a:latin typeface="Poppins" charset="0"/>
                        <a:ea typeface="Poppins" charset="0"/>
                        <a:cs typeface="Poppi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F104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5103A"/>
                          </a:solidFill>
                          <a:latin typeface="Poppins" pitchFamily="34" charset="0"/>
                          <a:ea typeface="Poppins" pitchFamily="34" charset="-122"/>
                          <a:cs typeface="Poppins" pitchFamily="34" charset="-120"/>
                        </a:rPr>
                        <a:t>New use case: restaurant inventory</a:t>
                      </a:r>
                      <a:endParaRPr lang="en-US" sz="1300" dirty="0">
                        <a:latin typeface="Poppins" charset="0"/>
                        <a:ea typeface="Poppins" charset="0"/>
                        <a:cs typeface="Poppi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F104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9271">
                <a:tc>
                  <a:txBody>
                    <a:bodyPr/>
                    <a:lstStyle/>
                    <a:p>
                      <a:pPr indent="0" marL="0">
                        <a:lnSpc>
                          <a:spcPts val="1820"/>
                        </a:lnSpc>
                        <a:buNone/>
                      </a:pPr>
                      <a:r>
                        <a:rPr lang="en-US" sz="1300" dirty="0">
                          <a:solidFill>
                            <a:srgbClr val="15103A"/>
                          </a:solidFill>
                          <a:latin typeface="Poppins" pitchFamily="34" charset="0"/>
                          <a:ea typeface="Poppins" pitchFamily="34" charset="-122"/>
                          <a:cs typeface="Poppins" pitchFamily="34" charset="-120"/>
                        </a:rPr>
                        <a:t>8 → 4·5·6</a:t>
                      </a:r>
                      <a:endParaRPr lang="en-US" sz="1300" dirty="0">
                        <a:latin typeface="Poppins" charset="0"/>
                        <a:ea typeface="Poppins" charset="0"/>
                        <a:cs typeface="Poppi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1C1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1C1C1"/>
                      </a:solidFill>
                      <a:prstDash val="solid"/>
                      <a:round/>
                      <a:headEnd type="none" w="med" len="med"/>
                      <a:tailEnd type="none" w="med" len="med"/>
                    </a:lnB>
                    <a:solidFill>
                      <a:srgbClr val="F2F2F2"/>
                    </a:solidFill>
                  </a:tcPr>
                </a:tc>
                <a:tc>
                  <a:txBody>
                    <a:bodyPr/>
                    <a:lstStyle/>
                    <a:p>
                      <a:pPr indent="0" marL="0">
                        <a:lnSpc>
                          <a:spcPts val="1820"/>
                        </a:lnSpc>
                        <a:buNone/>
                      </a:pPr>
                      <a:r>
                        <a:rPr lang="en-US" sz="1300" dirty="0">
                          <a:solidFill>
                            <a:srgbClr val="15103A"/>
                          </a:solidFill>
                          <a:latin typeface="Poppins" pitchFamily="34" charset="0"/>
                          <a:ea typeface="Poppins" pitchFamily="34" charset="-122"/>
                          <a:cs typeface="Poppins" pitchFamily="34" charset="-120"/>
                        </a:rPr>
                        <a:t>Errors or gaps found in use</a:t>
                      </a:r>
                      <a:endParaRPr lang="en-US" sz="1300" dirty="0">
                        <a:latin typeface="Poppins" charset="0"/>
                        <a:ea typeface="Poppins" charset="0"/>
                        <a:cs typeface="Poppins" charset="0"/>
                      </a:endParaRPr>
                    </a:p>
                  </a:txBody>
                  <a:tcPr marL="57785" marR="57785" marT="57785" marB="57785" anchor="t">
                    <a:lnL w="12700" cap="flat" cmpd="sng" algn="ctr">
                      <a:solidFill>
                        <a:srgbClr val="C1C1C1"/>
                      </a:solidFill>
                      <a:prstDash val="solid"/>
                      <a:round/>
                      <a:headEnd type="none" w="med" len="med"/>
                      <a:tailEnd type="none" w="med" len="med"/>
                    </a:lnL>
                    <a:lnR w="12700" cap="flat" cmpd="sng" algn="ctr">
                      <a:solidFill>
                        <a:srgbClr val="C1C1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1C1C1"/>
                      </a:solidFill>
                      <a:prstDash val="solid"/>
                      <a:round/>
                      <a:headEnd type="none" w="med" len="med"/>
                      <a:tailEnd type="none" w="med" len="med"/>
                    </a:lnB>
                    <a:solidFill>
                      <a:srgbClr val="F2F2F2"/>
                    </a:solidFill>
                  </a:tcPr>
                </a:tc>
                <a:tc>
                  <a:txBody>
                    <a:bodyPr/>
                    <a:lstStyle/>
                    <a:p>
                      <a:pPr indent="0" marL="0">
                        <a:lnSpc>
                          <a:spcPts val="1820"/>
                        </a:lnSpc>
                        <a:buNone/>
                      </a:pPr>
                      <a:r>
                        <a:rPr lang="en-US" sz="1300" dirty="0">
                          <a:solidFill>
                            <a:srgbClr val="15103A"/>
                          </a:solidFill>
                          <a:latin typeface="Poppins" pitchFamily="34" charset="0"/>
                          <a:ea typeface="Poppins" pitchFamily="34" charset="-122"/>
                          <a:cs typeface="Poppins" pitchFamily="34" charset="-120"/>
                        </a:rPr>
                        <a:t>Disjointness flags a Riesling–Port class</a:t>
                      </a:r>
                      <a:endParaRPr lang="en-US" sz="1300" dirty="0">
                        <a:latin typeface="Poppins" charset="0"/>
                        <a:ea typeface="Poppins" charset="0"/>
                        <a:cs typeface="Poppins" charset="0"/>
                      </a:endParaRPr>
                    </a:p>
                  </a:txBody>
                  <a:tcPr marL="57785" marR="57785" marT="57785" marB="57785" anchor="t">
                    <a:lnL w="12700" cap="flat" cmpd="sng" algn="ctr">
                      <a:solidFill>
                        <a:srgbClr val="C1C1C1"/>
                      </a:solidFill>
                      <a:prstDash val="solid"/>
                      <a:round/>
                      <a:headEnd type="none" w="med" len="med"/>
                      <a:tailEnd type="none" w="med" len="med"/>
                    </a:lnL>
                    <a:lnR w="12700" cap="flat" cmpd="sng" algn="ctr">
                      <a:solidFill>
                        <a:srgbClr val="C1C1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1C1C1"/>
                      </a:solidFill>
                      <a:prstDash val="solid"/>
                      <a:round/>
                      <a:headEnd type="none" w="med" len="med"/>
                      <a:tailEnd type="none" w="med" len="med"/>
                    </a:lnB>
                    <a:solidFill>
                      <a:srgbClr val="F2F2F2"/>
                    </a:solidFill>
                  </a:tcPr>
                </a:tc>
              </a:tr>
              <a:tr h="359271">
                <a:tc>
                  <a:txBody>
                    <a:bodyPr/>
                    <a:lstStyle/>
                    <a:p>
                      <a:pPr indent="0" marL="0">
                        <a:lnSpc>
                          <a:spcPts val="1820"/>
                        </a:lnSpc>
                        <a:buNone/>
                      </a:pPr>
                      <a:r>
                        <a:rPr lang="en-US" sz="1300" dirty="0">
                          <a:solidFill>
                            <a:srgbClr val="15103A"/>
                          </a:solidFill>
                          <a:latin typeface="Poppins" pitchFamily="34" charset="0"/>
                          <a:ea typeface="Poppins" pitchFamily="34" charset="-122"/>
                          <a:cs typeface="Poppins" pitchFamily="34" charset="-120"/>
                        </a:rPr>
                        <a:t>6 → 4</a:t>
                      </a:r>
                      <a:endParaRPr lang="en-US" sz="1300" dirty="0">
                        <a:latin typeface="Poppins" charset="0"/>
                        <a:ea typeface="Poppins" charset="0"/>
                        <a:cs typeface="Poppi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1C1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5103A"/>
                          </a:solidFill>
                          <a:latin typeface="Poppins" pitchFamily="34" charset="0"/>
                          <a:ea typeface="Poppins" pitchFamily="34" charset="-122"/>
                          <a:cs typeface="Poppins" pitchFamily="34" charset="-120"/>
                        </a:rPr>
                        <a:t>A subclass needs other axioms</a:t>
                      </a:r>
                      <a:endParaRPr lang="en-US" sz="1300" dirty="0">
                        <a:latin typeface="Poppins" charset="0"/>
                        <a:ea typeface="Poppins" charset="0"/>
                        <a:cs typeface="Poppi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1C1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5103A"/>
                          </a:solidFill>
                          <a:latin typeface="Poppins" pitchFamily="34" charset="0"/>
                          <a:ea typeface="Poppins" pitchFamily="34" charset="-122"/>
                          <a:cs typeface="Poppins" pitchFamily="34" charset="-120"/>
                        </a:rPr>
                        <a:t>Dessert wine: sugar fixed to SWEET</a:t>
                      </a:r>
                      <a:endParaRPr lang="en-US" sz="1300" dirty="0">
                        <a:latin typeface="Poppins" charset="0"/>
                        <a:ea typeface="Poppins" charset="0"/>
                        <a:cs typeface="Poppi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1C1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9271">
                <a:tc>
                  <a:txBody>
                    <a:bodyPr/>
                    <a:lstStyle/>
                    <a:p>
                      <a:pPr indent="0" marL="0">
                        <a:lnSpc>
                          <a:spcPts val="1820"/>
                        </a:lnSpc>
                        <a:buNone/>
                      </a:pPr>
                      <a:r>
                        <a:rPr lang="en-US" sz="1300" dirty="0">
                          <a:solidFill>
                            <a:srgbClr val="15103A"/>
                          </a:solidFill>
                          <a:latin typeface="Poppins" pitchFamily="34" charset="0"/>
                          <a:ea typeface="Poppins" pitchFamily="34" charset="-122"/>
                          <a:cs typeface="Poppins" pitchFamily="34" charset="-120"/>
                        </a:rPr>
                        <a:t>5 → 4</a:t>
                      </a:r>
                      <a:endParaRPr lang="en-US" sz="1300" dirty="0">
                        <a:latin typeface="Poppins" charset="0"/>
                        <a:ea typeface="Poppins" charset="0"/>
                        <a:cs typeface="Poppi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1C1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1C1C1"/>
                      </a:solidFill>
                      <a:prstDash val="solid"/>
                      <a:round/>
                      <a:headEnd type="none" w="med" len="med"/>
                      <a:tailEnd type="none" w="med" len="med"/>
                    </a:lnB>
                    <a:solidFill>
                      <a:srgbClr val="F2F2F2"/>
                    </a:solidFill>
                  </a:tcPr>
                </a:tc>
                <a:tc>
                  <a:txBody>
                    <a:bodyPr/>
                    <a:lstStyle/>
                    <a:p>
                      <a:pPr indent="0" marL="0">
                        <a:lnSpc>
                          <a:spcPts val="1820"/>
                        </a:lnSpc>
                        <a:buNone/>
                      </a:pPr>
                      <a:r>
                        <a:rPr lang="en-US" sz="1300" dirty="0">
                          <a:solidFill>
                            <a:srgbClr val="15103A"/>
                          </a:solidFill>
                          <a:latin typeface="Poppins" pitchFamily="34" charset="0"/>
                          <a:ea typeface="Poppins" pitchFamily="34" charset="-122"/>
                          <a:cs typeface="Poppins" pitchFamily="34" charset="-120"/>
                        </a:rPr>
                        <a:t>A property fits another tree level</a:t>
                      </a:r>
                      <a:endParaRPr lang="en-US" sz="1300" dirty="0">
                        <a:latin typeface="Poppins" charset="0"/>
                        <a:ea typeface="Poppins" charset="0"/>
                        <a:cs typeface="Poppins" charset="0"/>
                      </a:endParaRPr>
                    </a:p>
                  </a:txBody>
                  <a:tcPr marL="57785" marR="57785" marT="57785" marB="57785" anchor="t">
                    <a:lnL w="12700" cap="flat" cmpd="sng" algn="ctr">
                      <a:solidFill>
                        <a:srgbClr val="C1C1C1"/>
                      </a:solidFill>
                      <a:prstDash val="solid"/>
                      <a:round/>
                      <a:headEnd type="none" w="med" len="med"/>
                      <a:tailEnd type="none" w="med" len="med"/>
                    </a:lnL>
                    <a:lnR w="12700" cap="flat" cmpd="sng" algn="ctr">
                      <a:solidFill>
                        <a:srgbClr val="C1C1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1C1C1"/>
                      </a:solidFill>
                      <a:prstDash val="solid"/>
                      <a:round/>
                      <a:headEnd type="none" w="med" len="med"/>
                      <a:tailEnd type="none" w="med" len="med"/>
                    </a:lnB>
                    <a:solidFill>
                      <a:srgbClr val="F2F2F2"/>
                    </a:solidFill>
                  </a:tcPr>
                </a:tc>
                <a:tc>
                  <a:txBody>
                    <a:bodyPr/>
                    <a:lstStyle/>
                    <a:p>
                      <a:pPr indent="0" marL="0">
                        <a:lnSpc>
                          <a:spcPts val="1820"/>
                        </a:lnSpc>
                        <a:buNone/>
                      </a:pPr>
                      <a:r>
                        <a:rPr lang="en-US" sz="1300" dirty="0">
                          <a:solidFill>
                            <a:srgbClr val="15103A"/>
                          </a:solidFill>
                          <a:latin typeface="Poppins" pitchFamily="34" charset="0"/>
                          <a:ea typeface="Poppins" pitchFamily="34" charset="-122"/>
                          <a:cs typeface="Poppins" pitchFamily="34" charset="-120"/>
                        </a:rPr>
                        <a:t>Tannin level belongs on Red wine</a:t>
                      </a:r>
                      <a:endParaRPr lang="en-US" sz="1300" dirty="0">
                        <a:latin typeface="Poppins" charset="0"/>
                        <a:ea typeface="Poppins" charset="0"/>
                        <a:cs typeface="Poppins" charset="0"/>
                      </a:endParaRPr>
                    </a:p>
                  </a:txBody>
                  <a:tcPr marL="57785" marR="57785" marT="57785" marB="57785" anchor="t">
                    <a:lnL w="12700" cap="flat" cmpd="sng" algn="ctr">
                      <a:solidFill>
                        <a:srgbClr val="C1C1C1"/>
                      </a:solidFill>
                      <a:prstDash val="solid"/>
                      <a:round/>
                      <a:headEnd type="none" w="med" len="med"/>
                      <a:tailEnd type="none" w="med" len="med"/>
                    </a:lnL>
                    <a:lnR w="12700" cap="flat" cmpd="sng" algn="ctr">
                      <a:solidFill>
                        <a:srgbClr val="C1C1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1C1C1"/>
                      </a:solidFill>
                      <a:prstDash val="solid"/>
                      <a:round/>
                      <a:headEnd type="none" w="med" len="med"/>
                      <a:tailEnd type="none" w="med" len="med"/>
                    </a:lnB>
                    <a:solidFill>
                      <a:srgbClr val="F2F2F2"/>
                    </a:solidFill>
                  </a:tcPr>
                </a:tc>
              </a:tr>
              <a:tr h="359271">
                <a:tc>
                  <a:txBody>
                    <a:bodyPr/>
                    <a:lstStyle/>
                    <a:p>
                      <a:pPr indent="0" marL="0">
                        <a:lnSpc>
                          <a:spcPts val="1820"/>
                        </a:lnSpc>
                        <a:buNone/>
                      </a:pPr>
                      <a:r>
                        <a:rPr lang="en-US" sz="1300" dirty="0">
                          <a:solidFill>
                            <a:srgbClr val="15103A"/>
                          </a:solidFill>
                          <a:latin typeface="Poppins" pitchFamily="34" charset="0"/>
                          <a:ea typeface="Poppins" pitchFamily="34" charset="-122"/>
                          <a:cs typeface="Poppins" pitchFamily="34" charset="-120"/>
                        </a:rPr>
                        <a:t>7 → 4</a:t>
                      </a:r>
                      <a:endParaRPr lang="en-US" sz="1300" dirty="0">
                        <a:latin typeface="Poppins" charset="0"/>
                        <a:ea typeface="Poppins" charset="0"/>
                        <a:cs typeface="Poppi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1C1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5103A"/>
                          </a:solidFill>
                          <a:latin typeface="Poppins" pitchFamily="34" charset="0"/>
                          <a:ea typeface="Poppins" pitchFamily="34" charset="-122"/>
                          <a:cs typeface="Poppins" pitchFamily="34" charset="-120"/>
                        </a:rPr>
                        <a:t>Individuals keep changing class</a:t>
                      </a:r>
                      <a:endParaRPr lang="en-US" sz="1300" dirty="0">
                        <a:latin typeface="Poppins" charset="0"/>
                        <a:ea typeface="Poppins" charset="0"/>
                        <a:cs typeface="Poppi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1C1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5103A"/>
                          </a:solidFill>
                          <a:latin typeface="Poppins" pitchFamily="34" charset="0"/>
                          <a:ea typeface="Poppins" pitchFamily="34" charset="-122"/>
                          <a:cs typeface="Poppins" pitchFamily="34" charset="-120"/>
                        </a:rPr>
                        <a:t>Chilled wine becomes a property value</a:t>
                      </a:r>
                      <a:endParaRPr lang="en-US" sz="1300" dirty="0">
                        <a:latin typeface="Poppins" charset="0"/>
                        <a:ea typeface="Poppins" charset="0"/>
                        <a:cs typeface="Poppi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1C1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9271">
                <a:tc>
                  <a:txBody>
                    <a:bodyPr/>
                    <a:lstStyle/>
                    <a:p>
                      <a:pPr indent="0" marL="0">
                        <a:lnSpc>
                          <a:spcPts val="1820"/>
                        </a:lnSpc>
                        <a:buNone/>
                      </a:pPr>
                      <a:r>
                        <a:rPr lang="en-US" sz="1300" dirty="0">
                          <a:solidFill>
                            <a:srgbClr val="15103A"/>
                          </a:solidFill>
                          <a:latin typeface="Poppins" pitchFamily="34" charset="0"/>
                          <a:ea typeface="Poppins" pitchFamily="34" charset="-122"/>
                          <a:cs typeface="Poppins" pitchFamily="34" charset="-120"/>
                        </a:rPr>
                        <a:t>World → 4</a:t>
                      </a:r>
                      <a:endParaRPr lang="en-US" sz="1300" dirty="0">
                        <a:latin typeface="Poppins" charset="0"/>
                        <a:ea typeface="Poppins" charset="0"/>
                        <a:cs typeface="Poppi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1C1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1C1C1"/>
                      </a:solidFill>
                      <a:prstDash val="solid"/>
                      <a:round/>
                      <a:headEnd type="none" w="med" len="med"/>
                      <a:tailEnd type="none" w="med" len="med"/>
                    </a:lnB>
                    <a:solidFill>
                      <a:srgbClr val="F2F2F2"/>
                    </a:solidFill>
                  </a:tcPr>
                </a:tc>
                <a:tc>
                  <a:txBody>
                    <a:bodyPr/>
                    <a:lstStyle/>
                    <a:p>
                      <a:pPr indent="0" marL="0">
                        <a:lnSpc>
                          <a:spcPts val="1820"/>
                        </a:lnSpc>
                        <a:buNone/>
                      </a:pPr>
                      <a:r>
                        <a:rPr lang="en-US" sz="1300" dirty="0">
                          <a:solidFill>
                            <a:srgbClr val="15103A"/>
                          </a:solidFill>
                          <a:latin typeface="Poppins" pitchFamily="34" charset="0"/>
                          <a:ea typeface="Poppins" pitchFamily="34" charset="-122"/>
                          <a:cs typeface="Poppins" pitchFamily="34" charset="-120"/>
                        </a:rPr>
                        <a:t>The domain itself changes</a:t>
                      </a:r>
                      <a:endParaRPr lang="en-US" sz="1300" dirty="0">
                        <a:latin typeface="Poppins" charset="0"/>
                        <a:ea typeface="Poppins" charset="0"/>
                        <a:cs typeface="Poppins" charset="0"/>
                      </a:endParaRPr>
                    </a:p>
                  </a:txBody>
                  <a:tcPr marL="57785" marR="57785" marT="57785" marB="57785" anchor="t">
                    <a:lnL w="12700" cap="flat" cmpd="sng" algn="ctr">
                      <a:solidFill>
                        <a:srgbClr val="C1C1C1"/>
                      </a:solidFill>
                      <a:prstDash val="solid"/>
                      <a:round/>
                      <a:headEnd type="none" w="med" len="med"/>
                      <a:tailEnd type="none" w="med" len="med"/>
                    </a:lnL>
                    <a:lnR w="12700" cap="flat" cmpd="sng" algn="ctr">
                      <a:solidFill>
                        <a:srgbClr val="C1C1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1C1C1"/>
                      </a:solidFill>
                      <a:prstDash val="solid"/>
                      <a:round/>
                      <a:headEnd type="none" w="med" len="med"/>
                      <a:tailEnd type="none" w="med" len="med"/>
                    </a:lnB>
                    <a:solidFill>
                      <a:srgbClr val="F2F2F2"/>
                    </a:solidFill>
                  </a:tcPr>
                </a:tc>
                <a:tc>
                  <a:txBody>
                    <a:bodyPr/>
                    <a:lstStyle/>
                    <a:p>
                      <a:pPr indent="0" marL="0">
                        <a:lnSpc>
                          <a:spcPts val="1820"/>
                        </a:lnSpc>
                        <a:buNone/>
                      </a:pPr>
                      <a:r>
                        <a:rPr lang="en-US" sz="1300" dirty="0">
                          <a:solidFill>
                            <a:srgbClr val="15103A"/>
                          </a:solidFill>
                          <a:latin typeface="Poppins" pitchFamily="34" charset="0"/>
                          <a:ea typeface="Poppins" pitchFamily="34" charset="-122"/>
                          <a:cs typeface="Poppins" pitchFamily="34" charset="-120"/>
                        </a:rPr>
                        <a:t>White Zinfandel splits Zinfandel</a:t>
                      </a:r>
                      <a:endParaRPr lang="en-US" sz="1300" dirty="0">
                        <a:latin typeface="Poppins" charset="0"/>
                        <a:ea typeface="Poppins" charset="0"/>
                        <a:cs typeface="Poppins" charset="0"/>
                      </a:endParaRPr>
                    </a:p>
                  </a:txBody>
                  <a:tcPr marL="57785" marR="57785" marT="57785" marB="57785" anchor="t">
                    <a:lnL w="12700" cap="flat" cmpd="sng" algn="ctr">
                      <a:solidFill>
                        <a:srgbClr val="C1C1C1"/>
                      </a:solidFill>
                      <a:prstDash val="solid"/>
                      <a:round/>
                      <a:headEnd type="none" w="med" len="med"/>
                      <a:tailEnd type="none" w="med" len="med"/>
                    </a:lnL>
                    <a:lnR w="12700" cap="flat" cmpd="sng" algn="ctr">
                      <a:solidFill>
                        <a:srgbClr val="C1C1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1C1C1"/>
                      </a:solidFill>
                      <a:prstDash val="solid"/>
                      <a:round/>
                      <a:headEnd type="none" w="med" len="med"/>
                      <a:tailEnd type="none" w="med" len="med"/>
                    </a:lnB>
                    <a:solidFill>
                      <a:srgbClr val="F2F2F2"/>
                    </a:solidFill>
                  </a:tcPr>
                </a:tc>
              </a:tr>
              <a:tr h="359271">
                <a:tc>
                  <a:txBody>
                    <a:bodyPr/>
                    <a:lstStyle/>
                    <a:p>
                      <a:pPr indent="0" marL="0">
                        <a:lnSpc>
                          <a:spcPts val="1820"/>
                        </a:lnSpc>
                        <a:buNone/>
                      </a:pPr>
                      <a:r>
                        <a:rPr lang="en-US" sz="1300" dirty="0">
                          <a:solidFill>
                            <a:srgbClr val="15103A"/>
                          </a:solidFill>
                          <a:latin typeface="Poppins" pitchFamily="34" charset="0"/>
                          <a:ea typeface="Poppins" pitchFamily="34" charset="-122"/>
                          <a:cs typeface="Poppins" pitchFamily="34" charset="-120"/>
                        </a:rPr>
                        <a:t>4 → 3</a:t>
                      </a:r>
                      <a:endParaRPr lang="en-US" sz="1300" dirty="0">
                        <a:latin typeface="Poppins" charset="0"/>
                        <a:ea typeface="Poppins" charset="0"/>
                        <a:cs typeface="Poppi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1C1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5103A"/>
                          </a:solidFill>
                          <a:latin typeface="Poppins" pitchFamily="34" charset="0"/>
                          <a:ea typeface="Poppins" pitchFamily="34" charset="-122"/>
                          <a:cs typeface="Poppins" pitchFamily="34" charset="-120"/>
                        </a:rPr>
                        <a:t>The tree needs a missing concept</a:t>
                      </a:r>
                      <a:endParaRPr lang="en-US" sz="1300" dirty="0">
                        <a:latin typeface="Poppins" charset="0"/>
                        <a:ea typeface="Poppins" charset="0"/>
                        <a:cs typeface="Poppi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1C1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5103A"/>
                          </a:solidFill>
                          <a:latin typeface="Poppins" pitchFamily="34" charset="0"/>
                          <a:ea typeface="Poppins" pitchFamily="34" charset="-122"/>
                          <a:cs typeface="Poppins" pitchFamily="34" charset="-120"/>
                        </a:rPr>
                        <a:t>Medoc groups Pauillac and Margaux</a:t>
                      </a:r>
                      <a:endParaRPr lang="en-US" sz="1300" dirty="0">
                        <a:latin typeface="Poppins" charset="0"/>
                        <a:ea typeface="Poppins" charset="0"/>
                        <a:cs typeface="Poppi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1C1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pic>
        <p:nvPicPr>
          <p:cNvPr id="5" name="Image 0" descr="Graphwise symbol">    </p:cNvPr>
          <p:cNvPicPr>
            <a:picLocks noChangeAspect="1"/>
          </p:cNvPicPr>
          <p:nvPr/>
        </p:nvPicPr>
        <p:blipFill>
          <a:blip r:embed="rId1"/>
          <a:srcRect l="-182" r="-182" t="0" b="0"/>
          <a:stretch/>
        </p:blipFill>
        <p:spPr>
          <a:xfrm>
            <a:off x="812800" y="6261100"/>
            <a:ext cx="203200" cy="209550"/>
          </a:xfrm>
          <a:prstGeom prst="rect">
            <a:avLst/>
          </a:prstGeom>
        </p:spPr>
      </p:pic>
      <p:sp>
        <p:nvSpPr>
          <p:cNvPr id="6" name="Text 2"/>
          <p:cNvSpPr/>
          <p:nvPr/>
        </p:nvSpPr>
        <p:spPr>
          <a:xfrm>
            <a:off x="1117600" y="62484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5C7F"/>
                </a:solidFill>
                <a:latin typeface="Poppins" pitchFamily="34" charset="0"/>
                <a:ea typeface="Poppins" pitchFamily="34" charset="-122"/>
                <a:cs typeface="Poppins" pitchFamily="34" charset="-120"/>
              </a:rPr>
              <a:t>Ontology Development 101 · Process &amp; dependencies</a:t>
            </a:r>
            <a:endParaRPr lang="en-US" sz="1200" dirty="0"/>
          </a:p>
        </p:txBody>
      </p:sp>
      <p:sp>
        <p:nvSpPr>
          <p:cNvPr id="7" name="Text 3"/>
          <p:cNvSpPr/>
          <p:nvPr/>
        </p:nvSpPr>
        <p:spPr>
          <a:xfrm>
            <a:off x="10058400" y="624840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B5C7F"/>
                </a:solidFill>
                <a:latin typeface="Poppins" pitchFamily="34" charset="0"/>
                <a:ea typeface="Poppins" pitchFamily="34" charset="-122"/>
                <a:cs typeface="Poppins" pitchFamily="34" charset="-120"/>
              </a:rPr>
              <a:t>18</a:t>
            </a:r>
            <a:endParaRPr lang="en-US" sz="1200" dirty="0"/>
          </a:p>
        </p:txBody>
      </p:sp>
    </p:spTree>
  </p:cSld>
  <p:clrMapOvr>
    <a:masterClrMapping/>
  </p:clrMapOvr>
</p:sld>
</file>

<file path=ppt/theme/theme1.xml><?xml version="1.0" encoding="utf-8"?>
<a:theme xmlns:a="http://schemas.openxmlformats.org/drawingml/2006/main" name="Ontology Development 101 — Graphwise">
  <a:themeElements>
    <a:clrScheme name="Ontology Development 101 — Graphwise">
      <a:dk1>
        <a:srgbClr val="220F60"/>
      </a:dk1>
      <a:lt1>
        <a:srgbClr val="FFFFFF"/>
      </a:lt1>
      <a:dk2>
        <a:srgbClr val="594B88"/>
      </a:dk2>
      <a:lt2>
        <a:srgbClr val="E9E7EF"/>
      </a:lt2>
      <a:accent1>
        <a:srgbClr val="3B5C7F"/>
      </a:accent1>
      <a:accent2>
        <a:srgbClr val="001FFF"/>
      </a:accent2>
      <a:accent3>
        <a:srgbClr val="9FADFF"/>
      </a:accent3>
      <a:accent4>
        <a:srgbClr val="15103A"/>
      </a:accent4>
      <a:accent5>
        <a:srgbClr val="A8215A"/>
      </a:accent5>
      <a:accent6>
        <a:srgbClr val="DF367C"/>
      </a:accent6>
      <a:hlink>
        <a:srgbClr val="0563C1"/>
      </a:hlink>
      <a:folHlink>
        <a:srgbClr val="954F72"/>
      </a:folHlink>
    </a:clrScheme>
    <a:fontScheme name="Ontology Development 101 — Graphwise">
      <a:majorFont>
        <a:latin typeface="Poppi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oppi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Ontology Development 101 — Graphwise</dc:title>
  <dc:subject/>
  <dc:creator/>
  <cp:lastModifiedBy/>
  <cp:revision>1</cp:revision>
  <dcterms:created xsi:type="dcterms:W3CDTF">2026-10-12T08:54:15Z</dcterms:created>
  <dcterms:modified xsi:type="dcterms:W3CDTF">2026-10-12T08:54:15Z</dcterms:modified>
</cp:coreProperties>
</file>
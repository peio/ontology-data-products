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outline: one slide per methodology step. Detail for each slide is in tutorial/guide.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skills/graphwise-ontology-engineer/SKILL.md (Workflow), based on Noy and McGuinness, Ontology Development 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C1. Ask: if the answer key were wrong, would the test notice? No — Track B is only as good as its key. Step 8 shows this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C2. Three ways of reusing: alignment, direct use, reuse as data. Part 4 of the guide redoes this step with FIBO used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C3. Exercise: predict what each term becomes — class, property, taxonomy value, note, or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C4. Methodology §4.5: a class an instance belongs to should not change often. Membership is a relation, not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C5. Naming: UpperCamelCase classes, lowerCamelCase properties. Exception to discuss: revenueFY2024 puts the year in the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C6. OWL works in an open world: a missing fact is unknown, not false, so it cannot say 'must have'. SHACL checks the data as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C7. Exercise: give SAP a Financials subsector and watch the mapping refuse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C8a, C8b. TotalEnergies (195.6, in USD) was the 'largest company' — and the test passed, because the answer key made the same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module C9. Reproducible: with pinned dependencies every generated file rebuilds byte for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Part 4 (F0–F7). Neither model is right: light reuse is quicker and easier to read; deep reuse speaks the industry's language, at the price of inherited expectations and a billions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0F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2203373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8346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Building a tested ontology,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617720"/>
            <a:ext cx="1280160" cy="5486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1D8FE"/>
                </a:solidFill>
                <a:latin typeface="Poppins"/>
              </a:rPr>
              <a:t>The nine steps of the Graphwise ontology-engineer method, on the EURO STOXX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B5C7F"/>
                </a:solidFill>
                <a:latin typeface="Poppins"/>
              </a:rPr>
              <a:t>Presented by  </a:t>
            </a:r>
            <a:r>
              <a:rPr sz="1300" b="1" i="0">
                <a:solidFill>
                  <a:srgbClr val="FFFFFF"/>
                </a:solidFill>
                <a:latin typeface="Poppins"/>
              </a:rPr>
              <a:t>Peio Popov</a:t>
            </a:r>
            <a:r>
              <a:rPr sz="1300" b="0" i="0">
                <a:solidFill>
                  <a:srgbClr val="3B5C7F"/>
                </a:solidFill>
                <a:latin typeface="Poppins"/>
              </a:rPr>
              <a:t>      </a:t>
            </a:r>
            <a:r>
              <a:rPr sz="1300" b="0" i="0">
                <a:solidFill>
                  <a:srgbClr val="D1D8FE"/>
                </a:solidFill>
                <a:latin typeface="Poppins"/>
              </a:rPr>
              <a:t>AI Week Frankfurt ·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035040"/>
            <a:ext cx="5879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A5B3FE"/>
                </a:solidFill>
                <a:latin typeface="Poppins"/>
              </a:rPr>
              <a:t>AI THRIVES ON WHOLE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Nine steps, one tested ontology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08684" y="2505456"/>
            <a:ext cx="9371584" cy="0"/>
          </a:xfrm>
          <a:prstGeom prst="line">
            <a:avLst/>
          </a:prstGeom>
          <a:ln w="19050">
            <a:solidFill>
              <a:srgbClr val="9AA3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052068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Domain and scope</a:t>
            </a:r>
          </a:p>
        </p:txBody>
      </p:sp>
      <p:sp>
        <p:nvSpPr>
          <p:cNvPr id="6" name="Oval 5"/>
          <p:cNvSpPr/>
          <p:nvPr/>
        </p:nvSpPr>
        <p:spPr>
          <a:xfrm>
            <a:off x="2223516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0127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Reuse</a:t>
            </a:r>
          </a:p>
        </p:txBody>
      </p:sp>
      <p:sp>
        <p:nvSpPr>
          <p:cNvPr id="8" name="Oval 7"/>
          <p:cNvSpPr/>
          <p:nvPr/>
        </p:nvSpPr>
        <p:spPr>
          <a:xfrm>
            <a:off x="3394964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1575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Enumerate terms</a:t>
            </a:r>
          </a:p>
        </p:txBody>
      </p:sp>
      <p:sp>
        <p:nvSpPr>
          <p:cNvPr id="10" name="Oval 9"/>
          <p:cNvSpPr/>
          <p:nvPr/>
        </p:nvSpPr>
        <p:spPr>
          <a:xfrm>
            <a:off x="4566412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3024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Classes</a:t>
            </a:r>
          </a:p>
        </p:txBody>
      </p:sp>
      <p:sp>
        <p:nvSpPr>
          <p:cNvPr id="12" name="Oval 11"/>
          <p:cNvSpPr/>
          <p:nvPr/>
        </p:nvSpPr>
        <p:spPr>
          <a:xfrm>
            <a:off x="5737860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4472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Properties</a:t>
            </a:r>
          </a:p>
        </p:txBody>
      </p:sp>
      <p:sp>
        <p:nvSpPr>
          <p:cNvPr id="14" name="Oval 13"/>
          <p:cNvSpPr/>
          <p:nvPr/>
        </p:nvSpPr>
        <p:spPr>
          <a:xfrm>
            <a:off x="6909308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5920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Facets and constraints</a:t>
            </a:r>
          </a:p>
        </p:txBody>
      </p:sp>
      <p:sp>
        <p:nvSpPr>
          <p:cNvPr id="16" name="Oval 15"/>
          <p:cNvSpPr/>
          <p:nvPr/>
        </p:nvSpPr>
        <p:spPr>
          <a:xfrm>
            <a:off x="8080755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7368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Instances and test</a:t>
            </a:r>
          </a:p>
        </p:txBody>
      </p:sp>
      <p:sp>
        <p:nvSpPr>
          <p:cNvPr id="18" name="Oval 17"/>
          <p:cNvSpPr/>
          <p:nvPr/>
        </p:nvSpPr>
        <p:spPr>
          <a:xfrm>
            <a:off x="9252204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8816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Refine and iterate</a:t>
            </a:r>
          </a:p>
        </p:txBody>
      </p:sp>
      <p:sp>
        <p:nvSpPr>
          <p:cNvPr id="20" name="Oval 19"/>
          <p:cNvSpPr/>
          <p:nvPr/>
        </p:nvSpPr>
        <p:spPr>
          <a:xfrm>
            <a:off x="10423652" y="2148840"/>
            <a:ext cx="713232" cy="71323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Poppin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0264" y="3090672"/>
            <a:ext cx="10800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0F60"/>
                </a:solidFill>
                <a:latin typeface="Poppins"/>
              </a:rPr>
              <a:t>Document and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B5C7F"/>
                </a:solidFill>
                <a:latin typeface="Poppins"/>
              </a:rPr>
              <a:t>Steps 4 and 5 are interleaved. Steps 7 and 8 loop until the tests and the review both pass. Every decision, and what was rejected, goes in the decision log.</a:t>
            </a:r>
          </a:p>
        </p:txBody>
      </p:sp>
      <p:pic>
        <p:nvPicPr>
          <p:cNvPr id="23" name="Picture 2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1 · Domain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01FFF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Fix what the ontology covers, what it is for, and which questions it must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Scope, out-of-scope list, six competency questions with an independent answer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Domain: the 50 EURO STOXX 50 constituents, with country, ICB subsector and FY2024 revenue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A teaching example for workshop participants, maintained by Graphwise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Six business questions (B1–B6); the answer key is computed from the CSV, never from the graph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Two test tracks: is it built right (A), is it the right thing (B)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OUT OF SCOPE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Country currency, membership history, FX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Track B 6/6 against 45 expected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C1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2 · Reuse existing ontologies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DF367C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Reuse well-adopted vocabularies; mint as little as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Reuse table, gap list, import plan (none, by design)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schema.org for company, country, name and website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FIBO EquityIndex for the index: schema.org has no index class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ICB as a SKOS taxonomy (249 concepts), Wikidata countries, DCAT and PROV-O provenance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Align, don't import: local classes sit under the reused ones, and instances carry both types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REJECTED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Importing FIBO: about 132,600 triples for a 50-row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A1e reuse first · A1f visible without a reasoner · A1g no redeclared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C2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3 · Enumerate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01FFF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List every term, attribute and relation before deciding what is a class or a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16 terms, their relationships, and the fate of all 9 CSV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16 terms, including the ones that end up out of scope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Relationships: assigned to a country, classified in a subsector, constituent of an index, reports revenue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Columns: 5 mapped, 3 cross-checked and derived, 1 dropped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REJECTED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Dropping a column silently: every exclusion is listed and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A5b every CSV column is mapped or intentionally dropped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C3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4 · Classes and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DF367C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Choose the classes and their kind-of hierarchy; declare disjointness; use SKOS for terminology.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Three classes, each under a reused class, pairwise disjoint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Bottom-up: Company, Country, StockIndex, from what the source rows describe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Each a subclass of schema.org or FIBO, so local rules never touch terms we don't own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ICB stays a SKOS taxonomy linked by skos:broader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REJECTED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A EuroStoxx50Company class: members would migrate at every rebalancing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249 OWL classes for ICB: blurs things and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A1c no cycles · A1d every class justified · A2a no disjointness clash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C4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5 ·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01FFF"/>
                </a:solidFill>
                <a:latin typeface="Poppi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Attach each property at the most general class; declare domain, range, inverses, functional.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Six minted and two reused properties, with naming conventions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Link to the 8-digit subsector only; industry, sector and supersector are derived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One country property: the index-assigned country (Stellantis: domiciled NL, assigned IT)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Revenue next to its reporting currency; an inverse pair for index membership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REJECTED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Storing every ICB level: redundant, and can contradict itself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Separate domicile and headquarters: no question needs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A1a labels and definitions · A1b domain and range · A5c roll-up 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C5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6 · Facets and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DF367C"/>
                </a:solidFill>
                <a:latin typeface="Poppi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Cardinalities, value types, ranges and patterns as SHACL; OWL only where reasoning needs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SHACL shapes, each with a plain-language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OWL: disjoint classes, functional properties, the inverse pair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SHACL: exactly one of each fact, revenue ≥ 0, a three-letter currency, a real subsector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Three planted broken companies produce exactly three violations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KEY INSIGHT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Give a company two countries: OWL silently merges them; only SHACL raises an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A3a clean data conforms · A3b three planted violations caught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C6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7 · Instances and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01FFF"/>
                </a:solidFill>
                <a:latin typeface="Poppi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Populate the ontology with data and test it against the competency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50 companies, 650 triples, a test report per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Identifiers gwi:company-&lt;slug&gt;; Wikidata IRIs for countries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Provisional ICB subsectors; the mapping refuses any that don't roll up to the stated industry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Every company traces back to both source files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RESULT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Track A 22/22 · Track B 6/6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A5a 50 companies · A5c 50 of 50 consistent · A6a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C7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8 · Refine and iterate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DF367C"/>
                </a:solidFill>
                <a:latin typeface="Poppi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Fix what testing and review find, returning to the step where each problem began.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Two revisions; version 2.0.0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Revision 1, back to Steps 2 and 7: no schema.org types without a reasoner. Fix: dual typing, two new tests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Revision 2, back to Steps 1, 3 and 5: EUR and USD were summed. Fix: a reporting-currency property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DF367C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Also fixed: legal names that were short names, a namespace shared with other ontologies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LESSON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Every test passed both times. A green run proves only what the tests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Track A 20/20 → 22/22 · ontology 1.0.0 → 2.0.0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C8a, C8b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Step 9 · Document and deploy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56616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01FFF"/>
                </a:solidFill>
                <a:latin typeface="Poppi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Make the result usable without this conversation: documentation, versioning, deployment, maintenance.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5103A"/>
                </a:solidFill>
                <a:latin typeface="Poppins"/>
              </a:rPr>
              <a:t>Reference docs, semantic-layer explorer, GraphDB load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492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WHAT WE DID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Version 2.0.0 with prior version, licence CC BY 4.0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An explorer page for people who will never read Turtle or SPARQL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GraphDB with OWL2-RL; shapes as a SHACL graph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1FFF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Maintenance: full pipeline on every change; an assumption register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100" b="1">
                <a:solidFill>
                  <a:srgbClr val="220F60"/>
                </a:solidFill>
                <a:latin typeface="Poppins"/>
              </a:rPr>
              <a:t>TRAVELS WITH THE DATA</a:t>
            </a:r>
          </a:p>
          <a:p>
            <a:pPr marL="274320" indent="-27432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9AA3AD"/>
              </a:buClr>
              <a:buSzPct val="90000"/>
              <a:buFont typeface="Arial"/>
              <a:buChar char="●"/>
            </a:pPr>
            <a:r>
              <a:rPr sz="1500" b="0">
                <a:solidFill>
                  <a:srgbClr val="15103A"/>
                </a:solidFill>
                <a:latin typeface="Poppins"/>
              </a:rPr>
              <a:t>Provenance and caveats: figures approximate, subsectors provisional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440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15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B5C7F"/>
                </a:solidFill>
                <a:latin typeface="Poppins"/>
              </a:rPr>
              <a:t>A6a–A6c provenance, versions, caveats · B6 where a figure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23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B5C7F"/>
                </a:solidFill>
                <a:latin typeface="Poppins"/>
              </a:rPr>
              <a:t>GUIDE  C9</a:t>
            </a:r>
          </a:p>
        </p:txBody>
      </p:sp>
      <p:pic>
        <p:nvPicPr>
          <p:cNvPr id="13" name="Picture 12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0F60"/>
                </a:solidFill>
                <a:latin typeface="Poppins"/>
              </a:rPr>
              <a:t>Back to Step 2: the same data with FIBO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1FFF"/>
                </a:solidFill>
                <a:latin typeface="Poppins"/>
              </a:rPr>
              <a:t>Light reuse · ontology 2.0.0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514600"/>
            <a:ext cx="118872" cy="11887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4231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Local classes under schema.org and FIBO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017520"/>
            <a:ext cx="118872" cy="11887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92608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Revenue: a number plus a currency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20440"/>
            <a:ext cx="118872" cy="11887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Wikidata countries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23359"/>
            <a:ext cx="118872" cy="118872"/>
          </a:xfrm>
          <a:prstGeom prst="ellipse">
            <a:avLst/>
          </a:prstGeom>
          <a:solidFill>
            <a:srgbClr val="001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9319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9 minted terms · Track A 22/22, B 6/6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F367C"/>
                </a:solidFill>
                <a:latin typeface="Poppins"/>
              </a:rPr>
              <a:t>Deep reuse · FIBO variant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514600"/>
            <a:ext cx="118872" cy="118872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4231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28 FIBO, Commons and LCC terms, used as is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017520"/>
            <a:ext cx="118872" cy="118872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292608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Revenue node: currencies can't mix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520440"/>
            <a:ext cx="118872" cy="118872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34290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LCC countries; a flat index link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023359"/>
            <a:ext cx="118872" cy="118872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9319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15103A"/>
                </a:solidFill>
                <a:latin typeface="Poppins"/>
              </a:rPr>
              <a:t>5 minted terms · Track A 26/26, B 6/6</a:t>
            </a:r>
          </a:p>
        </p:txBody>
      </p:sp>
      <p:pic>
        <p:nvPicPr>
          <p:cNvPr id="21" name="Picture 20" descr="logo_symbo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300383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002975" y="6291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3B5C7F"/>
                </a:solidFill>
                <a:latin typeface="Poppins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335" y="6291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3B5C7F"/>
                </a:solidFill>
                <a:latin typeface="Poppins"/>
              </a:rPr>
              <a:t>GRAPHWISE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0F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2056482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6517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Poppins"/>
              </a:rPr>
              <a:t>Every decision recorded. Every answer tested.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206240"/>
            <a:ext cx="1280160" cy="5486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5C7F"/>
                </a:solidFill>
                <a:latin typeface="Poppins"/>
              </a:rPr>
              <a:t>Web   </a:t>
            </a:r>
            <a:r>
              <a:rPr sz="1400" b="0" i="0">
                <a:solidFill>
                  <a:srgbClr val="FFFFFF"/>
                </a:solidFill>
                <a:latin typeface="Poppins"/>
              </a:rPr>
              <a:t>graphwise.ai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5C7F"/>
                </a:solidFill>
                <a:latin typeface="Poppins"/>
              </a:rPr>
              <a:t>Code   </a:t>
            </a:r>
            <a:r>
              <a:rPr sz="1400" b="0" i="0">
                <a:solidFill>
                  <a:srgbClr val="FFFFFF"/>
                </a:solidFill>
                <a:latin typeface="Poppins"/>
              </a:rPr>
              <a:t>github.com/peio/ontology-data-products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126480"/>
            <a:ext cx="5879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A5B3FE"/>
                </a:solidFill>
                <a:latin typeface="Poppins"/>
              </a:rPr>
              <a:t>AI THRIVES ON WHOLE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
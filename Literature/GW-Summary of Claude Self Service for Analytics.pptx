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1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5306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summary of Anthropic's own write-up, with a short Graphwise read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argument on one slide. Use it to orient, then go deeper.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generative ability that makes coding agents useful is what makes analytics agents unreliable. Walk the three rows: context, generation, verification.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Everything after this slide is about making the mapping reliable.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 modes. They recur through the rest of the deck as a colour key.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read bottom-up. The pills show which of the three failure modes each layer attacks.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01. The metadata panel on the right is the point of the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02. A descending trust ladder — the agent tries the semantic layer first.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that failed, and the pattern behind all four surfaces: humans own the definitions.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Vendor-neutral summary. Strip the implementation away and the four layers ask for the same four things.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turn in the deck. Map each requirement onto what the platform ships by default.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leave with. Then stop talking.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laude.com/blog/how-anthropic-enables-self-service-data-analytics-with-claud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0F60"/>
        </a:solidFill>
        <a:effectLst/>
      </p:bgPr>
    </p:bg>
    <p:spTree>
      <p:nvGrpSpPr>
        <p:cNvPr id="1" name=""/>
        <p:cNvGrpSpPr/>
        <p:nvPr/>
      </p:nvGrpSpPr>
      <p:grpSpPr>
        <a:xfrm>
          <a:off x="0" y="0"/>
          <a:ext cx="0" cy="0"/>
          <a:chOff x="0" y="0"/>
          <a:chExt cx="0" cy="0"/>
        </a:xfrm>
      </p:grpSpPr>
      <p:sp>
        <p:nvSpPr>
          <p:cNvPr id="2" name="Text 0"/>
          <p:cNvSpPr/>
          <p:nvPr/>
        </p:nvSpPr>
        <p:spPr>
          <a:xfrm>
            <a:off x="838150" y="990575"/>
            <a:ext cx="18272869" cy="421953"/>
          </a:xfrm>
          <a:prstGeom prst="rect">
            <a:avLst/>
          </a:prstGeom>
          <a:noFill/>
          <a:ln/>
        </p:spPr>
        <p:txBody>
          <a:bodyPr wrap="square" lIns="25400" tIns="25400" rIns="25400" bIns="25400" rtlCol="0" anchor="t">
            <a:normAutofit/>
          </a:bodyPr>
          <a:lstStyle/>
          <a:p>
            <a:pPr marL="0" indent="0" algn="l">
              <a:lnSpc>
                <a:spcPct val="102894"/>
              </a:lnSpc>
              <a:buNone/>
            </a:pPr>
            <a:r>
              <a:rPr lang="en-US" sz="1950" kern="0" spc="341" dirty="0">
                <a:solidFill>
                  <a:srgbClr val="8FA6C4"/>
                </a:solidFill>
                <a:latin typeface="Poppins" pitchFamily="34" charset="0"/>
                <a:ea typeface="Poppins" pitchFamily="34" charset="-122"/>
                <a:cs typeface="Poppins" pitchFamily="34" charset="-120"/>
              </a:rPr>
              <a:t>TAKEAWAYS FROM ANTHROPIC</a:t>
            </a:r>
            <a:endParaRPr lang="en-US" sz="1950" dirty="0"/>
          </a:p>
        </p:txBody>
      </p:sp>
      <p:sp>
        <p:nvSpPr>
          <p:cNvPr id="3" name="Text 1"/>
          <p:cNvSpPr/>
          <p:nvPr/>
        </p:nvSpPr>
        <p:spPr>
          <a:xfrm>
            <a:off x="838150" y="1793503"/>
            <a:ext cx="13931265" cy="1903412"/>
          </a:xfrm>
          <a:prstGeom prst="rect">
            <a:avLst/>
          </a:prstGeom>
          <a:noFill/>
          <a:ln/>
        </p:spPr>
        <p:txBody>
          <a:bodyPr wrap="square" lIns="25400" tIns="25400" rIns="25400" bIns="25400" rtlCol="0" anchor="t">
            <a:normAutofit/>
          </a:bodyPr>
          <a:lstStyle/>
          <a:p>
            <a:pPr marL="0" indent="0" algn="l">
              <a:lnSpc>
                <a:spcPct val="67921"/>
              </a:lnSpc>
              <a:buNone/>
            </a:pPr>
            <a:r>
              <a:rPr lang="en-US" sz="7200" b="1" kern="0" spc="-144" dirty="0">
                <a:solidFill>
                  <a:srgbClr val="FFFFFF"/>
                </a:solidFill>
                <a:latin typeface="Poppins" pitchFamily="34" charset="0"/>
                <a:ea typeface="Poppins" pitchFamily="34" charset="-122"/>
                <a:cs typeface="Poppins" pitchFamily="34" charset="-120"/>
              </a:rPr>
              <a:t>What it takes to make agentic analytics reliable</a:t>
            </a:r>
            <a:endParaRPr lang="en-US" sz="7200" dirty="0"/>
          </a:p>
        </p:txBody>
      </p:sp>
      <p:sp>
        <p:nvSpPr>
          <p:cNvPr id="4" name="Text 2"/>
          <p:cNvSpPr/>
          <p:nvPr/>
        </p:nvSpPr>
        <p:spPr>
          <a:xfrm>
            <a:off x="838150" y="4077891"/>
            <a:ext cx="11772900" cy="2038288"/>
          </a:xfrm>
          <a:prstGeom prst="rect">
            <a:avLst/>
          </a:prstGeom>
          <a:noFill/>
          <a:ln/>
        </p:spPr>
        <p:txBody>
          <a:bodyPr wrap="square" lIns="25400" tIns="25400" rIns="25400" bIns="25400" rtlCol="0" anchor="t">
            <a:normAutofit/>
          </a:bodyPr>
          <a:lstStyle/>
          <a:p>
            <a:pPr marL="0" indent="0" algn="l">
              <a:lnSpc>
                <a:spcPct val="93333"/>
              </a:lnSpc>
              <a:buNone/>
            </a:pPr>
            <a:r>
              <a:rPr lang="en-US" sz="2250" dirty="0">
                <a:solidFill>
                  <a:srgbClr val="FFFFFF"/>
                </a:solidFill>
                <a:latin typeface="Poppins" pitchFamily="34" charset="0"/>
                <a:ea typeface="Poppins" pitchFamily="34" charset="-122"/>
                <a:cs typeface="Poppins" pitchFamily="34" charset="-120"/>
              </a:rPr>
              <a:t>A summary of Anthropic's post "How Anthropic enables self-service data analytics with Claude". The findings, layers and failure modes are theirs; the closing two slides are the Graphwise read on them.</a:t>
            </a:r>
            <a:endParaRPr lang="en-US" sz="2250" dirty="0"/>
          </a:p>
        </p:txBody>
      </p:sp>
      <p:sp>
        <p:nvSpPr>
          <p:cNvPr id="5" name="Text 3"/>
          <p:cNvSpPr/>
          <p:nvPr/>
        </p:nvSpPr>
        <p:spPr>
          <a:xfrm>
            <a:off x="838150" y="6344729"/>
            <a:ext cx="18272869" cy="358080"/>
          </a:xfrm>
          <a:prstGeom prst="rect">
            <a:avLst/>
          </a:prstGeom>
          <a:noFill/>
          <a:ln/>
        </p:spPr>
        <p:txBody>
          <a:bodyPr wrap="square" lIns="25400" tIns="25400" rIns="25400" bIns="25400" rtlCol="0" anchor="t">
            <a:normAutofit/>
          </a:bodyPr>
          <a:lstStyle/>
          <a:p>
            <a:pPr marL="0" indent="0" algn="l">
              <a:lnSpc>
                <a:spcPct val="93767"/>
              </a:lnSpc>
              <a:buNone/>
            </a:pPr>
            <a:r>
              <a:rPr lang="en-US" sz="1800" dirty="0">
                <a:solidFill>
                  <a:srgbClr val="9AA3AD"/>
                </a:solidFill>
                <a:latin typeface="Poppins" pitchFamily="34" charset="0"/>
                <a:ea typeface="Poppins" pitchFamily="34" charset="-122"/>
                <a:cs typeface="Poppins" pitchFamily="34" charset="-120"/>
              </a:rPr>
              <a:t>Original post: </a:t>
            </a:r>
            <a:r>
              <a:rPr lang="en-US" sz="1800" u="sng" dirty="0">
                <a:solidFill>
                  <a:srgbClr val="001FFF"/>
                </a:solidFill>
                <a:latin typeface="Poppins" pitchFamily="34" charset="0"/>
                <a:ea typeface="Poppins" pitchFamily="34" charset="-122"/>
                <a:cs typeface="Poppins" pitchFamily="34" charset="-120"/>
                <a:hlinkClick r:id="rId3">
                  <a:extLst>
                    <a:ext uri="{A12FA001-AC4F-418D-AE19-62706E023703}">
                      <ahyp:hlinkClr xmlns:ahyp="http://schemas.microsoft.com/office/drawing/2018/hyperlinkcolor" val="tx"/>
                    </a:ext>
                  </a:extLst>
                </a:hlinkClick>
              </a:rPr>
              <a:t>claude.com/blog/how-anthropic-enables-self-service-data-analytics-with-claude</a:t>
            </a:r>
            <a:endParaRPr lang="en-US" sz="1800" dirty="0"/>
          </a:p>
        </p:txBody>
      </p:sp>
      <p:sp>
        <p:nvSpPr>
          <p:cNvPr id="6" name="Text 4"/>
          <p:cNvSpPr/>
          <p:nvPr/>
        </p:nvSpPr>
        <p:spPr>
          <a:xfrm>
            <a:off x="838150" y="9293572"/>
            <a:ext cx="4853347" cy="421953"/>
          </a:xfrm>
          <a:prstGeom prst="rect">
            <a:avLst/>
          </a:prstGeom>
          <a:noFill/>
          <a:ln/>
        </p:spPr>
        <p:txBody>
          <a:bodyPr wrap="square" lIns="25400" tIns="25400" rIns="25400" bIns="25400" rtlCol="0" anchor="t">
            <a:normAutofit/>
          </a:bodyPr>
          <a:lstStyle/>
          <a:p>
            <a:pPr marL="0" indent="0" algn="l">
              <a:lnSpc>
                <a:spcPct val="102894"/>
              </a:lnSpc>
              <a:buNone/>
            </a:pPr>
            <a:r>
              <a:rPr lang="en-US" sz="1950" kern="0" spc="341" dirty="0">
                <a:solidFill>
                  <a:srgbClr val="DF367C"/>
                </a:solidFill>
                <a:latin typeface="Poppins" pitchFamily="34" charset="0"/>
                <a:ea typeface="Poppins" pitchFamily="34" charset="-122"/>
                <a:cs typeface="Poppins" pitchFamily="34" charset="-120"/>
              </a:rPr>
              <a:t>AI THRIVES ON WHOLE DATA</a:t>
            </a:r>
            <a:endParaRPr lang="en-US" sz="1950" dirty="0"/>
          </a:p>
        </p:txBody>
      </p:sp>
      <p:pic>
        <p:nvPicPr>
          <p:cNvPr id="7" name="Image 0" descr="preencoded.png"/>
          <p:cNvPicPr>
            <a:picLocks noChangeAspect="1"/>
          </p:cNvPicPr>
          <p:nvPr/>
        </p:nvPicPr>
        <p:blipFill>
          <a:blip r:embed="rId4"/>
          <a:stretch>
            <a:fillRect/>
          </a:stretch>
        </p:blipFill>
        <p:spPr>
          <a:xfrm>
            <a:off x="15937507" y="9334562"/>
            <a:ext cx="1512342" cy="3428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a:effectLst/>
      </p:bgPr>
    </p:bg>
    <p:spTree>
      <p:nvGrpSpPr>
        <p:cNvPr id="1" name=""/>
        <p:cNvGrpSpPr/>
        <p:nvPr/>
      </p:nvGrpSpPr>
      <p:grpSpPr>
        <a:xfrm>
          <a:off x="0" y="0"/>
          <a:ext cx="0" cy="0"/>
          <a:chOff x="0" y="0"/>
          <a:chExt cx="0" cy="0"/>
        </a:xfrm>
      </p:grpSpPr>
      <p:sp>
        <p:nvSpPr>
          <p:cNvPr id="2" name="Text 0"/>
          <p:cNvSpPr/>
          <p:nvPr/>
        </p:nvSpPr>
        <p:spPr>
          <a:xfrm>
            <a:off x="838150" y="685788"/>
            <a:ext cx="18272869"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315" dirty="0">
                <a:solidFill>
                  <a:srgbClr val="3B5C7F"/>
                </a:solidFill>
                <a:latin typeface="Poppins" pitchFamily="34" charset="0"/>
                <a:ea typeface="Poppins" pitchFamily="34" charset="-122"/>
                <a:cs typeface="Poppins" pitchFamily="34" charset="-120"/>
              </a:rPr>
              <a:t>THE ARGUMENT IN BRIEF</a:t>
            </a:r>
            <a:endParaRPr lang="en-US" sz="1800" dirty="0"/>
          </a:p>
        </p:txBody>
      </p:sp>
      <p:sp>
        <p:nvSpPr>
          <p:cNvPr id="3" name="Text 1"/>
          <p:cNvSpPr/>
          <p:nvPr/>
        </p:nvSpPr>
        <p:spPr>
          <a:xfrm>
            <a:off x="838150" y="1211461"/>
            <a:ext cx="18272869" cy="658155"/>
          </a:xfrm>
          <a:prstGeom prst="rect">
            <a:avLst/>
          </a:prstGeom>
          <a:noFill/>
          <a:ln/>
        </p:spPr>
        <p:txBody>
          <a:bodyPr wrap="square" lIns="25400" tIns="25400" rIns="25400" bIns="25400" rtlCol="0" anchor="t">
            <a:normAutofit/>
          </a:bodyPr>
          <a:lstStyle/>
          <a:p>
            <a:pPr marL="0" indent="0" algn="l">
              <a:lnSpc>
                <a:spcPct val="70063"/>
              </a:lnSpc>
              <a:buNone/>
            </a:pPr>
            <a:r>
              <a:rPr lang="en-US" sz="4650" b="1" kern="0" spc="-93" dirty="0">
                <a:solidFill>
                  <a:srgbClr val="220F60"/>
                </a:solidFill>
                <a:latin typeface="Poppins" pitchFamily="34" charset="0"/>
                <a:ea typeface="Poppins" pitchFamily="34" charset="-122"/>
                <a:cs typeface="Poppins" pitchFamily="34" charset="-120"/>
              </a:rPr>
              <a:t>Summary of the key points</a:t>
            </a:r>
            <a:endParaRPr lang="en-US" sz="4650" dirty="0"/>
          </a:p>
        </p:txBody>
      </p:sp>
      <p:sp>
        <p:nvSpPr>
          <p:cNvPr id="4" name="Shape 2"/>
          <p:cNvSpPr/>
          <p:nvPr/>
        </p:nvSpPr>
        <p:spPr>
          <a:xfrm>
            <a:off x="838150" y="2250591"/>
            <a:ext cx="8001062" cy="9525"/>
          </a:xfrm>
          <a:prstGeom prst="rect">
            <a:avLst/>
          </a:prstGeom>
          <a:solidFill>
            <a:srgbClr val="9AA3AD"/>
          </a:solidFill>
          <a:ln/>
        </p:spPr>
        <p:txBody>
          <a:bodyPr/>
          <a:lstStyle/>
          <a:p>
            <a:endParaRPr lang="en-US"/>
          </a:p>
        </p:txBody>
      </p:sp>
      <p:sp>
        <p:nvSpPr>
          <p:cNvPr id="5" name="Text 3"/>
          <p:cNvSpPr/>
          <p:nvPr/>
        </p:nvSpPr>
        <p:spPr>
          <a:xfrm>
            <a:off x="838150" y="2449029"/>
            <a:ext cx="8801168" cy="480988"/>
          </a:xfrm>
          <a:prstGeom prst="rect">
            <a:avLst/>
          </a:prstGeom>
          <a:noFill/>
          <a:ln/>
        </p:spPr>
        <p:txBody>
          <a:bodyPr wrap="square" lIns="25400" tIns="25400" rIns="25400" bIns="25400" rtlCol="0" anchor="t">
            <a:normAutofit/>
          </a:bodyPr>
          <a:lstStyle/>
          <a:p>
            <a:pPr marL="0" indent="0" algn="l">
              <a:lnSpc>
                <a:spcPct val="103333"/>
              </a:lnSpc>
              <a:buNone/>
            </a:pPr>
            <a:r>
              <a:rPr lang="en-US" sz="2250" b="1" dirty="0">
                <a:solidFill>
                  <a:srgbClr val="220F60"/>
                </a:solidFill>
                <a:latin typeface="Poppins" pitchFamily="34" charset="0"/>
                <a:ea typeface="Poppins" pitchFamily="34" charset="-122"/>
                <a:cs typeface="Poppins" pitchFamily="34" charset="-120"/>
              </a:rPr>
              <a:t>Analytics is not software engineering</a:t>
            </a:r>
            <a:endParaRPr lang="en-US" sz="2250" dirty="0"/>
          </a:p>
        </p:txBody>
      </p:sp>
      <p:sp>
        <p:nvSpPr>
          <p:cNvPr id="6" name="Text 4"/>
          <p:cNvSpPr/>
          <p:nvPr/>
        </p:nvSpPr>
        <p:spPr>
          <a:xfrm>
            <a:off x="838150" y="2968067"/>
            <a:ext cx="8241093" cy="1038225"/>
          </a:xfrm>
          <a:prstGeom prst="rect">
            <a:avLst/>
          </a:prstGeom>
          <a:noFill/>
          <a:ln/>
        </p:spPr>
        <p:txBody>
          <a:bodyPr wrap="square" lIns="25400" tIns="25400" rIns="25400" bIns="25400" rtlCol="0" anchor="t">
            <a:normAutofit/>
          </a:bodyPr>
          <a:lstStyle/>
          <a:p>
            <a:pPr marL="0" indent="0" algn="l">
              <a:lnSpc>
                <a:spcPct val="93333"/>
              </a:lnSpc>
              <a:buNone/>
            </a:pPr>
            <a:r>
              <a:rPr lang="en-US" sz="1875" dirty="0">
                <a:solidFill>
                  <a:srgbClr val="15103A"/>
                </a:solidFill>
                <a:latin typeface="Poppins" pitchFamily="34" charset="0"/>
                <a:ea typeface="Poppins" pitchFamily="34" charset="-122"/>
                <a:cs typeface="Poppins" pitchFamily="34" charset="-120"/>
              </a:rPr>
              <a:t>Coding has documentation, compilers and tests. Analytics has undocumented fields, one correct approach and no deterministic way to prove the answer.</a:t>
            </a:r>
            <a:endParaRPr lang="en-US" sz="1875" dirty="0"/>
          </a:p>
        </p:txBody>
      </p:sp>
      <p:sp>
        <p:nvSpPr>
          <p:cNvPr id="7" name="Shape 5"/>
          <p:cNvSpPr/>
          <p:nvPr/>
        </p:nvSpPr>
        <p:spPr>
          <a:xfrm>
            <a:off x="9448787" y="2250591"/>
            <a:ext cx="8001062" cy="9525"/>
          </a:xfrm>
          <a:prstGeom prst="rect">
            <a:avLst/>
          </a:prstGeom>
          <a:solidFill>
            <a:srgbClr val="9AA3AD"/>
          </a:solidFill>
          <a:ln/>
        </p:spPr>
        <p:txBody>
          <a:bodyPr/>
          <a:lstStyle/>
          <a:p>
            <a:endParaRPr lang="en-US"/>
          </a:p>
        </p:txBody>
      </p:sp>
      <p:sp>
        <p:nvSpPr>
          <p:cNvPr id="8" name="Text 6"/>
          <p:cNvSpPr/>
          <p:nvPr/>
        </p:nvSpPr>
        <p:spPr>
          <a:xfrm>
            <a:off x="9448787" y="2449029"/>
            <a:ext cx="8801168" cy="480988"/>
          </a:xfrm>
          <a:prstGeom prst="rect">
            <a:avLst/>
          </a:prstGeom>
          <a:noFill/>
          <a:ln/>
        </p:spPr>
        <p:txBody>
          <a:bodyPr wrap="square" lIns="25400" tIns="25400" rIns="25400" bIns="25400" rtlCol="0" anchor="t">
            <a:normAutofit/>
          </a:bodyPr>
          <a:lstStyle/>
          <a:p>
            <a:pPr marL="0" indent="0" algn="l">
              <a:lnSpc>
                <a:spcPct val="103333"/>
              </a:lnSpc>
              <a:buNone/>
            </a:pPr>
            <a:r>
              <a:rPr lang="en-US" sz="2250" b="1" dirty="0">
                <a:solidFill>
                  <a:srgbClr val="220F60"/>
                </a:solidFill>
                <a:latin typeface="Poppins" pitchFamily="34" charset="0"/>
                <a:ea typeface="Poppins" pitchFamily="34" charset="-122"/>
                <a:cs typeface="Poppins" pitchFamily="34" charset="-120"/>
              </a:rPr>
              <a:t>The bottleneck is mapping, not retrieval (SQL or SPARQL)</a:t>
            </a:r>
            <a:endParaRPr lang="en-US" sz="2250" dirty="0"/>
          </a:p>
        </p:txBody>
      </p:sp>
      <p:sp>
        <p:nvSpPr>
          <p:cNvPr id="9" name="Text 7"/>
          <p:cNvSpPr/>
          <p:nvPr/>
        </p:nvSpPr>
        <p:spPr>
          <a:xfrm>
            <a:off x="9448787" y="2968067"/>
            <a:ext cx="8241093" cy="704850"/>
          </a:xfrm>
          <a:prstGeom prst="rect">
            <a:avLst/>
          </a:prstGeom>
          <a:noFill/>
          <a:ln/>
        </p:spPr>
        <p:txBody>
          <a:bodyPr wrap="square" lIns="25400" tIns="25400" rIns="25400" bIns="25400" rtlCol="0" anchor="t">
            <a:normAutofit/>
          </a:bodyPr>
          <a:lstStyle/>
          <a:p>
            <a:pPr marL="0" indent="0" algn="l">
              <a:lnSpc>
                <a:spcPct val="93333"/>
              </a:lnSpc>
              <a:buNone/>
            </a:pPr>
            <a:r>
              <a:rPr lang="en-US" sz="1875" dirty="0">
                <a:solidFill>
                  <a:srgbClr val="15103A"/>
                </a:solidFill>
                <a:latin typeface="Poppins" pitchFamily="34" charset="0"/>
                <a:ea typeface="Poppins" pitchFamily="34" charset="-122"/>
                <a:cs typeface="Poppins" pitchFamily="34" charset="-120"/>
              </a:rPr>
              <a:t>The hard part is resolving a question to specific, current entities in the data model and knowing the correct way to work with them.</a:t>
            </a:r>
            <a:endParaRPr lang="en-US" sz="1875" dirty="0"/>
          </a:p>
        </p:txBody>
      </p:sp>
      <p:sp>
        <p:nvSpPr>
          <p:cNvPr id="10" name="Shape 8"/>
          <p:cNvSpPr/>
          <p:nvPr/>
        </p:nvSpPr>
        <p:spPr>
          <a:xfrm>
            <a:off x="838150" y="4234842"/>
            <a:ext cx="8001062" cy="9525"/>
          </a:xfrm>
          <a:prstGeom prst="rect">
            <a:avLst/>
          </a:prstGeom>
          <a:solidFill>
            <a:srgbClr val="9AA3AD"/>
          </a:solidFill>
          <a:ln/>
        </p:spPr>
        <p:txBody>
          <a:bodyPr/>
          <a:lstStyle/>
          <a:p>
            <a:endParaRPr lang="en-US"/>
          </a:p>
        </p:txBody>
      </p:sp>
      <p:sp>
        <p:nvSpPr>
          <p:cNvPr id="11" name="Text 9"/>
          <p:cNvSpPr/>
          <p:nvPr/>
        </p:nvSpPr>
        <p:spPr>
          <a:xfrm>
            <a:off x="838150" y="4433280"/>
            <a:ext cx="8801168" cy="480988"/>
          </a:xfrm>
          <a:prstGeom prst="rect">
            <a:avLst/>
          </a:prstGeom>
          <a:noFill/>
          <a:ln/>
        </p:spPr>
        <p:txBody>
          <a:bodyPr wrap="square" lIns="25400" tIns="25400" rIns="25400" bIns="25400" rtlCol="0" anchor="t">
            <a:normAutofit/>
          </a:bodyPr>
          <a:lstStyle/>
          <a:p>
            <a:pPr marL="0" indent="0" algn="l">
              <a:lnSpc>
                <a:spcPct val="103333"/>
              </a:lnSpc>
              <a:buNone/>
            </a:pPr>
            <a:r>
              <a:rPr lang="en-US" sz="2250" b="1" dirty="0">
                <a:solidFill>
                  <a:srgbClr val="220F60"/>
                </a:solidFill>
                <a:latin typeface="Poppins" pitchFamily="34" charset="0"/>
                <a:ea typeface="Poppins" pitchFamily="34" charset="-122"/>
                <a:cs typeface="Poppins" pitchFamily="34" charset="-120"/>
              </a:rPr>
              <a:t>Three failure modes account for most errors</a:t>
            </a:r>
            <a:endParaRPr lang="en-US" sz="2250" dirty="0"/>
          </a:p>
        </p:txBody>
      </p:sp>
      <p:sp>
        <p:nvSpPr>
          <p:cNvPr id="12" name="Text 10"/>
          <p:cNvSpPr/>
          <p:nvPr/>
        </p:nvSpPr>
        <p:spPr>
          <a:xfrm>
            <a:off x="838150" y="4952316"/>
            <a:ext cx="8241093" cy="1120121"/>
          </a:xfrm>
          <a:prstGeom prst="rect">
            <a:avLst/>
          </a:prstGeom>
          <a:noFill/>
          <a:ln/>
        </p:spPr>
        <p:txBody>
          <a:bodyPr wrap="square" lIns="25400" tIns="25400" rIns="25400" bIns="25400" rtlCol="0" anchor="t">
            <a:normAutofit/>
          </a:bodyPr>
          <a:lstStyle/>
          <a:p>
            <a:pPr marL="457200" indent="-457200" algn="l">
              <a:lnSpc>
                <a:spcPct val="93333"/>
              </a:lnSpc>
              <a:buFont typeface="+mj-lt"/>
              <a:buAutoNum type="arabicPeriod"/>
            </a:pPr>
            <a:r>
              <a:rPr lang="en-US" sz="1875" dirty="0">
                <a:solidFill>
                  <a:srgbClr val="15103A"/>
                </a:solidFill>
                <a:latin typeface="Poppins" pitchFamily="34" charset="0"/>
                <a:ea typeface="Poppins" pitchFamily="34" charset="-122"/>
                <a:cs typeface="Poppins" pitchFamily="34" charset="-120"/>
              </a:rPr>
              <a:t>Concept-to-entity ambiguity, </a:t>
            </a:r>
          </a:p>
          <a:p>
            <a:pPr marL="457200" indent="-457200" algn="l">
              <a:lnSpc>
                <a:spcPct val="93333"/>
              </a:lnSpc>
              <a:buFont typeface="+mj-lt"/>
              <a:buAutoNum type="arabicPeriod"/>
            </a:pPr>
            <a:r>
              <a:rPr lang="en-US" sz="1875" dirty="0">
                <a:solidFill>
                  <a:srgbClr val="15103A"/>
                </a:solidFill>
                <a:latin typeface="Poppins" pitchFamily="34" charset="0"/>
                <a:ea typeface="Poppins" pitchFamily="34" charset="-122"/>
                <a:cs typeface="Poppins" pitchFamily="34" charset="-120"/>
              </a:rPr>
              <a:t>data staleness, and </a:t>
            </a:r>
          </a:p>
          <a:p>
            <a:pPr marL="457200" indent="-457200" algn="l">
              <a:lnSpc>
                <a:spcPct val="93333"/>
              </a:lnSpc>
              <a:buFont typeface="+mj-lt"/>
              <a:buAutoNum type="arabicPeriod"/>
            </a:pPr>
            <a:r>
              <a:rPr lang="en-US" sz="1875" dirty="0">
                <a:solidFill>
                  <a:srgbClr val="15103A"/>
                </a:solidFill>
                <a:latin typeface="Poppins" pitchFamily="34" charset="0"/>
                <a:ea typeface="Poppins" pitchFamily="34" charset="-122"/>
                <a:cs typeface="Poppins" pitchFamily="34" charset="-120"/>
              </a:rPr>
              <a:t>retrieval failure over a search space too large for the agent to navigate.</a:t>
            </a:r>
            <a:endParaRPr lang="en-US" sz="1875" dirty="0"/>
          </a:p>
        </p:txBody>
      </p:sp>
      <p:sp>
        <p:nvSpPr>
          <p:cNvPr id="13" name="Shape 11"/>
          <p:cNvSpPr/>
          <p:nvPr/>
        </p:nvSpPr>
        <p:spPr>
          <a:xfrm>
            <a:off x="9448787" y="4234842"/>
            <a:ext cx="8001062" cy="9525"/>
          </a:xfrm>
          <a:prstGeom prst="rect">
            <a:avLst/>
          </a:prstGeom>
          <a:solidFill>
            <a:srgbClr val="9AA3AD"/>
          </a:solidFill>
          <a:ln/>
        </p:spPr>
        <p:txBody>
          <a:bodyPr/>
          <a:lstStyle/>
          <a:p>
            <a:endParaRPr lang="en-US"/>
          </a:p>
        </p:txBody>
      </p:sp>
      <p:sp>
        <p:nvSpPr>
          <p:cNvPr id="14" name="Text 12"/>
          <p:cNvSpPr/>
          <p:nvPr/>
        </p:nvSpPr>
        <p:spPr>
          <a:xfrm>
            <a:off x="9448787" y="4433280"/>
            <a:ext cx="8801168" cy="480988"/>
          </a:xfrm>
          <a:prstGeom prst="rect">
            <a:avLst/>
          </a:prstGeom>
          <a:noFill/>
          <a:ln/>
        </p:spPr>
        <p:txBody>
          <a:bodyPr wrap="square" lIns="25400" tIns="25400" rIns="25400" bIns="25400" rtlCol="0" anchor="t">
            <a:normAutofit/>
          </a:bodyPr>
          <a:lstStyle/>
          <a:p>
            <a:pPr marL="0" indent="0" algn="l">
              <a:lnSpc>
                <a:spcPct val="103333"/>
              </a:lnSpc>
              <a:buNone/>
            </a:pPr>
            <a:r>
              <a:rPr lang="en-US" sz="2250" b="1" dirty="0">
                <a:solidFill>
                  <a:srgbClr val="220F60"/>
                </a:solidFill>
                <a:latin typeface="Poppins" pitchFamily="34" charset="0"/>
                <a:ea typeface="Poppins" pitchFamily="34" charset="-122"/>
                <a:cs typeface="Poppins" pitchFamily="34" charset="-120"/>
              </a:rPr>
              <a:t>Four layers answer them</a:t>
            </a:r>
            <a:endParaRPr lang="en-US" sz="2250" dirty="0"/>
          </a:p>
        </p:txBody>
      </p:sp>
      <p:sp>
        <p:nvSpPr>
          <p:cNvPr id="15" name="Text 13"/>
          <p:cNvSpPr/>
          <p:nvPr/>
        </p:nvSpPr>
        <p:spPr>
          <a:xfrm>
            <a:off x="9448787" y="4806292"/>
            <a:ext cx="8241093" cy="1403275"/>
          </a:xfrm>
          <a:prstGeom prst="rect">
            <a:avLst/>
          </a:prstGeom>
          <a:noFill/>
          <a:ln/>
        </p:spPr>
        <p:txBody>
          <a:bodyPr wrap="square" lIns="25400" tIns="25400" rIns="25400" bIns="25400" rtlCol="0" anchor="t">
            <a:normAutofit fontScale="92500" lnSpcReduction="10000"/>
          </a:bodyPr>
          <a:lstStyle/>
          <a:p>
            <a:pPr marL="457200" indent="-457200" algn="l">
              <a:lnSpc>
                <a:spcPct val="93333"/>
              </a:lnSpc>
              <a:buFont typeface="+mj-lt"/>
              <a:buAutoNum type="arabicPeriod"/>
            </a:pPr>
            <a:r>
              <a:rPr lang="en-US" sz="1875" dirty="0">
                <a:solidFill>
                  <a:srgbClr val="15103A"/>
                </a:solidFill>
                <a:latin typeface="Poppins" pitchFamily="34" charset="0"/>
                <a:ea typeface="Poppins" pitchFamily="34" charset="-122"/>
                <a:cs typeface="Poppins" pitchFamily="34" charset="-120"/>
              </a:rPr>
              <a:t>Data foundations, </a:t>
            </a:r>
          </a:p>
          <a:p>
            <a:pPr marL="457200" indent="-457200" algn="l">
              <a:lnSpc>
                <a:spcPct val="93333"/>
              </a:lnSpc>
              <a:buFont typeface="+mj-lt"/>
              <a:buAutoNum type="arabicPeriod"/>
            </a:pPr>
            <a:r>
              <a:rPr lang="en-US" sz="1875" dirty="0">
                <a:solidFill>
                  <a:srgbClr val="15103A"/>
                </a:solidFill>
                <a:latin typeface="Poppins" pitchFamily="34" charset="0"/>
                <a:ea typeface="Poppins" pitchFamily="34" charset="-122"/>
                <a:cs typeface="Poppins" pitchFamily="34" charset="-120"/>
              </a:rPr>
              <a:t>sources of truth, </a:t>
            </a:r>
          </a:p>
          <a:p>
            <a:pPr marL="457200" indent="-457200" algn="l">
              <a:lnSpc>
                <a:spcPct val="93333"/>
              </a:lnSpc>
              <a:buFont typeface="+mj-lt"/>
              <a:buAutoNum type="arabicPeriod"/>
            </a:pPr>
            <a:r>
              <a:rPr lang="en-US" sz="1875" dirty="0">
                <a:solidFill>
                  <a:srgbClr val="15103A"/>
                </a:solidFill>
                <a:latin typeface="Poppins" pitchFamily="34" charset="0"/>
                <a:ea typeface="Poppins" pitchFamily="34" charset="-122"/>
                <a:cs typeface="Poppins" pitchFamily="34" charset="-120"/>
              </a:rPr>
              <a:t>skills and </a:t>
            </a:r>
          </a:p>
          <a:p>
            <a:pPr marL="457200" indent="-457200" algn="l">
              <a:lnSpc>
                <a:spcPct val="93333"/>
              </a:lnSpc>
              <a:buFont typeface="+mj-lt"/>
              <a:buAutoNum type="arabicPeriod"/>
            </a:pPr>
            <a:r>
              <a:rPr lang="en-US" sz="1875" dirty="0">
                <a:solidFill>
                  <a:srgbClr val="15103A"/>
                </a:solidFill>
                <a:latin typeface="Poppins" pitchFamily="34" charset="0"/>
                <a:ea typeface="Poppins" pitchFamily="34" charset="-122"/>
                <a:cs typeface="Poppins" pitchFamily="34" charset="-120"/>
              </a:rPr>
              <a:t>validation </a:t>
            </a:r>
          </a:p>
          <a:p>
            <a:pPr marL="0" indent="0" algn="l">
              <a:lnSpc>
                <a:spcPct val="93333"/>
              </a:lnSpc>
              <a:buNone/>
            </a:pPr>
            <a:r>
              <a:rPr lang="en-US" sz="1875" dirty="0">
                <a:solidFill>
                  <a:srgbClr val="15103A"/>
                </a:solidFill>
                <a:latin typeface="Poppins" pitchFamily="34" charset="0"/>
                <a:ea typeface="Poppins" pitchFamily="34" charset="-122"/>
                <a:cs typeface="Poppins" pitchFamily="34" charset="-120"/>
              </a:rPr>
              <a:t>each attacking a specific failure mode rather than a generic accuracy problem.</a:t>
            </a:r>
            <a:endParaRPr lang="en-US" sz="1875" dirty="0"/>
          </a:p>
        </p:txBody>
      </p:sp>
      <p:sp>
        <p:nvSpPr>
          <p:cNvPr id="16" name="Shape 14"/>
          <p:cNvSpPr/>
          <p:nvPr/>
        </p:nvSpPr>
        <p:spPr>
          <a:xfrm>
            <a:off x="838150" y="6219093"/>
            <a:ext cx="8001062" cy="9525"/>
          </a:xfrm>
          <a:prstGeom prst="rect">
            <a:avLst/>
          </a:prstGeom>
          <a:solidFill>
            <a:srgbClr val="9AA3AD"/>
          </a:solidFill>
          <a:ln/>
        </p:spPr>
        <p:txBody>
          <a:bodyPr/>
          <a:lstStyle/>
          <a:p>
            <a:endParaRPr lang="en-US"/>
          </a:p>
        </p:txBody>
      </p:sp>
      <p:sp>
        <p:nvSpPr>
          <p:cNvPr id="17" name="Text 15"/>
          <p:cNvSpPr/>
          <p:nvPr/>
        </p:nvSpPr>
        <p:spPr>
          <a:xfrm>
            <a:off x="838150" y="6417530"/>
            <a:ext cx="8801168" cy="480988"/>
          </a:xfrm>
          <a:prstGeom prst="rect">
            <a:avLst/>
          </a:prstGeom>
          <a:noFill/>
          <a:ln/>
        </p:spPr>
        <p:txBody>
          <a:bodyPr wrap="square" lIns="25400" tIns="25400" rIns="25400" bIns="25400" rtlCol="0" anchor="t">
            <a:normAutofit/>
          </a:bodyPr>
          <a:lstStyle/>
          <a:p>
            <a:pPr marL="0" indent="0" algn="l">
              <a:lnSpc>
                <a:spcPct val="103333"/>
              </a:lnSpc>
              <a:buNone/>
            </a:pPr>
            <a:r>
              <a:rPr lang="en-US" sz="2250" b="1" dirty="0">
                <a:solidFill>
                  <a:srgbClr val="220F60"/>
                </a:solidFill>
                <a:latin typeface="Poppins" pitchFamily="34" charset="0"/>
                <a:ea typeface="Poppins" pitchFamily="34" charset="-122"/>
                <a:cs typeface="Poppins" pitchFamily="34" charset="-120"/>
              </a:rPr>
              <a:t>Metadata is the interface agents read</a:t>
            </a:r>
            <a:endParaRPr lang="en-US" sz="2250" dirty="0"/>
          </a:p>
        </p:txBody>
      </p:sp>
      <p:sp>
        <p:nvSpPr>
          <p:cNvPr id="18" name="Text 16"/>
          <p:cNvSpPr/>
          <p:nvPr/>
        </p:nvSpPr>
        <p:spPr>
          <a:xfrm>
            <a:off x="838150" y="6936568"/>
            <a:ext cx="8241093" cy="1038225"/>
          </a:xfrm>
          <a:prstGeom prst="rect">
            <a:avLst/>
          </a:prstGeom>
          <a:noFill/>
          <a:ln/>
        </p:spPr>
        <p:txBody>
          <a:bodyPr wrap="square" lIns="25400" tIns="25400" rIns="25400" bIns="25400" rtlCol="0" anchor="t">
            <a:normAutofit/>
          </a:bodyPr>
          <a:lstStyle/>
          <a:p>
            <a:pPr marL="0" indent="0" algn="l">
              <a:lnSpc>
                <a:spcPct val="93333"/>
              </a:lnSpc>
              <a:buNone/>
            </a:pPr>
            <a:r>
              <a:rPr lang="en-US" sz="1875" dirty="0">
                <a:solidFill>
                  <a:srgbClr val="15103A"/>
                </a:solidFill>
                <a:latin typeface="Poppins" pitchFamily="34" charset="0"/>
                <a:ea typeface="Poppins" pitchFamily="34" charset="-122"/>
                <a:cs typeface="Poppins" pitchFamily="34" charset="-120"/>
              </a:rPr>
              <a:t>Definitions, granularity, lineage and ownership make a warehouse as legible as a codebase — and are best expressed as meaningful relationships.</a:t>
            </a:r>
            <a:endParaRPr lang="en-US" sz="1875" dirty="0"/>
          </a:p>
        </p:txBody>
      </p:sp>
      <p:sp>
        <p:nvSpPr>
          <p:cNvPr id="19" name="Shape 17"/>
          <p:cNvSpPr/>
          <p:nvPr/>
        </p:nvSpPr>
        <p:spPr>
          <a:xfrm>
            <a:off x="9448787" y="6219093"/>
            <a:ext cx="8001062" cy="9525"/>
          </a:xfrm>
          <a:prstGeom prst="rect">
            <a:avLst/>
          </a:prstGeom>
          <a:solidFill>
            <a:srgbClr val="9AA3AD"/>
          </a:solidFill>
          <a:ln/>
        </p:spPr>
        <p:txBody>
          <a:bodyPr/>
          <a:lstStyle/>
          <a:p>
            <a:endParaRPr lang="en-US"/>
          </a:p>
        </p:txBody>
      </p:sp>
      <p:sp>
        <p:nvSpPr>
          <p:cNvPr id="20" name="Text 18"/>
          <p:cNvSpPr/>
          <p:nvPr/>
        </p:nvSpPr>
        <p:spPr>
          <a:xfrm>
            <a:off x="9448787" y="6417530"/>
            <a:ext cx="8801168" cy="480988"/>
          </a:xfrm>
          <a:prstGeom prst="rect">
            <a:avLst/>
          </a:prstGeom>
          <a:noFill/>
          <a:ln/>
        </p:spPr>
        <p:txBody>
          <a:bodyPr wrap="square" lIns="25400" tIns="25400" rIns="25400" bIns="25400" rtlCol="0" anchor="t">
            <a:normAutofit/>
          </a:bodyPr>
          <a:lstStyle/>
          <a:p>
            <a:pPr marL="0" indent="0" algn="l">
              <a:lnSpc>
                <a:spcPct val="103333"/>
              </a:lnSpc>
              <a:buNone/>
            </a:pPr>
            <a:r>
              <a:rPr lang="en-US" sz="2250" b="1" dirty="0">
                <a:solidFill>
                  <a:srgbClr val="220F60"/>
                </a:solidFill>
                <a:latin typeface="Poppins" pitchFamily="34" charset="0"/>
                <a:ea typeface="Poppins" pitchFamily="34" charset="-122"/>
                <a:cs typeface="Poppins" pitchFamily="34" charset="-120"/>
              </a:rPr>
              <a:t>Curation beats generation</a:t>
            </a:r>
            <a:endParaRPr lang="en-US" sz="2250" dirty="0"/>
          </a:p>
        </p:txBody>
      </p:sp>
      <p:sp>
        <p:nvSpPr>
          <p:cNvPr id="21" name="Text 19"/>
          <p:cNvSpPr/>
          <p:nvPr/>
        </p:nvSpPr>
        <p:spPr>
          <a:xfrm>
            <a:off x="9448787" y="6936568"/>
            <a:ext cx="8241093" cy="1038225"/>
          </a:xfrm>
          <a:prstGeom prst="rect">
            <a:avLst/>
          </a:prstGeom>
          <a:noFill/>
          <a:ln/>
        </p:spPr>
        <p:txBody>
          <a:bodyPr wrap="square" lIns="25400" tIns="25400" rIns="25400" bIns="25400" rtlCol="0" anchor="t">
            <a:normAutofit/>
          </a:bodyPr>
          <a:lstStyle/>
          <a:p>
            <a:pPr marL="0" indent="0" algn="l">
              <a:lnSpc>
                <a:spcPct val="93333"/>
              </a:lnSpc>
              <a:buNone/>
            </a:pPr>
            <a:r>
              <a:rPr lang="en-US" sz="1875" dirty="0">
                <a:solidFill>
                  <a:srgbClr val="15103A"/>
                </a:solidFill>
                <a:latin typeface="Poppins" pitchFamily="34" charset="0"/>
                <a:ea typeface="Poppins" pitchFamily="34" charset="-122"/>
                <a:cs typeface="Poppins" pitchFamily="34" charset="-120"/>
              </a:rPr>
              <a:t>LLM-drafted metric definitions encoded the ambiguity they were meant to remove. Claude drafts and flags; humans own the definitions.</a:t>
            </a:r>
            <a:endParaRPr lang="en-US" sz="1875" dirty="0"/>
          </a:p>
        </p:txBody>
      </p:sp>
      <p:sp>
        <p:nvSpPr>
          <p:cNvPr id="22" name="Text 20"/>
          <p:cNvSpPr/>
          <p:nvPr/>
        </p:nvSpPr>
        <p:spPr>
          <a:xfrm>
            <a:off x="838150" y="9532751"/>
            <a:ext cx="7479202" cy="335198"/>
          </a:xfrm>
          <a:prstGeom prst="rect">
            <a:avLst/>
          </a:prstGeom>
          <a:noFill/>
          <a:ln/>
        </p:spPr>
        <p:txBody>
          <a:bodyPr wrap="square" lIns="25400" tIns="25400" rIns="25400" bIns="25400" rtlCol="0" anchor="t">
            <a:normAutofit/>
          </a:bodyPr>
          <a:lstStyle/>
          <a:p>
            <a:pPr marL="0" indent="0" algn="l">
              <a:lnSpc>
                <a:spcPct val="87070"/>
              </a:lnSpc>
              <a:buNone/>
            </a:pPr>
            <a:r>
              <a:rPr lang="en-US" sz="1800" dirty="0">
                <a:solidFill>
                  <a:srgbClr val="9AA3AD"/>
                </a:solidFill>
                <a:latin typeface="Poppins" pitchFamily="34" charset="0"/>
                <a:ea typeface="Poppins" pitchFamily="34" charset="-122"/>
                <a:cs typeface="Poppins" pitchFamily="34" charset="-120"/>
              </a:rPr>
              <a:t>Source: Anthropic — self-service data analytics with Claude</a:t>
            </a:r>
            <a:endParaRPr lang="en-US" sz="1800" dirty="0"/>
          </a:p>
        </p:txBody>
      </p:sp>
      <p:pic>
        <p:nvPicPr>
          <p:cNvPr id="23" name="Image 0" descr="preencoded.png"/>
          <p:cNvPicPr>
            <a:picLocks noChangeAspect="1"/>
          </p:cNvPicPr>
          <p:nvPr/>
        </p:nvPicPr>
        <p:blipFill>
          <a:blip r:embed="rId3"/>
          <a:stretch>
            <a:fillRect/>
          </a:stretch>
        </p:blipFill>
        <p:spPr>
          <a:xfrm>
            <a:off x="16105436" y="9525062"/>
            <a:ext cx="1344414" cy="3047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150" y="762000"/>
            <a:ext cx="11022453" cy="737592"/>
          </a:xfrm>
          <a:prstGeom prst="rect">
            <a:avLst/>
          </a:prstGeom>
          <a:noFill/>
          <a:ln/>
        </p:spPr>
        <p:txBody>
          <a:bodyPr wrap="square" lIns="25400" tIns="25400" rIns="25400" bIns="25400" rtlCol="0" anchor="t">
            <a:normAutofit/>
          </a:bodyPr>
          <a:lstStyle/>
          <a:p>
            <a:pPr marL="0" indent="0" algn="l">
              <a:lnSpc>
                <a:spcPct val="68316"/>
              </a:lnSpc>
              <a:buNone/>
            </a:pPr>
            <a:r>
              <a:rPr lang="en-US" sz="5400" b="1" kern="0" spc="-108" dirty="0">
                <a:solidFill>
                  <a:srgbClr val="220F60"/>
                </a:solidFill>
                <a:latin typeface="Poppins" pitchFamily="34" charset="0"/>
                <a:ea typeface="Poppins" pitchFamily="34" charset="-122"/>
                <a:cs typeface="Poppins" pitchFamily="34" charset="-120"/>
              </a:rPr>
              <a:t>Data is not software</a:t>
            </a:r>
            <a:endParaRPr lang="en-US" sz="5400" dirty="0"/>
          </a:p>
        </p:txBody>
      </p:sp>
      <p:sp>
        <p:nvSpPr>
          <p:cNvPr id="3" name="Text 1"/>
          <p:cNvSpPr/>
          <p:nvPr/>
        </p:nvSpPr>
        <p:spPr>
          <a:xfrm>
            <a:off x="838150" y="1651992"/>
            <a:ext cx="11022453" cy="398140"/>
          </a:xfrm>
          <a:prstGeom prst="rect">
            <a:avLst/>
          </a:prstGeom>
          <a:noFill/>
          <a:ln/>
        </p:spPr>
        <p:txBody>
          <a:bodyPr wrap="square" lIns="25400" tIns="25400" rIns="25400" bIns="25400" rtlCol="0" anchor="t">
            <a:normAutofit/>
          </a:bodyPr>
          <a:lstStyle/>
          <a:p>
            <a:pPr marL="0" indent="0" algn="l">
              <a:lnSpc>
                <a:spcPct val="88941"/>
              </a:lnSpc>
              <a:buNone/>
            </a:pPr>
            <a:r>
              <a:rPr lang="en-US" sz="2100" dirty="0">
                <a:solidFill>
                  <a:srgbClr val="3B5C7F"/>
                </a:solidFill>
                <a:latin typeface="Poppins" pitchFamily="34" charset="0"/>
                <a:ea typeface="Poppins" pitchFamily="34" charset="-122"/>
                <a:cs typeface="Poppins" pitchFamily="34" charset="-120"/>
              </a:rPr>
              <a:t>Coding rewards a model's creativity. Analytics punishes it.</a:t>
            </a:r>
            <a:endParaRPr lang="en-US" sz="2100" dirty="0"/>
          </a:p>
        </p:txBody>
      </p:sp>
      <p:sp>
        <p:nvSpPr>
          <p:cNvPr id="4" name="Text 2"/>
          <p:cNvSpPr/>
          <p:nvPr/>
        </p:nvSpPr>
        <p:spPr>
          <a:xfrm>
            <a:off x="11544349" y="762000"/>
            <a:ext cx="6082665" cy="2438140"/>
          </a:xfrm>
          <a:prstGeom prst="rect">
            <a:avLst/>
          </a:prstGeom>
          <a:noFill/>
          <a:ln/>
        </p:spPr>
        <p:txBody>
          <a:bodyPr wrap="square" lIns="25400" tIns="25400" rIns="25400" bIns="25400" rtlCol="0" anchor="t">
            <a:normAutofit/>
          </a:bodyPr>
          <a:lstStyle/>
          <a:p>
            <a:pPr marL="0" indent="0" algn="l">
              <a:lnSpc>
                <a:spcPct val="100465"/>
              </a:lnSpc>
              <a:buNone/>
            </a:pPr>
            <a:r>
              <a:rPr lang="en-US" sz="1800" dirty="0">
                <a:solidFill>
                  <a:srgbClr val="15103A"/>
                </a:solidFill>
                <a:latin typeface="Poppins" pitchFamily="34" charset="0"/>
                <a:ea typeface="Poppins" pitchFamily="34" charset="-122"/>
                <a:cs typeface="Poppins" pitchFamily="34" charset="-120"/>
              </a:rPr>
              <a:t>Generative ability is a double-edged sword: the same mechanism that solves open-ended problems also hallucinates. Coding has documentation and tests as natural guardrails. </a:t>
            </a:r>
            <a:r>
              <a:rPr lang="en-US" sz="1800" b="1" dirty="0">
                <a:solidFill>
                  <a:srgbClr val="15103A"/>
                </a:solidFill>
                <a:latin typeface="Poppins" pitchFamily="34" charset="0"/>
                <a:ea typeface="Poppins" pitchFamily="34" charset="-122"/>
                <a:cs typeface="Poppins" pitchFamily="34" charset="-120"/>
              </a:rPr>
              <a:t>Analytics usually has one correct answer from one correct source — and no deterministic way to prove it.</a:t>
            </a:r>
            <a:endParaRPr lang="en-US" sz="1800" dirty="0"/>
          </a:p>
        </p:txBody>
      </p:sp>
      <p:sp>
        <p:nvSpPr>
          <p:cNvPr id="5" name="Shape 3"/>
          <p:cNvSpPr/>
          <p:nvPr/>
        </p:nvSpPr>
        <p:spPr>
          <a:xfrm>
            <a:off x="838150" y="3657327"/>
            <a:ext cx="2362150" cy="536215"/>
          </a:xfrm>
          <a:prstGeom prst="rect">
            <a:avLst/>
          </a:prstGeom>
          <a:solidFill>
            <a:srgbClr val="FFFFFF"/>
          </a:solidFill>
          <a:ln/>
        </p:spPr>
        <p:txBody>
          <a:bodyPr/>
          <a:lstStyle/>
          <a:p>
            <a:endParaRPr lang="en-US"/>
          </a:p>
        </p:txBody>
      </p:sp>
      <p:sp>
        <p:nvSpPr>
          <p:cNvPr id="6" name="Text 4"/>
          <p:cNvSpPr/>
          <p:nvPr/>
        </p:nvSpPr>
        <p:spPr>
          <a:xfrm>
            <a:off x="3505088" y="3673202"/>
            <a:ext cx="1147080" cy="387350"/>
          </a:xfrm>
          <a:prstGeom prst="rect">
            <a:avLst/>
          </a:prstGeom>
          <a:noFill/>
          <a:ln/>
        </p:spPr>
        <p:txBody>
          <a:bodyPr wrap="square" lIns="25400" tIns="25400" rIns="25400" bIns="25400" rtlCol="0" anchor="t">
            <a:normAutofit/>
          </a:bodyPr>
          <a:lstStyle/>
          <a:p>
            <a:pPr marL="0" indent="0" algn="l">
              <a:lnSpc>
                <a:spcPct val="102894"/>
              </a:lnSpc>
              <a:buNone/>
            </a:pPr>
            <a:r>
              <a:rPr lang="en-US" sz="1950" b="1" kern="0" spc="78" dirty="0">
                <a:solidFill>
                  <a:srgbClr val="001FFF"/>
                </a:solidFill>
                <a:latin typeface="Poppins" pitchFamily="34" charset="0"/>
                <a:ea typeface="Poppins" pitchFamily="34" charset="-122"/>
                <a:cs typeface="Poppins" pitchFamily="34" charset="-120"/>
              </a:rPr>
              <a:t>CODING</a:t>
            </a:r>
            <a:endParaRPr lang="en-US" sz="1950" dirty="0"/>
          </a:p>
        </p:txBody>
      </p:sp>
      <p:sp>
        <p:nvSpPr>
          <p:cNvPr id="7" name="Text 5"/>
          <p:cNvSpPr/>
          <p:nvPr/>
        </p:nvSpPr>
        <p:spPr>
          <a:xfrm>
            <a:off x="10432045" y="3673202"/>
            <a:ext cx="1633699" cy="387350"/>
          </a:xfrm>
          <a:prstGeom prst="rect">
            <a:avLst/>
          </a:prstGeom>
          <a:noFill/>
          <a:ln/>
        </p:spPr>
        <p:txBody>
          <a:bodyPr wrap="square" lIns="25400" tIns="25400" rIns="25400" bIns="25400" rtlCol="0" anchor="t">
            <a:normAutofit/>
          </a:bodyPr>
          <a:lstStyle/>
          <a:p>
            <a:pPr marL="0" indent="0" algn="l">
              <a:lnSpc>
                <a:spcPct val="102894"/>
              </a:lnSpc>
              <a:buNone/>
            </a:pPr>
            <a:r>
              <a:rPr lang="en-US" sz="1950" b="1" kern="0" spc="78" dirty="0">
                <a:solidFill>
                  <a:srgbClr val="DF367C"/>
                </a:solidFill>
                <a:latin typeface="Poppins" pitchFamily="34" charset="0"/>
                <a:ea typeface="Poppins" pitchFamily="34" charset="-122"/>
                <a:cs typeface="Poppins" pitchFamily="34" charset="-120"/>
              </a:rPr>
              <a:t>ANALYTICS</a:t>
            </a:r>
            <a:endParaRPr lang="en-US" sz="1950" dirty="0"/>
          </a:p>
        </p:txBody>
      </p:sp>
      <p:sp>
        <p:nvSpPr>
          <p:cNvPr id="8" name="Shape 6"/>
          <p:cNvSpPr/>
          <p:nvPr/>
        </p:nvSpPr>
        <p:spPr>
          <a:xfrm>
            <a:off x="838150" y="4193542"/>
            <a:ext cx="2362150" cy="1649760"/>
          </a:xfrm>
          <a:prstGeom prst="rect">
            <a:avLst/>
          </a:prstGeom>
          <a:solidFill>
            <a:srgbClr val="220F60"/>
          </a:solidFill>
          <a:ln/>
        </p:spPr>
        <p:txBody>
          <a:bodyPr/>
          <a:lstStyle/>
          <a:p>
            <a:endParaRPr lang="en-US"/>
          </a:p>
        </p:txBody>
      </p:sp>
      <p:sp>
        <p:nvSpPr>
          <p:cNvPr id="9" name="Shape 7"/>
          <p:cNvSpPr/>
          <p:nvPr/>
        </p:nvSpPr>
        <p:spPr>
          <a:xfrm>
            <a:off x="838150" y="5835365"/>
            <a:ext cx="2362150" cy="9525"/>
          </a:xfrm>
          <a:prstGeom prst="rect">
            <a:avLst/>
          </a:prstGeom>
          <a:solidFill>
            <a:srgbClr val="FFFFFF"/>
          </a:solidFill>
          <a:ln/>
        </p:spPr>
        <p:txBody>
          <a:bodyPr/>
          <a:lstStyle/>
          <a:p>
            <a:endParaRPr lang="en-US"/>
          </a:p>
        </p:txBody>
      </p:sp>
      <p:sp>
        <p:nvSpPr>
          <p:cNvPr id="10" name="Text 8"/>
          <p:cNvSpPr/>
          <p:nvPr/>
        </p:nvSpPr>
        <p:spPr>
          <a:xfrm>
            <a:off x="1066726" y="4829907"/>
            <a:ext cx="1252562" cy="407194"/>
          </a:xfrm>
          <a:prstGeom prst="rect">
            <a:avLst/>
          </a:prstGeom>
          <a:noFill/>
          <a:ln/>
        </p:spPr>
        <p:txBody>
          <a:bodyPr wrap="square" lIns="25400" tIns="25400" rIns="25400" bIns="25400" rtlCol="0" anchor="t">
            <a:normAutofit/>
          </a:bodyPr>
          <a:lstStyle/>
          <a:p>
            <a:pPr marL="0" indent="0" algn="l">
              <a:lnSpc>
                <a:spcPct val="103333"/>
              </a:lnSpc>
              <a:buNone/>
            </a:pPr>
            <a:r>
              <a:rPr lang="en-US" sz="1875" b="1" kern="0" spc="75" dirty="0">
                <a:solidFill>
                  <a:srgbClr val="FFFFFF"/>
                </a:solidFill>
                <a:latin typeface="Poppins" pitchFamily="34" charset="0"/>
                <a:ea typeface="Poppins" pitchFamily="34" charset="-122"/>
                <a:cs typeface="Poppins" pitchFamily="34" charset="-120"/>
              </a:rPr>
              <a:t>CONTEXT</a:t>
            </a:r>
            <a:endParaRPr lang="en-US" sz="1875" dirty="0"/>
          </a:p>
        </p:txBody>
      </p:sp>
      <p:sp>
        <p:nvSpPr>
          <p:cNvPr id="11" name="Shape 9"/>
          <p:cNvSpPr/>
          <p:nvPr/>
        </p:nvSpPr>
        <p:spPr>
          <a:xfrm>
            <a:off x="3200301" y="4193542"/>
            <a:ext cx="6850745" cy="9525"/>
          </a:xfrm>
          <a:prstGeom prst="rect">
            <a:avLst/>
          </a:prstGeom>
          <a:solidFill>
            <a:srgbClr val="9AA3AD"/>
          </a:solidFill>
          <a:ln/>
        </p:spPr>
        <p:txBody>
          <a:bodyPr/>
          <a:lstStyle/>
          <a:p>
            <a:endParaRPr lang="en-US"/>
          </a:p>
        </p:txBody>
      </p:sp>
      <p:sp>
        <p:nvSpPr>
          <p:cNvPr id="12" name="Text 10"/>
          <p:cNvSpPr/>
          <p:nvPr/>
        </p:nvSpPr>
        <p:spPr>
          <a:xfrm>
            <a:off x="3505088" y="4525305"/>
            <a:ext cx="6349906" cy="1032272"/>
          </a:xfrm>
          <a:prstGeom prst="rect">
            <a:avLst/>
          </a:prstGeom>
          <a:noFill/>
          <a:ln/>
        </p:spPr>
        <p:txBody>
          <a:bodyPr wrap="square" lIns="25400" tIns="25400" rIns="25400" bIns="25400" rtlCol="0" anchor="t">
            <a:normAutofit/>
          </a:bodyPr>
          <a:lstStyle/>
          <a:p>
            <a:pPr marL="0" indent="0" algn="l">
              <a:lnSpc>
                <a:spcPct val="97116"/>
              </a:lnSpc>
              <a:buNone/>
            </a:pPr>
            <a:r>
              <a:rPr lang="en-US" sz="1800" dirty="0">
                <a:solidFill>
                  <a:srgbClr val="3B5C7F"/>
                </a:solidFill>
                <a:latin typeface="Poppins" pitchFamily="34" charset="0"/>
                <a:ea typeface="Poppins" pitchFamily="34" charset="-122"/>
                <a:cs typeface="Poppins" pitchFamily="34" charset="-120"/>
              </a:rPr>
              <a:t>READMEs, type signatures, docstrings and commit history give the agent rich, structured context before it writes a line.</a:t>
            </a:r>
            <a:endParaRPr lang="en-US" sz="1800" dirty="0"/>
          </a:p>
        </p:txBody>
      </p:sp>
      <p:sp>
        <p:nvSpPr>
          <p:cNvPr id="13" name="Shape 11"/>
          <p:cNvSpPr/>
          <p:nvPr/>
        </p:nvSpPr>
        <p:spPr>
          <a:xfrm>
            <a:off x="10051045" y="4193542"/>
            <a:ext cx="7398804" cy="1649760"/>
          </a:xfrm>
          <a:prstGeom prst="rect">
            <a:avLst/>
          </a:prstGeom>
          <a:solidFill>
            <a:srgbClr val="F2F2F2"/>
          </a:solidFill>
          <a:ln/>
        </p:spPr>
        <p:txBody>
          <a:bodyPr/>
          <a:lstStyle/>
          <a:p>
            <a:endParaRPr lang="en-US"/>
          </a:p>
        </p:txBody>
      </p:sp>
      <p:sp>
        <p:nvSpPr>
          <p:cNvPr id="14" name="Shape 12"/>
          <p:cNvSpPr/>
          <p:nvPr/>
        </p:nvSpPr>
        <p:spPr>
          <a:xfrm>
            <a:off x="10051045" y="4193542"/>
            <a:ext cx="7398804" cy="9525"/>
          </a:xfrm>
          <a:prstGeom prst="rect">
            <a:avLst/>
          </a:prstGeom>
          <a:solidFill>
            <a:srgbClr val="9AA3AD"/>
          </a:solidFill>
          <a:ln/>
        </p:spPr>
        <p:txBody>
          <a:bodyPr/>
          <a:lstStyle/>
          <a:p>
            <a:endParaRPr lang="en-US"/>
          </a:p>
        </p:txBody>
      </p:sp>
      <p:sp>
        <p:nvSpPr>
          <p:cNvPr id="15" name="Text 13"/>
          <p:cNvSpPr/>
          <p:nvPr/>
        </p:nvSpPr>
        <p:spPr>
          <a:xfrm>
            <a:off x="10432045" y="4525305"/>
            <a:ext cx="6835908" cy="1032272"/>
          </a:xfrm>
          <a:prstGeom prst="rect">
            <a:avLst/>
          </a:prstGeom>
          <a:noFill/>
          <a:ln/>
        </p:spPr>
        <p:txBody>
          <a:bodyPr wrap="square" lIns="25400" tIns="25400" rIns="25400" bIns="25400" rtlCol="0" anchor="t">
            <a:normAutofit/>
          </a:bodyPr>
          <a:lstStyle/>
          <a:p>
            <a:pPr marL="0" indent="0" algn="l">
              <a:lnSpc>
                <a:spcPct val="97116"/>
              </a:lnSpc>
              <a:buNone/>
            </a:pPr>
            <a:r>
              <a:rPr lang="en-US" sz="1800" dirty="0">
                <a:solidFill>
                  <a:srgbClr val="15103A"/>
                </a:solidFill>
                <a:latin typeface="Poppins" pitchFamily="34" charset="0"/>
                <a:ea typeface="Poppins" pitchFamily="34" charset="-122"/>
                <a:cs typeface="Poppins" pitchFamily="34" charset="-120"/>
              </a:rPr>
              <a:t>Millions of fields, mostly undocumented. "Revenue" may appear in thousands of places, and teams define the same metric differently.</a:t>
            </a:r>
            <a:endParaRPr lang="en-US" sz="1800" dirty="0"/>
          </a:p>
        </p:txBody>
      </p:sp>
      <p:sp>
        <p:nvSpPr>
          <p:cNvPr id="16" name="Shape 14"/>
          <p:cNvSpPr/>
          <p:nvPr/>
        </p:nvSpPr>
        <p:spPr>
          <a:xfrm>
            <a:off x="838150" y="5843302"/>
            <a:ext cx="2362150" cy="1649760"/>
          </a:xfrm>
          <a:prstGeom prst="rect">
            <a:avLst/>
          </a:prstGeom>
          <a:solidFill>
            <a:srgbClr val="220F60"/>
          </a:solidFill>
          <a:ln/>
        </p:spPr>
        <p:txBody>
          <a:bodyPr/>
          <a:lstStyle/>
          <a:p>
            <a:endParaRPr lang="en-US"/>
          </a:p>
        </p:txBody>
      </p:sp>
      <p:sp>
        <p:nvSpPr>
          <p:cNvPr id="17" name="Shape 15"/>
          <p:cNvSpPr/>
          <p:nvPr/>
        </p:nvSpPr>
        <p:spPr>
          <a:xfrm>
            <a:off x="838150" y="7485124"/>
            <a:ext cx="2362150" cy="9525"/>
          </a:xfrm>
          <a:prstGeom prst="rect">
            <a:avLst/>
          </a:prstGeom>
          <a:solidFill>
            <a:srgbClr val="FFFFFF"/>
          </a:solidFill>
          <a:ln/>
        </p:spPr>
        <p:txBody>
          <a:bodyPr/>
          <a:lstStyle/>
          <a:p>
            <a:endParaRPr lang="en-US"/>
          </a:p>
        </p:txBody>
      </p:sp>
      <p:sp>
        <p:nvSpPr>
          <p:cNvPr id="18" name="Text 16"/>
          <p:cNvSpPr/>
          <p:nvPr/>
        </p:nvSpPr>
        <p:spPr>
          <a:xfrm>
            <a:off x="1066726" y="6479666"/>
            <a:ext cx="1754777" cy="407194"/>
          </a:xfrm>
          <a:prstGeom prst="rect">
            <a:avLst/>
          </a:prstGeom>
          <a:noFill/>
          <a:ln/>
        </p:spPr>
        <p:txBody>
          <a:bodyPr wrap="square" lIns="25400" tIns="25400" rIns="25400" bIns="25400" rtlCol="0" anchor="t">
            <a:normAutofit/>
          </a:bodyPr>
          <a:lstStyle/>
          <a:p>
            <a:pPr marL="0" indent="0" algn="l">
              <a:lnSpc>
                <a:spcPct val="103333"/>
              </a:lnSpc>
              <a:buNone/>
            </a:pPr>
            <a:r>
              <a:rPr lang="en-US" sz="1875" b="1" kern="0" spc="75" dirty="0">
                <a:solidFill>
                  <a:srgbClr val="FFFFFF"/>
                </a:solidFill>
                <a:latin typeface="Poppins" pitchFamily="34" charset="0"/>
                <a:ea typeface="Poppins" pitchFamily="34" charset="-122"/>
                <a:cs typeface="Poppins" pitchFamily="34" charset="-120"/>
              </a:rPr>
              <a:t>GENERATION</a:t>
            </a:r>
            <a:endParaRPr lang="en-US" sz="1875" dirty="0"/>
          </a:p>
        </p:txBody>
      </p:sp>
      <p:sp>
        <p:nvSpPr>
          <p:cNvPr id="19" name="Shape 17"/>
          <p:cNvSpPr/>
          <p:nvPr/>
        </p:nvSpPr>
        <p:spPr>
          <a:xfrm>
            <a:off x="3200301" y="5843302"/>
            <a:ext cx="6850745" cy="9525"/>
          </a:xfrm>
          <a:prstGeom prst="rect">
            <a:avLst/>
          </a:prstGeom>
          <a:solidFill>
            <a:srgbClr val="9AA3AD"/>
          </a:solidFill>
          <a:ln/>
        </p:spPr>
        <p:txBody>
          <a:bodyPr/>
          <a:lstStyle/>
          <a:p>
            <a:endParaRPr lang="en-US"/>
          </a:p>
        </p:txBody>
      </p:sp>
      <p:sp>
        <p:nvSpPr>
          <p:cNvPr id="20" name="Text 18"/>
          <p:cNvSpPr/>
          <p:nvPr/>
        </p:nvSpPr>
        <p:spPr>
          <a:xfrm>
            <a:off x="3505088" y="6175065"/>
            <a:ext cx="6349906" cy="1032272"/>
          </a:xfrm>
          <a:prstGeom prst="rect">
            <a:avLst/>
          </a:prstGeom>
          <a:noFill/>
          <a:ln/>
        </p:spPr>
        <p:txBody>
          <a:bodyPr wrap="square" lIns="25400" tIns="25400" rIns="25400" bIns="25400" rtlCol="0" anchor="t">
            <a:normAutofit/>
          </a:bodyPr>
          <a:lstStyle/>
          <a:p>
            <a:pPr marL="0" indent="0" algn="l">
              <a:lnSpc>
                <a:spcPct val="97116"/>
              </a:lnSpc>
              <a:buNone/>
            </a:pPr>
            <a:r>
              <a:rPr lang="en-US" sz="1800" dirty="0">
                <a:solidFill>
                  <a:srgbClr val="3B5C7F"/>
                </a:solidFill>
                <a:latin typeface="Poppins" pitchFamily="34" charset="0"/>
                <a:ea typeface="Poppins" pitchFamily="34" charset="-122"/>
                <a:cs typeface="Poppins" pitchFamily="34" charset="-120"/>
              </a:rPr>
              <a:t>An open-ended solution space — almost any spec admits many correct implementations, so a plausible answer is usually a valid one.</a:t>
            </a:r>
            <a:endParaRPr lang="en-US" sz="1800" dirty="0"/>
          </a:p>
        </p:txBody>
      </p:sp>
      <p:sp>
        <p:nvSpPr>
          <p:cNvPr id="21" name="Shape 19"/>
          <p:cNvSpPr/>
          <p:nvPr/>
        </p:nvSpPr>
        <p:spPr>
          <a:xfrm>
            <a:off x="10051045" y="5843302"/>
            <a:ext cx="7398804" cy="1649760"/>
          </a:xfrm>
          <a:prstGeom prst="rect">
            <a:avLst/>
          </a:prstGeom>
          <a:solidFill>
            <a:srgbClr val="F2F2F2"/>
          </a:solidFill>
          <a:ln/>
        </p:spPr>
        <p:txBody>
          <a:bodyPr/>
          <a:lstStyle/>
          <a:p>
            <a:endParaRPr lang="en-US"/>
          </a:p>
        </p:txBody>
      </p:sp>
      <p:sp>
        <p:nvSpPr>
          <p:cNvPr id="22" name="Shape 20"/>
          <p:cNvSpPr/>
          <p:nvPr/>
        </p:nvSpPr>
        <p:spPr>
          <a:xfrm>
            <a:off x="10051045" y="5843302"/>
            <a:ext cx="7398804" cy="9525"/>
          </a:xfrm>
          <a:prstGeom prst="rect">
            <a:avLst/>
          </a:prstGeom>
          <a:solidFill>
            <a:srgbClr val="9AA3AD"/>
          </a:solidFill>
          <a:ln/>
        </p:spPr>
        <p:txBody>
          <a:bodyPr/>
          <a:lstStyle/>
          <a:p>
            <a:endParaRPr lang="en-US"/>
          </a:p>
        </p:txBody>
      </p:sp>
      <p:sp>
        <p:nvSpPr>
          <p:cNvPr id="23" name="Text 21"/>
          <p:cNvSpPr/>
          <p:nvPr/>
        </p:nvSpPr>
        <p:spPr>
          <a:xfrm>
            <a:off x="10432045" y="6175065"/>
            <a:ext cx="6835908" cy="700881"/>
          </a:xfrm>
          <a:prstGeom prst="rect">
            <a:avLst/>
          </a:prstGeom>
          <a:noFill/>
          <a:ln/>
        </p:spPr>
        <p:txBody>
          <a:bodyPr wrap="square" lIns="25400" tIns="25400" rIns="25400" bIns="25400" rtlCol="0" anchor="t">
            <a:normAutofit/>
          </a:bodyPr>
          <a:lstStyle/>
          <a:p>
            <a:pPr marL="0" indent="0" algn="l">
              <a:lnSpc>
                <a:spcPct val="97116"/>
              </a:lnSpc>
              <a:buNone/>
            </a:pPr>
            <a:r>
              <a:rPr lang="en-US" sz="1800" dirty="0">
                <a:solidFill>
                  <a:srgbClr val="15103A"/>
                </a:solidFill>
                <a:latin typeface="Poppins" pitchFamily="34" charset="0"/>
                <a:ea typeface="Poppins" pitchFamily="34" charset="-122"/>
                <a:cs typeface="Poppins" pitchFamily="34" charset="-120"/>
              </a:rPr>
              <a:t>The code is trivial, 5–10 lines of SQL. But there is often only one correct approach.</a:t>
            </a:r>
            <a:endParaRPr lang="en-US" sz="1800" dirty="0"/>
          </a:p>
        </p:txBody>
      </p:sp>
      <p:sp>
        <p:nvSpPr>
          <p:cNvPr id="24" name="Shape 22"/>
          <p:cNvSpPr/>
          <p:nvPr/>
        </p:nvSpPr>
        <p:spPr>
          <a:xfrm>
            <a:off x="838150" y="7493062"/>
            <a:ext cx="2362150" cy="1649760"/>
          </a:xfrm>
          <a:prstGeom prst="rect">
            <a:avLst/>
          </a:prstGeom>
          <a:solidFill>
            <a:srgbClr val="220F60"/>
          </a:solidFill>
          <a:ln/>
        </p:spPr>
        <p:txBody>
          <a:bodyPr/>
          <a:lstStyle/>
          <a:p>
            <a:endParaRPr lang="en-US"/>
          </a:p>
        </p:txBody>
      </p:sp>
      <p:sp>
        <p:nvSpPr>
          <p:cNvPr id="25" name="Text 23"/>
          <p:cNvSpPr/>
          <p:nvPr/>
        </p:nvSpPr>
        <p:spPr>
          <a:xfrm>
            <a:off x="1066726" y="8133395"/>
            <a:ext cx="1914531" cy="407194"/>
          </a:xfrm>
          <a:prstGeom prst="rect">
            <a:avLst/>
          </a:prstGeom>
          <a:noFill/>
          <a:ln/>
        </p:spPr>
        <p:txBody>
          <a:bodyPr wrap="square" lIns="25400" tIns="25400" rIns="25400" bIns="25400" rtlCol="0" anchor="t">
            <a:normAutofit/>
          </a:bodyPr>
          <a:lstStyle/>
          <a:p>
            <a:pPr marL="0" indent="0" algn="l">
              <a:lnSpc>
                <a:spcPct val="103333"/>
              </a:lnSpc>
              <a:buNone/>
            </a:pPr>
            <a:r>
              <a:rPr lang="en-US" sz="1875" b="1" kern="0" spc="75" dirty="0">
                <a:solidFill>
                  <a:srgbClr val="FFFFFF"/>
                </a:solidFill>
                <a:latin typeface="Poppins" pitchFamily="34" charset="0"/>
                <a:ea typeface="Poppins" pitchFamily="34" charset="-122"/>
                <a:cs typeface="Poppins" pitchFamily="34" charset="-120"/>
              </a:rPr>
              <a:t>VERIFICATION</a:t>
            </a:r>
            <a:endParaRPr lang="en-US" sz="1875" dirty="0"/>
          </a:p>
        </p:txBody>
      </p:sp>
      <p:sp>
        <p:nvSpPr>
          <p:cNvPr id="26" name="Shape 24"/>
          <p:cNvSpPr/>
          <p:nvPr/>
        </p:nvSpPr>
        <p:spPr>
          <a:xfrm>
            <a:off x="3200301" y="7493062"/>
            <a:ext cx="6850745" cy="9525"/>
          </a:xfrm>
          <a:prstGeom prst="rect">
            <a:avLst/>
          </a:prstGeom>
          <a:solidFill>
            <a:srgbClr val="9AA3AD"/>
          </a:solidFill>
          <a:ln/>
        </p:spPr>
        <p:txBody>
          <a:bodyPr/>
          <a:lstStyle/>
          <a:p>
            <a:endParaRPr lang="en-US"/>
          </a:p>
        </p:txBody>
      </p:sp>
      <p:sp>
        <p:nvSpPr>
          <p:cNvPr id="27" name="Text 25"/>
          <p:cNvSpPr/>
          <p:nvPr/>
        </p:nvSpPr>
        <p:spPr>
          <a:xfrm>
            <a:off x="3505088" y="7824825"/>
            <a:ext cx="6349906" cy="700881"/>
          </a:xfrm>
          <a:prstGeom prst="rect">
            <a:avLst/>
          </a:prstGeom>
          <a:noFill/>
          <a:ln/>
        </p:spPr>
        <p:txBody>
          <a:bodyPr wrap="square" lIns="25400" tIns="25400" rIns="25400" bIns="25400" rtlCol="0" anchor="t">
            <a:normAutofit/>
          </a:bodyPr>
          <a:lstStyle/>
          <a:p>
            <a:pPr marL="0" indent="0" algn="l">
              <a:lnSpc>
                <a:spcPct val="97116"/>
              </a:lnSpc>
              <a:buNone/>
            </a:pPr>
            <a:r>
              <a:rPr lang="en-US" sz="1800" dirty="0">
                <a:solidFill>
                  <a:srgbClr val="3B5C7F"/>
                </a:solidFill>
                <a:latin typeface="Poppins" pitchFamily="34" charset="0"/>
                <a:ea typeface="Poppins" pitchFamily="34" charset="-122"/>
                <a:cs typeface="Poppins" pitchFamily="34" charset="-120"/>
              </a:rPr>
              <a:t>Compilers, linters and unit tests give fast, deterministic feedback.</a:t>
            </a:r>
            <a:endParaRPr lang="en-US" sz="1800" dirty="0"/>
          </a:p>
        </p:txBody>
      </p:sp>
      <p:sp>
        <p:nvSpPr>
          <p:cNvPr id="28" name="Shape 26"/>
          <p:cNvSpPr/>
          <p:nvPr/>
        </p:nvSpPr>
        <p:spPr>
          <a:xfrm>
            <a:off x="10051045" y="7493062"/>
            <a:ext cx="7398804" cy="1649760"/>
          </a:xfrm>
          <a:prstGeom prst="rect">
            <a:avLst/>
          </a:prstGeom>
          <a:solidFill>
            <a:srgbClr val="F2F2F2"/>
          </a:solidFill>
          <a:ln/>
        </p:spPr>
        <p:txBody>
          <a:bodyPr/>
          <a:lstStyle/>
          <a:p>
            <a:endParaRPr lang="en-US"/>
          </a:p>
        </p:txBody>
      </p:sp>
      <p:sp>
        <p:nvSpPr>
          <p:cNvPr id="29" name="Shape 27"/>
          <p:cNvSpPr/>
          <p:nvPr/>
        </p:nvSpPr>
        <p:spPr>
          <a:xfrm>
            <a:off x="10051045" y="7493062"/>
            <a:ext cx="7398804" cy="9525"/>
          </a:xfrm>
          <a:prstGeom prst="rect">
            <a:avLst/>
          </a:prstGeom>
          <a:solidFill>
            <a:srgbClr val="9AA3AD"/>
          </a:solidFill>
          <a:ln/>
        </p:spPr>
        <p:txBody>
          <a:bodyPr/>
          <a:lstStyle/>
          <a:p>
            <a:endParaRPr lang="en-US"/>
          </a:p>
        </p:txBody>
      </p:sp>
      <p:sp>
        <p:nvSpPr>
          <p:cNvPr id="30" name="Text 28"/>
          <p:cNvSpPr/>
          <p:nvPr/>
        </p:nvSpPr>
        <p:spPr>
          <a:xfrm>
            <a:off x="10432045" y="7824825"/>
            <a:ext cx="6835908" cy="1032272"/>
          </a:xfrm>
          <a:prstGeom prst="rect">
            <a:avLst/>
          </a:prstGeom>
          <a:noFill/>
          <a:ln/>
        </p:spPr>
        <p:txBody>
          <a:bodyPr wrap="square" lIns="25400" tIns="25400" rIns="25400" bIns="25400" rtlCol="0" anchor="t">
            <a:normAutofit/>
          </a:bodyPr>
          <a:lstStyle/>
          <a:p>
            <a:pPr marL="0" indent="0" algn="l">
              <a:lnSpc>
                <a:spcPct val="97116"/>
              </a:lnSpc>
              <a:buNone/>
            </a:pPr>
            <a:r>
              <a:rPr lang="en-US" sz="1800" dirty="0">
                <a:solidFill>
                  <a:srgbClr val="15103A"/>
                </a:solidFill>
                <a:latin typeface="Poppins" pitchFamily="34" charset="0"/>
                <a:ea typeface="Poppins" pitchFamily="34" charset="-122"/>
                <a:cs typeface="Poppins" pitchFamily="34" charset="-120"/>
              </a:rPr>
              <a:t>No compiler, no unit test, no ground truth. Only pre-set expectations, triangulation against other sources, or baselining against historicals.</a:t>
            </a:r>
            <a:endParaRPr lang="en-US" sz="1800" dirty="0"/>
          </a:p>
        </p:txBody>
      </p:sp>
      <p:sp>
        <p:nvSpPr>
          <p:cNvPr id="31" name="Text 29"/>
          <p:cNvSpPr/>
          <p:nvPr/>
        </p:nvSpPr>
        <p:spPr>
          <a:xfrm>
            <a:off x="838150" y="9512411"/>
            <a:ext cx="7479202" cy="335198"/>
          </a:xfrm>
          <a:prstGeom prst="rect">
            <a:avLst/>
          </a:prstGeom>
          <a:noFill/>
          <a:ln/>
        </p:spPr>
        <p:txBody>
          <a:bodyPr wrap="square" lIns="25400" tIns="25400" rIns="25400" bIns="25400" rtlCol="0" anchor="t">
            <a:normAutofit/>
          </a:bodyPr>
          <a:lstStyle/>
          <a:p>
            <a:pPr marL="0" indent="0" algn="l">
              <a:lnSpc>
                <a:spcPct val="87070"/>
              </a:lnSpc>
              <a:buNone/>
            </a:pPr>
            <a:r>
              <a:rPr lang="en-US" sz="1800" dirty="0">
                <a:solidFill>
                  <a:srgbClr val="9AA3AD"/>
                </a:solidFill>
                <a:latin typeface="Poppins" pitchFamily="34" charset="0"/>
                <a:ea typeface="Poppins" pitchFamily="34" charset="-122"/>
                <a:cs typeface="Poppins" pitchFamily="34" charset="-120"/>
              </a:rPr>
              <a:t>Source: Anthropic — self-service data analytics with Claude</a:t>
            </a:r>
            <a:endParaRPr lang="en-US" sz="1800" dirty="0"/>
          </a:p>
        </p:txBody>
      </p:sp>
      <p:pic>
        <p:nvPicPr>
          <p:cNvPr id="32" name="Image 0" descr="preencoded.png"/>
          <p:cNvPicPr>
            <a:picLocks noChangeAspect="1"/>
          </p:cNvPicPr>
          <p:nvPr/>
        </p:nvPicPr>
        <p:blipFill>
          <a:blip r:embed="rId3"/>
          <a:stretch>
            <a:fillRect/>
          </a:stretch>
        </p:blipFill>
        <p:spPr>
          <a:xfrm>
            <a:off x="16021471" y="9485684"/>
            <a:ext cx="1428378" cy="3238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20F60"/>
        </a:solidFill>
        <a:effectLst/>
      </p:bgPr>
    </p:bg>
    <p:spTree>
      <p:nvGrpSpPr>
        <p:cNvPr id="1" name=""/>
        <p:cNvGrpSpPr/>
        <p:nvPr/>
      </p:nvGrpSpPr>
      <p:grpSpPr>
        <a:xfrm>
          <a:off x="0" y="0"/>
          <a:ext cx="0" cy="0"/>
          <a:chOff x="0" y="0"/>
          <a:chExt cx="0" cy="0"/>
        </a:xfrm>
      </p:grpSpPr>
      <p:sp>
        <p:nvSpPr>
          <p:cNvPr id="2" name="Text 0"/>
          <p:cNvSpPr/>
          <p:nvPr/>
        </p:nvSpPr>
        <p:spPr>
          <a:xfrm>
            <a:off x="838150" y="952500"/>
            <a:ext cx="18272869" cy="421953"/>
          </a:xfrm>
          <a:prstGeom prst="rect">
            <a:avLst/>
          </a:prstGeom>
          <a:noFill/>
          <a:ln/>
        </p:spPr>
        <p:txBody>
          <a:bodyPr wrap="square" lIns="25400" tIns="25400" rIns="25400" bIns="25400" rtlCol="0" anchor="t">
            <a:normAutofit/>
          </a:bodyPr>
          <a:lstStyle/>
          <a:p>
            <a:pPr marL="0" indent="0" algn="l">
              <a:lnSpc>
                <a:spcPct val="102894"/>
              </a:lnSpc>
              <a:buNone/>
            </a:pPr>
            <a:r>
              <a:rPr lang="en-US" sz="1950" kern="0" spc="341" dirty="0">
                <a:solidFill>
                  <a:srgbClr val="8FA6C4"/>
                </a:solidFill>
                <a:latin typeface="Poppins" pitchFamily="34" charset="0"/>
                <a:ea typeface="Poppins" pitchFamily="34" charset="-122"/>
                <a:cs typeface="Poppins" pitchFamily="34" charset="-120"/>
              </a:rPr>
              <a:t>SELF-SERVICE AGENTIC ANALYTICS</a:t>
            </a:r>
            <a:endParaRPr lang="en-US" sz="1950" dirty="0"/>
          </a:p>
        </p:txBody>
      </p:sp>
      <p:sp>
        <p:nvSpPr>
          <p:cNvPr id="3" name="Text 1"/>
          <p:cNvSpPr/>
          <p:nvPr/>
        </p:nvSpPr>
        <p:spPr>
          <a:xfrm>
            <a:off x="838150" y="1793503"/>
            <a:ext cx="12950190" cy="3695551"/>
          </a:xfrm>
          <a:prstGeom prst="rect">
            <a:avLst/>
          </a:prstGeom>
          <a:noFill/>
          <a:ln/>
        </p:spPr>
        <p:txBody>
          <a:bodyPr wrap="square" lIns="25400" tIns="25400" rIns="25400" bIns="25400" rtlCol="0" anchor="t">
            <a:normAutofit/>
          </a:bodyPr>
          <a:lstStyle/>
          <a:p>
            <a:pPr marL="0" indent="0" algn="l">
              <a:lnSpc>
                <a:spcPct val="80139"/>
              </a:lnSpc>
              <a:buNone/>
            </a:pPr>
            <a:r>
              <a:rPr lang="en-US" sz="4800" b="1" kern="0" spc="-96" dirty="0">
                <a:solidFill>
                  <a:srgbClr val="FFFFFF"/>
                </a:solidFill>
                <a:latin typeface="Poppins" pitchFamily="34" charset="0"/>
                <a:ea typeface="Poppins" pitchFamily="34" charset="-122"/>
                <a:cs typeface="Poppins" pitchFamily="34" charset="-120"/>
              </a:rPr>
              <a:t>The central problem comes down to our ability to </a:t>
            </a:r>
            <a:r>
              <a:rPr lang="en-US" sz="4800" b="1" kern="0" spc="-96" dirty="0">
                <a:solidFill>
                  <a:srgbClr val="6E86FF"/>
                </a:solidFill>
                <a:latin typeface="Poppins" pitchFamily="34" charset="0"/>
                <a:ea typeface="Poppins" pitchFamily="34" charset="-122"/>
                <a:cs typeface="Poppins" pitchFamily="34" charset="-120"/>
              </a:rPr>
              <a:t>map a user's question to specific and up-to-date entities </a:t>
            </a:r>
            <a:r>
              <a:rPr lang="en-US" sz="4800" b="1" kern="0" spc="-96" dirty="0">
                <a:solidFill>
                  <a:srgbClr val="FFFFFF"/>
                </a:solidFill>
                <a:latin typeface="Poppins" pitchFamily="34" charset="0"/>
                <a:ea typeface="Poppins" pitchFamily="34" charset="-122"/>
                <a:cs typeface="Poppins" pitchFamily="34" charset="-120"/>
              </a:rPr>
              <a:t>in our data model — and to know the correct way of working with them.</a:t>
            </a:r>
            <a:endParaRPr lang="en-US" sz="4800" dirty="0"/>
          </a:p>
        </p:txBody>
      </p:sp>
      <p:sp>
        <p:nvSpPr>
          <p:cNvPr id="4" name="Text 2"/>
          <p:cNvSpPr/>
          <p:nvPr/>
        </p:nvSpPr>
        <p:spPr>
          <a:xfrm>
            <a:off x="838150" y="5984317"/>
            <a:ext cx="9810750" cy="811510"/>
          </a:xfrm>
          <a:prstGeom prst="rect">
            <a:avLst/>
          </a:prstGeom>
          <a:noFill/>
          <a:ln/>
        </p:spPr>
        <p:txBody>
          <a:bodyPr wrap="square" lIns="25400" tIns="25400" rIns="25400" bIns="25400" rtlCol="0" anchor="t">
            <a:normAutofit/>
          </a:bodyPr>
          <a:lstStyle/>
          <a:p>
            <a:pPr marL="0" indent="0" algn="l">
              <a:lnSpc>
                <a:spcPct val="95529"/>
              </a:lnSpc>
              <a:buNone/>
            </a:pPr>
            <a:r>
              <a:rPr lang="en-US" sz="2100" dirty="0">
                <a:solidFill>
                  <a:srgbClr val="9AA3AD"/>
                </a:solidFill>
                <a:latin typeface="Poppins" pitchFamily="34" charset="0"/>
                <a:ea typeface="Poppins" pitchFamily="34" charset="-122"/>
                <a:cs typeface="Poppins" pitchFamily="34" charset="-120"/>
              </a:rPr>
              <a:t>The complexity lies in the ambiguity of the data. Solve the mapping, and the execution and retrieval (SQL or SPARQL) become trivial.</a:t>
            </a:r>
            <a:endParaRPr lang="en-US" sz="2100" dirty="0"/>
          </a:p>
        </p:txBody>
      </p:sp>
      <p:sp>
        <p:nvSpPr>
          <p:cNvPr id="5" name="Text 3"/>
          <p:cNvSpPr/>
          <p:nvPr/>
        </p:nvSpPr>
        <p:spPr>
          <a:xfrm>
            <a:off x="838150" y="9380326"/>
            <a:ext cx="7479202" cy="335198"/>
          </a:xfrm>
          <a:prstGeom prst="rect">
            <a:avLst/>
          </a:prstGeom>
          <a:noFill/>
          <a:ln/>
        </p:spPr>
        <p:txBody>
          <a:bodyPr wrap="square" lIns="25400" tIns="25400" rIns="25400" bIns="25400" rtlCol="0" anchor="t">
            <a:normAutofit/>
          </a:bodyPr>
          <a:lstStyle/>
          <a:p>
            <a:pPr marL="0" indent="0" algn="l">
              <a:lnSpc>
                <a:spcPct val="87070"/>
              </a:lnSpc>
              <a:buNone/>
            </a:pPr>
            <a:r>
              <a:rPr lang="en-US" sz="1800" dirty="0">
                <a:solidFill>
                  <a:srgbClr val="9AA3AD"/>
                </a:solidFill>
                <a:latin typeface="Poppins" pitchFamily="34" charset="0"/>
                <a:ea typeface="Poppins" pitchFamily="34" charset="-122"/>
                <a:cs typeface="Poppins" pitchFamily="34" charset="-120"/>
              </a:rPr>
              <a:t>Source: Anthropic — self-service data analytics with Claude</a:t>
            </a:r>
            <a:endParaRPr lang="en-US" sz="1800" dirty="0"/>
          </a:p>
        </p:txBody>
      </p:sp>
      <p:pic>
        <p:nvPicPr>
          <p:cNvPr id="6" name="Image 0" descr="preencoded.png"/>
          <p:cNvPicPr>
            <a:picLocks noChangeAspect="1"/>
          </p:cNvPicPr>
          <p:nvPr/>
        </p:nvPicPr>
        <p:blipFill>
          <a:blip r:embed="rId3"/>
          <a:stretch>
            <a:fillRect/>
          </a:stretch>
        </p:blipFill>
        <p:spPr>
          <a:xfrm>
            <a:off x="16021471" y="9353599"/>
            <a:ext cx="1428378" cy="3238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150" y="762000"/>
            <a:ext cx="18272869"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315" dirty="0">
                <a:solidFill>
                  <a:srgbClr val="3B5C7F"/>
                </a:solidFill>
                <a:latin typeface="Poppins" pitchFamily="34" charset="0"/>
                <a:ea typeface="Poppins" pitchFamily="34" charset="-122"/>
                <a:cs typeface="Poppins" pitchFamily="34" charset="-120"/>
              </a:rPr>
              <a:t>WHERE THE ANSWERS GO WRONG</a:t>
            </a:r>
            <a:endParaRPr lang="en-US" sz="1800" dirty="0"/>
          </a:p>
        </p:txBody>
      </p:sp>
      <p:sp>
        <p:nvSpPr>
          <p:cNvPr id="3" name="Text 1"/>
          <p:cNvSpPr/>
          <p:nvPr/>
        </p:nvSpPr>
        <p:spPr>
          <a:xfrm>
            <a:off x="838150" y="1344848"/>
            <a:ext cx="18272869" cy="718182"/>
          </a:xfrm>
          <a:prstGeom prst="rect">
            <a:avLst/>
          </a:prstGeom>
          <a:noFill/>
          <a:ln/>
        </p:spPr>
        <p:txBody>
          <a:bodyPr wrap="square" lIns="25400" tIns="25400" rIns="25400" bIns="25400" rtlCol="0" anchor="t">
            <a:normAutofit/>
          </a:bodyPr>
          <a:lstStyle/>
          <a:p>
            <a:pPr marL="0" indent="0" algn="l">
              <a:lnSpc>
                <a:spcPct val="70230"/>
              </a:lnSpc>
              <a:buNone/>
            </a:pPr>
            <a:r>
              <a:rPr lang="en-US" sz="5100" b="1" kern="0" spc="-102" dirty="0">
                <a:solidFill>
                  <a:srgbClr val="220F60"/>
                </a:solidFill>
                <a:latin typeface="Poppins" pitchFamily="34" charset="0"/>
                <a:ea typeface="Poppins" pitchFamily="34" charset="-122"/>
                <a:cs typeface="Poppins" pitchFamily="34" charset="-120"/>
              </a:rPr>
              <a:t>Three causes of inaccurate responses</a:t>
            </a:r>
            <a:endParaRPr lang="en-US" sz="5100" dirty="0"/>
          </a:p>
        </p:txBody>
      </p:sp>
      <p:sp>
        <p:nvSpPr>
          <p:cNvPr id="4" name="Text 2"/>
          <p:cNvSpPr/>
          <p:nvPr/>
        </p:nvSpPr>
        <p:spPr>
          <a:xfrm>
            <a:off x="838150" y="2253506"/>
            <a:ext cx="12753975" cy="784845"/>
          </a:xfrm>
          <a:prstGeom prst="rect">
            <a:avLst/>
          </a:prstGeom>
          <a:noFill/>
          <a:ln/>
        </p:spPr>
        <p:txBody>
          <a:bodyPr wrap="square" lIns="25400" tIns="25400" rIns="25400" bIns="25400" rtlCol="0" anchor="t">
            <a:normAutofit/>
          </a:bodyPr>
          <a:lstStyle/>
          <a:p>
            <a:pPr marL="0" indent="0" algn="l">
              <a:lnSpc>
                <a:spcPct val="92235"/>
              </a:lnSpc>
              <a:buNone/>
            </a:pPr>
            <a:r>
              <a:rPr lang="en-US" sz="2100" dirty="0">
                <a:solidFill>
                  <a:srgbClr val="15103A"/>
                </a:solidFill>
                <a:latin typeface="Poppins" pitchFamily="34" charset="0"/>
                <a:ea typeface="Poppins" pitchFamily="34" charset="-122"/>
                <a:cs typeface="Poppins" pitchFamily="34" charset="-120"/>
              </a:rPr>
              <a:t>Three attributes of the problem account for an overwhelming majority of inaccurate responses.</a:t>
            </a:r>
            <a:endParaRPr lang="en-US" sz="2100" dirty="0"/>
          </a:p>
        </p:txBody>
      </p:sp>
      <p:sp>
        <p:nvSpPr>
          <p:cNvPr id="5" name="Shape 3"/>
          <p:cNvSpPr/>
          <p:nvPr/>
        </p:nvSpPr>
        <p:spPr>
          <a:xfrm>
            <a:off x="838150" y="3609826"/>
            <a:ext cx="5130850" cy="9525"/>
          </a:xfrm>
          <a:prstGeom prst="rect">
            <a:avLst/>
          </a:prstGeom>
          <a:solidFill>
            <a:srgbClr val="9AA3AD"/>
          </a:solidFill>
          <a:ln/>
        </p:spPr>
        <p:txBody>
          <a:bodyPr/>
          <a:lstStyle/>
          <a:p>
            <a:endParaRPr lang="en-US"/>
          </a:p>
        </p:txBody>
      </p:sp>
      <p:sp>
        <p:nvSpPr>
          <p:cNvPr id="6" name="Text 4"/>
          <p:cNvSpPr/>
          <p:nvPr/>
        </p:nvSpPr>
        <p:spPr>
          <a:xfrm>
            <a:off x="838150" y="3922551"/>
            <a:ext cx="5643935" cy="800100"/>
          </a:xfrm>
          <a:prstGeom prst="rect">
            <a:avLst/>
          </a:prstGeom>
          <a:noFill/>
          <a:ln/>
        </p:spPr>
        <p:txBody>
          <a:bodyPr wrap="square" lIns="25400" tIns="25400" rIns="25400" bIns="25400" rtlCol="0" anchor="t">
            <a:normAutofit/>
          </a:bodyPr>
          <a:lstStyle/>
          <a:p>
            <a:pPr marL="0" indent="0" algn="l">
              <a:lnSpc>
                <a:spcPct val="66667"/>
              </a:lnSpc>
              <a:buNone/>
            </a:pPr>
            <a:r>
              <a:rPr lang="en-US" sz="6000" dirty="0">
                <a:solidFill>
                  <a:srgbClr val="DF367C"/>
                </a:solidFill>
                <a:latin typeface="Poppins" pitchFamily="34" charset="0"/>
                <a:ea typeface="Poppins" pitchFamily="34" charset="-122"/>
                <a:cs typeface="Poppins" pitchFamily="34" charset="-120"/>
              </a:rPr>
              <a:t>01</a:t>
            </a:r>
            <a:endParaRPr lang="en-US" sz="6000" dirty="0"/>
          </a:p>
        </p:txBody>
      </p:sp>
      <p:sp>
        <p:nvSpPr>
          <p:cNvPr id="7" name="Text 5"/>
          <p:cNvSpPr/>
          <p:nvPr/>
        </p:nvSpPr>
        <p:spPr>
          <a:xfrm>
            <a:off x="838150" y="4875051"/>
            <a:ext cx="5643935" cy="426665"/>
          </a:xfrm>
          <a:prstGeom prst="rect">
            <a:avLst/>
          </a:prstGeom>
          <a:noFill/>
          <a:ln/>
        </p:spPr>
        <p:txBody>
          <a:bodyPr wrap="square" lIns="25400" tIns="25400" rIns="25400" bIns="25400" rtlCol="0" anchor="t">
            <a:normAutofit/>
          </a:bodyPr>
          <a:lstStyle/>
          <a:p>
            <a:pPr marL="0" indent="0" algn="l">
              <a:lnSpc>
                <a:spcPct val="79610"/>
              </a:lnSpc>
              <a:buNone/>
            </a:pPr>
            <a:r>
              <a:rPr lang="en-US" sz="2550" b="1" dirty="0">
                <a:solidFill>
                  <a:srgbClr val="220F60"/>
                </a:solidFill>
                <a:latin typeface="Poppins" pitchFamily="34" charset="0"/>
                <a:ea typeface="Poppins" pitchFamily="34" charset="-122"/>
                <a:cs typeface="Poppins" pitchFamily="34" charset="-120"/>
              </a:rPr>
              <a:t>Concept ↔ entity ambiguity</a:t>
            </a:r>
            <a:endParaRPr lang="en-US" sz="2550" dirty="0"/>
          </a:p>
        </p:txBody>
      </p:sp>
      <p:sp>
        <p:nvSpPr>
          <p:cNvPr id="8" name="Text 6"/>
          <p:cNvSpPr/>
          <p:nvPr/>
        </p:nvSpPr>
        <p:spPr>
          <a:xfrm>
            <a:off x="838150" y="5415979"/>
            <a:ext cx="5284775" cy="1419225"/>
          </a:xfrm>
          <a:prstGeom prst="rect">
            <a:avLst/>
          </a:prstGeom>
          <a:noFill/>
          <a:ln/>
        </p:spPr>
        <p:txBody>
          <a:bodyPr wrap="square" lIns="25400" tIns="25400" rIns="25400" bIns="25400" rtlCol="0" anchor="t">
            <a:normAutofit/>
          </a:bodyPr>
          <a:lstStyle/>
          <a:p>
            <a:pPr marL="0" indent="0" algn="l">
              <a:lnSpc>
                <a:spcPct val="96667"/>
              </a:lnSpc>
              <a:buNone/>
            </a:pPr>
            <a:r>
              <a:rPr lang="en-US" sz="1875" dirty="0">
                <a:solidFill>
                  <a:srgbClr val="15103A"/>
                </a:solidFill>
                <a:latin typeface="Poppins" pitchFamily="34" charset="0"/>
                <a:ea typeface="Poppins" pitchFamily="34" charset="-122"/>
                <a:cs typeface="Poppins" pitchFamily="34" charset="-120"/>
              </a:rPr>
              <a:t>With hundreds of viable options in a data model, out of potentially millions of fields, the agent cannot choose the fields that best answer the question.</a:t>
            </a:r>
            <a:endParaRPr lang="en-US" sz="1875" dirty="0"/>
          </a:p>
        </p:txBody>
      </p:sp>
      <p:sp>
        <p:nvSpPr>
          <p:cNvPr id="9" name="Shape 7"/>
          <p:cNvSpPr/>
          <p:nvPr/>
        </p:nvSpPr>
        <p:spPr>
          <a:xfrm>
            <a:off x="6578575" y="3609826"/>
            <a:ext cx="5130850" cy="9525"/>
          </a:xfrm>
          <a:prstGeom prst="rect">
            <a:avLst/>
          </a:prstGeom>
          <a:solidFill>
            <a:srgbClr val="9AA3AD"/>
          </a:solidFill>
          <a:ln/>
        </p:spPr>
        <p:txBody>
          <a:bodyPr/>
          <a:lstStyle/>
          <a:p>
            <a:endParaRPr lang="en-US"/>
          </a:p>
        </p:txBody>
      </p:sp>
      <p:sp>
        <p:nvSpPr>
          <p:cNvPr id="10" name="Text 8"/>
          <p:cNvSpPr/>
          <p:nvPr/>
        </p:nvSpPr>
        <p:spPr>
          <a:xfrm>
            <a:off x="6578575" y="3922551"/>
            <a:ext cx="5643935" cy="800100"/>
          </a:xfrm>
          <a:prstGeom prst="rect">
            <a:avLst/>
          </a:prstGeom>
          <a:noFill/>
          <a:ln/>
        </p:spPr>
        <p:txBody>
          <a:bodyPr wrap="square" lIns="25400" tIns="25400" rIns="25400" bIns="25400" rtlCol="0" anchor="t">
            <a:normAutofit/>
          </a:bodyPr>
          <a:lstStyle/>
          <a:p>
            <a:pPr marL="0" indent="0" algn="l">
              <a:lnSpc>
                <a:spcPct val="66667"/>
              </a:lnSpc>
              <a:buNone/>
            </a:pPr>
            <a:r>
              <a:rPr lang="en-US" sz="6000" dirty="0">
                <a:solidFill>
                  <a:srgbClr val="DF367C"/>
                </a:solidFill>
                <a:latin typeface="Poppins" pitchFamily="34" charset="0"/>
                <a:ea typeface="Poppins" pitchFamily="34" charset="-122"/>
                <a:cs typeface="Poppins" pitchFamily="34" charset="-120"/>
              </a:rPr>
              <a:t>02</a:t>
            </a:r>
            <a:endParaRPr lang="en-US" sz="6000" dirty="0"/>
          </a:p>
        </p:txBody>
      </p:sp>
      <p:sp>
        <p:nvSpPr>
          <p:cNvPr id="11" name="Text 9"/>
          <p:cNvSpPr/>
          <p:nvPr/>
        </p:nvSpPr>
        <p:spPr>
          <a:xfrm>
            <a:off x="6578575" y="4875051"/>
            <a:ext cx="5643935" cy="426665"/>
          </a:xfrm>
          <a:prstGeom prst="rect">
            <a:avLst/>
          </a:prstGeom>
          <a:noFill/>
          <a:ln/>
        </p:spPr>
        <p:txBody>
          <a:bodyPr wrap="square" lIns="25400" tIns="25400" rIns="25400" bIns="25400" rtlCol="0" anchor="t">
            <a:normAutofit/>
          </a:bodyPr>
          <a:lstStyle/>
          <a:p>
            <a:pPr marL="0" indent="0" algn="l">
              <a:lnSpc>
                <a:spcPct val="79610"/>
              </a:lnSpc>
              <a:buNone/>
            </a:pPr>
            <a:r>
              <a:rPr lang="en-US" sz="2550" b="1" dirty="0">
                <a:solidFill>
                  <a:srgbClr val="220F60"/>
                </a:solidFill>
                <a:latin typeface="Poppins" pitchFamily="34" charset="0"/>
                <a:ea typeface="Poppins" pitchFamily="34" charset="-122"/>
                <a:cs typeface="Poppins" pitchFamily="34" charset="-120"/>
              </a:rPr>
              <a:t>Data staleness</a:t>
            </a:r>
            <a:endParaRPr lang="en-US" sz="2550" dirty="0"/>
          </a:p>
        </p:txBody>
      </p:sp>
      <p:sp>
        <p:nvSpPr>
          <p:cNvPr id="12" name="Text 10"/>
          <p:cNvSpPr/>
          <p:nvPr/>
        </p:nvSpPr>
        <p:spPr>
          <a:xfrm>
            <a:off x="6578575" y="5415979"/>
            <a:ext cx="5284775" cy="1419225"/>
          </a:xfrm>
          <a:prstGeom prst="rect">
            <a:avLst/>
          </a:prstGeom>
          <a:noFill/>
          <a:ln/>
        </p:spPr>
        <p:txBody>
          <a:bodyPr wrap="square" lIns="25400" tIns="25400" rIns="25400" bIns="25400" rtlCol="0" anchor="t">
            <a:normAutofit/>
          </a:bodyPr>
          <a:lstStyle/>
          <a:p>
            <a:pPr marL="0" indent="0" algn="l">
              <a:lnSpc>
                <a:spcPct val="96667"/>
              </a:lnSpc>
              <a:buNone/>
            </a:pPr>
            <a:r>
              <a:rPr lang="en-US" sz="1875" dirty="0">
                <a:solidFill>
                  <a:srgbClr val="15103A"/>
                </a:solidFill>
                <a:latin typeface="Poppins" pitchFamily="34" charset="0"/>
                <a:ea typeface="Poppins" pitchFamily="34" charset="-122"/>
                <a:cs typeface="Poppins" pitchFamily="34" charset="-120"/>
              </a:rPr>
              <a:t>Sources, business definitions and schemas change constantly. Assets and agent knowledge go stale and begin returning subtly wrong answers.</a:t>
            </a:r>
            <a:endParaRPr lang="en-US" sz="1875" dirty="0"/>
          </a:p>
        </p:txBody>
      </p:sp>
      <p:sp>
        <p:nvSpPr>
          <p:cNvPr id="13" name="Shape 11"/>
          <p:cNvSpPr/>
          <p:nvPr/>
        </p:nvSpPr>
        <p:spPr>
          <a:xfrm>
            <a:off x="12318999" y="3609826"/>
            <a:ext cx="5130850" cy="9525"/>
          </a:xfrm>
          <a:prstGeom prst="rect">
            <a:avLst/>
          </a:prstGeom>
          <a:solidFill>
            <a:srgbClr val="9AA3AD"/>
          </a:solidFill>
          <a:ln/>
        </p:spPr>
        <p:txBody>
          <a:bodyPr/>
          <a:lstStyle/>
          <a:p>
            <a:endParaRPr lang="en-US"/>
          </a:p>
        </p:txBody>
      </p:sp>
      <p:sp>
        <p:nvSpPr>
          <p:cNvPr id="14" name="Text 12"/>
          <p:cNvSpPr/>
          <p:nvPr/>
        </p:nvSpPr>
        <p:spPr>
          <a:xfrm>
            <a:off x="12318999" y="3922551"/>
            <a:ext cx="5643935" cy="800100"/>
          </a:xfrm>
          <a:prstGeom prst="rect">
            <a:avLst/>
          </a:prstGeom>
          <a:noFill/>
          <a:ln/>
        </p:spPr>
        <p:txBody>
          <a:bodyPr wrap="square" lIns="25400" tIns="25400" rIns="25400" bIns="25400" rtlCol="0" anchor="t">
            <a:normAutofit/>
          </a:bodyPr>
          <a:lstStyle/>
          <a:p>
            <a:pPr marL="0" indent="0" algn="l">
              <a:lnSpc>
                <a:spcPct val="66667"/>
              </a:lnSpc>
              <a:buNone/>
            </a:pPr>
            <a:r>
              <a:rPr lang="en-US" sz="6000" dirty="0">
                <a:solidFill>
                  <a:srgbClr val="DF367C"/>
                </a:solidFill>
                <a:latin typeface="Poppins" pitchFamily="34" charset="0"/>
                <a:ea typeface="Poppins" pitchFamily="34" charset="-122"/>
                <a:cs typeface="Poppins" pitchFamily="34" charset="-120"/>
              </a:rPr>
              <a:t>03</a:t>
            </a:r>
            <a:endParaRPr lang="en-US" sz="6000" dirty="0"/>
          </a:p>
        </p:txBody>
      </p:sp>
      <p:sp>
        <p:nvSpPr>
          <p:cNvPr id="15" name="Text 13"/>
          <p:cNvSpPr/>
          <p:nvPr/>
        </p:nvSpPr>
        <p:spPr>
          <a:xfrm>
            <a:off x="12318999" y="4875051"/>
            <a:ext cx="5643935" cy="426665"/>
          </a:xfrm>
          <a:prstGeom prst="rect">
            <a:avLst/>
          </a:prstGeom>
          <a:noFill/>
          <a:ln/>
        </p:spPr>
        <p:txBody>
          <a:bodyPr wrap="square" lIns="25400" tIns="25400" rIns="25400" bIns="25400" rtlCol="0" anchor="t">
            <a:normAutofit/>
          </a:bodyPr>
          <a:lstStyle/>
          <a:p>
            <a:pPr marL="0" indent="0" algn="l">
              <a:lnSpc>
                <a:spcPct val="79610"/>
              </a:lnSpc>
              <a:buNone/>
            </a:pPr>
            <a:r>
              <a:rPr lang="en-US" sz="2550" b="1" dirty="0">
                <a:solidFill>
                  <a:srgbClr val="220F60"/>
                </a:solidFill>
                <a:latin typeface="Poppins" pitchFamily="34" charset="0"/>
                <a:ea typeface="Poppins" pitchFamily="34" charset="-122"/>
                <a:cs typeface="Poppins" pitchFamily="34" charset="-120"/>
              </a:rPr>
              <a:t>Retrieval failure</a:t>
            </a:r>
            <a:endParaRPr lang="en-US" sz="2550" dirty="0"/>
          </a:p>
        </p:txBody>
      </p:sp>
      <p:sp>
        <p:nvSpPr>
          <p:cNvPr id="16" name="Text 14"/>
          <p:cNvSpPr/>
          <p:nvPr/>
        </p:nvSpPr>
        <p:spPr>
          <a:xfrm>
            <a:off x="12318999" y="5415979"/>
            <a:ext cx="5284775" cy="1419225"/>
          </a:xfrm>
          <a:prstGeom prst="rect">
            <a:avLst/>
          </a:prstGeom>
          <a:noFill/>
          <a:ln/>
        </p:spPr>
        <p:txBody>
          <a:bodyPr wrap="square" lIns="25400" tIns="25400" rIns="25400" bIns="25400" rtlCol="0" anchor="t">
            <a:normAutofit/>
          </a:bodyPr>
          <a:lstStyle/>
          <a:p>
            <a:pPr marL="0" indent="0" algn="l">
              <a:lnSpc>
                <a:spcPct val="96667"/>
              </a:lnSpc>
              <a:buNone/>
            </a:pPr>
            <a:r>
              <a:rPr lang="en-US" sz="1875" dirty="0">
                <a:solidFill>
                  <a:srgbClr val="15103A"/>
                </a:solidFill>
                <a:latin typeface="Poppins" pitchFamily="34" charset="0"/>
                <a:ea typeface="Poppins" pitchFamily="34" charset="-122"/>
                <a:cs typeface="Poppins" pitchFamily="34" charset="-120"/>
              </a:rPr>
              <a:t>The right information exists and is properly annotated, but the search space is vast enough that the agent simply never finds it.</a:t>
            </a:r>
            <a:endParaRPr lang="en-US" sz="1875" dirty="0"/>
          </a:p>
        </p:txBody>
      </p:sp>
      <p:sp>
        <p:nvSpPr>
          <p:cNvPr id="17" name="Shape 15"/>
          <p:cNvSpPr/>
          <p:nvPr/>
        </p:nvSpPr>
        <p:spPr>
          <a:xfrm>
            <a:off x="838150" y="7330467"/>
            <a:ext cx="16611699" cy="1513396"/>
          </a:xfrm>
          <a:prstGeom prst="rect">
            <a:avLst/>
          </a:prstGeom>
          <a:solidFill>
            <a:srgbClr val="F2F2F2"/>
          </a:solidFill>
          <a:ln/>
        </p:spPr>
        <p:txBody>
          <a:bodyPr/>
          <a:lstStyle/>
          <a:p>
            <a:endParaRPr lang="en-US"/>
          </a:p>
        </p:txBody>
      </p:sp>
      <p:sp>
        <p:nvSpPr>
          <p:cNvPr id="18" name="Text 16"/>
          <p:cNvSpPr/>
          <p:nvPr/>
        </p:nvSpPr>
        <p:spPr>
          <a:xfrm>
            <a:off x="1257226" y="7673330"/>
            <a:ext cx="17350904"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b="1" kern="0" spc="216" dirty="0">
                <a:solidFill>
                  <a:srgbClr val="DF367C"/>
                </a:solidFill>
                <a:latin typeface="Poppins" pitchFamily="34" charset="0"/>
                <a:ea typeface="Poppins" pitchFamily="34" charset="-122"/>
                <a:cs typeface="Poppins" pitchFamily="34" charset="-120"/>
              </a:rPr>
              <a:t>EXAMPLE — "HOW MANY ACTIVE USERS?"</a:t>
            </a:r>
            <a:endParaRPr lang="en-US" sz="1800" dirty="0"/>
          </a:p>
        </p:txBody>
      </p:sp>
      <p:sp>
        <p:nvSpPr>
          <p:cNvPr id="19" name="Text 17"/>
          <p:cNvSpPr/>
          <p:nvPr/>
        </p:nvSpPr>
        <p:spPr>
          <a:xfrm>
            <a:off x="1257226" y="8141890"/>
            <a:ext cx="17350904" cy="397210"/>
          </a:xfrm>
          <a:prstGeom prst="rect">
            <a:avLst/>
          </a:prstGeom>
          <a:noFill/>
          <a:ln/>
        </p:spPr>
        <p:txBody>
          <a:bodyPr wrap="square" lIns="25400" tIns="25400" rIns="25400" bIns="25400" rtlCol="0" anchor="t">
            <a:normAutofit/>
          </a:bodyPr>
          <a:lstStyle/>
          <a:p>
            <a:pPr marL="0" indent="0" algn="l">
              <a:lnSpc>
                <a:spcPct val="96255"/>
              </a:lnSpc>
              <a:buNone/>
            </a:pPr>
            <a:r>
              <a:rPr lang="en-US" sz="1950" dirty="0">
                <a:solidFill>
                  <a:srgbClr val="15103A"/>
                </a:solidFill>
                <a:latin typeface="Poppins" pitchFamily="34" charset="0"/>
                <a:ea typeface="Poppins" pitchFamily="34" charset="-122"/>
                <a:cs typeface="Poppins" pitchFamily="34" charset="-120"/>
              </a:rPr>
              <a:t>What actions count as "active"? Do fraudulent users count? What lookback window applies?</a:t>
            </a:r>
            <a:endParaRPr lang="en-US" sz="1950" dirty="0"/>
          </a:p>
        </p:txBody>
      </p:sp>
      <p:sp>
        <p:nvSpPr>
          <p:cNvPr id="20" name="Text 18"/>
          <p:cNvSpPr/>
          <p:nvPr/>
        </p:nvSpPr>
        <p:spPr>
          <a:xfrm>
            <a:off x="838150" y="9380326"/>
            <a:ext cx="7479202" cy="335198"/>
          </a:xfrm>
          <a:prstGeom prst="rect">
            <a:avLst/>
          </a:prstGeom>
          <a:noFill/>
          <a:ln/>
        </p:spPr>
        <p:txBody>
          <a:bodyPr wrap="square" lIns="25400" tIns="25400" rIns="25400" bIns="25400" rtlCol="0" anchor="t">
            <a:normAutofit/>
          </a:bodyPr>
          <a:lstStyle/>
          <a:p>
            <a:pPr marL="0" indent="0" algn="l">
              <a:lnSpc>
                <a:spcPct val="87070"/>
              </a:lnSpc>
              <a:buNone/>
            </a:pPr>
            <a:r>
              <a:rPr lang="en-US" sz="1800" dirty="0">
                <a:solidFill>
                  <a:srgbClr val="9AA3AD"/>
                </a:solidFill>
                <a:latin typeface="Poppins" pitchFamily="34" charset="0"/>
                <a:ea typeface="Poppins" pitchFamily="34" charset="-122"/>
                <a:cs typeface="Poppins" pitchFamily="34" charset="-120"/>
              </a:rPr>
              <a:t>Source: Anthropic — self-service data analytics with Claude</a:t>
            </a:r>
            <a:endParaRPr lang="en-US" sz="1800" dirty="0"/>
          </a:p>
        </p:txBody>
      </p:sp>
      <p:pic>
        <p:nvPicPr>
          <p:cNvPr id="21" name="Image 0" descr="preencoded.png"/>
          <p:cNvPicPr>
            <a:picLocks noChangeAspect="1"/>
          </p:cNvPicPr>
          <p:nvPr/>
        </p:nvPicPr>
        <p:blipFill>
          <a:blip r:embed="rId3"/>
          <a:stretch>
            <a:fillRect/>
          </a:stretch>
        </p:blipFill>
        <p:spPr>
          <a:xfrm>
            <a:off x="16021471" y="9353599"/>
            <a:ext cx="1428378" cy="3238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150" y="685788"/>
            <a:ext cx="13231527" cy="678123"/>
          </a:xfrm>
          <a:prstGeom prst="rect">
            <a:avLst/>
          </a:prstGeom>
          <a:noFill/>
          <a:ln/>
        </p:spPr>
        <p:txBody>
          <a:bodyPr wrap="square" lIns="25400" tIns="25400" rIns="25400" bIns="25400" rtlCol="0" anchor="t">
            <a:normAutofit/>
          </a:bodyPr>
          <a:lstStyle/>
          <a:p>
            <a:pPr marL="0" indent="0" algn="l">
              <a:lnSpc>
                <a:spcPct val="70122"/>
              </a:lnSpc>
              <a:buNone/>
            </a:pPr>
            <a:r>
              <a:rPr lang="en-US" sz="4800" b="1" kern="0" spc="-96" dirty="0">
                <a:solidFill>
                  <a:srgbClr val="220F60"/>
                </a:solidFill>
                <a:latin typeface="Poppins" pitchFamily="34" charset="0"/>
                <a:ea typeface="Poppins" pitchFamily="34" charset="-122"/>
                <a:cs typeface="Poppins" pitchFamily="34" charset="-120"/>
              </a:rPr>
              <a:t>Our agentic self-service analytics stack</a:t>
            </a:r>
            <a:endParaRPr lang="en-US" sz="4800" dirty="0"/>
          </a:p>
        </p:txBody>
      </p:sp>
      <p:sp>
        <p:nvSpPr>
          <p:cNvPr id="3" name="Text 1"/>
          <p:cNvSpPr/>
          <p:nvPr/>
        </p:nvSpPr>
        <p:spPr>
          <a:xfrm>
            <a:off x="15882205" y="761938"/>
            <a:ext cx="1424831" cy="392373"/>
          </a:xfrm>
          <a:prstGeom prst="rect">
            <a:avLst/>
          </a:prstGeom>
          <a:noFill/>
          <a:ln/>
        </p:spPr>
        <p:txBody>
          <a:bodyPr wrap="square" lIns="25400" tIns="25400" rIns="25400" bIns="25400" rtlCol="0" anchor="t">
            <a:normAutofit/>
          </a:bodyPr>
          <a:lstStyle/>
          <a:p>
            <a:pPr marL="0" indent="0" algn="r">
              <a:lnSpc>
                <a:spcPct val="103814"/>
              </a:lnSpc>
              <a:buNone/>
            </a:pPr>
            <a:r>
              <a:rPr lang="en-US" sz="1800" dirty="0">
                <a:solidFill>
                  <a:srgbClr val="9AA3AD"/>
                </a:solidFill>
                <a:latin typeface="Poppins" pitchFamily="34" charset="0"/>
                <a:ea typeface="Poppins" pitchFamily="34" charset="-122"/>
                <a:cs typeface="Poppins" pitchFamily="34" charset="-120"/>
              </a:rPr>
              <a:t>Validation</a:t>
            </a:r>
            <a:endParaRPr lang="en-US" sz="1800" dirty="0"/>
          </a:p>
        </p:txBody>
      </p:sp>
      <p:sp>
        <p:nvSpPr>
          <p:cNvPr id="4" name="Text 2"/>
          <p:cNvSpPr/>
          <p:nvPr/>
        </p:nvSpPr>
        <p:spPr>
          <a:xfrm>
            <a:off x="15882205" y="1459074"/>
            <a:ext cx="1424831" cy="392373"/>
          </a:xfrm>
          <a:prstGeom prst="rect">
            <a:avLst/>
          </a:prstGeom>
          <a:noFill/>
          <a:ln/>
        </p:spPr>
        <p:txBody>
          <a:bodyPr wrap="square" lIns="25400" tIns="25400" rIns="25400" bIns="25400" rtlCol="0" anchor="t">
            <a:normAutofit/>
          </a:bodyPr>
          <a:lstStyle/>
          <a:p>
            <a:pPr marL="0" indent="0" algn="r">
              <a:lnSpc>
                <a:spcPct val="103814"/>
              </a:lnSpc>
              <a:buNone/>
            </a:pPr>
            <a:r>
              <a:rPr lang="en-US" sz="1800" dirty="0">
                <a:solidFill>
                  <a:srgbClr val="9AA3AD"/>
                </a:solidFill>
                <a:latin typeface="Poppins" pitchFamily="34" charset="0"/>
                <a:ea typeface="Poppins" pitchFamily="34" charset="-122"/>
                <a:cs typeface="Poppins" pitchFamily="34" charset="-120"/>
              </a:rPr>
              <a:t>Foundation</a:t>
            </a:r>
            <a:endParaRPr lang="en-US" sz="1800" dirty="0"/>
          </a:p>
        </p:txBody>
      </p:sp>
      <p:sp>
        <p:nvSpPr>
          <p:cNvPr id="5" name="Shape 3"/>
          <p:cNvSpPr/>
          <p:nvPr/>
        </p:nvSpPr>
        <p:spPr>
          <a:xfrm>
            <a:off x="17440361" y="792324"/>
            <a:ext cx="9525" cy="990575"/>
          </a:xfrm>
          <a:prstGeom prst="rect">
            <a:avLst/>
          </a:prstGeom>
          <a:solidFill>
            <a:srgbClr val="9AA3AD"/>
          </a:solidFill>
          <a:ln/>
        </p:spPr>
        <p:txBody>
          <a:bodyPr/>
          <a:lstStyle/>
          <a:p>
            <a:endParaRPr lang="en-US"/>
          </a:p>
        </p:txBody>
      </p:sp>
      <p:sp>
        <p:nvSpPr>
          <p:cNvPr id="6" name="Shape 4"/>
          <p:cNvSpPr/>
          <p:nvPr/>
        </p:nvSpPr>
        <p:spPr>
          <a:xfrm>
            <a:off x="17392736" y="716173"/>
            <a:ext cx="95250" cy="83344"/>
          </a:xfrm>
          <a:prstGeom prst="rect">
            <a:avLst/>
          </a:prstGeom>
          <a:solidFill>
            <a:srgbClr val="9AA3AD"/>
          </a:solidFill>
          <a:ln/>
        </p:spPr>
        <p:txBody>
          <a:bodyPr/>
          <a:lstStyle/>
          <a:p>
            <a:endParaRPr lang="en-US"/>
          </a:p>
        </p:txBody>
      </p:sp>
      <p:sp>
        <p:nvSpPr>
          <p:cNvPr id="7" name="Shape 5"/>
          <p:cNvSpPr/>
          <p:nvPr/>
        </p:nvSpPr>
        <p:spPr>
          <a:xfrm>
            <a:off x="838150" y="2079997"/>
            <a:ext cx="16611699" cy="780727"/>
          </a:xfrm>
          <a:prstGeom prst="roundRect">
            <a:avLst>
              <a:gd name="adj" fmla="val 9760"/>
            </a:avLst>
          </a:prstGeom>
          <a:solidFill>
            <a:srgbClr val="FFFFFF"/>
          </a:solidFill>
          <a:ln w="7937">
            <a:solidFill>
              <a:srgbClr val="9AA3AD"/>
            </a:solidFill>
            <a:prstDash val="solid"/>
          </a:ln>
        </p:spPr>
        <p:txBody>
          <a:bodyPr/>
          <a:lstStyle/>
          <a:p>
            <a:endParaRPr lang="en-US"/>
          </a:p>
        </p:txBody>
      </p:sp>
      <p:sp>
        <p:nvSpPr>
          <p:cNvPr id="8" name="Text 6"/>
          <p:cNvSpPr/>
          <p:nvPr/>
        </p:nvSpPr>
        <p:spPr>
          <a:xfrm>
            <a:off x="1150875" y="2293193"/>
            <a:ext cx="1726809"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252" dirty="0">
                <a:solidFill>
                  <a:srgbClr val="9AA3AD"/>
                </a:solidFill>
                <a:latin typeface="Poppins" pitchFamily="34" charset="0"/>
                <a:ea typeface="Poppins" pitchFamily="34" charset="-122"/>
                <a:cs typeface="Poppins" pitchFamily="34" charset="-120"/>
              </a:rPr>
              <a:t>ADDRESSES</a:t>
            </a:r>
            <a:endParaRPr lang="en-US" sz="1800" dirty="0"/>
          </a:p>
        </p:txBody>
      </p:sp>
      <p:sp>
        <p:nvSpPr>
          <p:cNvPr id="9" name="Shape 7"/>
          <p:cNvSpPr/>
          <p:nvPr/>
        </p:nvSpPr>
        <p:spPr>
          <a:xfrm>
            <a:off x="3101702" y="2403698"/>
            <a:ext cx="133325" cy="133325"/>
          </a:xfrm>
          <a:prstGeom prst="ellipse">
            <a:avLst/>
          </a:prstGeom>
          <a:solidFill>
            <a:srgbClr val="DF367C"/>
          </a:solidFill>
          <a:ln/>
        </p:spPr>
        <p:txBody>
          <a:bodyPr/>
          <a:lstStyle/>
          <a:p>
            <a:endParaRPr lang="en-US"/>
          </a:p>
        </p:txBody>
      </p:sp>
      <p:sp>
        <p:nvSpPr>
          <p:cNvPr id="10" name="Text 8"/>
          <p:cNvSpPr/>
          <p:nvPr/>
        </p:nvSpPr>
        <p:spPr>
          <a:xfrm>
            <a:off x="3349315" y="2294310"/>
            <a:ext cx="1342976" cy="387350"/>
          </a:xfrm>
          <a:prstGeom prst="rect">
            <a:avLst/>
          </a:prstGeom>
          <a:noFill/>
          <a:ln/>
        </p:spPr>
        <p:txBody>
          <a:bodyPr wrap="square" lIns="0" tIns="0" rIns="0" bIns="0" rtlCol="0" anchor="t">
            <a:normAutofit/>
          </a:bodyPr>
          <a:lstStyle/>
          <a:p>
            <a:pPr marL="0" indent="0" algn="l">
              <a:lnSpc>
                <a:spcPct val="102894"/>
              </a:lnSpc>
              <a:buNone/>
            </a:pPr>
            <a:r>
              <a:rPr lang="en-US" sz="1950" dirty="0">
                <a:solidFill>
                  <a:srgbClr val="15103A"/>
                </a:solidFill>
                <a:latin typeface="Poppins" pitchFamily="34" charset="0"/>
                <a:ea typeface="Poppins" pitchFamily="34" charset="-122"/>
                <a:cs typeface="Poppins" pitchFamily="34" charset="-120"/>
              </a:rPr>
              <a:t>Ambiguity</a:t>
            </a:r>
            <a:endParaRPr lang="en-US" sz="1950" dirty="0"/>
          </a:p>
        </p:txBody>
      </p:sp>
      <p:sp>
        <p:nvSpPr>
          <p:cNvPr id="11" name="Shape 9"/>
          <p:cNvSpPr/>
          <p:nvPr/>
        </p:nvSpPr>
        <p:spPr>
          <a:xfrm>
            <a:off x="4997090" y="2403698"/>
            <a:ext cx="133325" cy="133325"/>
          </a:xfrm>
          <a:prstGeom prst="ellipse">
            <a:avLst/>
          </a:prstGeom>
          <a:solidFill>
            <a:srgbClr val="001FFF"/>
          </a:solidFill>
          <a:ln/>
        </p:spPr>
        <p:txBody>
          <a:bodyPr/>
          <a:lstStyle/>
          <a:p>
            <a:endParaRPr lang="en-US"/>
          </a:p>
        </p:txBody>
      </p:sp>
      <p:sp>
        <p:nvSpPr>
          <p:cNvPr id="12" name="Text 10"/>
          <p:cNvSpPr/>
          <p:nvPr/>
        </p:nvSpPr>
        <p:spPr>
          <a:xfrm>
            <a:off x="5244703" y="2294310"/>
            <a:ext cx="1264221" cy="387350"/>
          </a:xfrm>
          <a:prstGeom prst="rect">
            <a:avLst/>
          </a:prstGeom>
          <a:noFill/>
          <a:ln/>
        </p:spPr>
        <p:txBody>
          <a:bodyPr wrap="square" lIns="0" tIns="0" rIns="0" bIns="0" rtlCol="0" anchor="t">
            <a:normAutofit/>
          </a:bodyPr>
          <a:lstStyle/>
          <a:p>
            <a:pPr marL="0" indent="0" algn="l">
              <a:lnSpc>
                <a:spcPct val="102894"/>
              </a:lnSpc>
              <a:buNone/>
            </a:pPr>
            <a:r>
              <a:rPr lang="en-US" sz="1950" dirty="0">
                <a:solidFill>
                  <a:srgbClr val="15103A"/>
                </a:solidFill>
                <a:latin typeface="Poppins" pitchFamily="34" charset="0"/>
                <a:ea typeface="Poppins" pitchFamily="34" charset="-122"/>
                <a:cs typeface="Poppins" pitchFamily="34" charset="-120"/>
              </a:rPr>
              <a:t>Staleness</a:t>
            </a:r>
            <a:endParaRPr lang="en-US" sz="1950" dirty="0"/>
          </a:p>
        </p:txBody>
      </p:sp>
      <p:sp>
        <p:nvSpPr>
          <p:cNvPr id="13" name="Shape 11"/>
          <p:cNvSpPr/>
          <p:nvPr/>
        </p:nvSpPr>
        <p:spPr>
          <a:xfrm>
            <a:off x="6813724" y="2403698"/>
            <a:ext cx="133325" cy="133325"/>
          </a:xfrm>
          <a:prstGeom prst="ellipse">
            <a:avLst/>
          </a:prstGeom>
          <a:solidFill>
            <a:srgbClr val="3B5C7F"/>
          </a:solidFill>
          <a:ln/>
        </p:spPr>
        <p:txBody>
          <a:bodyPr/>
          <a:lstStyle/>
          <a:p>
            <a:endParaRPr lang="en-US"/>
          </a:p>
        </p:txBody>
      </p:sp>
      <p:sp>
        <p:nvSpPr>
          <p:cNvPr id="14" name="Text 12"/>
          <p:cNvSpPr/>
          <p:nvPr/>
        </p:nvSpPr>
        <p:spPr>
          <a:xfrm>
            <a:off x="7061336" y="2294310"/>
            <a:ext cx="1985851" cy="387350"/>
          </a:xfrm>
          <a:prstGeom prst="rect">
            <a:avLst/>
          </a:prstGeom>
          <a:noFill/>
          <a:ln/>
        </p:spPr>
        <p:txBody>
          <a:bodyPr wrap="square" lIns="0" tIns="0" rIns="0" bIns="0" rtlCol="0" anchor="t">
            <a:normAutofit/>
          </a:bodyPr>
          <a:lstStyle/>
          <a:p>
            <a:pPr marL="0" indent="0" algn="l">
              <a:lnSpc>
                <a:spcPct val="102894"/>
              </a:lnSpc>
              <a:buNone/>
            </a:pPr>
            <a:r>
              <a:rPr lang="en-US" sz="1950" dirty="0">
                <a:solidFill>
                  <a:srgbClr val="15103A"/>
                </a:solidFill>
                <a:latin typeface="Poppins" pitchFamily="34" charset="0"/>
                <a:ea typeface="Poppins" pitchFamily="34" charset="-122"/>
                <a:cs typeface="Poppins" pitchFamily="34" charset="-120"/>
              </a:rPr>
              <a:t>Retrieval failure</a:t>
            </a:r>
            <a:endParaRPr lang="en-US" sz="1950" dirty="0"/>
          </a:p>
        </p:txBody>
      </p:sp>
      <p:sp>
        <p:nvSpPr>
          <p:cNvPr id="15" name="Shape 13"/>
          <p:cNvSpPr/>
          <p:nvPr/>
        </p:nvSpPr>
        <p:spPr>
          <a:xfrm>
            <a:off x="2333191" y="3127375"/>
            <a:ext cx="14231131" cy="988653"/>
          </a:xfrm>
          <a:prstGeom prst="roundRect">
            <a:avLst>
              <a:gd name="adj" fmla="val 13488"/>
            </a:avLst>
          </a:prstGeom>
          <a:solidFill>
            <a:srgbClr val="F2F2F2"/>
          </a:solidFill>
          <a:ln/>
        </p:spPr>
        <p:txBody>
          <a:bodyPr/>
          <a:lstStyle/>
          <a:p>
            <a:endParaRPr lang="en-US"/>
          </a:p>
        </p:txBody>
      </p:sp>
      <p:sp>
        <p:nvSpPr>
          <p:cNvPr id="16" name="Text 14"/>
          <p:cNvSpPr/>
          <p:nvPr/>
        </p:nvSpPr>
        <p:spPr>
          <a:xfrm>
            <a:off x="2637979" y="3443263"/>
            <a:ext cx="419745" cy="451470"/>
          </a:xfrm>
          <a:prstGeom prst="rect">
            <a:avLst/>
          </a:prstGeom>
          <a:noFill/>
          <a:ln/>
        </p:spPr>
        <p:txBody>
          <a:bodyPr wrap="square" lIns="25400" tIns="25400" rIns="25400" bIns="25400" rtlCol="0" anchor="t">
            <a:normAutofit/>
          </a:bodyPr>
          <a:lstStyle/>
          <a:p>
            <a:pPr marL="0" indent="0" algn="l">
              <a:lnSpc>
                <a:spcPct val="102118"/>
              </a:lnSpc>
              <a:buNone/>
            </a:pPr>
            <a:r>
              <a:rPr lang="en-US" sz="2100" dirty="0">
                <a:solidFill>
                  <a:srgbClr val="9AA3AD"/>
                </a:solidFill>
                <a:latin typeface="Poppins" pitchFamily="34" charset="0"/>
                <a:ea typeface="Poppins" pitchFamily="34" charset="-122"/>
                <a:cs typeface="Poppins" pitchFamily="34" charset="-120"/>
              </a:rPr>
              <a:t>04</a:t>
            </a:r>
            <a:endParaRPr lang="en-US" sz="2100" dirty="0"/>
          </a:p>
        </p:txBody>
      </p:sp>
      <p:sp>
        <p:nvSpPr>
          <p:cNvPr id="17" name="Text 15"/>
          <p:cNvSpPr/>
          <p:nvPr/>
        </p:nvSpPr>
        <p:spPr>
          <a:xfrm>
            <a:off x="3191061" y="3355950"/>
            <a:ext cx="1986291" cy="569602"/>
          </a:xfrm>
          <a:prstGeom prst="rect">
            <a:avLst/>
          </a:prstGeom>
          <a:noFill/>
          <a:ln/>
        </p:spPr>
        <p:txBody>
          <a:bodyPr wrap="square" lIns="25400" tIns="25400" rIns="25400" bIns="25400" rtlCol="0" anchor="t">
            <a:normAutofit/>
          </a:bodyPr>
          <a:lstStyle/>
          <a:p>
            <a:pPr marL="0" indent="0" algn="l">
              <a:lnSpc>
                <a:spcPct val="103015"/>
              </a:lnSpc>
              <a:buNone/>
            </a:pPr>
            <a:r>
              <a:rPr lang="en-US" sz="2700" b="1" dirty="0">
                <a:solidFill>
                  <a:srgbClr val="15103A"/>
                </a:solidFill>
                <a:latin typeface="Poppins" pitchFamily="34" charset="0"/>
                <a:ea typeface="Poppins" pitchFamily="34" charset="-122"/>
                <a:cs typeface="Poppins" pitchFamily="34" charset="-120"/>
              </a:rPr>
              <a:t>Validation</a:t>
            </a:r>
            <a:endParaRPr lang="en-US" sz="2700" dirty="0"/>
          </a:p>
        </p:txBody>
      </p:sp>
      <p:sp>
        <p:nvSpPr>
          <p:cNvPr id="18" name="Shape 16"/>
          <p:cNvSpPr/>
          <p:nvPr/>
        </p:nvSpPr>
        <p:spPr>
          <a:xfrm>
            <a:off x="11102826" y="3360477"/>
            <a:ext cx="1727956" cy="522449"/>
          </a:xfrm>
          <a:prstGeom prst="roundRect">
            <a:avLst>
              <a:gd name="adj" fmla="val 50000"/>
            </a:avLst>
          </a:prstGeom>
          <a:solidFill>
            <a:srgbClr val="FFFFFF"/>
          </a:solidFill>
          <a:ln w="7937">
            <a:solidFill>
              <a:srgbClr val="DEDEDE"/>
            </a:solidFill>
            <a:prstDash val="solid"/>
          </a:ln>
        </p:spPr>
        <p:txBody>
          <a:bodyPr/>
          <a:lstStyle/>
          <a:p>
            <a:endParaRPr lang="en-US"/>
          </a:p>
        </p:txBody>
      </p:sp>
      <p:sp>
        <p:nvSpPr>
          <p:cNvPr id="19" name="Shape 17"/>
          <p:cNvSpPr/>
          <p:nvPr/>
        </p:nvSpPr>
        <p:spPr>
          <a:xfrm>
            <a:off x="11282164" y="3569332"/>
            <a:ext cx="104738" cy="104738"/>
          </a:xfrm>
          <a:prstGeom prst="ellipse">
            <a:avLst/>
          </a:prstGeom>
          <a:solidFill>
            <a:srgbClr val="DF367C"/>
          </a:solidFill>
          <a:ln/>
        </p:spPr>
        <p:txBody>
          <a:bodyPr/>
          <a:lstStyle/>
          <a:p>
            <a:endParaRPr lang="en-US"/>
          </a:p>
        </p:txBody>
      </p:sp>
      <p:sp>
        <p:nvSpPr>
          <p:cNvPr id="20" name="Text 18"/>
          <p:cNvSpPr/>
          <p:nvPr/>
        </p:nvSpPr>
        <p:spPr>
          <a:xfrm>
            <a:off x="11482151" y="3460440"/>
            <a:ext cx="1245493" cy="355600"/>
          </a:xfrm>
          <a:prstGeom prst="rect">
            <a:avLst/>
          </a:prstGeom>
          <a:noFill/>
          <a:ln/>
        </p:spPr>
        <p:txBody>
          <a:bodyPr wrap="square" lIns="0" tIns="0" rIns="0" bIns="0" rtlCol="0" anchor="t">
            <a:normAutofit/>
          </a:bodyPr>
          <a:lstStyle/>
          <a:p>
            <a:pPr marL="0" indent="0" algn="l">
              <a:lnSpc>
                <a:spcPct val="103814"/>
              </a:lnSpc>
              <a:buNone/>
            </a:pPr>
            <a:r>
              <a:rPr lang="en-US" sz="1800" dirty="0">
                <a:solidFill>
                  <a:srgbClr val="15103A"/>
                </a:solidFill>
                <a:latin typeface="Poppins" pitchFamily="34" charset="0"/>
                <a:ea typeface="Poppins" pitchFamily="34" charset="-122"/>
                <a:cs typeface="Poppins" pitchFamily="34" charset="-120"/>
              </a:rPr>
              <a:t>Ambiguity</a:t>
            </a:r>
            <a:endParaRPr lang="en-US" sz="1800" dirty="0"/>
          </a:p>
        </p:txBody>
      </p:sp>
      <p:sp>
        <p:nvSpPr>
          <p:cNvPr id="21" name="Shape 19"/>
          <p:cNvSpPr/>
          <p:nvPr/>
        </p:nvSpPr>
        <p:spPr>
          <a:xfrm>
            <a:off x="12945070" y="3360477"/>
            <a:ext cx="1655279" cy="522449"/>
          </a:xfrm>
          <a:prstGeom prst="roundRect">
            <a:avLst>
              <a:gd name="adj" fmla="val 50000"/>
            </a:avLst>
          </a:prstGeom>
          <a:solidFill>
            <a:srgbClr val="FFFFFF"/>
          </a:solidFill>
          <a:ln w="7937">
            <a:solidFill>
              <a:srgbClr val="DEDEDE"/>
            </a:solidFill>
            <a:prstDash val="solid"/>
          </a:ln>
        </p:spPr>
        <p:txBody>
          <a:bodyPr/>
          <a:lstStyle/>
          <a:p>
            <a:endParaRPr lang="en-US"/>
          </a:p>
        </p:txBody>
      </p:sp>
      <p:sp>
        <p:nvSpPr>
          <p:cNvPr id="22" name="Shape 20"/>
          <p:cNvSpPr/>
          <p:nvPr/>
        </p:nvSpPr>
        <p:spPr>
          <a:xfrm>
            <a:off x="13124408" y="3569332"/>
            <a:ext cx="104738" cy="104738"/>
          </a:xfrm>
          <a:prstGeom prst="ellipse">
            <a:avLst/>
          </a:prstGeom>
          <a:solidFill>
            <a:srgbClr val="001FFF"/>
          </a:solidFill>
          <a:ln/>
        </p:spPr>
        <p:txBody>
          <a:bodyPr/>
          <a:lstStyle/>
          <a:p>
            <a:endParaRPr lang="en-US"/>
          </a:p>
        </p:txBody>
      </p:sp>
      <p:sp>
        <p:nvSpPr>
          <p:cNvPr id="23" name="Text 21"/>
          <p:cNvSpPr/>
          <p:nvPr/>
        </p:nvSpPr>
        <p:spPr>
          <a:xfrm>
            <a:off x="13324396" y="3460440"/>
            <a:ext cx="1172814" cy="355600"/>
          </a:xfrm>
          <a:prstGeom prst="rect">
            <a:avLst/>
          </a:prstGeom>
          <a:noFill/>
          <a:ln/>
        </p:spPr>
        <p:txBody>
          <a:bodyPr wrap="square" lIns="0" tIns="0" rIns="0" bIns="0" rtlCol="0" anchor="t">
            <a:normAutofit/>
          </a:bodyPr>
          <a:lstStyle/>
          <a:p>
            <a:pPr marL="0" indent="0" algn="l">
              <a:lnSpc>
                <a:spcPct val="103814"/>
              </a:lnSpc>
              <a:buNone/>
            </a:pPr>
            <a:r>
              <a:rPr lang="en-US" sz="1800" dirty="0">
                <a:solidFill>
                  <a:srgbClr val="15103A"/>
                </a:solidFill>
                <a:latin typeface="Poppins" pitchFamily="34" charset="0"/>
                <a:ea typeface="Poppins" pitchFamily="34" charset="-122"/>
                <a:cs typeface="Poppins" pitchFamily="34" charset="-120"/>
              </a:rPr>
              <a:t>Staleness</a:t>
            </a:r>
            <a:endParaRPr lang="en-US" sz="1800" dirty="0"/>
          </a:p>
        </p:txBody>
      </p:sp>
      <p:sp>
        <p:nvSpPr>
          <p:cNvPr id="24" name="Shape 22"/>
          <p:cNvSpPr/>
          <p:nvPr/>
        </p:nvSpPr>
        <p:spPr>
          <a:xfrm>
            <a:off x="14714637" y="3360477"/>
            <a:ext cx="1544898" cy="522449"/>
          </a:xfrm>
          <a:prstGeom prst="roundRect">
            <a:avLst>
              <a:gd name="adj" fmla="val 50000"/>
            </a:avLst>
          </a:prstGeom>
          <a:solidFill>
            <a:srgbClr val="FFFFFF"/>
          </a:solidFill>
          <a:ln w="7937">
            <a:solidFill>
              <a:srgbClr val="DEDEDE"/>
            </a:solidFill>
            <a:prstDash val="solid"/>
          </a:ln>
        </p:spPr>
        <p:txBody>
          <a:bodyPr/>
          <a:lstStyle/>
          <a:p>
            <a:endParaRPr lang="en-US"/>
          </a:p>
        </p:txBody>
      </p:sp>
      <p:sp>
        <p:nvSpPr>
          <p:cNvPr id="25" name="Shape 23"/>
          <p:cNvSpPr/>
          <p:nvPr/>
        </p:nvSpPr>
        <p:spPr>
          <a:xfrm>
            <a:off x="14893975" y="3569332"/>
            <a:ext cx="104738" cy="104738"/>
          </a:xfrm>
          <a:prstGeom prst="ellipse">
            <a:avLst/>
          </a:prstGeom>
          <a:solidFill>
            <a:srgbClr val="3B5C7F"/>
          </a:solidFill>
          <a:ln/>
        </p:spPr>
        <p:txBody>
          <a:bodyPr/>
          <a:lstStyle/>
          <a:p>
            <a:endParaRPr lang="en-US"/>
          </a:p>
        </p:txBody>
      </p:sp>
      <p:sp>
        <p:nvSpPr>
          <p:cNvPr id="26" name="Text 24"/>
          <p:cNvSpPr/>
          <p:nvPr/>
        </p:nvSpPr>
        <p:spPr>
          <a:xfrm>
            <a:off x="15093962" y="3460440"/>
            <a:ext cx="1062434" cy="355600"/>
          </a:xfrm>
          <a:prstGeom prst="rect">
            <a:avLst/>
          </a:prstGeom>
          <a:noFill/>
          <a:ln/>
        </p:spPr>
        <p:txBody>
          <a:bodyPr wrap="square" lIns="0" tIns="0" rIns="0" bIns="0" rtlCol="0" anchor="t">
            <a:normAutofit/>
          </a:bodyPr>
          <a:lstStyle/>
          <a:p>
            <a:pPr marL="0" indent="0" algn="l">
              <a:lnSpc>
                <a:spcPct val="103814"/>
              </a:lnSpc>
              <a:buNone/>
            </a:pPr>
            <a:r>
              <a:rPr lang="en-US" sz="1800" dirty="0">
                <a:solidFill>
                  <a:srgbClr val="15103A"/>
                </a:solidFill>
                <a:latin typeface="Poppins" pitchFamily="34" charset="0"/>
                <a:ea typeface="Poppins" pitchFamily="34" charset="-122"/>
                <a:cs typeface="Poppins" pitchFamily="34" charset="-120"/>
              </a:rPr>
              <a:t>Retrieval</a:t>
            </a:r>
            <a:endParaRPr lang="en-US" sz="1800" dirty="0"/>
          </a:p>
        </p:txBody>
      </p:sp>
      <p:sp>
        <p:nvSpPr>
          <p:cNvPr id="27" name="Shape 25"/>
          <p:cNvSpPr/>
          <p:nvPr/>
        </p:nvSpPr>
        <p:spPr>
          <a:xfrm>
            <a:off x="1834803" y="4211278"/>
            <a:ext cx="15227845" cy="988653"/>
          </a:xfrm>
          <a:prstGeom prst="roundRect">
            <a:avLst>
              <a:gd name="adj" fmla="val 13488"/>
            </a:avLst>
          </a:prstGeom>
          <a:solidFill>
            <a:srgbClr val="5B44A8"/>
          </a:solidFill>
          <a:ln/>
        </p:spPr>
        <p:txBody>
          <a:bodyPr/>
          <a:lstStyle/>
          <a:p>
            <a:endParaRPr lang="en-US"/>
          </a:p>
        </p:txBody>
      </p:sp>
      <p:sp>
        <p:nvSpPr>
          <p:cNvPr id="28" name="Text 26"/>
          <p:cNvSpPr/>
          <p:nvPr/>
        </p:nvSpPr>
        <p:spPr>
          <a:xfrm>
            <a:off x="2139590" y="4527166"/>
            <a:ext cx="405606" cy="451470"/>
          </a:xfrm>
          <a:prstGeom prst="rect">
            <a:avLst/>
          </a:prstGeom>
          <a:noFill/>
          <a:ln/>
        </p:spPr>
        <p:txBody>
          <a:bodyPr wrap="square" lIns="25400" tIns="25400" rIns="25400" bIns="25400" rtlCol="0" anchor="t">
            <a:normAutofit/>
          </a:bodyPr>
          <a:lstStyle/>
          <a:p>
            <a:pPr marL="0" indent="0" algn="l">
              <a:lnSpc>
                <a:spcPct val="102118"/>
              </a:lnSpc>
              <a:buNone/>
            </a:pPr>
            <a:r>
              <a:rPr lang="en-US" sz="2100" dirty="0">
                <a:solidFill>
                  <a:srgbClr val="FFFFFF">
                    <a:alpha val="60000"/>
                  </a:srgbClr>
                </a:solidFill>
                <a:latin typeface="Poppins" pitchFamily="34" charset="0"/>
                <a:ea typeface="Poppins" pitchFamily="34" charset="-122"/>
                <a:cs typeface="Poppins" pitchFamily="34" charset="-120"/>
              </a:rPr>
              <a:t>03</a:t>
            </a:r>
            <a:endParaRPr lang="en-US" sz="2100" dirty="0"/>
          </a:p>
        </p:txBody>
      </p:sp>
      <p:sp>
        <p:nvSpPr>
          <p:cNvPr id="29" name="Text 27"/>
          <p:cNvSpPr/>
          <p:nvPr/>
        </p:nvSpPr>
        <p:spPr>
          <a:xfrm>
            <a:off x="2678534" y="4439853"/>
            <a:ext cx="958193" cy="569602"/>
          </a:xfrm>
          <a:prstGeom prst="rect">
            <a:avLst/>
          </a:prstGeom>
          <a:noFill/>
          <a:ln/>
        </p:spPr>
        <p:txBody>
          <a:bodyPr wrap="square" lIns="25400" tIns="25400" rIns="25400" bIns="25400" rtlCol="0" anchor="t">
            <a:normAutofit/>
          </a:bodyPr>
          <a:lstStyle/>
          <a:p>
            <a:pPr marL="0" indent="0" algn="l">
              <a:lnSpc>
                <a:spcPct val="103015"/>
              </a:lnSpc>
              <a:buNone/>
            </a:pPr>
            <a:r>
              <a:rPr lang="en-US" sz="2700" b="1" dirty="0">
                <a:solidFill>
                  <a:srgbClr val="FFFFFF"/>
                </a:solidFill>
                <a:latin typeface="Poppins" pitchFamily="34" charset="0"/>
                <a:ea typeface="Poppins" pitchFamily="34" charset="-122"/>
                <a:cs typeface="Poppins" pitchFamily="34" charset="-120"/>
              </a:rPr>
              <a:t>Skills</a:t>
            </a:r>
            <a:endParaRPr lang="en-US" sz="2700" dirty="0"/>
          </a:p>
        </p:txBody>
      </p:sp>
      <p:sp>
        <p:nvSpPr>
          <p:cNvPr id="30" name="Shape 28"/>
          <p:cNvSpPr/>
          <p:nvPr/>
        </p:nvSpPr>
        <p:spPr>
          <a:xfrm>
            <a:off x="13475146" y="4452317"/>
            <a:ext cx="1529023" cy="506574"/>
          </a:xfrm>
          <a:prstGeom prst="roundRect">
            <a:avLst>
              <a:gd name="adj" fmla="val 50000"/>
            </a:avLst>
          </a:prstGeom>
          <a:solidFill>
            <a:srgbClr val="FFFFFF">
              <a:alpha val="14000"/>
            </a:srgbClr>
          </a:solidFill>
          <a:ln/>
        </p:spPr>
        <p:txBody>
          <a:bodyPr/>
          <a:lstStyle/>
          <a:p>
            <a:endParaRPr lang="en-US"/>
          </a:p>
        </p:txBody>
      </p:sp>
      <p:sp>
        <p:nvSpPr>
          <p:cNvPr id="31" name="Shape 29"/>
          <p:cNvSpPr/>
          <p:nvPr/>
        </p:nvSpPr>
        <p:spPr>
          <a:xfrm>
            <a:off x="13646546" y="4653235"/>
            <a:ext cx="104738" cy="104738"/>
          </a:xfrm>
          <a:prstGeom prst="ellipse">
            <a:avLst/>
          </a:prstGeom>
          <a:solidFill>
            <a:srgbClr val="9FC0DE"/>
          </a:solidFill>
          <a:ln/>
        </p:spPr>
        <p:txBody>
          <a:bodyPr/>
          <a:lstStyle/>
          <a:p>
            <a:endParaRPr lang="en-US"/>
          </a:p>
        </p:txBody>
      </p:sp>
      <p:sp>
        <p:nvSpPr>
          <p:cNvPr id="32" name="Text 30"/>
          <p:cNvSpPr/>
          <p:nvPr/>
        </p:nvSpPr>
        <p:spPr>
          <a:xfrm>
            <a:off x="13846534" y="4544343"/>
            <a:ext cx="1062435" cy="355600"/>
          </a:xfrm>
          <a:prstGeom prst="rect">
            <a:avLst/>
          </a:prstGeom>
          <a:noFill/>
          <a:ln/>
        </p:spPr>
        <p:txBody>
          <a:bodyPr wrap="square" lIns="0" tIns="0" rIns="0" bIns="0" rtlCol="0" anchor="t">
            <a:normAutofit/>
          </a:bodyPr>
          <a:lstStyle/>
          <a:p>
            <a:pPr marL="0" indent="0" algn="l">
              <a:lnSpc>
                <a:spcPct val="103814"/>
              </a:lnSpc>
              <a:buNone/>
            </a:pPr>
            <a:r>
              <a:rPr lang="en-US" sz="1800" dirty="0">
                <a:solidFill>
                  <a:srgbClr val="FFFFFF"/>
                </a:solidFill>
                <a:latin typeface="Poppins" pitchFamily="34" charset="0"/>
                <a:ea typeface="Poppins" pitchFamily="34" charset="-122"/>
                <a:cs typeface="Poppins" pitchFamily="34" charset="-120"/>
              </a:rPr>
              <a:t>Retrieval</a:t>
            </a:r>
            <a:endParaRPr lang="en-US" sz="1800" dirty="0"/>
          </a:p>
        </p:txBody>
      </p:sp>
      <p:sp>
        <p:nvSpPr>
          <p:cNvPr id="33" name="Shape 31"/>
          <p:cNvSpPr/>
          <p:nvPr/>
        </p:nvSpPr>
        <p:spPr>
          <a:xfrm>
            <a:off x="15118456" y="4452317"/>
            <a:ext cx="1639404" cy="506574"/>
          </a:xfrm>
          <a:prstGeom prst="roundRect">
            <a:avLst>
              <a:gd name="adj" fmla="val 50000"/>
            </a:avLst>
          </a:prstGeom>
          <a:solidFill>
            <a:srgbClr val="FFFFFF">
              <a:alpha val="14000"/>
            </a:srgbClr>
          </a:solidFill>
          <a:ln/>
        </p:spPr>
        <p:txBody>
          <a:bodyPr/>
          <a:lstStyle/>
          <a:p>
            <a:endParaRPr lang="en-US"/>
          </a:p>
        </p:txBody>
      </p:sp>
      <p:sp>
        <p:nvSpPr>
          <p:cNvPr id="34" name="Shape 32"/>
          <p:cNvSpPr/>
          <p:nvPr/>
        </p:nvSpPr>
        <p:spPr>
          <a:xfrm>
            <a:off x="15289857" y="4653235"/>
            <a:ext cx="104738" cy="104738"/>
          </a:xfrm>
          <a:prstGeom prst="ellipse">
            <a:avLst/>
          </a:prstGeom>
          <a:solidFill>
            <a:srgbClr val="6E86FF"/>
          </a:solidFill>
          <a:ln/>
        </p:spPr>
        <p:txBody>
          <a:bodyPr/>
          <a:lstStyle/>
          <a:p>
            <a:endParaRPr lang="en-US"/>
          </a:p>
        </p:txBody>
      </p:sp>
      <p:sp>
        <p:nvSpPr>
          <p:cNvPr id="35" name="Text 33"/>
          <p:cNvSpPr/>
          <p:nvPr/>
        </p:nvSpPr>
        <p:spPr>
          <a:xfrm>
            <a:off x="15489845" y="4544343"/>
            <a:ext cx="1172814" cy="355600"/>
          </a:xfrm>
          <a:prstGeom prst="rect">
            <a:avLst/>
          </a:prstGeom>
          <a:noFill/>
          <a:ln/>
        </p:spPr>
        <p:txBody>
          <a:bodyPr wrap="square" lIns="0" tIns="0" rIns="0" bIns="0" rtlCol="0" anchor="t">
            <a:normAutofit/>
          </a:bodyPr>
          <a:lstStyle/>
          <a:p>
            <a:pPr marL="0" indent="0" algn="l">
              <a:lnSpc>
                <a:spcPct val="103814"/>
              </a:lnSpc>
              <a:buNone/>
            </a:pPr>
            <a:r>
              <a:rPr lang="en-US" sz="1800" dirty="0">
                <a:solidFill>
                  <a:srgbClr val="FFFFFF"/>
                </a:solidFill>
                <a:latin typeface="Poppins" pitchFamily="34" charset="0"/>
                <a:ea typeface="Poppins" pitchFamily="34" charset="-122"/>
                <a:cs typeface="Poppins" pitchFamily="34" charset="-120"/>
              </a:rPr>
              <a:t>Staleness</a:t>
            </a:r>
            <a:endParaRPr lang="en-US" sz="1800" dirty="0"/>
          </a:p>
        </p:txBody>
      </p:sp>
      <p:sp>
        <p:nvSpPr>
          <p:cNvPr id="36" name="Shape 34"/>
          <p:cNvSpPr/>
          <p:nvPr/>
        </p:nvSpPr>
        <p:spPr>
          <a:xfrm>
            <a:off x="1336477" y="5295180"/>
            <a:ext cx="16224560" cy="988653"/>
          </a:xfrm>
          <a:prstGeom prst="roundRect">
            <a:avLst>
              <a:gd name="adj" fmla="val 13488"/>
            </a:avLst>
          </a:prstGeom>
          <a:solidFill>
            <a:srgbClr val="3A2585"/>
          </a:solidFill>
          <a:ln/>
        </p:spPr>
        <p:txBody>
          <a:bodyPr/>
          <a:lstStyle/>
          <a:p>
            <a:endParaRPr lang="en-US"/>
          </a:p>
        </p:txBody>
      </p:sp>
      <p:sp>
        <p:nvSpPr>
          <p:cNvPr id="37" name="Text 35"/>
          <p:cNvSpPr/>
          <p:nvPr/>
        </p:nvSpPr>
        <p:spPr>
          <a:xfrm>
            <a:off x="1641264" y="5611068"/>
            <a:ext cx="401079" cy="451470"/>
          </a:xfrm>
          <a:prstGeom prst="rect">
            <a:avLst/>
          </a:prstGeom>
          <a:noFill/>
          <a:ln/>
        </p:spPr>
        <p:txBody>
          <a:bodyPr wrap="square" lIns="25400" tIns="25400" rIns="25400" bIns="25400" rtlCol="0" anchor="t">
            <a:normAutofit/>
          </a:bodyPr>
          <a:lstStyle/>
          <a:p>
            <a:pPr marL="0" indent="0" algn="l">
              <a:lnSpc>
                <a:spcPct val="102118"/>
              </a:lnSpc>
              <a:buNone/>
            </a:pPr>
            <a:r>
              <a:rPr lang="en-US" sz="2100" dirty="0">
                <a:solidFill>
                  <a:srgbClr val="FFFFFF">
                    <a:alpha val="60000"/>
                  </a:srgbClr>
                </a:solidFill>
                <a:latin typeface="Poppins" pitchFamily="34" charset="0"/>
                <a:ea typeface="Poppins" pitchFamily="34" charset="-122"/>
                <a:cs typeface="Poppins" pitchFamily="34" charset="-120"/>
              </a:rPr>
              <a:t>02</a:t>
            </a:r>
            <a:endParaRPr lang="en-US" sz="2100" dirty="0"/>
          </a:p>
        </p:txBody>
      </p:sp>
      <p:sp>
        <p:nvSpPr>
          <p:cNvPr id="38" name="Text 36"/>
          <p:cNvSpPr/>
          <p:nvPr/>
        </p:nvSpPr>
        <p:spPr>
          <a:xfrm>
            <a:off x="2175681" y="5523756"/>
            <a:ext cx="3031517" cy="569602"/>
          </a:xfrm>
          <a:prstGeom prst="rect">
            <a:avLst/>
          </a:prstGeom>
          <a:noFill/>
          <a:ln/>
        </p:spPr>
        <p:txBody>
          <a:bodyPr wrap="square" lIns="25400" tIns="25400" rIns="25400" bIns="25400" rtlCol="0" anchor="t">
            <a:normAutofit/>
          </a:bodyPr>
          <a:lstStyle/>
          <a:p>
            <a:pPr marL="0" indent="0" algn="l">
              <a:lnSpc>
                <a:spcPct val="103015"/>
              </a:lnSpc>
              <a:buNone/>
            </a:pPr>
            <a:r>
              <a:rPr lang="en-US" sz="2700" b="1" dirty="0">
                <a:solidFill>
                  <a:srgbClr val="FFFFFF"/>
                </a:solidFill>
                <a:latin typeface="Poppins" pitchFamily="34" charset="0"/>
                <a:ea typeface="Poppins" pitchFamily="34" charset="-122"/>
                <a:cs typeface="Poppins" pitchFamily="34" charset="-120"/>
              </a:rPr>
              <a:t>Sources of truth</a:t>
            </a:r>
            <a:endParaRPr lang="en-US" sz="2700" dirty="0"/>
          </a:p>
        </p:txBody>
      </p:sp>
      <p:sp>
        <p:nvSpPr>
          <p:cNvPr id="39" name="Shape 37"/>
          <p:cNvSpPr/>
          <p:nvPr/>
        </p:nvSpPr>
        <p:spPr>
          <a:xfrm>
            <a:off x="15544167" y="5536220"/>
            <a:ext cx="1712082" cy="506574"/>
          </a:xfrm>
          <a:prstGeom prst="roundRect">
            <a:avLst>
              <a:gd name="adj" fmla="val 50000"/>
            </a:avLst>
          </a:prstGeom>
          <a:solidFill>
            <a:srgbClr val="FFFFFF">
              <a:alpha val="14000"/>
            </a:srgbClr>
          </a:solidFill>
          <a:ln/>
        </p:spPr>
        <p:txBody>
          <a:bodyPr/>
          <a:lstStyle/>
          <a:p>
            <a:endParaRPr lang="en-US"/>
          </a:p>
        </p:txBody>
      </p:sp>
      <p:sp>
        <p:nvSpPr>
          <p:cNvPr id="40" name="Shape 38"/>
          <p:cNvSpPr/>
          <p:nvPr/>
        </p:nvSpPr>
        <p:spPr>
          <a:xfrm>
            <a:off x="15715567" y="5737138"/>
            <a:ext cx="104738" cy="104738"/>
          </a:xfrm>
          <a:prstGeom prst="ellipse">
            <a:avLst/>
          </a:prstGeom>
          <a:solidFill>
            <a:srgbClr val="FF7FB0"/>
          </a:solidFill>
          <a:ln/>
        </p:spPr>
        <p:txBody>
          <a:bodyPr/>
          <a:lstStyle/>
          <a:p>
            <a:endParaRPr lang="en-US"/>
          </a:p>
        </p:txBody>
      </p:sp>
      <p:sp>
        <p:nvSpPr>
          <p:cNvPr id="41" name="Text 39"/>
          <p:cNvSpPr/>
          <p:nvPr/>
        </p:nvSpPr>
        <p:spPr>
          <a:xfrm>
            <a:off x="15915555" y="5628245"/>
            <a:ext cx="1245493" cy="355600"/>
          </a:xfrm>
          <a:prstGeom prst="rect">
            <a:avLst/>
          </a:prstGeom>
          <a:noFill/>
          <a:ln/>
        </p:spPr>
        <p:txBody>
          <a:bodyPr wrap="square" lIns="0" tIns="0" rIns="0" bIns="0" rtlCol="0" anchor="t">
            <a:normAutofit/>
          </a:bodyPr>
          <a:lstStyle/>
          <a:p>
            <a:pPr marL="0" indent="0" algn="l">
              <a:lnSpc>
                <a:spcPct val="103814"/>
              </a:lnSpc>
              <a:buNone/>
            </a:pPr>
            <a:r>
              <a:rPr lang="en-US" sz="1800" dirty="0">
                <a:solidFill>
                  <a:srgbClr val="FFFFFF"/>
                </a:solidFill>
                <a:latin typeface="Poppins" pitchFamily="34" charset="0"/>
                <a:ea typeface="Poppins" pitchFamily="34" charset="-122"/>
                <a:cs typeface="Poppins" pitchFamily="34" charset="-120"/>
              </a:rPr>
              <a:t>Ambiguity</a:t>
            </a:r>
            <a:endParaRPr lang="en-US" sz="1800" dirty="0"/>
          </a:p>
        </p:txBody>
      </p:sp>
      <p:sp>
        <p:nvSpPr>
          <p:cNvPr id="42" name="Shape 40"/>
          <p:cNvSpPr/>
          <p:nvPr/>
        </p:nvSpPr>
        <p:spPr>
          <a:xfrm>
            <a:off x="838150" y="6379083"/>
            <a:ext cx="17221274" cy="988653"/>
          </a:xfrm>
          <a:prstGeom prst="roundRect">
            <a:avLst>
              <a:gd name="adj" fmla="val 13488"/>
            </a:avLst>
          </a:prstGeom>
          <a:solidFill>
            <a:srgbClr val="220F60"/>
          </a:solidFill>
          <a:ln/>
        </p:spPr>
        <p:txBody>
          <a:bodyPr/>
          <a:lstStyle/>
          <a:p>
            <a:endParaRPr lang="en-US"/>
          </a:p>
        </p:txBody>
      </p:sp>
      <p:sp>
        <p:nvSpPr>
          <p:cNvPr id="43" name="Text 41"/>
          <p:cNvSpPr/>
          <p:nvPr/>
        </p:nvSpPr>
        <p:spPr>
          <a:xfrm>
            <a:off x="1142938" y="6694971"/>
            <a:ext cx="340556" cy="451470"/>
          </a:xfrm>
          <a:prstGeom prst="rect">
            <a:avLst/>
          </a:prstGeom>
          <a:noFill/>
          <a:ln/>
        </p:spPr>
        <p:txBody>
          <a:bodyPr wrap="square" lIns="25400" tIns="25400" rIns="25400" bIns="25400" rtlCol="0" anchor="t">
            <a:normAutofit/>
          </a:bodyPr>
          <a:lstStyle/>
          <a:p>
            <a:pPr marL="0" indent="0" algn="l">
              <a:lnSpc>
                <a:spcPct val="102118"/>
              </a:lnSpc>
              <a:buNone/>
            </a:pPr>
            <a:r>
              <a:rPr lang="en-US" sz="2100" dirty="0">
                <a:solidFill>
                  <a:srgbClr val="FFFFFF">
                    <a:alpha val="60000"/>
                  </a:srgbClr>
                </a:solidFill>
                <a:latin typeface="Poppins" pitchFamily="34" charset="0"/>
                <a:ea typeface="Poppins" pitchFamily="34" charset="-122"/>
                <a:cs typeface="Poppins" pitchFamily="34" charset="-120"/>
              </a:rPr>
              <a:t>01</a:t>
            </a:r>
            <a:endParaRPr lang="en-US" sz="2100" dirty="0"/>
          </a:p>
        </p:txBody>
      </p:sp>
      <p:sp>
        <p:nvSpPr>
          <p:cNvPr id="44" name="Text 42"/>
          <p:cNvSpPr/>
          <p:nvPr/>
        </p:nvSpPr>
        <p:spPr>
          <a:xfrm>
            <a:off x="1616832" y="6607658"/>
            <a:ext cx="3345706" cy="569602"/>
          </a:xfrm>
          <a:prstGeom prst="rect">
            <a:avLst/>
          </a:prstGeom>
          <a:noFill/>
          <a:ln/>
        </p:spPr>
        <p:txBody>
          <a:bodyPr wrap="square" lIns="25400" tIns="25400" rIns="25400" bIns="25400" rtlCol="0" anchor="t">
            <a:normAutofit/>
          </a:bodyPr>
          <a:lstStyle/>
          <a:p>
            <a:pPr marL="0" indent="0" algn="l">
              <a:lnSpc>
                <a:spcPct val="103015"/>
              </a:lnSpc>
              <a:buNone/>
            </a:pPr>
            <a:r>
              <a:rPr lang="en-US" sz="2700" b="1" dirty="0">
                <a:solidFill>
                  <a:srgbClr val="FFFFFF"/>
                </a:solidFill>
                <a:latin typeface="Poppins" pitchFamily="34" charset="0"/>
                <a:ea typeface="Poppins" pitchFamily="34" charset="-122"/>
                <a:cs typeface="Poppins" pitchFamily="34" charset="-120"/>
              </a:rPr>
              <a:t>Data foundations</a:t>
            </a:r>
            <a:endParaRPr lang="en-US" sz="2700" dirty="0"/>
          </a:p>
        </p:txBody>
      </p:sp>
      <p:sp>
        <p:nvSpPr>
          <p:cNvPr id="45" name="Shape 43"/>
          <p:cNvSpPr/>
          <p:nvPr/>
        </p:nvSpPr>
        <p:spPr>
          <a:xfrm>
            <a:off x="14288864" y="6620123"/>
            <a:ext cx="1712082" cy="506574"/>
          </a:xfrm>
          <a:prstGeom prst="roundRect">
            <a:avLst>
              <a:gd name="adj" fmla="val 50000"/>
            </a:avLst>
          </a:prstGeom>
          <a:solidFill>
            <a:srgbClr val="FFFFFF">
              <a:alpha val="14000"/>
            </a:srgbClr>
          </a:solidFill>
          <a:ln/>
        </p:spPr>
        <p:txBody>
          <a:bodyPr/>
          <a:lstStyle/>
          <a:p>
            <a:endParaRPr lang="en-US"/>
          </a:p>
        </p:txBody>
      </p:sp>
      <p:sp>
        <p:nvSpPr>
          <p:cNvPr id="46" name="Shape 44"/>
          <p:cNvSpPr/>
          <p:nvPr/>
        </p:nvSpPr>
        <p:spPr>
          <a:xfrm>
            <a:off x="14460264" y="6821041"/>
            <a:ext cx="104738" cy="104738"/>
          </a:xfrm>
          <a:prstGeom prst="ellipse">
            <a:avLst/>
          </a:prstGeom>
          <a:solidFill>
            <a:srgbClr val="FF7FB0"/>
          </a:solidFill>
          <a:ln/>
        </p:spPr>
        <p:txBody>
          <a:bodyPr/>
          <a:lstStyle/>
          <a:p>
            <a:endParaRPr lang="en-US"/>
          </a:p>
        </p:txBody>
      </p:sp>
      <p:sp>
        <p:nvSpPr>
          <p:cNvPr id="47" name="Text 45"/>
          <p:cNvSpPr/>
          <p:nvPr/>
        </p:nvSpPr>
        <p:spPr>
          <a:xfrm>
            <a:off x="14660252" y="6712148"/>
            <a:ext cx="1245494" cy="355600"/>
          </a:xfrm>
          <a:prstGeom prst="rect">
            <a:avLst/>
          </a:prstGeom>
          <a:noFill/>
          <a:ln/>
        </p:spPr>
        <p:txBody>
          <a:bodyPr wrap="square" lIns="0" tIns="0" rIns="0" bIns="0" rtlCol="0" anchor="t">
            <a:normAutofit/>
          </a:bodyPr>
          <a:lstStyle/>
          <a:p>
            <a:pPr marL="0" indent="0" algn="l">
              <a:lnSpc>
                <a:spcPct val="103814"/>
              </a:lnSpc>
              <a:buNone/>
            </a:pPr>
            <a:r>
              <a:rPr lang="en-US" sz="1800" dirty="0">
                <a:solidFill>
                  <a:srgbClr val="FFFFFF"/>
                </a:solidFill>
                <a:latin typeface="Poppins" pitchFamily="34" charset="0"/>
                <a:ea typeface="Poppins" pitchFamily="34" charset="-122"/>
                <a:cs typeface="Poppins" pitchFamily="34" charset="-120"/>
              </a:rPr>
              <a:t>Ambiguity</a:t>
            </a:r>
            <a:endParaRPr lang="en-US" sz="1800" dirty="0"/>
          </a:p>
        </p:txBody>
      </p:sp>
      <p:sp>
        <p:nvSpPr>
          <p:cNvPr id="48" name="Shape 46"/>
          <p:cNvSpPr/>
          <p:nvPr/>
        </p:nvSpPr>
        <p:spPr>
          <a:xfrm>
            <a:off x="16115233" y="6620123"/>
            <a:ext cx="1639404" cy="506574"/>
          </a:xfrm>
          <a:prstGeom prst="roundRect">
            <a:avLst>
              <a:gd name="adj" fmla="val 50000"/>
            </a:avLst>
          </a:prstGeom>
          <a:solidFill>
            <a:srgbClr val="FFFFFF">
              <a:alpha val="14000"/>
            </a:srgbClr>
          </a:solidFill>
          <a:ln/>
        </p:spPr>
        <p:txBody>
          <a:bodyPr/>
          <a:lstStyle/>
          <a:p>
            <a:endParaRPr lang="en-US"/>
          </a:p>
        </p:txBody>
      </p:sp>
      <p:sp>
        <p:nvSpPr>
          <p:cNvPr id="49" name="Shape 47"/>
          <p:cNvSpPr/>
          <p:nvPr/>
        </p:nvSpPr>
        <p:spPr>
          <a:xfrm>
            <a:off x="16286634" y="6821041"/>
            <a:ext cx="104738" cy="104738"/>
          </a:xfrm>
          <a:prstGeom prst="ellipse">
            <a:avLst/>
          </a:prstGeom>
          <a:solidFill>
            <a:srgbClr val="6E86FF"/>
          </a:solidFill>
          <a:ln/>
        </p:spPr>
        <p:txBody>
          <a:bodyPr/>
          <a:lstStyle/>
          <a:p>
            <a:endParaRPr lang="en-US"/>
          </a:p>
        </p:txBody>
      </p:sp>
      <p:sp>
        <p:nvSpPr>
          <p:cNvPr id="50" name="Text 48"/>
          <p:cNvSpPr/>
          <p:nvPr/>
        </p:nvSpPr>
        <p:spPr>
          <a:xfrm>
            <a:off x="16486622" y="6712148"/>
            <a:ext cx="1172814" cy="355600"/>
          </a:xfrm>
          <a:prstGeom prst="rect">
            <a:avLst/>
          </a:prstGeom>
          <a:noFill/>
          <a:ln/>
        </p:spPr>
        <p:txBody>
          <a:bodyPr wrap="square" lIns="0" tIns="0" rIns="0" bIns="0" rtlCol="0" anchor="t">
            <a:normAutofit/>
          </a:bodyPr>
          <a:lstStyle/>
          <a:p>
            <a:pPr marL="0" indent="0" algn="l">
              <a:lnSpc>
                <a:spcPct val="103814"/>
              </a:lnSpc>
              <a:buNone/>
            </a:pPr>
            <a:r>
              <a:rPr lang="en-US" sz="1800" dirty="0">
                <a:solidFill>
                  <a:srgbClr val="FFFFFF"/>
                </a:solidFill>
                <a:latin typeface="Poppins" pitchFamily="34" charset="0"/>
                <a:ea typeface="Poppins" pitchFamily="34" charset="-122"/>
                <a:cs typeface="Poppins" pitchFamily="34" charset="-120"/>
              </a:rPr>
              <a:t>Staleness</a:t>
            </a:r>
            <a:endParaRPr lang="en-US" sz="1800" dirty="0"/>
          </a:p>
        </p:txBody>
      </p:sp>
      <p:sp>
        <p:nvSpPr>
          <p:cNvPr id="51" name="Shape 49"/>
          <p:cNvSpPr/>
          <p:nvPr/>
        </p:nvSpPr>
        <p:spPr>
          <a:xfrm>
            <a:off x="838150" y="7748674"/>
            <a:ext cx="114288" cy="114288"/>
          </a:xfrm>
          <a:prstGeom prst="ellipse">
            <a:avLst/>
          </a:prstGeom>
          <a:solidFill>
            <a:srgbClr val="DF367C"/>
          </a:solidFill>
          <a:ln/>
        </p:spPr>
        <p:txBody>
          <a:bodyPr/>
          <a:lstStyle/>
          <a:p>
            <a:endParaRPr lang="en-US"/>
          </a:p>
        </p:txBody>
      </p:sp>
      <p:sp>
        <p:nvSpPr>
          <p:cNvPr id="52" name="Text 50"/>
          <p:cNvSpPr/>
          <p:nvPr/>
        </p:nvSpPr>
        <p:spPr>
          <a:xfrm>
            <a:off x="1066726" y="7672524"/>
            <a:ext cx="5180153" cy="1318022"/>
          </a:xfrm>
          <a:prstGeom prst="rect">
            <a:avLst/>
          </a:prstGeom>
          <a:noFill/>
          <a:ln/>
        </p:spPr>
        <p:txBody>
          <a:bodyPr wrap="square" lIns="25400" tIns="25400" rIns="25400" bIns="25400" rtlCol="0" anchor="t">
            <a:normAutofit/>
          </a:bodyPr>
          <a:lstStyle/>
          <a:p>
            <a:pPr marL="0" indent="0" algn="l">
              <a:lnSpc>
                <a:spcPct val="93767"/>
              </a:lnSpc>
              <a:buNone/>
            </a:pPr>
            <a:r>
              <a:rPr lang="en-US" sz="1800" dirty="0">
                <a:solidFill>
                  <a:srgbClr val="15103A"/>
                </a:solidFill>
                <a:latin typeface="Poppins" pitchFamily="34" charset="0"/>
                <a:ea typeface="Poppins" pitchFamily="34" charset="-122"/>
                <a:cs typeface="Poppins" pitchFamily="34" charset="-120"/>
              </a:rPr>
              <a:t>Entity ambiguity — foundations and sources of truth shrink the space of plausible entities until there is a single governed answer.</a:t>
            </a:r>
            <a:endParaRPr lang="en-US" sz="1800" dirty="0"/>
          </a:p>
        </p:txBody>
      </p:sp>
      <p:sp>
        <p:nvSpPr>
          <p:cNvPr id="53" name="Shape 51"/>
          <p:cNvSpPr/>
          <p:nvPr/>
        </p:nvSpPr>
        <p:spPr>
          <a:xfrm>
            <a:off x="6515075" y="7748674"/>
            <a:ext cx="114288" cy="114288"/>
          </a:xfrm>
          <a:prstGeom prst="ellipse">
            <a:avLst/>
          </a:prstGeom>
          <a:solidFill>
            <a:srgbClr val="001FFF"/>
          </a:solidFill>
          <a:ln/>
        </p:spPr>
        <p:txBody>
          <a:bodyPr/>
          <a:lstStyle/>
          <a:p>
            <a:endParaRPr lang="en-US"/>
          </a:p>
        </p:txBody>
      </p:sp>
      <p:sp>
        <p:nvSpPr>
          <p:cNvPr id="54" name="Text 52"/>
          <p:cNvSpPr/>
          <p:nvPr/>
        </p:nvSpPr>
        <p:spPr>
          <a:xfrm>
            <a:off x="6743650" y="7672524"/>
            <a:ext cx="5180153" cy="1318022"/>
          </a:xfrm>
          <a:prstGeom prst="rect">
            <a:avLst/>
          </a:prstGeom>
          <a:noFill/>
          <a:ln/>
        </p:spPr>
        <p:txBody>
          <a:bodyPr wrap="square" lIns="25400" tIns="25400" rIns="25400" bIns="25400" rtlCol="0" anchor="t">
            <a:normAutofit/>
          </a:bodyPr>
          <a:lstStyle/>
          <a:p>
            <a:pPr marL="0" indent="0" algn="l">
              <a:lnSpc>
                <a:spcPct val="93767"/>
              </a:lnSpc>
              <a:buNone/>
            </a:pPr>
            <a:r>
              <a:rPr lang="en-US" sz="1800" dirty="0">
                <a:solidFill>
                  <a:srgbClr val="15103A"/>
                </a:solidFill>
                <a:latin typeface="Poppins" pitchFamily="34" charset="0"/>
                <a:ea typeface="Poppins" pitchFamily="34" charset="-122"/>
                <a:cs typeface="Poppins" pitchFamily="34" charset="-120"/>
              </a:rPr>
              <a:t>Staleness — maintenance and validation keep everything from rotting as the business changes.</a:t>
            </a:r>
            <a:endParaRPr lang="en-US" sz="1800" dirty="0"/>
          </a:p>
        </p:txBody>
      </p:sp>
      <p:sp>
        <p:nvSpPr>
          <p:cNvPr id="55" name="Shape 53"/>
          <p:cNvSpPr/>
          <p:nvPr/>
        </p:nvSpPr>
        <p:spPr>
          <a:xfrm>
            <a:off x="12192000" y="7748674"/>
            <a:ext cx="114288" cy="114288"/>
          </a:xfrm>
          <a:prstGeom prst="ellipse">
            <a:avLst/>
          </a:prstGeom>
          <a:solidFill>
            <a:srgbClr val="3B5C7F"/>
          </a:solidFill>
          <a:ln/>
        </p:spPr>
        <p:txBody>
          <a:bodyPr/>
          <a:lstStyle/>
          <a:p>
            <a:endParaRPr lang="en-US"/>
          </a:p>
        </p:txBody>
      </p:sp>
      <p:sp>
        <p:nvSpPr>
          <p:cNvPr id="56" name="Text 54"/>
          <p:cNvSpPr/>
          <p:nvPr/>
        </p:nvSpPr>
        <p:spPr>
          <a:xfrm>
            <a:off x="12420574" y="7672524"/>
            <a:ext cx="5180153" cy="1318022"/>
          </a:xfrm>
          <a:prstGeom prst="rect">
            <a:avLst/>
          </a:prstGeom>
          <a:noFill/>
          <a:ln/>
        </p:spPr>
        <p:txBody>
          <a:bodyPr wrap="square" lIns="25400" tIns="25400" rIns="25400" bIns="25400" rtlCol="0" anchor="t">
            <a:normAutofit/>
          </a:bodyPr>
          <a:lstStyle/>
          <a:p>
            <a:pPr marL="0" indent="0" algn="l">
              <a:lnSpc>
                <a:spcPct val="93767"/>
              </a:lnSpc>
              <a:buNone/>
            </a:pPr>
            <a:r>
              <a:rPr lang="en-US" sz="1800" dirty="0">
                <a:solidFill>
                  <a:srgbClr val="15103A"/>
                </a:solidFill>
                <a:latin typeface="Poppins" pitchFamily="34" charset="0"/>
                <a:ea typeface="Poppins" pitchFamily="34" charset="-122"/>
                <a:cs typeface="Poppins" pitchFamily="34" charset="-120"/>
              </a:rPr>
              <a:t>Retrieval failure — skills make sure the agent reliably finds and correctly uses that answer.</a:t>
            </a:r>
            <a:endParaRPr lang="en-US" sz="1800" dirty="0"/>
          </a:p>
        </p:txBody>
      </p:sp>
      <p:sp>
        <p:nvSpPr>
          <p:cNvPr id="57" name="Text 55"/>
          <p:cNvSpPr/>
          <p:nvPr/>
        </p:nvSpPr>
        <p:spPr>
          <a:xfrm>
            <a:off x="838150" y="9456539"/>
            <a:ext cx="7479202" cy="335198"/>
          </a:xfrm>
          <a:prstGeom prst="rect">
            <a:avLst/>
          </a:prstGeom>
          <a:noFill/>
          <a:ln/>
        </p:spPr>
        <p:txBody>
          <a:bodyPr wrap="square" lIns="25400" tIns="25400" rIns="25400" bIns="25400" rtlCol="0" anchor="t">
            <a:normAutofit/>
          </a:bodyPr>
          <a:lstStyle/>
          <a:p>
            <a:pPr marL="0" indent="0" algn="l">
              <a:lnSpc>
                <a:spcPct val="87070"/>
              </a:lnSpc>
              <a:buNone/>
            </a:pPr>
            <a:r>
              <a:rPr lang="en-US" sz="1800" dirty="0">
                <a:solidFill>
                  <a:srgbClr val="9AA3AD"/>
                </a:solidFill>
                <a:latin typeface="Poppins" pitchFamily="34" charset="0"/>
                <a:ea typeface="Poppins" pitchFamily="34" charset="-122"/>
                <a:cs typeface="Poppins" pitchFamily="34" charset="-120"/>
              </a:rPr>
              <a:t>Source: Anthropic — self-service data analytics with Claude</a:t>
            </a:r>
            <a:endParaRPr lang="en-US" sz="1800" dirty="0"/>
          </a:p>
        </p:txBody>
      </p:sp>
      <p:pic>
        <p:nvPicPr>
          <p:cNvPr id="58" name="Image 0" descr="preencoded.png"/>
          <p:cNvPicPr>
            <a:picLocks noChangeAspect="1"/>
          </p:cNvPicPr>
          <p:nvPr/>
        </p:nvPicPr>
        <p:blipFill>
          <a:blip r:embed="rId3"/>
          <a:stretch>
            <a:fillRect/>
          </a:stretch>
        </p:blipFill>
        <p:spPr>
          <a:xfrm>
            <a:off x="16105436" y="9448849"/>
            <a:ext cx="1344414" cy="3047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150" y="533363"/>
            <a:ext cx="9261809"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315" dirty="0">
                <a:solidFill>
                  <a:srgbClr val="3B5C7F"/>
                </a:solidFill>
                <a:latin typeface="Poppins" pitchFamily="34" charset="0"/>
                <a:ea typeface="Poppins" pitchFamily="34" charset="-122"/>
                <a:cs typeface="Poppins" pitchFamily="34" charset="-120"/>
              </a:rPr>
              <a:t>LAYER 01 — DATA FOUNDATIONS — ADDRESSES AMBIGUITY</a:t>
            </a:r>
            <a:endParaRPr lang="en-US" sz="1800" dirty="0"/>
          </a:p>
        </p:txBody>
      </p:sp>
      <p:sp>
        <p:nvSpPr>
          <p:cNvPr id="3" name="Text 1"/>
          <p:cNvSpPr/>
          <p:nvPr/>
        </p:nvSpPr>
        <p:spPr>
          <a:xfrm>
            <a:off x="10650574" y="561144"/>
            <a:ext cx="7479202" cy="335198"/>
          </a:xfrm>
          <a:prstGeom prst="rect">
            <a:avLst/>
          </a:prstGeom>
          <a:noFill/>
          <a:ln/>
        </p:spPr>
        <p:txBody>
          <a:bodyPr wrap="square" lIns="25400" tIns="25400" rIns="25400" bIns="25400" rtlCol="0" anchor="t">
            <a:normAutofit/>
          </a:bodyPr>
          <a:lstStyle/>
          <a:p>
            <a:pPr marL="0" indent="0" algn="l">
              <a:lnSpc>
                <a:spcPct val="87070"/>
              </a:lnSpc>
              <a:buNone/>
            </a:pPr>
            <a:r>
              <a:rPr lang="en-US" sz="1800" dirty="0">
                <a:solidFill>
                  <a:srgbClr val="9AA3AD"/>
                </a:solidFill>
                <a:latin typeface="Poppins" pitchFamily="34" charset="0"/>
                <a:ea typeface="Poppins" pitchFamily="34" charset="-122"/>
                <a:cs typeface="Poppins" pitchFamily="34" charset="-120"/>
              </a:rPr>
              <a:t>Source: Anthropic — self-service data analytics with Claude</a:t>
            </a:r>
            <a:endParaRPr lang="en-US" sz="1800" dirty="0"/>
          </a:p>
        </p:txBody>
      </p:sp>
      <p:sp>
        <p:nvSpPr>
          <p:cNvPr id="4" name="Text 2"/>
          <p:cNvSpPr/>
          <p:nvPr/>
        </p:nvSpPr>
        <p:spPr>
          <a:xfrm>
            <a:off x="838150" y="1039999"/>
            <a:ext cx="18272869" cy="578098"/>
          </a:xfrm>
          <a:prstGeom prst="rect">
            <a:avLst/>
          </a:prstGeom>
          <a:noFill/>
          <a:ln/>
        </p:spPr>
        <p:txBody>
          <a:bodyPr wrap="square" lIns="25400" tIns="25400" rIns="25400" bIns="25400" rtlCol="0" anchor="t">
            <a:normAutofit/>
          </a:bodyPr>
          <a:lstStyle/>
          <a:p>
            <a:pPr marL="0" indent="0" algn="l">
              <a:lnSpc>
                <a:spcPct val="70144"/>
              </a:lnSpc>
              <a:buNone/>
            </a:pPr>
            <a:r>
              <a:rPr lang="en-US" sz="4050" b="1" kern="0" spc="-81" dirty="0">
                <a:solidFill>
                  <a:srgbClr val="220F60"/>
                </a:solidFill>
                <a:latin typeface="Poppins" pitchFamily="34" charset="0"/>
                <a:ea typeface="Poppins" pitchFamily="34" charset="-122"/>
                <a:cs typeface="Poppins" pitchFamily="34" charset="-120"/>
              </a:rPr>
              <a:t>Foundations decide the answer before the agent searches</a:t>
            </a:r>
            <a:endParaRPr lang="en-US" sz="4050" dirty="0"/>
          </a:p>
        </p:txBody>
      </p:sp>
      <p:sp>
        <p:nvSpPr>
          <p:cNvPr id="5" name="Text 3"/>
          <p:cNvSpPr/>
          <p:nvPr/>
        </p:nvSpPr>
        <p:spPr>
          <a:xfrm>
            <a:off x="838150" y="1732359"/>
            <a:ext cx="15304770" cy="731515"/>
          </a:xfrm>
          <a:prstGeom prst="rect">
            <a:avLst/>
          </a:prstGeom>
          <a:noFill/>
          <a:ln/>
        </p:spPr>
        <p:txBody>
          <a:bodyPr wrap="square" lIns="25400" tIns="25400" rIns="25400" bIns="25400" rtlCol="0" anchor="t">
            <a:normAutofit/>
          </a:bodyPr>
          <a:lstStyle/>
          <a:p>
            <a:pPr marL="0" indent="0" algn="l">
              <a:lnSpc>
                <a:spcPct val="92936"/>
              </a:lnSpc>
              <a:buNone/>
            </a:pPr>
            <a:r>
              <a:rPr lang="en-US" sz="1950" dirty="0">
                <a:solidFill>
                  <a:srgbClr val="15103A"/>
                </a:solidFill>
                <a:latin typeface="Poppins" pitchFamily="34" charset="0"/>
                <a:ea typeface="Poppins" pitchFamily="34" charset="-122"/>
                <a:cs typeface="Poppins" pitchFamily="34" charset="-120"/>
              </a:rPr>
              <a:t>The consumer of your data model is no longer a data expert. Agents act for people who cannot validate the result — so correctness has to be settled below them.</a:t>
            </a:r>
            <a:endParaRPr lang="en-US" sz="1950" dirty="0"/>
          </a:p>
        </p:txBody>
      </p:sp>
      <p:sp>
        <p:nvSpPr>
          <p:cNvPr id="6" name="Text 4"/>
          <p:cNvSpPr/>
          <p:nvPr/>
        </p:nvSpPr>
        <p:spPr>
          <a:xfrm>
            <a:off x="838150" y="2654350"/>
            <a:ext cx="10393803" cy="436649"/>
          </a:xfrm>
          <a:prstGeom prst="rect">
            <a:avLst/>
          </a:prstGeom>
          <a:noFill/>
          <a:ln/>
        </p:spPr>
        <p:txBody>
          <a:bodyPr wrap="square" lIns="25400" tIns="25400" rIns="25400" bIns="25400" rtlCol="0" anchor="t">
            <a:normAutofit/>
          </a:bodyPr>
          <a:lstStyle/>
          <a:p>
            <a:pPr marL="0" indent="0" algn="l">
              <a:lnSpc>
                <a:spcPct val="103546"/>
              </a:lnSpc>
              <a:buNone/>
            </a:pPr>
            <a:r>
              <a:rPr lang="en-US" sz="2025" b="1" dirty="0">
                <a:solidFill>
                  <a:srgbClr val="220F60"/>
                </a:solidFill>
                <a:latin typeface="Poppins" pitchFamily="34" charset="0"/>
                <a:ea typeface="Poppins" pitchFamily="34" charset="-122"/>
                <a:cs typeface="Poppins" pitchFamily="34" charset="-120"/>
              </a:rPr>
              <a:t>Model relationships, not tables.</a:t>
            </a:r>
            <a:endParaRPr lang="en-US" sz="2025" dirty="0"/>
          </a:p>
        </p:txBody>
      </p:sp>
      <p:sp>
        <p:nvSpPr>
          <p:cNvPr id="7" name="Text 5"/>
          <p:cNvSpPr/>
          <p:nvPr/>
        </p:nvSpPr>
        <p:spPr>
          <a:xfrm>
            <a:off x="838150" y="3110012"/>
            <a:ext cx="9732379" cy="998041"/>
          </a:xfrm>
          <a:prstGeom prst="rect">
            <a:avLst/>
          </a:prstGeom>
          <a:noFill/>
          <a:ln/>
        </p:spPr>
        <p:txBody>
          <a:bodyPr wrap="square" lIns="25400" tIns="25400" rIns="25400" bIns="25400" rtlCol="0" anchor="t">
            <a:normAutofit/>
          </a:bodyPr>
          <a:lstStyle/>
          <a:p>
            <a:pPr marL="0" indent="0" algn="l">
              <a:lnSpc>
                <a:spcPct val="93767"/>
              </a:lnSpc>
              <a:buNone/>
            </a:pPr>
            <a:r>
              <a:rPr lang="en-US" sz="1800" dirty="0">
                <a:solidFill>
                  <a:srgbClr val="15103A"/>
                </a:solidFill>
                <a:latin typeface="Poppins" pitchFamily="34" charset="0"/>
                <a:ea typeface="Poppins" pitchFamily="34" charset="-122"/>
                <a:cs typeface="Poppins" pitchFamily="34" charset="-120"/>
              </a:rPr>
              <a:t>Represent the domain as a connected graph of entities — customer, product, contract, revenue event — so a concept resolves by traversal instead of a guess between near-identical tables.</a:t>
            </a:r>
            <a:endParaRPr lang="en-US" sz="1800" dirty="0"/>
          </a:p>
        </p:txBody>
      </p:sp>
      <p:sp>
        <p:nvSpPr>
          <p:cNvPr id="8" name="Shape 6"/>
          <p:cNvSpPr/>
          <p:nvPr/>
        </p:nvSpPr>
        <p:spPr>
          <a:xfrm>
            <a:off x="838150" y="4222316"/>
            <a:ext cx="9448912" cy="9525"/>
          </a:xfrm>
          <a:prstGeom prst="rect">
            <a:avLst/>
          </a:prstGeom>
          <a:solidFill>
            <a:srgbClr val="9AA3AD"/>
          </a:solidFill>
          <a:ln/>
        </p:spPr>
        <p:txBody>
          <a:bodyPr/>
          <a:lstStyle/>
          <a:p>
            <a:endParaRPr lang="en-US"/>
          </a:p>
        </p:txBody>
      </p:sp>
      <p:sp>
        <p:nvSpPr>
          <p:cNvPr id="9" name="Text 7"/>
          <p:cNvSpPr/>
          <p:nvPr/>
        </p:nvSpPr>
        <p:spPr>
          <a:xfrm>
            <a:off x="838150" y="4382616"/>
            <a:ext cx="10393803" cy="436649"/>
          </a:xfrm>
          <a:prstGeom prst="rect">
            <a:avLst/>
          </a:prstGeom>
          <a:noFill/>
          <a:ln/>
        </p:spPr>
        <p:txBody>
          <a:bodyPr wrap="square" lIns="25400" tIns="25400" rIns="25400" bIns="25400" rtlCol="0" anchor="t">
            <a:normAutofit/>
          </a:bodyPr>
          <a:lstStyle/>
          <a:p>
            <a:pPr marL="0" indent="0" algn="l">
              <a:lnSpc>
                <a:spcPct val="103546"/>
              </a:lnSpc>
              <a:buNone/>
            </a:pPr>
            <a:r>
              <a:rPr lang="en-US" sz="2025" b="1" dirty="0">
                <a:solidFill>
                  <a:srgbClr val="220F60"/>
                </a:solidFill>
                <a:latin typeface="Poppins" pitchFamily="34" charset="0"/>
                <a:ea typeface="Poppins" pitchFamily="34" charset="-122"/>
                <a:cs typeface="Poppins" pitchFamily="34" charset="-120"/>
              </a:rPr>
              <a:t>One governed answer per concept.</a:t>
            </a:r>
            <a:endParaRPr lang="en-US" sz="2025" dirty="0"/>
          </a:p>
        </p:txBody>
      </p:sp>
      <p:sp>
        <p:nvSpPr>
          <p:cNvPr id="10" name="Text 8"/>
          <p:cNvSpPr/>
          <p:nvPr/>
        </p:nvSpPr>
        <p:spPr>
          <a:xfrm>
            <a:off x="838150" y="4838278"/>
            <a:ext cx="9732379" cy="998041"/>
          </a:xfrm>
          <a:prstGeom prst="rect">
            <a:avLst/>
          </a:prstGeom>
          <a:noFill/>
          <a:ln/>
        </p:spPr>
        <p:txBody>
          <a:bodyPr wrap="square" lIns="25400" tIns="25400" rIns="25400" bIns="25400" rtlCol="0" anchor="t">
            <a:normAutofit/>
          </a:bodyPr>
          <a:lstStyle/>
          <a:p>
            <a:pPr marL="0" indent="0" algn="l">
              <a:lnSpc>
                <a:spcPct val="93767"/>
              </a:lnSpc>
              <a:buNone/>
            </a:pPr>
            <a:r>
              <a:rPr lang="en-US" sz="1800" dirty="0">
                <a:solidFill>
                  <a:srgbClr val="15103A"/>
                </a:solidFill>
                <a:latin typeface="Poppins" pitchFamily="34" charset="0"/>
                <a:ea typeface="Poppins" pitchFamily="34" charset="-122"/>
                <a:cs typeface="Poppins" pitchFamily="34" charset="-120"/>
              </a:rPr>
              <a:t>Curate a small set of canonical, owned, consumption-ready entities and aggressively deprecate the near-duplicates. "Revenue" should resolve to one governed node, not forty plausible candidates.</a:t>
            </a:r>
            <a:endParaRPr lang="en-US" sz="1800" dirty="0"/>
          </a:p>
        </p:txBody>
      </p:sp>
      <p:sp>
        <p:nvSpPr>
          <p:cNvPr id="11" name="Shape 9"/>
          <p:cNvSpPr/>
          <p:nvPr/>
        </p:nvSpPr>
        <p:spPr>
          <a:xfrm>
            <a:off x="838150" y="5950582"/>
            <a:ext cx="9448912" cy="9525"/>
          </a:xfrm>
          <a:prstGeom prst="rect">
            <a:avLst/>
          </a:prstGeom>
          <a:solidFill>
            <a:srgbClr val="9AA3AD"/>
          </a:solidFill>
          <a:ln/>
        </p:spPr>
        <p:txBody>
          <a:bodyPr/>
          <a:lstStyle/>
          <a:p>
            <a:endParaRPr lang="en-US"/>
          </a:p>
        </p:txBody>
      </p:sp>
      <p:sp>
        <p:nvSpPr>
          <p:cNvPr id="12" name="Text 10"/>
          <p:cNvSpPr/>
          <p:nvPr/>
        </p:nvSpPr>
        <p:spPr>
          <a:xfrm>
            <a:off x="838150" y="6110883"/>
            <a:ext cx="10393803" cy="436649"/>
          </a:xfrm>
          <a:prstGeom prst="rect">
            <a:avLst/>
          </a:prstGeom>
          <a:noFill/>
          <a:ln/>
        </p:spPr>
        <p:txBody>
          <a:bodyPr wrap="square" lIns="25400" tIns="25400" rIns="25400" bIns="25400" rtlCol="0" anchor="t">
            <a:normAutofit/>
          </a:bodyPr>
          <a:lstStyle/>
          <a:p>
            <a:pPr marL="0" indent="0" algn="l">
              <a:lnSpc>
                <a:spcPct val="103546"/>
              </a:lnSpc>
              <a:buNone/>
            </a:pPr>
            <a:r>
              <a:rPr lang="en-US" sz="2025" b="1" dirty="0">
                <a:solidFill>
                  <a:srgbClr val="220F60"/>
                </a:solidFill>
                <a:latin typeface="Poppins" pitchFamily="34" charset="0"/>
                <a:ea typeface="Poppins" pitchFamily="34" charset="-122"/>
                <a:cs typeface="Poppins" pitchFamily="34" charset="-120"/>
              </a:rPr>
              <a:t>Enforce it, or lose it.</a:t>
            </a:r>
            <a:endParaRPr lang="en-US" sz="2025" dirty="0"/>
          </a:p>
        </p:txBody>
      </p:sp>
      <p:sp>
        <p:nvSpPr>
          <p:cNvPr id="13" name="Text 11"/>
          <p:cNvSpPr/>
          <p:nvPr/>
        </p:nvSpPr>
        <p:spPr>
          <a:xfrm>
            <a:off x="838150" y="6566545"/>
            <a:ext cx="9732379" cy="998041"/>
          </a:xfrm>
          <a:prstGeom prst="rect">
            <a:avLst/>
          </a:prstGeom>
          <a:noFill/>
          <a:ln/>
        </p:spPr>
        <p:txBody>
          <a:bodyPr wrap="square" lIns="25400" tIns="25400" rIns="25400" bIns="25400" rtlCol="0" anchor="t">
            <a:normAutofit/>
          </a:bodyPr>
          <a:lstStyle/>
          <a:p>
            <a:pPr marL="0" indent="0" algn="l">
              <a:lnSpc>
                <a:spcPct val="93767"/>
              </a:lnSpc>
              <a:buNone/>
            </a:pPr>
            <a:r>
              <a:rPr lang="en-US" sz="1800" dirty="0">
                <a:solidFill>
                  <a:srgbClr val="15103A"/>
                </a:solidFill>
                <a:latin typeface="Poppins" pitchFamily="34" charset="0"/>
                <a:ea typeface="Poppins" pitchFamily="34" charset="-122"/>
                <a:cs typeface="Poppins" pitchFamily="34" charset="-120"/>
              </a:rPr>
              <a:t>Tooling routes the agent to the governed layer first, CI fails changes that bypass it, mandate makes downstream teams justify going around it. Governance without enforcement decays straight back to ambiguity.</a:t>
            </a:r>
            <a:endParaRPr lang="en-US" sz="1800" dirty="0"/>
          </a:p>
        </p:txBody>
      </p:sp>
      <p:sp>
        <p:nvSpPr>
          <p:cNvPr id="14" name="Shape 12"/>
          <p:cNvSpPr/>
          <p:nvPr/>
        </p:nvSpPr>
        <p:spPr>
          <a:xfrm>
            <a:off x="838150" y="7678849"/>
            <a:ext cx="9448912" cy="9525"/>
          </a:xfrm>
          <a:prstGeom prst="rect">
            <a:avLst/>
          </a:prstGeom>
          <a:solidFill>
            <a:srgbClr val="9AA3AD"/>
          </a:solidFill>
          <a:ln/>
        </p:spPr>
        <p:txBody>
          <a:bodyPr/>
          <a:lstStyle/>
          <a:p>
            <a:endParaRPr lang="en-US"/>
          </a:p>
        </p:txBody>
      </p:sp>
      <p:sp>
        <p:nvSpPr>
          <p:cNvPr id="15" name="Text 13"/>
          <p:cNvSpPr/>
          <p:nvPr/>
        </p:nvSpPr>
        <p:spPr>
          <a:xfrm>
            <a:off x="838150" y="7839149"/>
            <a:ext cx="10393803" cy="436649"/>
          </a:xfrm>
          <a:prstGeom prst="rect">
            <a:avLst/>
          </a:prstGeom>
          <a:noFill/>
          <a:ln/>
        </p:spPr>
        <p:txBody>
          <a:bodyPr wrap="square" lIns="25400" tIns="25400" rIns="25400" bIns="25400" rtlCol="0" anchor="t">
            <a:normAutofit/>
          </a:bodyPr>
          <a:lstStyle/>
          <a:p>
            <a:pPr marL="0" indent="0" algn="l">
              <a:lnSpc>
                <a:spcPct val="103546"/>
              </a:lnSpc>
              <a:buNone/>
            </a:pPr>
            <a:r>
              <a:rPr lang="en-US" sz="2025" b="1" dirty="0">
                <a:solidFill>
                  <a:srgbClr val="220F60"/>
                </a:solidFill>
                <a:latin typeface="Poppins" pitchFamily="34" charset="0"/>
                <a:ea typeface="Poppins" pitchFamily="34" charset="-122"/>
                <a:cs typeface="Poppins" pitchFamily="34" charset="-120"/>
              </a:rPr>
              <a:t>Colocate the artifacts.</a:t>
            </a:r>
            <a:endParaRPr lang="en-US" sz="2025" dirty="0"/>
          </a:p>
        </p:txBody>
      </p:sp>
      <p:sp>
        <p:nvSpPr>
          <p:cNvPr id="16" name="Text 14"/>
          <p:cNvSpPr/>
          <p:nvPr/>
        </p:nvSpPr>
        <p:spPr>
          <a:xfrm>
            <a:off x="838150" y="8294811"/>
            <a:ext cx="9732379" cy="998041"/>
          </a:xfrm>
          <a:prstGeom prst="rect">
            <a:avLst/>
          </a:prstGeom>
          <a:noFill/>
          <a:ln/>
        </p:spPr>
        <p:txBody>
          <a:bodyPr wrap="square" lIns="25400" tIns="25400" rIns="25400" bIns="25400" rtlCol="0" anchor="t">
            <a:normAutofit/>
          </a:bodyPr>
          <a:lstStyle/>
          <a:p>
            <a:pPr marL="0" indent="0" algn="l">
              <a:lnSpc>
                <a:spcPct val="93767"/>
              </a:lnSpc>
              <a:buNone/>
            </a:pPr>
            <a:r>
              <a:rPr lang="en-US" sz="1800" dirty="0">
                <a:solidFill>
                  <a:srgbClr val="15103A"/>
                </a:solidFill>
                <a:latin typeface="Poppins" pitchFamily="34" charset="0"/>
                <a:ea typeface="Poppins" pitchFamily="34" charset="-122"/>
                <a:cs typeface="Poppins" pitchFamily="34" charset="-120"/>
              </a:rPr>
              <a:t>Model, semantic layer, reference docs and canonical dashboard definitions live in one repo, with CI protecting cross-layer integrity — a change that would invalidate a documented metric is caught and fixed in the same PR.</a:t>
            </a:r>
            <a:endParaRPr lang="en-US" sz="1800" dirty="0"/>
          </a:p>
        </p:txBody>
      </p:sp>
      <p:sp>
        <p:nvSpPr>
          <p:cNvPr id="17" name="Shape 15"/>
          <p:cNvSpPr/>
          <p:nvPr/>
        </p:nvSpPr>
        <p:spPr>
          <a:xfrm>
            <a:off x="10782349" y="2654350"/>
            <a:ext cx="6667500" cy="6894401"/>
          </a:xfrm>
          <a:prstGeom prst="roundRect">
            <a:avLst>
              <a:gd name="adj" fmla="val 2000"/>
            </a:avLst>
          </a:prstGeom>
          <a:solidFill>
            <a:srgbClr val="220F60"/>
          </a:solidFill>
          <a:ln/>
        </p:spPr>
        <p:txBody>
          <a:bodyPr/>
          <a:lstStyle/>
          <a:p>
            <a:endParaRPr lang="en-US"/>
          </a:p>
        </p:txBody>
      </p:sp>
      <p:sp>
        <p:nvSpPr>
          <p:cNvPr id="18" name="Text 16"/>
          <p:cNvSpPr/>
          <p:nvPr/>
        </p:nvSpPr>
        <p:spPr>
          <a:xfrm>
            <a:off x="11163349" y="2997212"/>
            <a:ext cx="6496050"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288" dirty="0">
                <a:solidFill>
                  <a:srgbClr val="6E86FF"/>
                </a:solidFill>
                <a:latin typeface="Poppins" pitchFamily="34" charset="0"/>
                <a:ea typeface="Poppins" pitchFamily="34" charset="-122"/>
                <a:cs typeface="Poppins" pitchFamily="34" charset="-120"/>
              </a:rPr>
              <a:t>THE ONE THAT MATTERS MOST</a:t>
            </a:r>
            <a:endParaRPr lang="en-US" sz="1800" dirty="0"/>
          </a:p>
        </p:txBody>
      </p:sp>
      <p:sp>
        <p:nvSpPr>
          <p:cNvPr id="19" name="Text 17"/>
          <p:cNvSpPr/>
          <p:nvPr/>
        </p:nvSpPr>
        <p:spPr>
          <a:xfrm>
            <a:off x="11163349" y="3503848"/>
            <a:ext cx="6082665" cy="870545"/>
          </a:xfrm>
          <a:prstGeom prst="rect">
            <a:avLst/>
          </a:prstGeom>
          <a:noFill/>
          <a:ln/>
        </p:spPr>
        <p:txBody>
          <a:bodyPr wrap="square" lIns="25400" tIns="25400" rIns="25400" bIns="25400" rtlCol="0" anchor="t">
            <a:normAutofit/>
          </a:bodyPr>
          <a:lstStyle/>
          <a:p>
            <a:pPr marL="0" indent="0" algn="l">
              <a:lnSpc>
                <a:spcPct val="76555"/>
              </a:lnSpc>
              <a:buNone/>
            </a:pPr>
            <a:r>
              <a:rPr lang="en-US" sz="2850" b="1" dirty="0">
                <a:solidFill>
                  <a:srgbClr val="FFFFFF"/>
                </a:solidFill>
                <a:latin typeface="Poppins" pitchFamily="34" charset="0"/>
                <a:ea typeface="Poppins" pitchFamily="34" charset="-122"/>
                <a:cs typeface="Poppins" pitchFamily="34" charset="-120"/>
              </a:rPr>
              <a:t>Metadata is the product, not the paperwork</a:t>
            </a:r>
            <a:endParaRPr lang="en-US" sz="2850" dirty="0"/>
          </a:p>
        </p:txBody>
      </p:sp>
      <p:sp>
        <p:nvSpPr>
          <p:cNvPr id="20" name="Text 18"/>
          <p:cNvSpPr/>
          <p:nvPr/>
        </p:nvSpPr>
        <p:spPr>
          <a:xfrm>
            <a:off x="11163349" y="4507694"/>
            <a:ext cx="6082665" cy="2109788"/>
          </a:xfrm>
          <a:prstGeom prst="rect">
            <a:avLst/>
          </a:prstGeom>
          <a:noFill/>
          <a:ln/>
        </p:spPr>
        <p:txBody>
          <a:bodyPr wrap="square" lIns="25400" tIns="25400" rIns="25400" bIns="25400" rtlCol="0" anchor="t">
            <a:normAutofit/>
          </a:bodyPr>
          <a:lstStyle/>
          <a:p>
            <a:pPr marL="0" indent="0" algn="l">
              <a:lnSpc>
                <a:spcPct val="96667"/>
              </a:lnSpc>
              <a:buNone/>
            </a:pPr>
            <a:r>
              <a:rPr lang="en-US" sz="1875" dirty="0">
                <a:solidFill>
                  <a:srgbClr val="FFFFFF"/>
                </a:solidFill>
                <a:latin typeface="Poppins" pitchFamily="34" charset="0"/>
                <a:ea typeface="Poppins" pitchFamily="34" charset="-122"/>
                <a:cs typeface="Poppins" pitchFamily="34" charset="-120"/>
              </a:rPr>
              <a:t>Coding agents perform well because codebases are legible — READMEs, type signatures, docstrings. A warehouse can be just as legible, but only through its metadata: descriptions, canonical metric definitions, grain, valid value ranges, lineage, ownership, tiering.</a:t>
            </a:r>
            <a:endParaRPr lang="en-US" sz="1875" dirty="0"/>
          </a:p>
        </p:txBody>
      </p:sp>
      <p:sp>
        <p:nvSpPr>
          <p:cNvPr id="21" name="Text 19"/>
          <p:cNvSpPr/>
          <p:nvPr/>
        </p:nvSpPr>
        <p:spPr>
          <a:xfrm>
            <a:off x="11163349" y="6769881"/>
            <a:ext cx="6082665" cy="2455069"/>
          </a:xfrm>
          <a:prstGeom prst="rect">
            <a:avLst/>
          </a:prstGeom>
          <a:noFill/>
          <a:ln/>
        </p:spPr>
        <p:txBody>
          <a:bodyPr wrap="square" lIns="25400" tIns="25400" rIns="25400" bIns="25400" rtlCol="0" anchor="t">
            <a:normAutofit/>
          </a:bodyPr>
          <a:lstStyle/>
          <a:p>
            <a:pPr marL="0" indent="0" algn="l">
              <a:lnSpc>
                <a:spcPct val="96667"/>
              </a:lnSpc>
              <a:buNone/>
            </a:pPr>
            <a:r>
              <a:rPr lang="en-US" sz="1875" dirty="0">
                <a:solidFill>
                  <a:srgbClr val="FFFFFF"/>
                </a:solidFill>
                <a:latin typeface="Poppins" pitchFamily="34" charset="0"/>
                <a:ea typeface="Poppins" pitchFamily="34" charset="-122"/>
                <a:cs typeface="Poppins" pitchFamily="34" charset="-120"/>
              </a:rPr>
              <a:t>Expressed as a graph, that metadata stops being free text hanging off a schema and becomes machine-readable relationships the agent can traverse. This layer is where the agent actually reads meaning. Maintain it with the same rigour as the transformations themselves — resource it, own it, review it, version it.</a:t>
            </a:r>
            <a:endParaRPr lang="en-US" sz="1875" dirty="0"/>
          </a:p>
        </p:txBody>
      </p:sp>
      <p:sp>
        <p:nvSpPr>
          <p:cNvPr id="22" name="Text 20"/>
          <p:cNvSpPr/>
          <p:nvPr/>
        </p:nvSpPr>
        <p:spPr>
          <a:xfrm>
            <a:off x="838150" y="9739250"/>
            <a:ext cx="11576685" cy="655241"/>
          </a:xfrm>
          <a:prstGeom prst="rect">
            <a:avLst/>
          </a:prstGeom>
          <a:noFill/>
          <a:ln/>
        </p:spPr>
        <p:txBody>
          <a:bodyPr wrap="square" lIns="25400" tIns="25400" rIns="25400" bIns="25400" rtlCol="0" anchor="t">
            <a:normAutofit/>
          </a:bodyPr>
          <a:lstStyle/>
          <a:p>
            <a:pPr marL="0" indent="0" algn="l">
              <a:lnSpc>
                <a:spcPct val="90419"/>
              </a:lnSpc>
              <a:buNone/>
            </a:pPr>
            <a:r>
              <a:rPr lang="en-US" sz="1800" dirty="0">
                <a:solidFill>
                  <a:srgbClr val="9AA3AD"/>
                </a:solidFill>
                <a:latin typeface="Poppins" pitchFamily="34" charset="0"/>
                <a:ea typeface="Poppins" pitchFamily="34" charset="-122"/>
                <a:cs typeface="Poppins" pitchFamily="34" charset="-120"/>
              </a:rPr>
              <a:t>Dimensional modeling, shift-left testing, freshness and completeness checks all still apply. What changed is who consumes the model.</a:t>
            </a:r>
            <a:endParaRPr lang="en-US" sz="1800" dirty="0"/>
          </a:p>
        </p:txBody>
      </p:sp>
      <p:pic>
        <p:nvPicPr>
          <p:cNvPr id="23" name="Image 0" descr="preencoded.png"/>
          <p:cNvPicPr>
            <a:picLocks noChangeAspect="1"/>
          </p:cNvPicPr>
          <p:nvPr/>
        </p:nvPicPr>
        <p:blipFill>
          <a:blip r:embed="rId3"/>
          <a:stretch>
            <a:fillRect/>
          </a:stretch>
        </p:blipFill>
        <p:spPr>
          <a:xfrm>
            <a:off x="16105436" y="10051603"/>
            <a:ext cx="1344414" cy="3047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150" y="609575"/>
            <a:ext cx="9219586"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315" dirty="0">
                <a:solidFill>
                  <a:srgbClr val="3B5C7F"/>
                </a:solidFill>
                <a:latin typeface="Poppins" pitchFamily="34" charset="0"/>
                <a:ea typeface="Poppins" pitchFamily="34" charset="-122"/>
                <a:cs typeface="Poppins" pitchFamily="34" charset="-120"/>
              </a:rPr>
              <a:t>LAYER 02 — SOURCES OF TRUTH — ADDRESSES AMBIGUITY</a:t>
            </a:r>
            <a:endParaRPr lang="en-US" sz="1800" dirty="0"/>
          </a:p>
        </p:txBody>
      </p:sp>
      <p:sp>
        <p:nvSpPr>
          <p:cNvPr id="3" name="Text 1"/>
          <p:cNvSpPr/>
          <p:nvPr/>
        </p:nvSpPr>
        <p:spPr>
          <a:xfrm>
            <a:off x="10650574" y="637356"/>
            <a:ext cx="7479202" cy="335198"/>
          </a:xfrm>
          <a:prstGeom prst="rect">
            <a:avLst/>
          </a:prstGeom>
          <a:noFill/>
          <a:ln/>
        </p:spPr>
        <p:txBody>
          <a:bodyPr wrap="square" lIns="25400" tIns="25400" rIns="25400" bIns="25400" rtlCol="0" anchor="t">
            <a:normAutofit/>
          </a:bodyPr>
          <a:lstStyle/>
          <a:p>
            <a:pPr marL="0" indent="0" algn="l">
              <a:lnSpc>
                <a:spcPct val="87070"/>
              </a:lnSpc>
              <a:buNone/>
            </a:pPr>
            <a:r>
              <a:rPr lang="en-US" sz="1800" dirty="0">
                <a:solidFill>
                  <a:srgbClr val="9AA3AD"/>
                </a:solidFill>
                <a:latin typeface="Poppins" pitchFamily="34" charset="0"/>
                <a:ea typeface="Poppins" pitchFamily="34" charset="-122"/>
                <a:cs typeface="Poppins" pitchFamily="34" charset="-120"/>
              </a:rPr>
              <a:t>Source: Anthropic — self-service data analytics with Claude</a:t>
            </a:r>
            <a:endParaRPr lang="en-US" sz="1800" dirty="0"/>
          </a:p>
        </p:txBody>
      </p:sp>
      <p:sp>
        <p:nvSpPr>
          <p:cNvPr id="4" name="Text 2"/>
          <p:cNvSpPr/>
          <p:nvPr/>
        </p:nvSpPr>
        <p:spPr>
          <a:xfrm>
            <a:off x="838150" y="1154348"/>
            <a:ext cx="18272869" cy="618158"/>
          </a:xfrm>
          <a:prstGeom prst="rect">
            <a:avLst/>
          </a:prstGeom>
          <a:noFill/>
          <a:ln/>
        </p:spPr>
        <p:txBody>
          <a:bodyPr wrap="square" lIns="25400" tIns="25400" rIns="25400" bIns="25400" rtlCol="0" anchor="t">
            <a:normAutofit/>
          </a:bodyPr>
          <a:lstStyle/>
          <a:p>
            <a:pPr marL="0" indent="0" algn="l">
              <a:lnSpc>
                <a:spcPct val="69933"/>
              </a:lnSpc>
              <a:buNone/>
            </a:pPr>
            <a:r>
              <a:rPr lang="en-US" sz="4350" b="1" kern="0" spc="-87" dirty="0">
                <a:solidFill>
                  <a:srgbClr val="220F60"/>
                </a:solidFill>
                <a:latin typeface="Poppins" pitchFamily="34" charset="0"/>
                <a:ea typeface="Poppins" pitchFamily="34" charset="-122"/>
                <a:cs typeface="Poppins" pitchFamily="34" charset="-120"/>
              </a:rPr>
              <a:t>The surfaces the agent consults to navigate</a:t>
            </a:r>
            <a:endParaRPr lang="en-US" sz="4350" dirty="0"/>
          </a:p>
        </p:txBody>
      </p:sp>
      <p:sp>
        <p:nvSpPr>
          <p:cNvPr id="5" name="Text 3"/>
          <p:cNvSpPr/>
          <p:nvPr/>
        </p:nvSpPr>
        <p:spPr>
          <a:xfrm>
            <a:off x="838150" y="1905806"/>
            <a:ext cx="13735050" cy="784845"/>
          </a:xfrm>
          <a:prstGeom prst="rect">
            <a:avLst/>
          </a:prstGeom>
          <a:noFill/>
          <a:ln/>
        </p:spPr>
        <p:txBody>
          <a:bodyPr wrap="square" lIns="25400" tIns="25400" rIns="25400" bIns="25400" rtlCol="0" anchor="t">
            <a:normAutofit/>
          </a:bodyPr>
          <a:lstStyle/>
          <a:p>
            <a:pPr marL="0" indent="0" algn="l">
              <a:lnSpc>
                <a:spcPct val="92235"/>
              </a:lnSpc>
              <a:buNone/>
            </a:pPr>
            <a:r>
              <a:rPr lang="en-US" sz="2100" dirty="0">
                <a:solidFill>
                  <a:srgbClr val="15103A"/>
                </a:solidFill>
                <a:latin typeface="Poppins" pitchFamily="34" charset="0"/>
                <a:ea typeface="Poppins" pitchFamily="34" charset="-122"/>
                <a:cs typeface="Poppins" pitchFamily="34" charset="-120"/>
              </a:rPr>
              <a:t>Foundations are the warehouse. Sources of truth are what turn "weekly active users" in a stakeholder's question into one governed entity in the model.</a:t>
            </a:r>
            <a:endParaRPr lang="en-US" sz="2100" dirty="0"/>
          </a:p>
        </p:txBody>
      </p:sp>
      <p:sp>
        <p:nvSpPr>
          <p:cNvPr id="6" name="Text 4"/>
          <p:cNvSpPr/>
          <p:nvPr/>
        </p:nvSpPr>
        <p:spPr>
          <a:xfrm>
            <a:off x="15763725" y="1905806"/>
            <a:ext cx="1562348" cy="392373"/>
          </a:xfrm>
          <a:prstGeom prst="rect">
            <a:avLst/>
          </a:prstGeom>
          <a:noFill/>
          <a:ln/>
        </p:spPr>
        <p:txBody>
          <a:bodyPr wrap="square" lIns="25400" tIns="25400" rIns="25400" bIns="25400" rtlCol="0" anchor="t">
            <a:normAutofit/>
          </a:bodyPr>
          <a:lstStyle/>
          <a:p>
            <a:pPr marL="0" indent="0" algn="r">
              <a:lnSpc>
                <a:spcPct val="103814"/>
              </a:lnSpc>
              <a:buNone/>
            </a:pPr>
            <a:r>
              <a:rPr lang="en-US" sz="1800" dirty="0">
                <a:solidFill>
                  <a:srgbClr val="9AA3AD"/>
                </a:solidFill>
                <a:latin typeface="Poppins" pitchFamily="34" charset="0"/>
                <a:ea typeface="Poppins" pitchFamily="34" charset="-122"/>
                <a:cs typeface="Poppins" pitchFamily="34" charset="-120"/>
              </a:rPr>
              <a:t>Most trusted</a:t>
            </a:r>
            <a:endParaRPr lang="en-US" sz="1800" dirty="0"/>
          </a:p>
        </p:txBody>
      </p:sp>
      <p:sp>
        <p:nvSpPr>
          <p:cNvPr id="7" name="Text 5"/>
          <p:cNvSpPr/>
          <p:nvPr/>
        </p:nvSpPr>
        <p:spPr>
          <a:xfrm>
            <a:off x="15763725" y="2488654"/>
            <a:ext cx="1562348" cy="392373"/>
          </a:xfrm>
          <a:prstGeom prst="rect">
            <a:avLst/>
          </a:prstGeom>
          <a:noFill/>
          <a:ln/>
        </p:spPr>
        <p:txBody>
          <a:bodyPr wrap="square" lIns="25400" tIns="25400" rIns="25400" bIns="25400" rtlCol="0" anchor="t">
            <a:normAutofit/>
          </a:bodyPr>
          <a:lstStyle/>
          <a:p>
            <a:pPr marL="0" indent="0" algn="r">
              <a:lnSpc>
                <a:spcPct val="103814"/>
              </a:lnSpc>
              <a:buNone/>
            </a:pPr>
            <a:r>
              <a:rPr lang="en-US" sz="1800" dirty="0">
                <a:solidFill>
                  <a:srgbClr val="9AA3AD"/>
                </a:solidFill>
                <a:latin typeface="Poppins" pitchFamily="34" charset="0"/>
                <a:ea typeface="Poppins" pitchFamily="34" charset="-122"/>
                <a:cs typeface="Poppins" pitchFamily="34" charset="-120"/>
              </a:rPr>
              <a:t>Least</a:t>
            </a:r>
            <a:endParaRPr lang="en-US" sz="1800" dirty="0"/>
          </a:p>
        </p:txBody>
      </p:sp>
      <p:sp>
        <p:nvSpPr>
          <p:cNvPr id="8" name="Shape 6"/>
          <p:cNvSpPr/>
          <p:nvPr/>
        </p:nvSpPr>
        <p:spPr>
          <a:xfrm>
            <a:off x="17440361" y="2031442"/>
            <a:ext cx="9525" cy="685788"/>
          </a:xfrm>
          <a:prstGeom prst="rect">
            <a:avLst/>
          </a:prstGeom>
          <a:solidFill>
            <a:srgbClr val="9AA3AD"/>
          </a:solidFill>
          <a:ln/>
        </p:spPr>
        <p:txBody>
          <a:bodyPr/>
          <a:lstStyle/>
          <a:p>
            <a:endParaRPr lang="en-US"/>
          </a:p>
        </p:txBody>
      </p:sp>
      <p:sp>
        <p:nvSpPr>
          <p:cNvPr id="9" name="Shape 7"/>
          <p:cNvSpPr/>
          <p:nvPr/>
        </p:nvSpPr>
        <p:spPr>
          <a:xfrm>
            <a:off x="17392736" y="2710036"/>
            <a:ext cx="95250" cy="83344"/>
          </a:xfrm>
          <a:prstGeom prst="rect">
            <a:avLst/>
          </a:prstGeom>
          <a:solidFill>
            <a:srgbClr val="9AA3AD"/>
          </a:solidFill>
          <a:ln/>
        </p:spPr>
        <p:txBody>
          <a:bodyPr/>
          <a:lstStyle/>
          <a:p>
            <a:endParaRPr lang="en-US"/>
          </a:p>
        </p:txBody>
      </p:sp>
      <p:sp>
        <p:nvSpPr>
          <p:cNvPr id="10" name="Shape 8"/>
          <p:cNvSpPr/>
          <p:nvPr/>
        </p:nvSpPr>
        <p:spPr>
          <a:xfrm>
            <a:off x="838150" y="3071502"/>
            <a:ext cx="16611699" cy="1382923"/>
          </a:xfrm>
          <a:prstGeom prst="roundRect">
            <a:avLst>
              <a:gd name="adj" fmla="val 8265"/>
            </a:avLst>
          </a:prstGeom>
          <a:solidFill>
            <a:srgbClr val="DF367C"/>
          </a:solidFill>
          <a:ln/>
        </p:spPr>
        <p:txBody>
          <a:bodyPr/>
          <a:lstStyle/>
          <a:p>
            <a:endParaRPr lang="en-US"/>
          </a:p>
        </p:txBody>
      </p:sp>
      <p:sp>
        <p:nvSpPr>
          <p:cNvPr id="11" name="Text 9"/>
          <p:cNvSpPr/>
          <p:nvPr/>
        </p:nvSpPr>
        <p:spPr>
          <a:xfrm>
            <a:off x="1142938" y="3242903"/>
            <a:ext cx="609563" cy="480988"/>
          </a:xfrm>
          <a:prstGeom prst="rect">
            <a:avLst/>
          </a:prstGeom>
          <a:noFill/>
          <a:ln/>
        </p:spPr>
        <p:txBody>
          <a:bodyPr wrap="square" lIns="25400" tIns="25400" rIns="25400" bIns="25400" rtlCol="0" anchor="t">
            <a:normAutofit/>
          </a:bodyPr>
          <a:lstStyle/>
          <a:p>
            <a:pPr marL="0" indent="0" algn="l">
              <a:lnSpc>
                <a:spcPct val="103333"/>
              </a:lnSpc>
              <a:buNone/>
            </a:pPr>
            <a:r>
              <a:rPr lang="en-US" sz="2250" b="1" dirty="0">
                <a:solidFill>
                  <a:srgbClr val="FFFFFF">
                    <a:alpha val="70000"/>
                  </a:srgbClr>
                </a:solidFill>
                <a:latin typeface="Poppins" pitchFamily="34" charset="0"/>
                <a:ea typeface="Poppins" pitchFamily="34" charset="-122"/>
                <a:cs typeface="Poppins" pitchFamily="34" charset="-120"/>
              </a:rPr>
              <a:t>01</a:t>
            </a:r>
            <a:endParaRPr lang="en-US" sz="2250" dirty="0"/>
          </a:p>
        </p:txBody>
      </p:sp>
      <p:sp>
        <p:nvSpPr>
          <p:cNvPr id="12" name="Text 10"/>
          <p:cNvSpPr/>
          <p:nvPr/>
        </p:nvSpPr>
        <p:spPr>
          <a:xfrm>
            <a:off x="1942951" y="3242903"/>
            <a:ext cx="3139440" cy="510505"/>
          </a:xfrm>
          <a:prstGeom prst="rect">
            <a:avLst/>
          </a:prstGeom>
          <a:noFill/>
          <a:ln/>
        </p:spPr>
        <p:txBody>
          <a:bodyPr wrap="square" lIns="25400" tIns="25400" rIns="25400" bIns="25400" rtlCol="0" anchor="t">
            <a:normAutofit/>
          </a:bodyPr>
          <a:lstStyle/>
          <a:p>
            <a:pPr marL="0" indent="0" algn="l">
              <a:lnSpc>
                <a:spcPct val="101455"/>
              </a:lnSpc>
              <a:buNone/>
            </a:pPr>
            <a:r>
              <a:rPr lang="en-US" sz="2400" b="1" dirty="0">
                <a:solidFill>
                  <a:srgbClr val="FFFFFF"/>
                </a:solidFill>
                <a:latin typeface="Poppins" pitchFamily="34" charset="0"/>
                <a:ea typeface="Poppins" pitchFamily="34" charset="-122"/>
                <a:cs typeface="Poppins" pitchFamily="34" charset="-120"/>
              </a:rPr>
              <a:t>Semantic layer</a:t>
            </a:r>
            <a:endParaRPr lang="en-US" sz="2400" dirty="0"/>
          </a:p>
        </p:txBody>
      </p:sp>
      <p:sp>
        <p:nvSpPr>
          <p:cNvPr id="13" name="Text 11"/>
          <p:cNvSpPr/>
          <p:nvPr/>
        </p:nvSpPr>
        <p:spPr>
          <a:xfrm>
            <a:off x="5257601" y="3242903"/>
            <a:ext cx="12244084" cy="1078223"/>
          </a:xfrm>
          <a:prstGeom prst="rect">
            <a:avLst/>
          </a:prstGeom>
          <a:noFill/>
          <a:ln/>
        </p:spPr>
        <p:txBody>
          <a:bodyPr wrap="square" lIns="25400" tIns="25400" rIns="25400" bIns="25400" rtlCol="0" anchor="t">
            <a:normAutofit/>
          </a:bodyPr>
          <a:lstStyle/>
          <a:p>
            <a:pPr marL="0" indent="0" algn="l">
              <a:lnSpc>
                <a:spcPct val="92936"/>
              </a:lnSpc>
              <a:buNone/>
            </a:pPr>
            <a:r>
              <a:rPr lang="en-US" sz="1950" dirty="0">
                <a:solidFill>
                  <a:srgbClr val="FFFFFF"/>
                </a:solidFill>
                <a:latin typeface="Poppins" pitchFamily="34" charset="0"/>
                <a:ea typeface="Poppins" pitchFamily="34" charset="-122"/>
                <a:cs typeface="Poppins" pitchFamily="34" charset="-120"/>
              </a:rPr>
              <a:t>Compiled metric and dimension definitions. A clean match means the agent calls a function and gets the same number every other surface produces. Agents are structurally required, by skill instruction, to try this first.</a:t>
            </a:r>
            <a:endParaRPr lang="en-US" sz="1950" dirty="0"/>
          </a:p>
        </p:txBody>
      </p:sp>
      <p:sp>
        <p:nvSpPr>
          <p:cNvPr id="14" name="Shape 12"/>
          <p:cNvSpPr/>
          <p:nvPr/>
        </p:nvSpPr>
        <p:spPr>
          <a:xfrm>
            <a:off x="838150" y="4530576"/>
            <a:ext cx="16611699" cy="1760017"/>
          </a:xfrm>
          <a:prstGeom prst="roundRect">
            <a:avLst>
              <a:gd name="adj" fmla="val 6494"/>
            </a:avLst>
          </a:prstGeom>
          <a:solidFill>
            <a:srgbClr val="EE85AC"/>
          </a:solidFill>
          <a:ln/>
        </p:spPr>
        <p:txBody>
          <a:bodyPr/>
          <a:lstStyle/>
          <a:p>
            <a:endParaRPr lang="en-US"/>
          </a:p>
        </p:txBody>
      </p:sp>
      <p:sp>
        <p:nvSpPr>
          <p:cNvPr id="15" name="Text 13"/>
          <p:cNvSpPr/>
          <p:nvPr/>
        </p:nvSpPr>
        <p:spPr>
          <a:xfrm>
            <a:off x="1142938" y="4701976"/>
            <a:ext cx="609563" cy="480988"/>
          </a:xfrm>
          <a:prstGeom prst="rect">
            <a:avLst/>
          </a:prstGeom>
          <a:noFill/>
          <a:ln/>
        </p:spPr>
        <p:txBody>
          <a:bodyPr wrap="square" lIns="25400" tIns="25400" rIns="25400" bIns="25400" rtlCol="0" anchor="t">
            <a:normAutofit/>
          </a:bodyPr>
          <a:lstStyle/>
          <a:p>
            <a:pPr marL="0" indent="0" algn="l">
              <a:lnSpc>
                <a:spcPct val="103333"/>
              </a:lnSpc>
              <a:buNone/>
            </a:pPr>
            <a:r>
              <a:rPr lang="en-US" sz="2250" b="1" dirty="0">
                <a:solidFill>
                  <a:srgbClr val="220F60"/>
                </a:solidFill>
                <a:latin typeface="Poppins" pitchFamily="34" charset="0"/>
                <a:ea typeface="Poppins" pitchFamily="34" charset="-122"/>
                <a:cs typeface="Poppins" pitchFamily="34" charset="-120"/>
              </a:rPr>
              <a:t>02</a:t>
            </a:r>
            <a:endParaRPr lang="en-US" sz="2250" dirty="0"/>
          </a:p>
        </p:txBody>
      </p:sp>
      <p:sp>
        <p:nvSpPr>
          <p:cNvPr id="16" name="Text 14"/>
          <p:cNvSpPr/>
          <p:nvPr/>
        </p:nvSpPr>
        <p:spPr>
          <a:xfrm>
            <a:off x="1942951" y="4701976"/>
            <a:ext cx="3139440" cy="1455316"/>
          </a:xfrm>
          <a:prstGeom prst="rect">
            <a:avLst/>
          </a:prstGeom>
          <a:noFill/>
          <a:ln/>
        </p:spPr>
        <p:txBody>
          <a:bodyPr wrap="square" lIns="25400" tIns="25400" rIns="25400" bIns="25400" rtlCol="0" anchor="t">
            <a:normAutofit/>
          </a:bodyPr>
          <a:lstStyle/>
          <a:p>
            <a:pPr marL="0" indent="0" algn="l">
              <a:lnSpc>
                <a:spcPct val="101455"/>
              </a:lnSpc>
              <a:buNone/>
            </a:pPr>
            <a:r>
              <a:rPr lang="en-US" sz="2400" b="1" dirty="0">
                <a:solidFill>
                  <a:srgbClr val="220F60"/>
                </a:solidFill>
                <a:latin typeface="Poppins" pitchFamily="34" charset="0"/>
                <a:ea typeface="Poppins" pitchFamily="34" charset="-122"/>
                <a:cs typeface="Poppins" pitchFamily="34" charset="-120"/>
              </a:rPr>
              <a:t>Lineage and the transformation graph</a:t>
            </a:r>
            <a:endParaRPr lang="en-US" sz="2400" dirty="0"/>
          </a:p>
        </p:txBody>
      </p:sp>
      <p:sp>
        <p:nvSpPr>
          <p:cNvPr id="17" name="Text 15"/>
          <p:cNvSpPr/>
          <p:nvPr/>
        </p:nvSpPr>
        <p:spPr>
          <a:xfrm>
            <a:off x="5257601" y="4701976"/>
            <a:ext cx="12244084" cy="1078223"/>
          </a:xfrm>
          <a:prstGeom prst="rect">
            <a:avLst/>
          </a:prstGeom>
          <a:noFill/>
          <a:ln/>
        </p:spPr>
        <p:txBody>
          <a:bodyPr wrap="square" lIns="25400" tIns="25400" rIns="25400" bIns="25400" rtlCol="0" anchor="t">
            <a:normAutofit/>
          </a:bodyPr>
          <a:lstStyle/>
          <a:p>
            <a:pPr marL="0" indent="0" algn="l">
              <a:lnSpc>
                <a:spcPct val="92936"/>
              </a:lnSpc>
              <a:buNone/>
            </a:pPr>
            <a:r>
              <a:rPr lang="en-US" sz="1950" dirty="0">
                <a:solidFill>
                  <a:srgbClr val="15103A"/>
                </a:solidFill>
                <a:latin typeface="Poppins" pitchFamily="34" charset="0"/>
                <a:ea typeface="Poppins" pitchFamily="34" charset="-122"/>
                <a:cs typeface="Poppins" pitchFamily="34" charset="-120"/>
              </a:rPr>
              <a:t>When no metric covers the question, lineage and reference-count ranking let the agent reason about which upstream models feed a concept, which are deprecated, and which share grain. "I don't know the metric" becomes "I know which governed model to aggregate from."</a:t>
            </a:r>
            <a:endParaRPr lang="en-US" sz="1950" dirty="0"/>
          </a:p>
        </p:txBody>
      </p:sp>
      <p:sp>
        <p:nvSpPr>
          <p:cNvPr id="18" name="Shape 16"/>
          <p:cNvSpPr/>
          <p:nvPr/>
        </p:nvSpPr>
        <p:spPr>
          <a:xfrm>
            <a:off x="838150" y="6366743"/>
            <a:ext cx="16611699" cy="1382923"/>
          </a:xfrm>
          <a:prstGeom prst="roundRect">
            <a:avLst>
              <a:gd name="adj" fmla="val 8265"/>
            </a:avLst>
          </a:prstGeom>
          <a:solidFill>
            <a:srgbClr val="F8CBDB"/>
          </a:solidFill>
          <a:ln/>
        </p:spPr>
        <p:txBody>
          <a:bodyPr/>
          <a:lstStyle/>
          <a:p>
            <a:endParaRPr lang="en-US"/>
          </a:p>
        </p:txBody>
      </p:sp>
      <p:sp>
        <p:nvSpPr>
          <p:cNvPr id="19" name="Text 17"/>
          <p:cNvSpPr/>
          <p:nvPr/>
        </p:nvSpPr>
        <p:spPr>
          <a:xfrm>
            <a:off x="1142938" y="6538143"/>
            <a:ext cx="609563" cy="480988"/>
          </a:xfrm>
          <a:prstGeom prst="rect">
            <a:avLst/>
          </a:prstGeom>
          <a:noFill/>
          <a:ln/>
        </p:spPr>
        <p:txBody>
          <a:bodyPr wrap="square" lIns="25400" tIns="25400" rIns="25400" bIns="25400" rtlCol="0" anchor="t">
            <a:normAutofit/>
          </a:bodyPr>
          <a:lstStyle/>
          <a:p>
            <a:pPr marL="0" indent="0" algn="l">
              <a:lnSpc>
                <a:spcPct val="103333"/>
              </a:lnSpc>
              <a:buNone/>
            </a:pPr>
            <a:r>
              <a:rPr lang="en-US" sz="2250" b="1" dirty="0">
                <a:solidFill>
                  <a:srgbClr val="220F60"/>
                </a:solidFill>
                <a:latin typeface="Poppins" pitchFamily="34" charset="0"/>
                <a:ea typeface="Poppins" pitchFamily="34" charset="-122"/>
                <a:cs typeface="Poppins" pitchFamily="34" charset="-120"/>
              </a:rPr>
              <a:t>03</a:t>
            </a:r>
            <a:endParaRPr lang="en-US" sz="2250" dirty="0"/>
          </a:p>
        </p:txBody>
      </p:sp>
      <p:sp>
        <p:nvSpPr>
          <p:cNvPr id="20" name="Text 18"/>
          <p:cNvSpPr/>
          <p:nvPr/>
        </p:nvSpPr>
        <p:spPr>
          <a:xfrm>
            <a:off x="1942951" y="6538143"/>
            <a:ext cx="3139440" cy="510505"/>
          </a:xfrm>
          <a:prstGeom prst="rect">
            <a:avLst/>
          </a:prstGeom>
          <a:noFill/>
          <a:ln/>
        </p:spPr>
        <p:txBody>
          <a:bodyPr wrap="square" lIns="25400" tIns="25400" rIns="25400" bIns="25400" rtlCol="0" anchor="t">
            <a:normAutofit/>
          </a:bodyPr>
          <a:lstStyle/>
          <a:p>
            <a:pPr marL="0" indent="0" algn="l">
              <a:lnSpc>
                <a:spcPct val="101455"/>
              </a:lnSpc>
              <a:buNone/>
            </a:pPr>
            <a:r>
              <a:rPr lang="en-US" sz="2400" b="1" dirty="0">
                <a:solidFill>
                  <a:srgbClr val="220F60"/>
                </a:solidFill>
                <a:latin typeface="Poppins" pitchFamily="34" charset="0"/>
                <a:ea typeface="Poppins" pitchFamily="34" charset="-122"/>
                <a:cs typeface="Poppins" pitchFamily="34" charset="-120"/>
              </a:rPr>
              <a:t>Query corpus</a:t>
            </a:r>
            <a:endParaRPr lang="en-US" sz="2400" dirty="0"/>
          </a:p>
        </p:txBody>
      </p:sp>
      <p:sp>
        <p:nvSpPr>
          <p:cNvPr id="21" name="Text 19"/>
          <p:cNvSpPr/>
          <p:nvPr/>
        </p:nvSpPr>
        <p:spPr>
          <a:xfrm>
            <a:off x="5257601" y="6538143"/>
            <a:ext cx="12244084" cy="1078223"/>
          </a:xfrm>
          <a:prstGeom prst="rect">
            <a:avLst/>
          </a:prstGeom>
          <a:noFill/>
          <a:ln/>
        </p:spPr>
        <p:txBody>
          <a:bodyPr wrap="square" lIns="25400" tIns="25400" rIns="25400" bIns="25400" rtlCol="0" anchor="t">
            <a:normAutofit/>
          </a:bodyPr>
          <a:lstStyle/>
          <a:p>
            <a:pPr marL="0" indent="0" algn="l">
              <a:lnSpc>
                <a:spcPct val="92936"/>
              </a:lnSpc>
              <a:buNone/>
            </a:pPr>
            <a:r>
              <a:rPr lang="en-US" sz="1950" dirty="0">
                <a:solidFill>
                  <a:srgbClr val="15103A"/>
                </a:solidFill>
                <a:latin typeface="Poppins" pitchFamily="34" charset="0"/>
                <a:ea typeface="Poppins" pitchFamily="34" charset="-122"/>
                <a:cs typeface="Poppins" pitchFamily="34" charset="-120"/>
              </a:rPr>
              <a:t>Historical SQL from dashboards, notebooks and prior analyses. Raw retrieval over thousands of queries moved accuracy by less than a point. Treat it as raw material for curation, not as something the agent reads directly.</a:t>
            </a:r>
            <a:endParaRPr lang="en-US" sz="1950" dirty="0"/>
          </a:p>
        </p:txBody>
      </p:sp>
      <p:sp>
        <p:nvSpPr>
          <p:cNvPr id="22" name="Shape 20"/>
          <p:cNvSpPr/>
          <p:nvPr/>
        </p:nvSpPr>
        <p:spPr>
          <a:xfrm>
            <a:off x="838150" y="7825817"/>
            <a:ext cx="16611699" cy="1398798"/>
          </a:xfrm>
          <a:prstGeom prst="roundRect">
            <a:avLst>
              <a:gd name="adj" fmla="val 8171"/>
            </a:avLst>
          </a:prstGeom>
          <a:solidFill>
            <a:srgbClr val="FDEEF4"/>
          </a:solidFill>
          <a:ln w="7937">
            <a:solidFill>
              <a:srgbClr val="EE85AC"/>
            </a:solidFill>
            <a:prstDash val="solid"/>
          </a:ln>
        </p:spPr>
        <p:txBody>
          <a:bodyPr/>
          <a:lstStyle/>
          <a:p>
            <a:endParaRPr lang="en-US"/>
          </a:p>
        </p:txBody>
      </p:sp>
      <p:sp>
        <p:nvSpPr>
          <p:cNvPr id="23" name="Text 21"/>
          <p:cNvSpPr/>
          <p:nvPr/>
        </p:nvSpPr>
        <p:spPr>
          <a:xfrm>
            <a:off x="1150875" y="8005154"/>
            <a:ext cx="609563" cy="480988"/>
          </a:xfrm>
          <a:prstGeom prst="rect">
            <a:avLst/>
          </a:prstGeom>
          <a:noFill/>
          <a:ln/>
        </p:spPr>
        <p:txBody>
          <a:bodyPr wrap="square" lIns="25400" tIns="25400" rIns="25400" bIns="25400" rtlCol="0" anchor="t">
            <a:normAutofit/>
          </a:bodyPr>
          <a:lstStyle/>
          <a:p>
            <a:pPr marL="0" indent="0" algn="l">
              <a:lnSpc>
                <a:spcPct val="103333"/>
              </a:lnSpc>
              <a:buNone/>
            </a:pPr>
            <a:r>
              <a:rPr lang="en-US" sz="2250" b="1" dirty="0">
                <a:solidFill>
                  <a:srgbClr val="220F60"/>
                </a:solidFill>
                <a:latin typeface="Poppins" pitchFamily="34" charset="0"/>
                <a:ea typeface="Poppins" pitchFamily="34" charset="-122"/>
                <a:cs typeface="Poppins" pitchFamily="34" charset="-120"/>
              </a:rPr>
              <a:t>04</a:t>
            </a:r>
            <a:endParaRPr lang="en-US" sz="2250" dirty="0"/>
          </a:p>
        </p:txBody>
      </p:sp>
      <p:sp>
        <p:nvSpPr>
          <p:cNvPr id="24" name="Text 22"/>
          <p:cNvSpPr/>
          <p:nvPr/>
        </p:nvSpPr>
        <p:spPr>
          <a:xfrm>
            <a:off x="1950889" y="8005154"/>
            <a:ext cx="3139440" cy="510505"/>
          </a:xfrm>
          <a:prstGeom prst="rect">
            <a:avLst/>
          </a:prstGeom>
          <a:noFill/>
          <a:ln/>
        </p:spPr>
        <p:txBody>
          <a:bodyPr wrap="square" lIns="25400" tIns="25400" rIns="25400" bIns="25400" rtlCol="0" anchor="t">
            <a:normAutofit/>
          </a:bodyPr>
          <a:lstStyle/>
          <a:p>
            <a:pPr marL="0" indent="0" algn="l">
              <a:lnSpc>
                <a:spcPct val="101455"/>
              </a:lnSpc>
              <a:buNone/>
            </a:pPr>
            <a:r>
              <a:rPr lang="en-US" sz="2400" b="1" dirty="0">
                <a:solidFill>
                  <a:srgbClr val="220F60"/>
                </a:solidFill>
                <a:latin typeface="Poppins" pitchFamily="34" charset="0"/>
                <a:ea typeface="Poppins" pitchFamily="34" charset="-122"/>
                <a:cs typeface="Poppins" pitchFamily="34" charset="-120"/>
              </a:rPr>
              <a:t>Business context</a:t>
            </a:r>
            <a:endParaRPr lang="en-US" sz="2400" dirty="0"/>
          </a:p>
        </p:txBody>
      </p:sp>
      <p:sp>
        <p:nvSpPr>
          <p:cNvPr id="25" name="Text 23"/>
          <p:cNvSpPr/>
          <p:nvPr/>
        </p:nvSpPr>
        <p:spPr>
          <a:xfrm>
            <a:off x="5265539" y="8005154"/>
            <a:ext cx="12227732" cy="1078223"/>
          </a:xfrm>
          <a:prstGeom prst="rect">
            <a:avLst/>
          </a:prstGeom>
          <a:noFill/>
          <a:ln/>
        </p:spPr>
        <p:txBody>
          <a:bodyPr wrap="square" lIns="25400" tIns="25400" rIns="25400" bIns="25400" rtlCol="0" anchor="t">
            <a:normAutofit/>
          </a:bodyPr>
          <a:lstStyle/>
          <a:p>
            <a:pPr marL="0" indent="0" algn="l">
              <a:lnSpc>
                <a:spcPct val="92936"/>
              </a:lnSpc>
              <a:buNone/>
            </a:pPr>
            <a:r>
              <a:rPr lang="en-US" sz="1950" dirty="0">
                <a:solidFill>
                  <a:srgbClr val="15103A"/>
                </a:solidFill>
                <a:latin typeface="Poppins" pitchFamily="34" charset="0"/>
                <a:ea typeface="Poppins" pitchFamily="34" charset="-122"/>
                <a:cs typeface="Poppins" pitchFamily="34" charset="-120"/>
              </a:rPr>
              <a:t>The layer most teams skip. A company knowledge graph of indexed docs, roadmaps, decision logs and org structure lets the agent resolve ambient references — which product "the Q2 launch" means, which team's definition of a term is in play — and ask better clarifying questions.</a:t>
            </a:r>
            <a:endParaRPr lang="en-US" sz="1950" dirty="0"/>
          </a:p>
        </p:txBody>
      </p:sp>
      <p:pic>
        <p:nvPicPr>
          <p:cNvPr id="26" name="Image 0" descr="preencoded.png"/>
          <p:cNvPicPr>
            <a:picLocks noChangeAspect="1"/>
          </p:cNvPicPr>
          <p:nvPr/>
        </p:nvPicPr>
        <p:blipFill>
          <a:blip r:embed="rId3"/>
          <a:stretch>
            <a:fillRect/>
          </a:stretch>
        </p:blipFill>
        <p:spPr>
          <a:xfrm>
            <a:off x="16105436" y="9525062"/>
            <a:ext cx="1344414" cy="3047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150" y="762000"/>
            <a:ext cx="3136224"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315" dirty="0">
                <a:solidFill>
                  <a:srgbClr val="DF367C"/>
                </a:solidFill>
                <a:latin typeface="Poppins" pitchFamily="34" charset="0"/>
                <a:ea typeface="Poppins" pitchFamily="34" charset="-122"/>
                <a:cs typeface="Poppins" pitchFamily="34" charset="-120"/>
              </a:rPr>
              <a:t>WHAT DIDN'T WORK</a:t>
            </a:r>
            <a:endParaRPr lang="en-US" sz="1800" dirty="0"/>
          </a:p>
        </p:txBody>
      </p:sp>
      <p:sp>
        <p:nvSpPr>
          <p:cNvPr id="3" name="Text 1"/>
          <p:cNvSpPr/>
          <p:nvPr/>
        </p:nvSpPr>
        <p:spPr>
          <a:xfrm>
            <a:off x="10650574" y="789781"/>
            <a:ext cx="7479202" cy="335198"/>
          </a:xfrm>
          <a:prstGeom prst="rect">
            <a:avLst/>
          </a:prstGeom>
          <a:noFill/>
          <a:ln/>
        </p:spPr>
        <p:txBody>
          <a:bodyPr wrap="square" lIns="25400" tIns="25400" rIns="25400" bIns="25400" rtlCol="0" anchor="t">
            <a:normAutofit/>
          </a:bodyPr>
          <a:lstStyle/>
          <a:p>
            <a:pPr marL="0" indent="0" algn="l">
              <a:lnSpc>
                <a:spcPct val="87070"/>
              </a:lnSpc>
              <a:buNone/>
            </a:pPr>
            <a:r>
              <a:rPr lang="en-US" sz="1800" dirty="0">
                <a:solidFill>
                  <a:srgbClr val="9AA3AD"/>
                </a:solidFill>
                <a:latin typeface="Poppins" pitchFamily="34" charset="0"/>
                <a:ea typeface="Poppins" pitchFamily="34" charset="-122"/>
                <a:cs typeface="Poppins" pitchFamily="34" charset="-120"/>
              </a:rPr>
              <a:t>Source: Anthropic — self-service data analytics with Claude</a:t>
            </a:r>
            <a:endParaRPr lang="en-US" sz="1800" dirty="0"/>
          </a:p>
        </p:txBody>
      </p:sp>
      <p:sp>
        <p:nvSpPr>
          <p:cNvPr id="4" name="Text 2"/>
          <p:cNvSpPr/>
          <p:nvPr/>
        </p:nvSpPr>
        <p:spPr>
          <a:xfrm>
            <a:off x="838150" y="1287673"/>
            <a:ext cx="14716125" cy="1278210"/>
          </a:xfrm>
          <a:prstGeom prst="rect">
            <a:avLst/>
          </a:prstGeom>
          <a:noFill/>
          <a:ln/>
        </p:spPr>
        <p:txBody>
          <a:bodyPr wrap="square" lIns="25400" tIns="25400" rIns="25400" bIns="25400" rtlCol="0" anchor="t">
            <a:normAutofit/>
          </a:bodyPr>
          <a:lstStyle/>
          <a:p>
            <a:pPr marL="0" indent="0" algn="l">
              <a:lnSpc>
                <a:spcPct val="70063"/>
              </a:lnSpc>
              <a:buNone/>
            </a:pPr>
            <a:r>
              <a:rPr lang="en-US" sz="4650" b="1" kern="0" spc="-93" dirty="0">
                <a:solidFill>
                  <a:srgbClr val="220F60"/>
                </a:solidFill>
                <a:latin typeface="Poppins" pitchFamily="34" charset="0"/>
                <a:ea typeface="Poppins" pitchFamily="34" charset="-122"/>
                <a:cs typeface="Poppins" pitchFamily="34" charset="-120"/>
              </a:rPr>
              <a:t>Generated definitions encoded the ambiguity they were meant to remove</a:t>
            </a:r>
            <a:endParaRPr lang="en-US" sz="4650" dirty="0"/>
          </a:p>
        </p:txBody>
      </p:sp>
      <p:sp>
        <p:nvSpPr>
          <p:cNvPr id="5" name="Shape 3"/>
          <p:cNvSpPr/>
          <p:nvPr/>
        </p:nvSpPr>
        <p:spPr>
          <a:xfrm>
            <a:off x="838150" y="2946859"/>
            <a:ext cx="16611699" cy="2568525"/>
          </a:xfrm>
          <a:prstGeom prst="roundRect">
            <a:avLst>
              <a:gd name="adj" fmla="val 4450"/>
            </a:avLst>
          </a:prstGeom>
          <a:solidFill>
            <a:srgbClr val="F2F2F2"/>
          </a:solidFill>
          <a:ln/>
        </p:spPr>
        <p:txBody>
          <a:bodyPr/>
          <a:lstStyle/>
          <a:p>
            <a:endParaRPr lang="en-US"/>
          </a:p>
        </p:txBody>
      </p:sp>
      <p:sp>
        <p:nvSpPr>
          <p:cNvPr id="6" name="Text 4"/>
          <p:cNvSpPr/>
          <p:nvPr/>
        </p:nvSpPr>
        <p:spPr>
          <a:xfrm>
            <a:off x="1257226" y="3327797"/>
            <a:ext cx="3425174"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252" dirty="0">
                <a:solidFill>
                  <a:srgbClr val="9AA3AD"/>
                </a:solidFill>
                <a:latin typeface="Poppins" pitchFamily="34" charset="0"/>
                <a:ea typeface="Poppins" pitchFamily="34" charset="-122"/>
                <a:cs typeface="Poppins" pitchFamily="34" charset="-120"/>
              </a:rPr>
              <a:t>TRIED AND DISCARDED</a:t>
            </a:r>
            <a:endParaRPr lang="en-US" sz="1800" dirty="0"/>
          </a:p>
        </p:txBody>
      </p:sp>
      <p:sp>
        <p:nvSpPr>
          <p:cNvPr id="7" name="Shape 5"/>
          <p:cNvSpPr/>
          <p:nvPr/>
        </p:nvSpPr>
        <p:spPr>
          <a:xfrm>
            <a:off x="13454124" y="3251646"/>
            <a:ext cx="3576650" cy="506574"/>
          </a:xfrm>
          <a:prstGeom prst="roundRect">
            <a:avLst>
              <a:gd name="adj" fmla="val 50000"/>
            </a:avLst>
          </a:prstGeom>
          <a:solidFill>
            <a:srgbClr val="DF367C"/>
          </a:solidFill>
          <a:ln/>
        </p:spPr>
        <p:txBody>
          <a:bodyPr/>
          <a:lstStyle/>
          <a:p>
            <a:endParaRPr lang="en-US"/>
          </a:p>
        </p:txBody>
      </p:sp>
      <p:sp>
        <p:nvSpPr>
          <p:cNvPr id="8" name="Text 6"/>
          <p:cNvSpPr/>
          <p:nvPr/>
        </p:nvSpPr>
        <p:spPr>
          <a:xfrm>
            <a:off x="13644624" y="3327846"/>
            <a:ext cx="3302949" cy="392274"/>
          </a:xfrm>
          <a:prstGeom prst="rect">
            <a:avLst/>
          </a:prstGeom>
          <a:noFill/>
          <a:ln/>
        </p:spPr>
        <p:txBody>
          <a:bodyPr wrap="square" lIns="25400" tIns="25400" rIns="25400" bIns="25400" rtlCol="0" anchor="t">
            <a:normAutofit/>
          </a:bodyPr>
          <a:lstStyle/>
          <a:p>
            <a:pPr marL="0" indent="0" algn="l">
              <a:lnSpc>
                <a:spcPct val="103814"/>
              </a:lnSpc>
              <a:buNone/>
            </a:pPr>
            <a:r>
              <a:rPr lang="en-US" sz="1800" b="1" kern="0" spc="144" dirty="0">
                <a:solidFill>
                  <a:srgbClr val="FFFFFF"/>
                </a:solidFill>
                <a:latin typeface="Poppins" pitchFamily="34" charset="0"/>
                <a:ea typeface="Poppins" pitchFamily="34" charset="-122"/>
                <a:cs typeface="Poppins" pitchFamily="34" charset="-120"/>
              </a:rPr>
              <a:t>NET-NEGATIVE ON EVALS</a:t>
            </a:r>
            <a:endParaRPr lang="en-US" sz="1800" dirty="0"/>
          </a:p>
        </p:txBody>
      </p:sp>
      <p:sp>
        <p:nvSpPr>
          <p:cNvPr id="9" name="Text 7"/>
          <p:cNvSpPr/>
          <p:nvPr/>
        </p:nvSpPr>
        <p:spPr>
          <a:xfrm>
            <a:off x="1257226" y="3929621"/>
            <a:ext cx="16246755" cy="1281001"/>
          </a:xfrm>
          <a:prstGeom prst="rect">
            <a:avLst/>
          </a:prstGeom>
          <a:noFill/>
          <a:ln/>
        </p:spPr>
        <p:txBody>
          <a:bodyPr wrap="square" lIns="25400" tIns="25400" rIns="25400" bIns="25400" rtlCol="0" anchor="t">
            <a:normAutofit/>
          </a:bodyPr>
          <a:lstStyle/>
          <a:p>
            <a:pPr marL="0" indent="0" algn="l">
              <a:lnSpc>
                <a:spcPct val="96667"/>
              </a:lnSpc>
              <a:buNone/>
            </a:pPr>
            <a:r>
              <a:rPr lang="en-US" sz="2250" strike="sngStrike" dirty="0">
                <a:solidFill>
                  <a:srgbClr val="6F6F6F"/>
                </a:solidFill>
                <a:latin typeface="Poppins" pitchFamily="34" charset="0"/>
                <a:ea typeface="Poppins" pitchFamily="34" charset="-122"/>
                <a:cs typeface="Poppins" pitchFamily="34" charset="-120"/>
              </a:rPr>
              <a:t>Bootstrapping the semantic layer with LLM-generated metric definitions from raw tables and query logs. </a:t>
            </a:r>
            <a:r>
              <a:rPr lang="en-US" sz="2250" dirty="0">
                <a:solidFill>
                  <a:srgbClr val="15103A"/>
                </a:solidFill>
                <a:latin typeface="Poppins" pitchFamily="34" charset="0"/>
                <a:ea typeface="Poppins" pitchFamily="34" charset="-122"/>
                <a:cs typeface="Poppins" pitchFamily="34" charset="-120"/>
              </a:rPr>
              <a:t>The output looked plausible and encoded the exact ambiguities we were removing — net-negative on evals against a smaller, human-curated layer.</a:t>
            </a:r>
            <a:endParaRPr lang="en-US" sz="2250" dirty="0"/>
          </a:p>
        </p:txBody>
      </p:sp>
      <p:sp>
        <p:nvSpPr>
          <p:cNvPr id="10" name="Shape 8"/>
          <p:cNvSpPr/>
          <p:nvPr/>
        </p:nvSpPr>
        <p:spPr>
          <a:xfrm>
            <a:off x="838150" y="5934459"/>
            <a:ext cx="8001062" cy="15875"/>
          </a:xfrm>
          <a:prstGeom prst="rect">
            <a:avLst/>
          </a:prstGeom>
          <a:solidFill>
            <a:srgbClr val="DF367C"/>
          </a:solidFill>
          <a:ln/>
        </p:spPr>
        <p:txBody>
          <a:bodyPr/>
          <a:lstStyle/>
          <a:p>
            <a:endParaRPr lang="en-US"/>
          </a:p>
        </p:txBody>
      </p:sp>
      <p:sp>
        <p:nvSpPr>
          <p:cNvPr id="11" name="Text 9"/>
          <p:cNvSpPr/>
          <p:nvPr/>
        </p:nvSpPr>
        <p:spPr>
          <a:xfrm>
            <a:off x="838150" y="6197947"/>
            <a:ext cx="8801168" cy="410480"/>
          </a:xfrm>
          <a:prstGeom prst="rect">
            <a:avLst/>
          </a:prstGeom>
          <a:noFill/>
          <a:ln/>
        </p:spPr>
        <p:txBody>
          <a:bodyPr wrap="square" lIns="25400" tIns="25400" rIns="25400" bIns="25400" rtlCol="0" anchor="t">
            <a:normAutofit/>
          </a:bodyPr>
          <a:lstStyle/>
          <a:p>
            <a:pPr marL="0" indent="0" algn="l">
              <a:lnSpc>
                <a:spcPct val="76293"/>
              </a:lnSpc>
              <a:buNone/>
            </a:pPr>
            <a:r>
              <a:rPr lang="en-US" sz="2550" b="1" dirty="0">
                <a:solidFill>
                  <a:srgbClr val="220F60"/>
                </a:solidFill>
                <a:latin typeface="Poppins" pitchFamily="34" charset="0"/>
                <a:ea typeface="Poppins" pitchFamily="34" charset="-122"/>
                <a:cs typeface="Poppins" pitchFamily="34" charset="-120"/>
              </a:rPr>
              <a:t>The failure pattern</a:t>
            </a:r>
            <a:endParaRPr lang="en-US" sz="2550" dirty="0"/>
          </a:p>
        </p:txBody>
      </p:sp>
      <p:sp>
        <p:nvSpPr>
          <p:cNvPr id="12" name="Text 10"/>
          <p:cNvSpPr/>
          <p:nvPr/>
        </p:nvSpPr>
        <p:spPr>
          <a:xfrm>
            <a:off x="838150" y="6703652"/>
            <a:ext cx="8241093" cy="783853"/>
          </a:xfrm>
          <a:prstGeom prst="rect">
            <a:avLst/>
          </a:prstGeom>
          <a:noFill/>
          <a:ln/>
        </p:spPr>
        <p:txBody>
          <a:bodyPr wrap="square" lIns="25400" tIns="25400" rIns="25400" bIns="25400" rtlCol="0" anchor="t">
            <a:normAutofit/>
          </a:bodyPr>
          <a:lstStyle/>
          <a:p>
            <a:pPr marL="0" indent="0" algn="l">
              <a:lnSpc>
                <a:spcPct val="96866"/>
              </a:lnSpc>
              <a:buNone/>
            </a:pPr>
            <a:r>
              <a:rPr lang="en-US" sz="2025" dirty="0">
                <a:solidFill>
                  <a:srgbClr val="15103A"/>
                </a:solidFill>
                <a:latin typeface="Poppins" pitchFamily="34" charset="0"/>
                <a:ea typeface="Poppins" pitchFamily="34" charset="-122"/>
                <a:cs typeface="Poppins" pitchFamily="34" charset="-120"/>
              </a:rPr>
              <a:t>Across all four surfaces it is the same: poor or stale documentation.</a:t>
            </a:r>
            <a:endParaRPr lang="en-US" sz="2025" dirty="0"/>
          </a:p>
        </p:txBody>
      </p:sp>
      <p:sp>
        <p:nvSpPr>
          <p:cNvPr id="13" name="Shape 11"/>
          <p:cNvSpPr/>
          <p:nvPr/>
        </p:nvSpPr>
        <p:spPr>
          <a:xfrm>
            <a:off x="9448787" y="5934459"/>
            <a:ext cx="8001062" cy="15875"/>
          </a:xfrm>
          <a:prstGeom prst="rect">
            <a:avLst/>
          </a:prstGeom>
          <a:solidFill>
            <a:srgbClr val="DF367C"/>
          </a:solidFill>
          <a:ln/>
        </p:spPr>
        <p:txBody>
          <a:bodyPr/>
          <a:lstStyle/>
          <a:p>
            <a:endParaRPr lang="en-US"/>
          </a:p>
        </p:txBody>
      </p:sp>
      <p:sp>
        <p:nvSpPr>
          <p:cNvPr id="14" name="Text 12"/>
          <p:cNvSpPr/>
          <p:nvPr/>
        </p:nvSpPr>
        <p:spPr>
          <a:xfrm>
            <a:off x="9448787" y="6197947"/>
            <a:ext cx="8801168" cy="410480"/>
          </a:xfrm>
          <a:prstGeom prst="rect">
            <a:avLst/>
          </a:prstGeom>
          <a:noFill/>
          <a:ln/>
        </p:spPr>
        <p:txBody>
          <a:bodyPr wrap="square" lIns="25400" tIns="25400" rIns="25400" bIns="25400" rtlCol="0" anchor="t">
            <a:normAutofit/>
          </a:bodyPr>
          <a:lstStyle/>
          <a:p>
            <a:pPr marL="0" indent="0" algn="l">
              <a:lnSpc>
                <a:spcPct val="76293"/>
              </a:lnSpc>
              <a:buNone/>
            </a:pPr>
            <a:r>
              <a:rPr lang="en-US" sz="2550" b="1" dirty="0">
                <a:solidFill>
                  <a:srgbClr val="220F60"/>
                </a:solidFill>
                <a:latin typeface="Poppins" pitchFamily="34" charset="0"/>
                <a:ea typeface="Poppins" pitchFamily="34" charset="-122"/>
                <a:cs typeface="Poppins" pitchFamily="34" charset="-120"/>
              </a:rPr>
              <a:t>The division of labour</a:t>
            </a:r>
            <a:endParaRPr lang="en-US" sz="2550" dirty="0"/>
          </a:p>
        </p:txBody>
      </p:sp>
      <p:sp>
        <p:nvSpPr>
          <p:cNvPr id="15" name="Text 13"/>
          <p:cNvSpPr/>
          <p:nvPr/>
        </p:nvSpPr>
        <p:spPr>
          <a:xfrm>
            <a:off x="9448787" y="6703652"/>
            <a:ext cx="8241093" cy="783853"/>
          </a:xfrm>
          <a:prstGeom prst="rect">
            <a:avLst/>
          </a:prstGeom>
          <a:noFill/>
          <a:ln/>
        </p:spPr>
        <p:txBody>
          <a:bodyPr wrap="square" lIns="25400" tIns="25400" rIns="25400" bIns="25400" rtlCol="0" anchor="t">
            <a:normAutofit/>
          </a:bodyPr>
          <a:lstStyle/>
          <a:p>
            <a:pPr marL="0" indent="0" algn="l">
              <a:lnSpc>
                <a:spcPct val="96866"/>
              </a:lnSpc>
              <a:buNone/>
            </a:pPr>
            <a:r>
              <a:rPr lang="en-US" sz="2025" dirty="0">
                <a:solidFill>
                  <a:srgbClr val="15103A"/>
                </a:solidFill>
                <a:latin typeface="Poppins" pitchFamily="34" charset="0"/>
                <a:ea typeface="Poppins" pitchFamily="34" charset="-122"/>
                <a:cs typeface="Poppins" pitchFamily="34" charset="-120"/>
              </a:rPr>
              <a:t>Claude drafts descriptions, proposes metric docs and flags undocumented models in CI. Humans own the definitions.</a:t>
            </a:r>
            <a:endParaRPr lang="en-US" sz="2025" dirty="0"/>
          </a:p>
        </p:txBody>
      </p:sp>
      <p:pic>
        <p:nvPicPr>
          <p:cNvPr id="16" name="Image 0" descr="preencoded.png"/>
          <p:cNvPicPr>
            <a:picLocks noChangeAspect="1"/>
          </p:cNvPicPr>
          <p:nvPr/>
        </p:nvPicPr>
        <p:blipFill>
          <a:blip r:embed="rId3"/>
          <a:stretch>
            <a:fillRect/>
          </a:stretch>
        </p:blipFill>
        <p:spPr>
          <a:xfrm>
            <a:off x="16105436" y="9448849"/>
            <a:ext cx="1344414" cy="3047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2"/>
        </a:solidFill>
        <a:effectLst/>
      </p:bgPr>
    </p:bg>
    <p:spTree>
      <p:nvGrpSpPr>
        <p:cNvPr id="1" name=""/>
        <p:cNvGrpSpPr/>
        <p:nvPr/>
      </p:nvGrpSpPr>
      <p:grpSpPr>
        <a:xfrm>
          <a:off x="0" y="0"/>
          <a:ext cx="0" cy="0"/>
          <a:chOff x="0" y="0"/>
          <a:chExt cx="0" cy="0"/>
        </a:xfrm>
      </p:grpSpPr>
      <p:sp>
        <p:nvSpPr>
          <p:cNvPr id="2" name="Text 0"/>
          <p:cNvSpPr/>
          <p:nvPr/>
        </p:nvSpPr>
        <p:spPr>
          <a:xfrm>
            <a:off x="838150" y="685788"/>
            <a:ext cx="18272869"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315" dirty="0">
                <a:solidFill>
                  <a:srgbClr val="3B5C7F"/>
                </a:solidFill>
                <a:latin typeface="Poppins" pitchFamily="34" charset="0"/>
                <a:ea typeface="Poppins" pitchFamily="34" charset="-122"/>
                <a:cs typeface="Poppins" pitchFamily="34" charset="-120"/>
              </a:rPr>
              <a:t>WHAT THE STACK IS ASKING FOR</a:t>
            </a:r>
            <a:endParaRPr lang="en-US" sz="1800" dirty="0"/>
          </a:p>
        </p:txBody>
      </p:sp>
      <p:sp>
        <p:nvSpPr>
          <p:cNvPr id="3" name="Text 1"/>
          <p:cNvSpPr/>
          <p:nvPr/>
        </p:nvSpPr>
        <p:spPr>
          <a:xfrm>
            <a:off x="838150" y="1230560"/>
            <a:ext cx="18272869" cy="698153"/>
          </a:xfrm>
          <a:prstGeom prst="rect">
            <a:avLst/>
          </a:prstGeom>
          <a:noFill/>
          <a:ln/>
        </p:spPr>
        <p:txBody>
          <a:bodyPr wrap="square" lIns="25400" tIns="25400" rIns="25400" bIns="25400" rtlCol="0" anchor="t">
            <a:normAutofit/>
          </a:bodyPr>
          <a:lstStyle/>
          <a:p>
            <a:pPr marL="0" indent="0" algn="l">
              <a:lnSpc>
                <a:spcPct val="70177"/>
              </a:lnSpc>
              <a:buNone/>
            </a:pPr>
            <a:r>
              <a:rPr lang="en-US" sz="4950" b="1" kern="0" spc="-99" dirty="0">
                <a:solidFill>
                  <a:srgbClr val="220F60"/>
                </a:solidFill>
                <a:latin typeface="Poppins" pitchFamily="34" charset="0"/>
                <a:ea typeface="Poppins" pitchFamily="34" charset="-122"/>
                <a:cs typeface="Poppins" pitchFamily="34" charset="-120"/>
              </a:rPr>
              <a:t>Four requirements, not four products</a:t>
            </a:r>
            <a:endParaRPr lang="en-US" sz="4950" dirty="0"/>
          </a:p>
        </p:txBody>
      </p:sp>
      <p:sp>
        <p:nvSpPr>
          <p:cNvPr id="4" name="Text 2"/>
          <p:cNvSpPr/>
          <p:nvPr/>
        </p:nvSpPr>
        <p:spPr>
          <a:xfrm>
            <a:off x="838150" y="2100151"/>
            <a:ext cx="14716125" cy="784845"/>
          </a:xfrm>
          <a:prstGeom prst="rect">
            <a:avLst/>
          </a:prstGeom>
          <a:noFill/>
          <a:ln/>
        </p:spPr>
        <p:txBody>
          <a:bodyPr wrap="square" lIns="25400" tIns="25400" rIns="25400" bIns="25400" rtlCol="0" anchor="t">
            <a:normAutofit/>
          </a:bodyPr>
          <a:lstStyle/>
          <a:p>
            <a:pPr marL="0" indent="0" algn="l">
              <a:lnSpc>
                <a:spcPct val="92235"/>
              </a:lnSpc>
              <a:buNone/>
            </a:pPr>
            <a:r>
              <a:rPr lang="en-US" sz="2100" dirty="0">
                <a:solidFill>
                  <a:srgbClr val="15103A"/>
                </a:solidFill>
                <a:latin typeface="Poppins" pitchFamily="34" charset="0"/>
                <a:ea typeface="Poppins" pitchFamily="34" charset="-122"/>
                <a:cs typeface="Poppins" pitchFamily="34" charset="-120"/>
              </a:rPr>
              <a:t>Strip the implementation away and every layer is asking for the same thing: meaning that is explicit, connected, governed and current.</a:t>
            </a:r>
            <a:endParaRPr lang="en-US" sz="2100" dirty="0"/>
          </a:p>
        </p:txBody>
      </p:sp>
      <p:sp>
        <p:nvSpPr>
          <p:cNvPr id="5" name="Shape 3"/>
          <p:cNvSpPr/>
          <p:nvPr/>
        </p:nvSpPr>
        <p:spPr>
          <a:xfrm>
            <a:off x="838150" y="3227896"/>
            <a:ext cx="16611699" cy="1139775"/>
          </a:xfrm>
          <a:prstGeom prst="roundRect">
            <a:avLst>
              <a:gd name="adj" fmla="val 10028"/>
            </a:avLst>
          </a:prstGeom>
          <a:solidFill>
            <a:srgbClr val="FFFFFF"/>
          </a:solidFill>
          <a:ln w="7937">
            <a:solidFill>
              <a:srgbClr val="9AA3AD"/>
            </a:solidFill>
            <a:prstDash val="solid"/>
          </a:ln>
        </p:spPr>
        <p:txBody>
          <a:bodyPr/>
          <a:lstStyle/>
          <a:p>
            <a:endParaRPr lang="en-US"/>
          </a:p>
        </p:txBody>
      </p:sp>
      <p:sp>
        <p:nvSpPr>
          <p:cNvPr id="6" name="Text 4"/>
          <p:cNvSpPr/>
          <p:nvPr/>
        </p:nvSpPr>
        <p:spPr>
          <a:xfrm>
            <a:off x="1227088" y="3546822"/>
            <a:ext cx="5225107" cy="540023"/>
          </a:xfrm>
          <a:prstGeom prst="rect">
            <a:avLst/>
          </a:prstGeom>
          <a:noFill/>
          <a:ln/>
        </p:spPr>
        <p:txBody>
          <a:bodyPr wrap="square" lIns="25400" tIns="25400" rIns="25400" bIns="25400" rtlCol="0" anchor="t">
            <a:normAutofit/>
          </a:bodyPr>
          <a:lstStyle/>
          <a:p>
            <a:pPr marL="0" indent="0" algn="l">
              <a:lnSpc>
                <a:spcPct val="102829"/>
              </a:lnSpc>
              <a:buNone/>
            </a:pPr>
            <a:r>
              <a:rPr lang="en-US" sz="2550" b="1" dirty="0">
                <a:solidFill>
                  <a:srgbClr val="220F60"/>
                </a:solidFill>
                <a:latin typeface="Poppins" pitchFamily="34" charset="0"/>
                <a:ea typeface="Poppins" pitchFamily="34" charset="-122"/>
                <a:cs typeface="Poppins" pitchFamily="34" charset="-120"/>
              </a:rPr>
              <a:t>Explicit meaning</a:t>
            </a:r>
            <a:endParaRPr lang="en-US" sz="2550" dirty="0"/>
          </a:p>
        </p:txBody>
      </p:sp>
      <p:sp>
        <p:nvSpPr>
          <p:cNvPr id="7" name="Text 5"/>
          <p:cNvSpPr/>
          <p:nvPr/>
        </p:nvSpPr>
        <p:spPr>
          <a:xfrm>
            <a:off x="6358185" y="3464409"/>
            <a:ext cx="9112884" cy="704850"/>
          </a:xfrm>
          <a:prstGeom prst="rect">
            <a:avLst/>
          </a:prstGeom>
          <a:noFill/>
          <a:ln/>
        </p:spPr>
        <p:txBody>
          <a:bodyPr wrap="square" lIns="25400" tIns="25400" rIns="25400" bIns="25400" rtlCol="0" anchor="t">
            <a:normAutofit/>
          </a:bodyPr>
          <a:lstStyle/>
          <a:p>
            <a:pPr marL="0" indent="0" algn="l">
              <a:lnSpc>
                <a:spcPct val="93333"/>
              </a:lnSpc>
              <a:buNone/>
            </a:pPr>
            <a:r>
              <a:rPr lang="en-US" sz="1875" dirty="0">
                <a:solidFill>
                  <a:srgbClr val="15103A"/>
                </a:solidFill>
                <a:latin typeface="Poppins" pitchFamily="34" charset="0"/>
                <a:ea typeface="Poppins" pitchFamily="34" charset="-122"/>
                <a:cs typeface="Poppins" pitchFamily="34" charset="-120"/>
              </a:rPr>
              <a:t>Concepts, metrics and their definitions are written down as first-class objects, not inferred from table names.</a:t>
            </a:r>
            <a:endParaRPr lang="en-US" sz="1875" dirty="0"/>
          </a:p>
        </p:txBody>
      </p:sp>
      <p:sp>
        <p:nvSpPr>
          <p:cNvPr id="8" name="Text 6"/>
          <p:cNvSpPr/>
          <p:nvPr/>
        </p:nvSpPr>
        <p:spPr>
          <a:xfrm>
            <a:off x="15586645" y="3620616"/>
            <a:ext cx="1621693"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216" dirty="0">
                <a:solidFill>
                  <a:srgbClr val="3B5C7F"/>
                </a:solidFill>
                <a:latin typeface="Poppins" pitchFamily="34" charset="0"/>
                <a:ea typeface="Poppins" pitchFamily="34" charset="-122"/>
                <a:cs typeface="Poppins" pitchFamily="34" charset="-120"/>
              </a:rPr>
              <a:t>AMBIGUITY</a:t>
            </a:r>
            <a:endParaRPr lang="en-US" sz="1800" dirty="0"/>
          </a:p>
        </p:txBody>
      </p:sp>
      <p:sp>
        <p:nvSpPr>
          <p:cNvPr id="9" name="Shape 7"/>
          <p:cNvSpPr/>
          <p:nvPr/>
        </p:nvSpPr>
        <p:spPr>
          <a:xfrm>
            <a:off x="838150" y="4481959"/>
            <a:ext cx="16611699" cy="1139775"/>
          </a:xfrm>
          <a:prstGeom prst="roundRect">
            <a:avLst>
              <a:gd name="adj" fmla="val 10028"/>
            </a:avLst>
          </a:prstGeom>
          <a:solidFill>
            <a:srgbClr val="FFFFFF"/>
          </a:solidFill>
          <a:ln w="7937">
            <a:solidFill>
              <a:srgbClr val="9AA3AD"/>
            </a:solidFill>
            <a:prstDash val="solid"/>
          </a:ln>
        </p:spPr>
        <p:txBody>
          <a:bodyPr/>
          <a:lstStyle/>
          <a:p>
            <a:endParaRPr lang="en-US"/>
          </a:p>
        </p:txBody>
      </p:sp>
      <p:sp>
        <p:nvSpPr>
          <p:cNvPr id="10" name="Text 8"/>
          <p:cNvSpPr/>
          <p:nvPr/>
        </p:nvSpPr>
        <p:spPr>
          <a:xfrm>
            <a:off x="1227088" y="4800885"/>
            <a:ext cx="5225107" cy="540023"/>
          </a:xfrm>
          <a:prstGeom prst="rect">
            <a:avLst/>
          </a:prstGeom>
          <a:noFill/>
          <a:ln/>
        </p:spPr>
        <p:txBody>
          <a:bodyPr wrap="square" lIns="25400" tIns="25400" rIns="25400" bIns="25400" rtlCol="0" anchor="t">
            <a:normAutofit/>
          </a:bodyPr>
          <a:lstStyle/>
          <a:p>
            <a:pPr marL="0" indent="0" algn="l">
              <a:lnSpc>
                <a:spcPct val="102829"/>
              </a:lnSpc>
              <a:buNone/>
            </a:pPr>
            <a:r>
              <a:rPr lang="en-US" sz="2550" b="1" dirty="0">
                <a:solidFill>
                  <a:srgbClr val="220F60"/>
                </a:solidFill>
                <a:latin typeface="Poppins" pitchFamily="34" charset="0"/>
                <a:ea typeface="Poppins" pitchFamily="34" charset="-122"/>
                <a:cs typeface="Poppins" pitchFamily="34" charset="-120"/>
              </a:rPr>
              <a:t>Connected meaning</a:t>
            </a:r>
            <a:endParaRPr lang="en-US" sz="2550" dirty="0"/>
          </a:p>
        </p:txBody>
      </p:sp>
      <p:sp>
        <p:nvSpPr>
          <p:cNvPr id="11" name="Text 9"/>
          <p:cNvSpPr/>
          <p:nvPr/>
        </p:nvSpPr>
        <p:spPr>
          <a:xfrm>
            <a:off x="6358185" y="4718472"/>
            <a:ext cx="9112884" cy="704850"/>
          </a:xfrm>
          <a:prstGeom prst="rect">
            <a:avLst/>
          </a:prstGeom>
          <a:noFill/>
          <a:ln/>
        </p:spPr>
        <p:txBody>
          <a:bodyPr wrap="square" lIns="25400" tIns="25400" rIns="25400" bIns="25400" rtlCol="0" anchor="t">
            <a:normAutofit/>
          </a:bodyPr>
          <a:lstStyle/>
          <a:p>
            <a:pPr marL="0" indent="0" algn="l">
              <a:lnSpc>
                <a:spcPct val="93333"/>
              </a:lnSpc>
              <a:buNone/>
            </a:pPr>
            <a:r>
              <a:rPr lang="en-US" sz="1875" dirty="0">
                <a:solidFill>
                  <a:srgbClr val="15103A"/>
                </a:solidFill>
                <a:latin typeface="Poppins" pitchFamily="34" charset="0"/>
                <a:ea typeface="Poppins" pitchFamily="34" charset="-122"/>
                <a:cs typeface="Poppins" pitchFamily="34" charset="-120"/>
              </a:rPr>
              <a:t>Entities relate to each other, so a question resolves by traversal rather than by guessing between near-identical candidates.</a:t>
            </a:r>
            <a:endParaRPr lang="en-US" sz="1875" dirty="0"/>
          </a:p>
        </p:txBody>
      </p:sp>
      <p:sp>
        <p:nvSpPr>
          <p:cNvPr id="12" name="Text 10"/>
          <p:cNvSpPr/>
          <p:nvPr/>
        </p:nvSpPr>
        <p:spPr>
          <a:xfrm>
            <a:off x="15586645" y="4874679"/>
            <a:ext cx="1621693"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216" dirty="0">
                <a:solidFill>
                  <a:srgbClr val="3B5C7F"/>
                </a:solidFill>
                <a:latin typeface="Poppins" pitchFamily="34" charset="0"/>
                <a:ea typeface="Poppins" pitchFamily="34" charset="-122"/>
                <a:cs typeface="Poppins" pitchFamily="34" charset="-120"/>
              </a:rPr>
              <a:t>AMBIGUITY</a:t>
            </a:r>
            <a:endParaRPr lang="en-US" sz="1800" dirty="0"/>
          </a:p>
        </p:txBody>
      </p:sp>
      <p:sp>
        <p:nvSpPr>
          <p:cNvPr id="13" name="Shape 11"/>
          <p:cNvSpPr/>
          <p:nvPr/>
        </p:nvSpPr>
        <p:spPr>
          <a:xfrm>
            <a:off x="838150" y="5736022"/>
            <a:ext cx="16611699" cy="1139775"/>
          </a:xfrm>
          <a:prstGeom prst="roundRect">
            <a:avLst>
              <a:gd name="adj" fmla="val 10028"/>
            </a:avLst>
          </a:prstGeom>
          <a:solidFill>
            <a:srgbClr val="FFFFFF"/>
          </a:solidFill>
          <a:ln w="7937">
            <a:solidFill>
              <a:srgbClr val="9AA3AD"/>
            </a:solidFill>
            <a:prstDash val="solid"/>
          </a:ln>
        </p:spPr>
        <p:txBody>
          <a:bodyPr/>
          <a:lstStyle/>
          <a:p>
            <a:endParaRPr lang="en-US"/>
          </a:p>
        </p:txBody>
      </p:sp>
      <p:sp>
        <p:nvSpPr>
          <p:cNvPr id="14" name="Text 12"/>
          <p:cNvSpPr/>
          <p:nvPr/>
        </p:nvSpPr>
        <p:spPr>
          <a:xfrm>
            <a:off x="1227088" y="6054948"/>
            <a:ext cx="5225107" cy="540023"/>
          </a:xfrm>
          <a:prstGeom prst="rect">
            <a:avLst/>
          </a:prstGeom>
          <a:noFill/>
          <a:ln/>
        </p:spPr>
        <p:txBody>
          <a:bodyPr wrap="square" lIns="25400" tIns="25400" rIns="25400" bIns="25400" rtlCol="0" anchor="t">
            <a:normAutofit/>
          </a:bodyPr>
          <a:lstStyle/>
          <a:p>
            <a:pPr marL="0" indent="0" algn="l">
              <a:lnSpc>
                <a:spcPct val="102829"/>
              </a:lnSpc>
              <a:buNone/>
            </a:pPr>
            <a:r>
              <a:rPr lang="en-US" sz="2550" b="1" dirty="0">
                <a:solidFill>
                  <a:srgbClr val="220F60"/>
                </a:solidFill>
                <a:latin typeface="Poppins" pitchFamily="34" charset="0"/>
                <a:ea typeface="Poppins" pitchFamily="34" charset="-122"/>
                <a:cs typeface="Poppins" pitchFamily="34" charset="-120"/>
              </a:rPr>
              <a:t>Governed meaning</a:t>
            </a:r>
            <a:endParaRPr lang="en-US" sz="2550" dirty="0"/>
          </a:p>
        </p:txBody>
      </p:sp>
      <p:sp>
        <p:nvSpPr>
          <p:cNvPr id="15" name="Text 13"/>
          <p:cNvSpPr/>
          <p:nvPr/>
        </p:nvSpPr>
        <p:spPr>
          <a:xfrm>
            <a:off x="6358185" y="5972534"/>
            <a:ext cx="7349312" cy="704850"/>
          </a:xfrm>
          <a:prstGeom prst="rect">
            <a:avLst/>
          </a:prstGeom>
          <a:noFill/>
          <a:ln/>
        </p:spPr>
        <p:txBody>
          <a:bodyPr wrap="square" lIns="25400" tIns="25400" rIns="25400" bIns="25400" rtlCol="0" anchor="t">
            <a:normAutofit/>
          </a:bodyPr>
          <a:lstStyle/>
          <a:p>
            <a:pPr marL="0" indent="0" algn="l">
              <a:lnSpc>
                <a:spcPct val="93333"/>
              </a:lnSpc>
              <a:buNone/>
            </a:pPr>
            <a:r>
              <a:rPr lang="en-US" sz="1875" dirty="0">
                <a:solidFill>
                  <a:srgbClr val="15103A"/>
                </a:solidFill>
                <a:latin typeface="Poppins" pitchFamily="34" charset="0"/>
                <a:ea typeface="Poppins" pitchFamily="34" charset="-122"/>
                <a:cs typeface="Poppins" pitchFamily="34" charset="-120"/>
              </a:rPr>
              <a:t>One owned answer per concept, enforced by tooling and CI rather than by convention.</a:t>
            </a:r>
            <a:endParaRPr lang="en-US" sz="1875" dirty="0"/>
          </a:p>
        </p:txBody>
      </p:sp>
      <p:sp>
        <p:nvSpPr>
          <p:cNvPr id="16" name="Text 14"/>
          <p:cNvSpPr/>
          <p:nvPr/>
        </p:nvSpPr>
        <p:spPr>
          <a:xfrm>
            <a:off x="13874439" y="6128742"/>
            <a:ext cx="3505119"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216" dirty="0">
                <a:solidFill>
                  <a:srgbClr val="3B5C7F"/>
                </a:solidFill>
                <a:latin typeface="Poppins" pitchFamily="34" charset="0"/>
                <a:ea typeface="Poppins" pitchFamily="34" charset="-122"/>
                <a:cs typeface="Poppins" pitchFamily="34" charset="-120"/>
              </a:rPr>
              <a:t>AMBIGUITY · STALENESS</a:t>
            </a:r>
            <a:endParaRPr lang="en-US" sz="1800" dirty="0"/>
          </a:p>
        </p:txBody>
      </p:sp>
      <p:sp>
        <p:nvSpPr>
          <p:cNvPr id="17" name="Shape 15"/>
          <p:cNvSpPr/>
          <p:nvPr/>
        </p:nvSpPr>
        <p:spPr>
          <a:xfrm>
            <a:off x="838150" y="6990085"/>
            <a:ext cx="16611699" cy="1139775"/>
          </a:xfrm>
          <a:prstGeom prst="roundRect">
            <a:avLst>
              <a:gd name="adj" fmla="val 10028"/>
            </a:avLst>
          </a:prstGeom>
          <a:solidFill>
            <a:srgbClr val="FFFFFF"/>
          </a:solidFill>
          <a:ln w="7937">
            <a:solidFill>
              <a:srgbClr val="9AA3AD"/>
            </a:solidFill>
            <a:prstDash val="solid"/>
          </a:ln>
        </p:spPr>
        <p:txBody>
          <a:bodyPr/>
          <a:lstStyle/>
          <a:p>
            <a:endParaRPr lang="en-US"/>
          </a:p>
        </p:txBody>
      </p:sp>
      <p:sp>
        <p:nvSpPr>
          <p:cNvPr id="18" name="Text 16"/>
          <p:cNvSpPr/>
          <p:nvPr/>
        </p:nvSpPr>
        <p:spPr>
          <a:xfrm>
            <a:off x="1227088" y="7309011"/>
            <a:ext cx="5225107" cy="540023"/>
          </a:xfrm>
          <a:prstGeom prst="rect">
            <a:avLst/>
          </a:prstGeom>
          <a:noFill/>
          <a:ln/>
        </p:spPr>
        <p:txBody>
          <a:bodyPr wrap="square" lIns="25400" tIns="25400" rIns="25400" bIns="25400" rtlCol="0" anchor="t">
            <a:normAutofit/>
          </a:bodyPr>
          <a:lstStyle/>
          <a:p>
            <a:pPr marL="0" indent="0" algn="l">
              <a:lnSpc>
                <a:spcPct val="102829"/>
              </a:lnSpc>
              <a:buNone/>
            </a:pPr>
            <a:r>
              <a:rPr lang="en-US" sz="2550" b="1" dirty="0">
                <a:solidFill>
                  <a:srgbClr val="220F60"/>
                </a:solidFill>
                <a:latin typeface="Poppins" pitchFamily="34" charset="0"/>
                <a:ea typeface="Poppins" pitchFamily="34" charset="-122"/>
                <a:cs typeface="Poppins" pitchFamily="34" charset="-120"/>
              </a:rPr>
              <a:t>Current meaning</a:t>
            </a:r>
            <a:endParaRPr lang="en-US" sz="2550" dirty="0"/>
          </a:p>
        </p:txBody>
      </p:sp>
      <p:sp>
        <p:nvSpPr>
          <p:cNvPr id="19" name="Text 17"/>
          <p:cNvSpPr/>
          <p:nvPr/>
        </p:nvSpPr>
        <p:spPr>
          <a:xfrm>
            <a:off x="6358185" y="7226597"/>
            <a:ext cx="9132429" cy="704850"/>
          </a:xfrm>
          <a:prstGeom prst="rect">
            <a:avLst/>
          </a:prstGeom>
          <a:noFill/>
          <a:ln/>
        </p:spPr>
        <p:txBody>
          <a:bodyPr wrap="square" lIns="25400" tIns="25400" rIns="25400" bIns="25400" rtlCol="0" anchor="t">
            <a:normAutofit/>
          </a:bodyPr>
          <a:lstStyle/>
          <a:p>
            <a:pPr marL="0" indent="0" algn="l">
              <a:lnSpc>
                <a:spcPct val="93333"/>
              </a:lnSpc>
              <a:buNone/>
            </a:pPr>
            <a:r>
              <a:rPr lang="en-US" sz="1875" dirty="0">
                <a:solidFill>
                  <a:srgbClr val="15103A"/>
                </a:solidFill>
                <a:latin typeface="Poppins" pitchFamily="34" charset="0"/>
                <a:ea typeface="Poppins" pitchFamily="34" charset="-122"/>
                <a:cs typeface="Poppins" pitchFamily="34" charset="-120"/>
              </a:rPr>
              <a:t>Definitions, lineage and documentation change in the same commit as the models they describe.</a:t>
            </a:r>
            <a:endParaRPr lang="en-US" sz="1875" dirty="0"/>
          </a:p>
        </p:txBody>
      </p:sp>
      <p:sp>
        <p:nvSpPr>
          <p:cNvPr id="20" name="Text 18"/>
          <p:cNvSpPr/>
          <p:nvPr/>
        </p:nvSpPr>
        <p:spPr>
          <a:xfrm>
            <a:off x="15605621" y="7382805"/>
            <a:ext cx="1600820"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216" dirty="0">
                <a:solidFill>
                  <a:srgbClr val="3B5C7F"/>
                </a:solidFill>
                <a:latin typeface="Poppins" pitchFamily="34" charset="0"/>
                <a:ea typeface="Poppins" pitchFamily="34" charset="-122"/>
                <a:cs typeface="Poppins" pitchFamily="34" charset="-120"/>
              </a:rPr>
              <a:t>STALENESS</a:t>
            </a:r>
            <a:endParaRPr lang="en-US" sz="1800" dirty="0"/>
          </a:p>
        </p:txBody>
      </p:sp>
      <p:sp>
        <p:nvSpPr>
          <p:cNvPr id="21" name="Text 19"/>
          <p:cNvSpPr/>
          <p:nvPr/>
        </p:nvSpPr>
        <p:spPr>
          <a:xfrm>
            <a:off x="838150" y="8472723"/>
            <a:ext cx="18272869" cy="449548"/>
          </a:xfrm>
          <a:prstGeom prst="rect">
            <a:avLst/>
          </a:prstGeom>
          <a:noFill/>
          <a:ln/>
        </p:spPr>
        <p:txBody>
          <a:bodyPr wrap="square" lIns="25400" tIns="25400" rIns="25400" bIns="25400" rtlCol="0" anchor="t">
            <a:normAutofit/>
          </a:bodyPr>
          <a:lstStyle/>
          <a:p>
            <a:pPr marL="0" indent="0" algn="l">
              <a:lnSpc>
                <a:spcPct val="89379"/>
              </a:lnSpc>
              <a:buNone/>
            </a:pPr>
            <a:r>
              <a:rPr lang="en-US" sz="2400" dirty="0">
                <a:solidFill>
                  <a:srgbClr val="15103A"/>
                </a:solidFill>
                <a:latin typeface="Poppins" pitchFamily="34" charset="0"/>
                <a:ea typeface="Poppins" pitchFamily="34" charset="-122"/>
                <a:cs typeface="Poppins" pitchFamily="34" charset="-120"/>
              </a:rPr>
              <a:t>Every one of these is a knowledge representation problem wearing data engineering clothes.</a:t>
            </a:r>
            <a:endParaRPr lang="en-US" sz="2400" dirty="0"/>
          </a:p>
        </p:txBody>
      </p:sp>
      <p:sp>
        <p:nvSpPr>
          <p:cNvPr id="22" name="Text 20"/>
          <p:cNvSpPr/>
          <p:nvPr/>
        </p:nvSpPr>
        <p:spPr>
          <a:xfrm>
            <a:off x="838150" y="9532751"/>
            <a:ext cx="7479202" cy="335198"/>
          </a:xfrm>
          <a:prstGeom prst="rect">
            <a:avLst/>
          </a:prstGeom>
          <a:noFill/>
          <a:ln/>
        </p:spPr>
        <p:txBody>
          <a:bodyPr wrap="square" lIns="25400" tIns="25400" rIns="25400" bIns="25400" rtlCol="0" anchor="t">
            <a:normAutofit/>
          </a:bodyPr>
          <a:lstStyle/>
          <a:p>
            <a:pPr marL="0" indent="0" algn="l">
              <a:lnSpc>
                <a:spcPct val="87070"/>
              </a:lnSpc>
              <a:buNone/>
            </a:pPr>
            <a:r>
              <a:rPr lang="en-US" sz="1800" dirty="0">
                <a:solidFill>
                  <a:srgbClr val="9AA3AD"/>
                </a:solidFill>
                <a:latin typeface="Poppins" pitchFamily="34" charset="0"/>
                <a:ea typeface="Poppins" pitchFamily="34" charset="-122"/>
                <a:cs typeface="Poppins" pitchFamily="34" charset="-120"/>
              </a:rPr>
              <a:t>Source: Anthropic — self-service data analytics with Claude</a:t>
            </a:r>
            <a:endParaRPr lang="en-US" sz="1800" dirty="0"/>
          </a:p>
        </p:txBody>
      </p:sp>
      <p:pic>
        <p:nvPicPr>
          <p:cNvPr id="23" name="Image 0" descr="preencoded.png"/>
          <p:cNvPicPr>
            <a:picLocks noChangeAspect="1"/>
          </p:cNvPicPr>
          <p:nvPr/>
        </p:nvPicPr>
        <p:blipFill>
          <a:blip r:embed="rId3"/>
          <a:stretch>
            <a:fillRect/>
          </a:stretch>
        </p:blipFill>
        <p:spPr>
          <a:xfrm>
            <a:off x="16105436" y="9525062"/>
            <a:ext cx="1344414" cy="3047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150" y="533363"/>
            <a:ext cx="18272869"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315" dirty="0">
                <a:solidFill>
                  <a:srgbClr val="DF367C"/>
                </a:solidFill>
                <a:latin typeface="Poppins" pitchFamily="34" charset="0"/>
                <a:ea typeface="Poppins" pitchFamily="34" charset="-122"/>
                <a:cs typeface="Poppins" pitchFamily="34" charset="-120"/>
              </a:rPr>
              <a:t>WHERE GRAPHWISE FITS</a:t>
            </a:r>
            <a:endParaRPr lang="en-US" sz="1800" dirty="0"/>
          </a:p>
        </p:txBody>
      </p:sp>
      <p:sp>
        <p:nvSpPr>
          <p:cNvPr id="3" name="Text 1"/>
          <p:cNvSpPr/>
          <p:nvPr/>
        </p:nvSpPr>
        <p:spPr>
          <a:xfrm>
            <a:off x="838150" y="1039999"/>
            <a:ext cx="18272869" cy="618158"/>
          </a:xfrm>
          <a:prstGeom prst="rect">
            <a:avLst/>
          </a:prstGeom>
          <a:noFill/>
          <a:ln/>
        </p:spPr>
        <p:txBody>
          <a:bodyPr wrap="square" lIns="25400" tIns="25400" rIns="25400" bIns="25400" rtlCol="0" anchor="t">
            <a:normAutofit/>
          </a:bodyPr>
          <a:lstStyle/>
          <a:p>
            <a:pPr marL="0" indent="0" algn="l">
              <a:lnSpc>
                <a:spcPct val="69933"/>
              </a:lnSpc>
              <a:buNone/>
            </a:pPr>
            <a:r>
              <a:rPr lang="en-US" sz="4350" b="1" kern="0" spc="-87" dirty="0">
                <a:solidFill>
                  <a:srgbClr val="220F60"/>
                </a:solidFill>
                <a:latin typeface="Poppins" pitchFamily="34" charset="0"/>
                <a:ea typeface="Poppins" pitchFamily="34" charset="-122"/>
                <a:cs typeface="Poppins" pitchFamily="34" charset="-120"/>
              </a:rPr>
              <a:t>The semantic layer they described is a knowledge graph</a:t>
            </a:r>
            <a:endParaRPr lang="en-US" sz="4350" dirty="0"/>
          </a:p>
        </p:txBody>
      </p:sp>
      <p:sp>
        <p:nvSpPr>
          <p:cNvPr id="4" name="Text 2"/>
          <p:cNvSpPr/>
          <p:nvPr/>
        </p:nvSpPr>
        <p:spPr>
          <a:xfrm>
            <a:off x="838150" y="1810556"/>
            <a:ext cx="14716125" cy="731515"/>
          </a:xfrm>
          <a:prstGeom prst="rect">
            <a:avLst/>
          </a:prstGeom>
          <a:noFill/>
          <a:ln/>
        </p:spPr>
        <p:txBody>
          <a:bodyPr wrap="square" lIns="25400" tIns="25400" rIns="25400" bIns="25400" rtlCol="0" anchor="t">
            <a:normAutofit/>
          </a:bodyPr>
          <a:lstStyle/>
          <a:p>
            <a:pPr marL="0" indent="0" algn="l">
              <a:lnSpc>
                <a:spcPct val="92936"/>
              </a:lnSpc>
              <a:buNone/>
            </a:pPr>
            <a:r>
              <a:rPr lang="en-US" sz="1950" dirty="0">
                <a:solidFill>
                  <a:srgbClr val="15103A"/>
                </a:solidFill>
                <a:latin typeface="Poppins" pitchFamily="34" charset="0"/>
                <a:ea typeface="Poppins" pitchFamily="34" charset="-122"/>
                <a:cs typeface="Poppins" pitchFamily="34" charset="-120"/>
              </a:rPr>
              <a:t>Anthropic built this in-house, layer by layer. The same shape is what a knowledge graph platform ships as its default.</a:t>
            </a:r>
            <a:endParaRPr lang="en-US" sz="1950" dirty="0"/>
          </a:p>
        </p:txBody>
      </p:sp>
      <p:sp>
        <p:nvSpPr>
          <p:cNvPr id="5" name="Text 3"/>
          <p:cNvSpPr/>
          <p:nvPr/>
        </p:nvSpPr>
        <p:spPr>
          <a:xfrm>
            <a:off x="838150" y="2786496"/>
            <a:ext cx="2740180" cy="355600"/>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252" dirty="0">
                <a:solidFill>
                  <a:srgbClr val="9AA3AD"/>
                </a:solidFill>
                <a:latin typeface="Poppins" pitchFamily="34" charset="0"/>
                <a:ea typeface="Poppins" pitchFamily="34" charset="-122"/>
                <a:cs typeface="Poppins" pitchFamily="34" charset="-120"/>
              </a:rPr>
              <a:t>THE REQUIREMENT</a:t>
            </a:r>
            <a:endParaRPr lang="en-US" sz="1800" dirty="0"/>
          </a:p>
        </p:txBody>
      </p:sp>
      <p:sp>
        <p:nvSpPr>
          <p:cNvPr id="6" name="Text 4"/>
          <p:cNvSpPr/>
          <p:nvPr/>
        </p:nvSpPr>
        <p:spPr>
          <a:xfrm>
            <a:off x="5372013" y="2786496"/>
            <a:ext cx="3792773" cy="355600"/>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252" dirty="0">
                <a:solidFill>
                  <a:srgbClr val="DF367C"/>
                </a:solidFill>
                <a:latin typeface="Poppins" pitchFamily="34" charset="0"/>
                <a:ea typeface="Poppins" pitchFamily="34" charset="-122"/>
                <a:cs typeface="Poppins" pitchFamily="34" charset="-120"/>
              </a:rPr>
              <a:t>THE GRAPHWISE ANSWER</a:t>
            </a:r>
            <a:endParaRPr lang="en-US" sz="1800" dirty="0"/>
          </a:p>
        </p:txBody>
      </p:sp>
      <p:sp>
        <p:nvSpPr>
          <p:cNvPr id="7" name="Shape 5"/>
          <p:cNvSpPr/>
          <p:nvPr/>
        </p:nvSpPr>
        <p:spPr>
          <a:xfrm>
            <a:off x="838150" y="3258220"/>
            <a:ext cx="4000500" cy="9525"/>
          </a:xfrm>
          <a:prstGeom prst="rect">
            <a:avLst/>
          </a:prstGeom>
          <a:solidFill>
            <a:srgbClr val="9AA3AD"/>
          </a:solidFill>
          <a:ln/>
        </p:spPr>
        <p:txBody>
          <a:bodyPr/>
          <a:lstStyle/>
          <a:p>
            <a:endParaRPr lang="en-US"/>
          </a:p>
        </p:txBody>
      </p:sp>
      <p:sp>
        <p:nvSpPr>
          <p:cNvPr id="8" name="Text 6"/>
          <p:cNvSpPr/>
          <p:nvPr/>
        </p:nvSpPr>
        <p:spPr>
          <a:xfrm>
            <a:off x="838150" y="3475707"/>
            <a:ext cx="4120515" cy="704825"/>
          </a:xfrm>
          <a:prstGeom prst="rect">
            <a:avLst/>
          </a:prstGeom>
          <a:noFill/>
          <a:ln/>
        </p:spPr>
        <p:txBody>
          <a:bodyPr wrap="square" lIns="25400" tIns="25400" rIns="25400" bIns="25400" rtlCol="0" anchor="t">
            <a:normAutofit/>
          </a:bodyPr>
          <a:lstStyle/>
          <a:p>
            <a:pPr marL="0" indent="0" algn="l">
              <a:lnSpc>
                <a:spcPct val="101455"/>
              </a:lnSpc>
              <a:buNone/>
            </a:pPr>
            <a:r>
              <a:rPr lang="en-US" sz="2250" b="1" dirty="0">
                <a:solidFill>
                  <a:srgbClr val="3B5C7F"/>
                </a:solidFill>
                <a:latin typeface="Poppins" pitchFamily="34" charset="0"/>
                <a:ea typeface="Poppins" pitchFamily="34" charset="-122"/>
                <a:cs typeface="Poppins" pitchFamily="34" charset="-120"/>
              </a:rPr>
              <a:t>Explicit meaning</a:t>
            </a:r>
            <a:endParaRPr lang="en-US" sz="2250" dirty="0"/>
          </a:p>
        </p:txBody>
      </p:sp>
      <p:sp>
        <p:nvSpPr>
          <p:cNvPr id="9" name="Shape 7"/>
          <p:cNvSpPr/>
          <p:nvPr/>
        </p:nvSpPr>
        <p:spPr>
          <a:xfrm>
            <a:off x="5372013" y="3258220"/>
            <a:ext cx="12077836" cy="9525"/>
          </a:xfrm>
          <a:prstGeom prst="rect">
            <a:avLst/>
          </a:prstGeom>
          <a:solidFill>
            <a:srgbClr val="9AA3AD"/>
          </a:solidFill>
          <a:ln/>
        </p:spPr>
        <p:txBody>
          <a:bodyPr/>
          <a:lstStyle/>
          <a:p>
            <a:endParaRPr lang="en-US"/>
          </a:p>
        </p:txBody>
      </p:sp>
      <p:sp>
        <p:nvSpPr>
          <p:cNvPr id="10" name="Text 8"/>
          <p:cNvSpPr/>
          <p:nvPr/>
        </p:nvSpPr>
        <p:spPr>
          <a:xfrm>
            <a:off x="5372013" y="3475695"/>
            <a:ext cx="12440171" cy="704850"/>
          </a:xfrm>
          <a:prstGeom prst="rect">
            <a:avLst/>
          </a:prstGeom>
          <a:noFill/>
          <a:ln/>
        </p:spPr>
        <p:txBody>
          <a:bodyPr wrap="square" lIns="25400" tIns="25400" rIns="25400" bIns="25400" rtlCol="0" anchor="t">
            <a:normAutofit/>
          </a:bodyPr>
          <a:lstStyle/>
          <a:p>
            <a:pPr marL="0" indent="0" algn="l">
              <a:lnSpc>
                <a:spcPct val="93333"/>
              </a:lnSpc>
              <a:buNone/>
            </a:pPr>
            <a:r>
              <a:rPr lang="en-US" sz="1875" b="1" dirty="0">
                <a:solidFill>
                  <a:srgbClr val="220F60"/>
                </a:solidFill>
                <a:latin typeface="Poppins" pitchFamily="34" charset="0"/>
                <a:ea typeface="Poppins" pitchFamily="34" charset="-122"/>
                <a:cs typeface="Poppins" pitchFamily="34" charset="-120"/>
              </a:rPr>
              <a:t>Ontologies and taxonomies (OWL, SKOS). </a:t>
            </a:r>
            <a:r>
              <a:rPr lang="en-US" sz="1875" dirty="0">
                <a:solidFill>
                  <a:srgbClr val="15103A"/>
                </a:solidFill>
                <a:latin typeface="Poppins" pitchFamily="34" charset="0"/>
                <a:ea typeface="Poppins" pitchFamily="34" charset="-122"/>
                <a:cs typeface="Poppins" pitchFamily="34" charset="-120"/>
              </a:rPr>
              <a:t>Concepts, hierarchies and metric definitions as governed, machine-readable objects with owners.</a:t>
            </a:r>
            <a:endParaRPr lang="en-US" sz="1875" dirty="0"/>
          </a:p>
        </p:txBody>
      </p:sp>
      <p:sp>
        <p:nvSpPr>
          <p:cNvPr id="11" name="Shape 9"/>
          <p:cNvSpPr/>
          <p:nvPr/>
        </p:nvSpPr>
        <p:spPr>
          <a:xfrm>
            <a:off x="838150" y="4351982"/>
            <a:ext cx="4000500" cy="9525"/>
          </a:xfrm>
          <a:prstGeom prst="rect">
            <a:avLst/>
          </a:prstGeom>
          <a:solidFill>
            <a:srgbClr val="9AA3AD"/>
          </a:solidFill>
          <a:ln/>
        </p:spPr>
        <p:txBody>
          <a:bodyPr/>
          <a:lstStyle/>
          <a:p>
            <a:endParaRPr lang="en-US"/>
          </a:p>
        </p:txBody>
      </p:sp>
      <p:sp>
        <p:nvSpPr>
          <p:cNvPr id="12" name="Text 10"/>
          <p:cNvSpPr/>
          <p:nvPr/>
        </p:nvSpPr>
        <p:spPr>
          <a:xfrm>
            <a:off x="838150" y="4569470"/>
            <a:ext cx="4120515" cy="704825"/>
          </a:xfrm>
          <a:prstGeom prst="rect">
            <a:avLst/>
          </a:prstGeom>
          <a:noFill/>
          <a:ln/>
        </p:spPr>
        <p:txBody>
          <a:bodyPr wrap="square" lIns="25400" tIns="25400" rIns="25400" bIns="25400" rtlCol="0" anchor="t">
            <a:normAutofit/>
          </a:bodyPr>
          <a:lstStyle/>
          <a:p>
            <a:pPr marL="0" indent="0" algn="l">
              <a:lnSpc>
                <a:spcPct val="101455"/>
              </a:lnSpc>
              <a:buNone/>
            </a:pPr>
            <a:r>
              <a:rPr lang="en-US" sz="2250" b="1" dirty="0">
                <a:solidFill>
                  <a:srgbClr val="3B5C7F"/>
                </a:solidFill>
                <a:latin typeface="Poppins" pitchFamily="34" charset="0"/>
                <a:ea typeface="Poppins" pitchFamily="34" charset="-122"/>
                <a:cs typeface="Poppins" pitchFamily="34" charset="-120"/>
              </a:rPr>
              <a:t>Connected meaning</a:t>
            </a:r>
            <a:endParaRPr lang="en-US" sz="2250" dirty="0"/>
          </a:p>
        </p:txBody>
      </p:sp>
      <p:sp>
        <p:nvSpPr>
          <p:cNvPr id="13" name="Shape 11"/>
          <p:cNvSpPr/>
          <p:nvPr/>
        </p:nvSpPr>
        <p:spPr>
          <a:xfrm>
            <a:off x="5372013" y="4351982"/>
            <a:ext cx="12077836" cy="9525"/>
          </a:xfrm>
          <a:prstGeom prst="rect">
            <a:avLst/>
          </a:prstGeom>
          <a:solidFill>
            <a:srgbClr val="9AA3AD"/>
          </a:solidFill>
          <a:ln/>
        </p:spPr>
        <p:txBody>
          <a:bodyPr/>
          <a:lstStyle/>
          <a:p>
            <a:endParaRPr lang="en-US"/>
          </a:p>
        </p:txBody>
      </p:sp>
      <p:sp>
        <p:nvSpPr>
          <p:cNvPr id="14" name="Text 12"/>
          <p:cNvSpPr/>
          <p:nvPr/>
        </p:nvSpPr>
        <p:spPr>
          <a:xfrm>
            <a:off x="5372013" y="4569457"/>
            <a:ext cx="12440171" cy="704850"/>
          </a:xfrm>
          <a:prstGeom prst="rect">
            <a:avLst/>
          </a:prstGeom>
          <a:noFill/>
          <a:ln/>
        </p:spPr>
        <p:txBody>
          <a:bodyPr wrap="square" lIns="25400" tIns="25400" rIns="25400" bIns="25400" rtlCol="0" anchor="t">
            <a:normAutofit/>
          </a:bodyPr>
          <a:lstStyle/>
          <a:p>
            <a:pPr marL="0" indent="0" algn="l">
              <a:lnSpc>
                <a:spcPct val="93333"/>
              </a:lnSpc>
              <a:buNone/>
            </a:pPr>
            <a:r>
              <a:rPr lang="en-US" sz="1875" b="1" dirty="0">
                <a:solidFill>
                  <a:srgbClr val="220F60"/>
                </a:solidFill>
                <a:latin typeface="Poppins" pitchFamily="34" charset="0"/>
                <a:ea typeface="Poppins" pitchFamily="34" charset="-122"/>
                <a:cs typeface="Poppins" pitchFamily="34" charset="-120"/>
              </a:rPr>
              <a:t>A knowledge graph over the enterprise. </a:t>
            </a:r>
            <a:r>
              <a:rPr lang="en-US" sz="1875" dirty="0">
                <a:solidFill>
                  <a:srgbClr val="15103A"/>
                </a:solidFill>
                <a:latin typeface="Poppins" pitchFamily="34" charset="0"/>
                <a:ea typeface="Poppins" pitchFamily="34" charset="-122"/>
                <a:cs typeface="Poppins" pitchFamily="34" charset="-120"/>
              </a:rPr>
              <a:t>Entities, relationships and business context in one traversable model instead of scattered schemas.</a:t>
            </a:r>
            <a:endParaRPr lang="en-US" sz="1875" dirty="0"/>
          </a:p>
        </p:txBody>
      </p:sp>
      <p:sp>
        <p:nvSpPr>
          <p:cNvPr id="15" name="Shape 13"/>
          <p:cNvSpPr/>
          <p:nvPr/>
        </p:nvSpPr>
        <p:spPr>
          <a:xfrm>
            <a:off x="838150" y="5445745"/>
            <a:ext cx="4000500" cy="9525"/>
          </a:xfrm>
          <a:prstGeom prst="rect">
            <a:avLst/>
          </a:prstGeom>
          <a:solidFill>
            <a:srgbClr val="9AA3AD"/>
          </a:solidFill>
          <a:ln/>
        </p:spPr>
        <p:txBody>
          <a:bodyPr/>
          <a:lstStyle/>
          <a:p>
            <a:endParaRPr lang="en-US"/>
          </a:p>
        </p:txBody>
      </p:sp>
      <p:sp>
        <p:nvSpPr>
          <p:cNvPr id="16" name="Text 14"/>
          <p:cNvSpPr/>
          <p:nvPr/>
        </p:nvSpPr>
        <p:spPr>
          <a:xfrm>
            <a:off x="838150" y="5663232"/>
            <a:ext cx="4120515" cy="704825"/>
          </a:xfrm>
          <a:prstGeom prst="rect">
            <a:avLst/>
          </a:prstGeom>
          <a:noFill/>
          <a:ln/>
        </p:spPr>
        <p:txBody>
          <a:bodyPr wrap="square" lIns="25400" tIns="25400" rIns="25400" bIns="25400" rtlCol="0" anchor="t">
            <a:normAutofit/>
          </a:bodyPr>
          <a:lstStyle/>
          <a:p>
            <a:pPr marL="0" indent="0" algn="l">
              <a:lnSpc>
                <a:spcPct val="101455"/>
              </a:lnSpc>
              <a:buNone/>
            </a:pPr>
            <a:r>
              <a:rPr lang="en-US" sz="2250" b="1" dirty="0">
                <a:solidFill>
                  <a:srgbClr val="3B5C7F"/>
                </a:solidFill>
                <a:latin typeface="Poppins" pitchFamily="34" charset="0"/>
                <a:ea typeface="Poppins" pitchFamily="34" charset="-122"/>
                <a:cs typeface="Poppins" pitchFamily="34" charset="-120"/>
              </a:rPr>
              <a:t>Governed meaning</a:t>
            </a:r>
            <a:endParaRPr lang="en-US" sz="2250" dirty="0"/>
          </a:p>
        </p:txBody>
      </p:sp>
      <p:sp>
        <p:nvSpPr>
          <p:cNvPr id="17" name="Shape 15"/>
          <p:cNvSpPr/>
          <p:nvPr/>
        </p:nvSpPr>
        <p:spPr>
          <a:xfrm>
            <a:off x="5372013" y="5445745"/>
            <a:ext cx="12077836" cy="9525"/>
          </a:xfrm>
          <a:prstGeom prst="rect">
            <a:avLst/>
          </a:prstGeom>
          <a:solidFill>
            <a:srgbClr val="9AA3AD"/>
          </a:solidFill>
          <a:ln/>
        </p:spPr>
        <p:txBody>
          <a:bodyPr/>
          <a:lstStyle/>
          <a:p>
            <a:endParaRPr lang="en-US"/>
          </a:p>
        </p:txBody>
      </p:sp>
      <p:sp>
        <p:nvSpPr>
          <p:cNvPr id="18" name="Text 16"/>
          <p:cNvSpPr/>
          <p:nvPr/>
        </p:nvSpPr>
        <p:spPr>
          <a:xfrm>
            <a:off x="5372013" y="5663220"/>
            <a:ext cx="12440171" cy="704850"/>
          </a:xfrm>
          <a:prstGeom prst="rect">
            <a:avLst/>
          </a:prstGeom>
          <a:noFill/>
          <a:ln/>
        </p:spPr>
        <p:txBody>
          <a:bodyPr wrap="square" lIns="25400" tIns="25400" rIns="25400" bIns="25400" rtlCol="0" anchor="t">
            <a:normAutofit/>
          </a:bodyPr>
          <a:lstStyle/>
          <a:p>
            <a:pPr marL="0" indent="0" algn="l">
              <a:lnSpc>
                <a:spcPct val="93333"/>
              </a:lnSpc>
              <a:buNone/>
            </a:pPr>
            <a:r>
              <a:rPr lang="en-US" sz="1875" b="1" dirty="0">
                <a:solidFill>
                  <a:srgbClr val="220F60"/>
                </a:solidFill>
                <a:latin typeface="Poppins" pitchFamily="34" charset="0"/>
                <a:ea typeface="Poppins" pitchFamily="34" charset="-122"/>
                <a:cs typeface="Poppins" pitchFamily="34" charset="-120"/>
              </a:rPr>
              <a:t>One graph, one answer. </a:t>
            </a:r>
            <a:r>
              <a:rPr lang="en-US" sz="1875" dirty="0">
                <a:solidFill>
                  <a:srgbClr val="15103A"/>
                </a:solidFill>
                <a:latin typeface="Poppins" pitchFamily="34" charset="0"/>
                <a:ea typeface="Poppins" pitchFamily="34" charset="-122"/>
                <a:cs typeface="Poppins" pitchFamily="34" charset="-120"/>
              </a:rPr>
              <a:t>Canonical entities, explicit provenance and ownership, near-duplicates resolved at the model rather than by convention.</a:t>
            </a:r>
            <a:endParaRPr lang="en-US" sz="1875" dirty="0"/>
          </a:p>
        </p:txBody>
      </p:sp>
      <p:sp>
        <p:nvSpPr>
          <p:cNvPr id="19" name="Shape 17"/>
          <p:cNvSpPr/>
          <p:nvPr/>
        </p:nvSpPr>
        <p:spPr>
          <a:xfrm>
            <a:off x="838150" y="6539508"/>
            <a:ext cx="4000500" cy="9525"/>
          </a:xfrm>
          <a:prstGeom prst="rect">
            <a:avLst/>
          </a:prstGeom>
          <a:solidFill>
            <a:srgbClr val="9AA3AD"/>
          </a:solidFill>
          <a:ln/>
        </p:spPr>
        <p:txBody>
          <a:bodyPr/>
          <a:lstStyle/>
          <a:p>
            <a:endParaRPr lang="en-US"/>
          </a:p>
        </p:txBody>
      </p:sp>
      <p:sp>
        <p:nvSpPr>
          <p:cNvPr id="20" name="Text 18"/>
          <p:cNvSpPr/>
          <p:nvPr/>
        </p:nvSpPr>
        <p:spPr>
          <a:xfrm>
            <a:off x="838150" y="6756995"/>
            <a:ext cx="4120515" cy="704825"/>
          </a:xfrm>
          <a:prstGeom prst="rect">
            <a:avLst/>
          </a:prstGeom>
          <a:noFill/>
          <a:ln/>
        </p:spPr>
        <p:txBody>
          <a:bodyPr wrap="square" lIns="25400" tIns="25400" rIns="25400" bIns="25400" rtlCol="0" anchor="t">
            <a:normAutofit/>
          </a:bodyPr>
          <a:lstStyle/>
          <a:p>
            <a:pPr marL="0" indent="0" algn="l">
              <a:lnSpc>
                <a:spcPct val="101455"/>
              </a:lnSpc>
              <a:buNone/>
            </a:pPr>
            <a:r>
              <a:rPr lang="en-US" sz="2250" b="1" dirty="0">
                <a:solidFill>
                  <a:srgbClr val="3B5C7F"/>
                </a:solidFill>
                <a:latin typeface="Poppins" pitchFamily="34" charset="0"/>
                <a:ea typeface="Poppins" pitchFamily="34" charset="-122"/>
                <a:cs typeface="Poppins" pitchFamily="34" charset="-120"/>
              </a:rPr>
              <a:t>Current meaning</a:t>
            </a:r>
            <a:endParaRPr lang="en-US" sz="2250" dirty="0"/>
          </a:p>
        </p:txBody>
      </p:sp>
      <p:sp>
        <p:nvSpPr>
          <p:cNvPr id="21" name="Shape 19"/>
          <p:cNvSpPr/>
          <p:nvPr/>
        </p:nvSpPr>
        <p:spPr>
          <a:xfrm>
            <a:off x="5372013" y="6539508"/>
            <a:ext cx="12077836" cy="9525"/>
          </a:xfrm>
          <a:prstGeom prst="rect">
            <a:avLst/>
          </a:prstGeom>
          <a:solidFill>
            <a:srgbClr val="9AA3AD"/>
          </a:solidFill>
          <a:ln/>
        </p:spPr>
        <p:txBody>
          <a:bodyPr/>
          <a:lstStyle/>
          <a:p>
            <a:endParaRPr lang="en-US"/>
          </a:p>
        </p:txBody>
      </p:sp>
      <p:sp>
        <p:nvSpPr>
          <p:cNvPr id="22" name="Text 20"/>
          <p:cNvSpPr/>
          <p:nvPr/>
        </p:nvSpPr>
        <p:spPr>
          <a:xfrm>
            <a:off x="5372013" y="6756983"/>
            <a:ext cx="12440171" cy="704850"/>
          </a:xfrm>
          <a:prstGeom prst="rect">
            <a:avLst/>
          </a:prstGeom>
          <a:noFill/>
          <a:ln/>
        </p:spPr>
        <p:txBody>
          <a:bodyPr wrap="square" lIns="25400" tIns="25400" rIns="25400" bIns="25400" rtlCol="0" anchor="t">
            <a:normAutofit/>
          </a:bodyPr>
          <a:lstStyle/>
          <a:p>
            <a:pPr marL="0" indent="0" algn="l">
              <a:lnSpc>
                <a:spcPct val="93333"/>
              </a:lnSpc>
              <a:buNone/>
            </a:pPr>
            <a:r>
              <a:rPr lang="en-US" sz="1875" b="1" dirty="0">
                <a:solidFill>
                  <a:srgbClr val="220F60"/>
                </a:solidFill>
                <a:latin typeface="Poppins" pitchFamily="34" charset="0"/>
                <a:ea typeface="Poppins" pitchFamily="34" charset="-122"/>
                <a:cs typeface="Poppins" pitchFamily="34" charset="-120"/>
              </a:rPr>
              <a:t>Metadata as a managed product. </a:t>
            </a:r>
            <a:r>
              <a:rPr lang="en-US" sz="1875" dirty="0">
                <a:solidFill>
                  <a:srgbClr val="15103A"/>
                </a:solidFill>
                <a:latin typeface="Poppins" pitchFamily="34" charset="0"/>
                <a:ea typeface="Poppins" pitchFamily="34" charset="-122"/>
                <a:cs typeface="Poppins" pitchFamily="34" charset="-120"/>
              </a:rPr>
              <a:t>Catalog, lineage and definitions versioned and maintained alongside the data they describe.</a:t>
            </a:r>
            <a:endParaRPr lang="en-US" sz="1875" dirty="0"/>
          </a:p>
        </p:txBody>
      </p:sp>
      <p:sp>
        <p:nvSpPr>
          <p:cNvPr id="23" name="Shape 21"/>
          <p:cNvSpPr/>
          <p:nvPr/>
        </p:nvSpPr>
        <p:spPr>
          <a:xfrm>
            <a:off x="838150" y="7633270"/>
            <a:ext cx="4000500" cy="9525"/>
          </a:xfrm>
          <a:prstGeom prst="rect">
            <a:avLst/>
          </a:prstGeom>
          <a:solidFill>
            <a:srgbClr val="9AA3AD"/>
          </a:solidFill>
          <a:ln/>
        </p:spPr>
        <p:txBody>
          <a:bodyPr/>
          <a:lstStyle/>
          <a:p>
            <a:endParaRPr lang="en-US"/>
          </a:p>
        </p:txBody>
      </p:sp>
      <p:sp>
        <p:nvSpPr>
          <p:cNvPr id="24" name="Text 22"/>
          <p:cNvSpPr/>
          <p:nvPr/>
        </p:nvSpPr>
        <p:spPr>
          <a:xfrm>
            <a:off x="838150" y="7850758"/>
            <a:ext cx="4120515" cy="704825"/>
          </a:xfrm>
          <a:prstGeom prst="rect">
            <a:avLst/>
          </a:prstGeom>
          <a:noFill/>
          <a:ln/>
        </p:spPr>
        <p:txBody>
          <a:bodyPr wrap="square" lIns="25400" tIns="25400" rIns="25400" bIns="25400" rtlCol="0" anchor="t">
            <a:normAutofit/>
          </a:bodyPr>
          <a:lstStyle/>
          <a:p>
            <a:pPr marL="0" indent="0" algn="l">
              <a:lnSpc>
                <a:spcPct val="101455"/>
              </a:lnSpc>
              <a:buNone/>
            </a:pPr>
            <a:r>
              <a:rPr lang="en-US" sz="2250" b="1" dirty="0">
                <a:solidFill>
                  <a:srgbClr val="3B5C7F"/>
                </a:solidFill>
                <a:latin typeface="Poppins" pitchFamily="34" charset="0"/>
                <a:ea typeface="Poppins" pitchFamily="34" charset="-122"/>
                <a:cs typeface="Poppins" pitchFamily="34" charset="-120"/>
              </a:rPr>
              <a:t>Reliable retrieval</a:t>
            </a:r>
            <a:endParaRPr lang="en-US" sz="2250" dirty="0"/>
          </a:p>
        </p:txBody>
      </p:sp>
      <p:sp>
        <p:nvSpPr>
          <p:cNvPr id="25" name="Shape 23"/>
          <p:cNvSpPr/>
          <p:nvPr/>
        </p:nvSpPr>
        <p:spPr>
          <a:xfrm>
            <a:off x="5372013" y="7633270"/>
            <a:ext cx="12077836" cy="9525"/>
          </a:xfrm>
          <a:prstGeom prst="rect">
            <a:avLst/>
          </a:prstGeom>
          <a:solidFill>
            <a:srgbClr val="9AA3AD"/>
          </a:solidFill>
          <a:ln/>
        </p:spPr>
        <p:txBody>
          <a:bodyPr/>
          <a:lstStyle/>
          <a:p>
            <a:endParaRPr lang="en-US"/>
          </a:p>
        </p:txBody>
      </p:sp>
      <p:sp>
        <p:nvSpPr>
          <p:cNvPr id="26" name="Text 24"/>
          <p:cNvSpPr/>
          <p:nvPr/>
        </p:nvSpPr>
        <p:spPr>
          <a:xfrm>
            <a:off x="5372013" y="7850745"/>
            <a:ext cx="12440171" cy="704850"/>
          </a:xfrm>
          <a:prstGeom prst="rect">
            <a:avLst/>
          </a:prstGeom>
          <a:noFill/>
          <a:ln/>
        </p:spPr>
        <p:txBody>
          <a:bodyPr wrap="square" lIns="25400" tIns="25400" rIns="25400" bIns="25400" rtlCol="0" anchor="t">
            <a:normAutofit/>
          </a:bodyPr>
          <a:lstStyle/>
          <a:p>
            <a:pPr marL="0" indent="0" algn="l">
              <a:lnSpc>
                <a:spcPct val="93333"/>
              </a:lnSpc>
              <a:buNone/>
            </a:pPr>
            <a:r>
              <a:rPr lang="en-US" sz="1875" b="1" dirty="0">
                <a:solidFill>
                  <a:srgbClr val="220F60"/>
                </a:solidFill>
                <a:latin typeface="Poppins" pitchFamily="34" charset="0"/>
                <a:ea typeface="Poppins" pitchFamily="34" charset="-122"/>
                <a:cs typeface="Poppins" pitchFamily="34" charset="-120"/>
              </a:rPr>
              <a:t>GraphRAG. </a:t>
            </a:r>
            <a:r>
              <a:rPr lang="en-US" sz="1875" dirty="0">
                <a:solidFill>
                  <a:srgbClr val="15103A"/>
                </a:solidFill>
                <a:latin typeface="Poppins" pitchFamily="34" charset="0"/>
                <a:ea typeface="Poppins" pitchFamily="34" charset="-122"/>
                <a:cs typeface="Poppins" pitchFamily="34" charset="-120"/>
              </a:rPr>
              <a:t>The agent navigates a structured graph rather than searching a vast flat space and hoping.</a:t>
            </a:r>
            <a:endParaRPr lang="en-US" sz="1875" dirty="0"/>
          </a:p>
        </p:txBody>
      </p:sp>
      <p:sp>
        <p:nvSpPr>
          <p:cNvPr id="27" name="Shape 25"/>
          <p:cNvSpPr/>
          <p:nvPr/>
        </p:nvSpPr>
        <p:spPr>
          <a:xfrm>
            <a:off x="838150" y="8955608"/>
            <a:ext cx="16611699" cy="1241971"/>
          </a:xfrm>
          <a:prstGeom prst="roundRect">
            <a:avLst>
              <a:gd name="adj" fmla="val 9203"/>
            </a:avLst>
          </a:prstGeom>
          <a:solidFill>
            <a:srgbClr val="220F60"/>
          </a:solidFill>
          <a:ln/>
        </p:spPr>
        <p:txBody>
          <a:bodyPr/>
          <a:lstStyle/>
          <a:p>
            <a:endParaRPr lang="en-US"/>
          </a:p>
        </p:txBody>
      </p:sp>
      <p:sp>
        <p:nvSpPr>
          <p:cNvPr id="28" name="Text 26"/>
          <p:cNvSpPr/>
          <p:nvPr/>
        </p:nvSpPr>
        <p:spPr>
          <a:xfrm>
            <a:off x="1219150" y="9203221"/>
            <a:ext cx="16325190" cy="784845"/>
          </a:xfrm>
          <a:prstGeom prst="rect">
            <a:avLst/>
          </a:prstGeom>
          <a:noFill/>
          <a:ln/>
        </p:spPr>
        <p:txBody>
          <a:bodyPr wrap="square" lIns="25400" tIns="25400" rIns="25400" bIns="25400" rtlCol="0" anchor="t">
            <a:normAutofit/>
          </a:bodyPr>
          <a:lstStyle/>
          <a:p>
            <a:pPr marL="0" indent="0" algn="l">
              <a:lnSpc>
                <a:spcPct val="92235"/>
              </a:lnSpc>
              <a:buNone/>
            </a:pPr>
            <a:r>
              <a:rPr lang="en-US" sz="2100" dirty="0">
                <a:solidFill>
                  <a:srgbClr val="FFFFFF"/>
                </a:solidFill>
                <a:latin typeface="Poppins" pitchFamily="34" charset="0"/>
                <a:ea typeface="Poppins" pitchFamily="34" charset="-122"/>
                <a:cs typeface="Poppins" pitchFamily="34" charset="-120"/>
              </a:rPr>
              <a:t>Deployed where your data is. On-premises, inside your governance perimeter — not a SaaS tenant you ship your semantics to.</a:t>
            </a:r>
            <a:endParaRPr lang="en-US" sz="2100" dirty="0"/>
          </a:p>
        </p:txBody>
      </p:sp>
      <p:sp>
        <p:nvSpPr>
          <p:cNvPr id="29" name="Text 27"/>
          <p:cNvSpPr/>
          <p:nvPr/>
        </p:nvSpPr>
        <p:spPr>
          <a:xfrm>
            <a:off x="838150" y="10357631"/>
            <a:ext cx="7479202" cy="335198"/>
          </a:xfrm>
          <a:prstGeom prst="rect">
            <a:avLst/>
          </a:prstGeom>
          <a:noFill/>
          <a:ln/>
        </p:spPr>
        <p:txBody>
          <a:bodyPr wrap="square" lIns="25400" tIns="25400" rIns="25400" bIns="25400" rtlCol="0" anchor="t">
            <a:normAutofit/>
          </a:bodyPr>
          <a:lstStyle/>
          <a:p>
            <a:pPr marL="0" indent="0" algn="l">
              <a:lnSpc>
                <a:spcPct val="87070"/>
              </a:lnSpc>
              <a:buNone/>
            </a:pPr>
            <a:r>
              <a:rPr lang="en-US" sz="1800" dirty="0">
                <a:solidFill>
                  <a:srgbClr val="9AA3AD"/>
                </a:solidFill>
                <a:latin typeface="Poppins" pitchFamily="34" charset="0"/>
                <a:ea typeface="Poppins" pitchFamily="34" charset="-122"/>
                <a:cs typeface="Poppins" pitchFamily="34" charset="-120"/>
              </a:rPr>
              <a:t>Source: Anthropic — self-service data analytics with Claude</a:t>
            </a:r>
            <a:endParaRPr lang="en-US" sz="1800" dirty="0"/>
          </a:p>
        </p:txBody>
      </p:sp>
      <p:pic>
        <p:nvPicPr>
          <p:cNvPr id="30" name="Image 0" descr="preencoded.png"/>
          <p:cNvPicPr>
            <a:picLocks noChangeAspect="1"/>
          </p:cNvPicPr>
          <p:nvPr/>
        </p:nvPicPr>
        <p:blipFill>
          <a:blip r:embed="rId3"/>
          <a:stretch>
            <a:fillRect/>
          </a:stretch>
        </p:blipFill>
        <p:spPr>
          <a:xfrm>
            <a:off x="16105436" y="10349942"/>
            <a:ext cx="1344414" cy="3047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20F60"/>
        </a:solidFill>
        <a:effectLst/>
      </p:bgPr>
    </p:bg>
    <p:spTree>
      <p:nvGrpSpPr>
        <p:cNvPr id="1" name=""/>
        <p:cNvGrpSpPr/>
        <p:nvPr/>
      </p:nvGrpSpPr>
      <p:grpSpPr>
        <a:xfrm>
          <a:off x="0" y="0"/>
          <a:ext cx="0" cy="0"/>
          <a:chOff x="0" y="0"/>
          <a:chExt cx="0" cy="0"/>
        </a:xfrm>
      </p:grpSpPr>
      <p:sp>
        <p:nvSpPr>
          <p:cNvPr id="2" name="Text 0"/>
          <p:cNvSpPr/>
          <p:nvPr/>
        </p:nvSpPr>
        <p:spPr>
          <a:xfrm>
            <a:off x="838150" y="838150"/>
            <a:ext cx="18272869" cy="392373"/>
          </a:xfrm>
          <a:prstGeom prst="rect">
            <a:avLst/>
          </a:prstGeom>
          <a:noFill/>
          <a:ln/>
        </p:spPr>
        <p:txBody>
          <a:bodyPr wrap="square" lIns="25400" tIns="25400" rIns="25400" bIns="25400" rtlCol="0" anchor="t">
            <a:normAutofit/>
          </a:bodyPr>
          <a:lstStyle/>
          <a:p>
            <a:pPr marL="0" indent="0" algn="l">
              <a:lnSpc>
                <a:spcPct val="103814"/>
              </a:lnSpc>
              <a:buNone/>
            </a:pPr>
            <a:r>
              <a:rPr lang="en-US" sz="1800" kern="0" spc="315" dirty="0">
                <a:solidFill>
                  <a:srgbClr val="8FA6C4"/>
                </a:solidFill>
                <a:latin typeface="Poppins" pitchFamily="34" charset="0"/>
                <a:ea typeface="Poppins" pitchFamily="34" charset="-122"/>
                <a:cs typeface="Poppins" pitchFamily="34" charset="-120"/>
              </a:rPr>
              <a:t>THE TAKEAWAY</a:t>
            </a:r>
            <a:endParaRPr lang="en-US" sz="1800" dirty="0"/>
          </a:p>
        </p:txBody>
      </p:sp>
      <p:sp>
        <p:nvSpPr>
          <p:cNvPr id="3" name="Text 1"/>
          <p:cNvSpPr/>
          <p:nvPr/>
        </p:nvSpPr>
        <p:spPr>
          <a:xfrm>
            <a:off x="838150" y="1725786"/>
            <a:ext cx="581906" cy="571525"/>
          </a:xfrm>
          <a:prstGeom prst="rect">
            <a:avLst/>
          </a:prstGeom>
          <a:noFill/>
          <a:ln/>
        </p:spPr>
        <p:txBody>
          <a:bodyPr wrap="square" lIns="25400" tIns="25400" rIns="25400" bIns="25400" rtlCol="0" anchor="t">
            <a:normAutofit/>
          </a:bodyPr>
          <a:lstStyle/>
          <a:p>
            <a:pPr marL="0" indent="0" algn="l">
              <a:lnSpc>
                <a:spcPct val="66866"/>
              </a:lnSpc>
              <a:buNone/>
            </a:pPr>
            <a:r>
              <a:rPr lang="en-US" sz="4200" dirty="0">
                <a:solidFill>
                  <a:srgbClr val="6E86FF"/>
                </a:solidFill>
                <a:latin typeface="Poppins" pitchFamily="34" charset="0"/>
                <a:ea typeface="Poppins" pitchFamily="34" charset="-122"/>
                <a:cs typeface="Poppins" pitchFamily="34" charset="-120"/>
              </a:rPr>
              <a:t>01</a:t>
            </a:r>
            <a:endParaRPr lang="en-US" sz="4200" dirty="0"/>
          </a:p>
        </p:txBody>
      </p:sp>
      <p:sp>
        <p:nvSpPr>
          <p:cNvPr id="4" name="Text 2"/>
          <p:cNvSpPr/>
          <p:nvPr/>
        </p:nvSpPr>
        <p:spPr>
          <a:xfrm>
            <a:off x="1724856" y="1725786"/>
            <a:ext cx="11644452" cy="929704"/>
          </a:xfrm>
          <a:prstGeom prst="rect">
            <a:avLst/>
          </a:prstGeom>
          <a:noFill/>
          <a:ln/>
        </p:spPr>
        <p:txBody>
          <a:bodyPr wrap="square" lIns="25400" tIns="25400" rIns="25400" bIns="25400" rtlCol="0" anchor="t">
            <a:normAutofit/>
          </a:bodyPr>
          <a:lstStyle/>
          <a:p>
            <a:pPr marL="0" indent="0" algn="l">
              <a:lnSpc>
                <a:spcPct val="86400"/>
              </a:lnSpc>
              <a:buNone/>
            </a:pPr>
            <a:r>
              <a:rPr lang="en-US" sz="2700" dirty="0">
                <a:solidFill>
                  <a:srgbClr val="FFFFFF"/>
                </a:solidFill>
                <a:latin typeface="Poppins" pitchFamily="34" charset="0"/>
                <a:ea typeface="Poppins" pitchFamily="34" charset="-122"/>
                <a:cs typeface="Poppins" pitchFamily="34" charset="-120"/>
              </a:rPr>
              <a:t>The bottleneck is not query or code generation. It is mapping a question to the right governed entity.</a:t>
            </a:r>
            <a:endParaRPr lang="en-US" sz="2700" dirty="0"/>
          </a:p>
        </p:txBody>
      </p:sp>
      <p:sp>
        <p:nvSpPr>
          <p:cNvPr id="5" name="Text 3"/>
          <p:cNvSpPr/>
          <p:nvPr/>
        </p:nvSpPr>
        <p:spPr>
          <a:xfrm>
            <a:off x="838150" y="3112678"/>
            <a:ext cx="717897" cy="571525"/>
          </a:xfrm>
          <a:prstGeom prst="rect">
            <a:avLst/>
          </a:prstGeom>
          <a:noFill/>
          <a:ln/>
        </p:spPr>
        <p:txBody>
          <a:bodyPr wrap="square" lIns="25400" tIns="25400" rIns="25400" bIns="25400" rtlCol="0" anchor="t">
            <a:normAutofit/>
          </a:bodyPr>
          <a:lstStyle/>
          <a:p>
            <a:pPr marL="0" indent="0" algn="l">
              <a:lnSpc>
                <a:spcPct val="66866"/>
              </a:lnSpc>
              <a:buNone/>
            </a:pPr>
            <a:r>
              <a:rPr lang="en-US" sz="4200" dirty="0">
                <a:solidFill>
                  <a:srgbClr val="6E86FF"/>
                </a:solidFill>
                <a:latin typeface="Poppins" pitchFamily="34" charset="0"/>
                <a:ea typeface="Poppins" pitchFamily="34" charset="-122"/>
                <a:cs typeface="Poppins" pitchFamily="34" charset="-120"/>
              </a:rPr>
              <a:t>02</a:t>
            </a:r>
            <a:endParaRPr lang="en-US" sz="4200" dirty="0"/>
          </a:p>
        </p:txBody>
      </p:sp>
      <p:sp>
        <p:nvSpPr>
          <p:cNvPr id="6" name="Text 4"/>
          <p:cNvSpPr/>
          <p:nvPr/>
        </p:nvSpPr>
        <p:spPr>
          <a:xfrm>
            <a:off x="1860848" y="3112678"/>
            <a:ext cx="11504381" cy="929704"/>
          </a:xfrm>
          <a:prstGeom prst="rect">
            <a:avLst/>
          </a:prstGeom>
          <a:noFill/>
          <a:ln/>
        </p:spPr>
        <p:txBody>
          <a:bodyPr wrap="square" lIns="25400" tIns="25400" rIns="25400" bIns="25400" rtlCol="0" anchor="t">
            <a:normAutofit/>
          </a:bodyPr>
          <a:lstStyle/>
          <a:p>
            <a:pPr marL="0" indent="0" algn="l">
              <a:lnSpc>
                <a:spcPct val="86400"/>
              </a:lnSpc>
              <a:buNone/>
            </a:pPr>
            <a:r>
              <a:rPr lang="en-US" sz="2700" dirty="0">
                <a:solidFill>
                  <a:srgbClr val="FFFFFF"/>
                </a:solidFill>
                <a:latin typeface="Poppins" pitchFamily="34" charset="0"/>
                <a:ea typeface="Poppins" pitchFamily="34" charset="-122"/>
                <a:cs typeface="Poppins" pitchFamily="34" charset="-120"/>
              </a:rPr>
              <a:t>You cannot annotate your way out of ambiguity one column at a time. The meaning has to be modelled.</a:t>
            </a:r>
            <a:endParaRPr lang="en-US" sz="2700" dirty="0"/>
          </a:p>
        </p:txBody>
      </p:sp>
      <p:sp>
        <p:nvSpPr>
          <p:cNvPr id="7" name="Text 5"/>
          <p:cNvSpPr/>
          <p:nvPr/>
        </p:nvSpPr>
        <p:spPr>
          <a:xfrm>
            <a:off x="838150" y="4499570"/>
            <a:ext cx="725401" cy="571525"/>
          </a:xfrm>
          <a:prstGeom prst="rect">
            <a:avLst/>
          </a:prstGeom>
          <a:noFill/>
          <a:ln/>
        </p:spPr>
        <p:txBody>
          <a:bodyPr wrap="square" lIns="25400" tIns="25400" rIns="25400" bIns="25400" rtlCol="0" anchor="t">
            <a:normAutofit/>
          </a:bodyPr>
          <a:lstStyle/>
          <a:p>
            <a:pPr marL="0" indent="0" algn="l">
              <a:lnSpc>
                <a:spcPct val="66866"/>
              </a:lnSpc>
              <a:buNone/>
            </a:pPr>
            <a:r>
              <a:rPr lang="en-US" sz="4200" dirty="0">
                <a:solidFill>
                  <a:srgbClr val="6E86FF"/>
                </a:solidFill>
                <a:latin typeface="Poppins" pitchFamily="34" charset="0"/>
                <a:ea typeface="Poppins" pitchFamily="34" charset="-122"/>
                <a:cs typeface="Poppins" pitchFamily="34" charset="-120"/>
              </a:rPr>
              <a:t>03</a:t>
            </a:r>
            <a:endParaRPr lang="en-US" sz="4200" dirty="0"/>
          </a:p>
        </p:txBody>
      </p:sp>
      <p:sp>
        <p:nvSpPr>
          <p:cNvPr id="8" name="Text 6"/>
          <p:cNvSpPr/>
          <p:nvPr/>
        </p:nvSpPr>
        <p:spPr>
          <a:xfrm>
            <a:off x="1868351" y="4499570"/>
            <a:ext cx="11496653" cy="929704"/>
          </a:xfrm>
          <a:prstGeom prst="rect">
            <a:avLst/>
          </a:prstGeom>
          <a:noFill/>
          <a:ln/>
        </p:spPr>
        <p:txBody>
          <a:bodyPr wrap="square" lIns="25400" tIns="25400" rIns="25400" bIns="25400" rtlCol="0" anchor="t">
            <a:normAutofit/>
          </a:bodyPr>
          <a:lstStyle/>
          <a:p>
            <a:pPr marL="0" indent="0" algn="l">
              <a:lnSpc>
                <a:spcPct val="86400"/>
              </a:lnSpc>
              <a:buNone/>
            </a:pPr>
            <a:r>
              <a:rPr lang="en-US" sz="2700" dirty="0">
                <a:solidFill>
                  <a:srgbClr val="FFFFFF"/>
                </a:solidFill>
                <a:latin typeface="Poppins" pitchFamily="34" charset="0"/>
                <a:ea typeface="Poppins" pitchFamily="34" charset="-122"/>
                <a:cs typeface="Poppins" pitchFamily="34" charset="-120"/>
              </a:rPr>
              <a:t>Metadata is not documentation. It is the interface your agents actually read.</a:t>
            </a:r>
            <a:endParaRPr lang="en-US" sz="2700" dirty="0"/>
          </a:p>
        </p:txBody>
      </p:sp>
      <p:sp>
        <p:nvSpPr>
          <p:cNvPr id="9" name="Text 7"/>
          <p:cNvSpPr/>
          <p:nvPr/>
        </p:nvSpPr>
        <p:spPr>
          <a:xfrm>
            <a:off x="838150" y="9293572"/>
            <a:ext cx="4853347" cy="421953"/>
          </a:xfrm>
          <a:prstGeom prst="rect">
            <a:avLst/>
          </a:prstGeom>
          <a:noFill/>
          <a:ln/>
        </p:spPr>
        <p:txBody>
          <a:bodyPr wrap="square" lIns="25400" tIns="25400" rIns="25400" bIns="25400" rtlCol="0" anchor="t">
            <a:normAutofit/>
          </a:bodyPr>
          <a:lstStyle/>
          <a:p>
            <a:pPr marL="0" indent="0" algn="l">
              <a:lnSpc>
                <a:spcPct val="102894"/>
              </a:lnSpc>
              <a:buNone/>
            </a:pPr>
            <a:r>
              <a:rPr lang="en-US" sz="1950" kern="0" spc="341" dirty="0">
                <a:solidFill>
                  <a:srgbClr val="DF367C"/>
                </a:solidFill>
                <a:latin typeface="Poppins" pitchFamily="34" charset="0"/>
                <a:ea typeface="Poppins" pitchFamily="34" charset="-122"/>
                <a:cs typeface="Poppins" pitchFamily="34" charset="-120"/>
              </a:rPr>
              <a:t>AI THRIVES ON WHOLE DATA</a:t>
            </a:r>
            <a:endParaRPr lang="en-US" sz="1950" dirty="0"/>
          </a:p>
        </p:txBody>
      </p:sp>
      <p:sp>
        <p:nvSpPr>
          <p:cNvPr id="10" name="Text 8"/>
          <p:cNvSpPr/>
          <p:nvPr/>
        </p:nvSpPr>
        <p:spPr>
          <a:xfrm>
            <a:off x="7194289" y="9380326"/>
            <a:ext cx="7479202" cy="335198"/>
          </a:xfrm>
          <a:prstGeom prst="rect">
            <a:avLst/>
          </a:prstGeom>
          <a:noFill/>
          <a:ln/>
        </p:spPr>
        <p:txBody>
          <a:bodyPr wrap="square" lIns="25400" tIns="25400" rIns="25400" bIns="25400" rtlCol="0" anchor="t">
            <a:normAutofit/>
          </a:bodyPr>
          <a:lstStyle/>
          <a:p>
            <a:pPr marL="0" indent="0" algn="l">
              <a:lnSpc>
                <a:spcPct val="87070"/>
              </a:lnSpc>
              <a:buNone/>
            </a:pPr>
            <a:r>
              <a:rPr lang="en-US" sz="1800" dirty="0">
                <a:solidFill>
                  <a:srgbClr val="9AA3AD"/>
                </a:solidFill>
                <a:latin typeface="Poppins" pitchFamily="34" charset="0"/>
                <a:ea typeface="Poppins" pitchFamily="34" charset="-122"/>
                <a:cs typeface="Poppins" pitchFamily="34" charset="-120"/>
              </a:rPr>
              <a:t>Source: Anthropic — self-service data analytics with Claude</a:t>
            </a:r>
            <a:endParaRPr lang="en-US" sz="1800" dirty="0"/>
          </a:p>
        </p:txBody>
      </p:sp>
      <p:pic>
        <p:nvPicPr>
          <p:cNvPr id="11" name="Image 0" descr="preencoded.png"/>
          <p:cNvPicPr>
            <a:picLocks noChangeAspect="1"/>
          </p:cNvPicPr>
          <p:nvPr/>
        </p:nvPicPr>
        <p:blipFill>
          <a:blip r:embed="rId3"/>
          <a:stretch>
            <a:fillRect/>
          </a:stretch>
        </p:blipFill>
        <p:spPr>
          <a:xfrm>
            <a:off x="15937507" y="9334562"/>
            <a:ext cx="1512342" cy="3428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2114</Words>
  <Application>Microsoft Office PowerPoint</Application>
  <PresentationFormat>Custom</PresentationFormat>
  <Paragraphs>199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Peio Popov</cp:lastModifiedBy>
  <cp:revision>3</cp:revision>
  <dcterms:created xsi:type="dcterms:W3CDTF">2026-09-14T06:31:40Z</dcterms:created>
  <dcterms:modified xsi:type="dcterms:W3CDTF">2026-09-14T07:30:09Z</dcterms:modified>
</cp:coreProperties>
</file>
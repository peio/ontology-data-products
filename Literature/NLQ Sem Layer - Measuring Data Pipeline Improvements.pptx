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Modelled business case for the semantic layer and metadata governance programme. 22 value drivers across 11 workstreams, grouped by pipeline stage. No decision requested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programme, two moving parts: the semantic layer and NLQ front end, and the metadata and governance standardisation underneath it. The value shows up in three places along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read as a flow of eleven events, left to right, top to bottom. Every event carries measured impact; the blue events are where the largest modelled impact sits in each stage: search time, reconciliation effort and projects per analyst.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the eleven events give back calendar time. Taken together they remove seventeen working days from a single pass through the pipeline. The other eighteen drivers change cost, trust and reach rather than the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is where the programme pays first. Standardised metadata lifts documented coverage by 30 points and cuts expert support requests by the same. Search time falls 40 percent, the largest single reduction in this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Analytics is the cost story. Integration time down a week, integration cost down a quarter, and reconciliation effort halved because consistency is enforced upstream rather than patched per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 splits over two slides. First half: quality and accuracy. Two days off quality evaluation, 15 points on confidence and insight accuracy, and 30 percent fewer decisions that had to be corrected after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throughput and reach. Five days off time to insight, a quarter more projects per analyst at 20 percent lower cost each, and cross-entity analysis on 30 percent more projects with three new collaboration opportunities identified.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across the stages and the 22 drivers fall into four groups: time removed, cost removed, trust gained and reach extended. Time and cost carry the case; trust and reach are what compound.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decision requested. The purpose is to note progress, agree that these are the right measures, and confirm the review cadence. Every figure traces back to a named KPI with a defined measurement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0F60"/>
        </a:solidFill>
      </p:bgPr>
    </p:bg>
    <p:spTree>
      <p:nvGrpSpPr>
        <p:cNvPr id="1" name=""/>
        <p:cNvGrpSpPr/>
        <p:nvPr/>
      </p:nvGrpSpPr>
      <p:grpSpPr>
        <a:xfrm>
          <a:off x="0" y="0"/>
          <a:ext cx="0" cy="0"/>
          <a:chOff x="0" y="0"/>
          <a:chExt cx="0" cy="0"/>
        </a:xfrm>
      </p:grpSpPr>
      <p:sp>
        <p:nvSpPr>
          <p:cNvPr id="2" name="Text 0"/>
          <p:cNvSpPr/>
          <p:nvPr/>
        </p:nvSpPr>
        <p:spPr>
          <a:xfrm>
            <a:off x="914363" y="914363"/>
            <a:ext cx="18105202"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A5B3FE"/>
                </a:solidFill>
                <a:latin typeface="Poppins" pitchFamily="34" charset="0"/>
                <a:ea typeface="Poppins" pitchFamily="34" charset="-122"/>
                <a:cs typeface="Poppins" pitchFamily="34" charset="-120"/>
              </a:rPr>
              <a:t>MODELLED BUSINESS CASE</a:t>
            </a:r>
            <a:endParaRPr lang="en-US" sz="1800" dirty="0"/>
          </a:p>
        </p:txBody>
      </p:sp>
      <p:sp>
        <p:nvSpPr>
          <p:cNvPr id="3" name="Shape 1"/>
          <p:cNvSpPr/>
          <p:nvPr/>
        </p:nvSpPr>
        <p:spPr>
          <a:xfrm>
            <a:off x="914363" y="1535286"/>
            <a:ext cx="914363" cy="38075"/>
          </a:xfrm>
          <a:prstGeom prst="rect">
            <a:avLst/>
          </a:prstGeom>
          <a:gradFill rotWithShape="1">
            <a:gsLst>
              <a:gs pos="0">
                <a:srgbClr val="001FFF">
                  <a:alpha val="100000"/>
                </a:srgbClr>
              </a:gs>
              <a:gs pos="100000">
                <a:srgbClr val="DF367C">
                  <a:alpha val="100000"/>
                </a:srgbClr>
              </a:gs>
            </a:gsLst>
            <a:lin ang="2700000" scaled="0"/>
          </a:gradFill>
          <a:ln/>
        </p:spPr>
      </p:sp>
      <p:sp>
        <p:nvSpPr>
          <p:cNvPr id="4" name="Text 2"/>
          <p:cNvSpPr/>
          <p:nvPr/>
        </p:nvSpPr>
        <p:spPr>
          <a:xfrm>
            <a:off x="914363" y="2555007"/>
            <a:ext cx="13735050" cy="2447379"/>
          </a:xfrm>
          <a:prstGeom prst="rect">
            <a:avLst/>
          </a:prstGeom>
          <a:noFill/>
          <a:ln/>
        </p:spPr>
        <p:txBody>
          <a:bodyPr wrap="square" lIns="25400" tIns="25400" rIns="25400" bIns="25400" rtlCol="0" anchor="t">
            <a:normAutofit/>
          </a:bodyPr>
          <a:lstStyle/>
          <a:p>
            <a:pPr algn="l" indent="0" marL="0">
              <a:lnSpc>
                <a:spcPct val="68061"/>
              </a:lnSpc>
              <a:buNone/>
            </a:pPr>
            <a:r>
              <a:rPr lang="en-US" sz="9300" b="1" spc="-186" kern="0" dirty="0">
                <a:solidFill>
                  <a:srgbClr val="FFFFFF"/>
                </a:solidFill>
                <a:latin typeface="Poppins" pitchFamily="34" charset="0"/>
                <a:ea typeface="Poppins" pitchFamily="34" charset="-122"/>
                <a:cs typeface="Poppins" pitchFamily="34" charset="-120"/>
              </a:rPr>
              <a:t>Data Pipeline </a:t>
            </a:r>
            <a:pPr algn="l" indent="0" marL="0">
              <a:lnSpc>
                <a:spcPct val="68061"/>
              </a:lnSpc>
              <a:buNone/>
            </a:pPr>
            <a:r>
              <a:rPr lang="en-US" sz="9300" b="1" spc="-186" kern="0" dirty="0">
                <a:solidFill>
                  <a:srgbClr val="A5B3FE"/>
                </a:solidFill>
                <a:latin typeface="Poppins" pitchFamily="34" charset="0"/>
                <a:ea typeface="Poppins" pitchFamily="34" charset="-122"/>
                <a:cs typeface="Poppins" pitchFamily="34" charset="-120"/>
              </a:rPr>
              <a:t>Improvements</a:t>
            </a:r>
            <a:endParaRPr lang="en-US" sz="9300" dirty="0"/>
          </a:p>
        </p:txBody>
      </p:sp>
      <p:sp>
        <p:nvSpPr>
          <p:cNvPr id="5" name="Text 3"/>
          <p:cNvSpPr/>
          <p:nvPr/>
        </p:nvSpPr>
        <p:spPr>
          <a:xfrm>
            <a:off x="914363" y="5269074"/>
            <a:ext cx="10595610" cy="1981051"/>
          </a:xfrm>
          <a:prstGeom prst="rect">
            <a:avLst/>
          </a:prstGeom>
          <a:noFill/>
          <a:ln/>
        </p:spPr>
        <p:txBody>
          <a:bodyPr wrap="square" lIns="25400" tIns="25400" rIns="25400" bIns="25400" rtlCol="0" anchor="t">
            <a:normAutofit/>
          </a:bodyPr>
          <a:lstStyle/>
          <a:p>
            <a:pPr algn="l" indent="0" marL="0">
              <a:lnSpc>
                <a:spcPct val="99512"/>
              </a:lnSpc>
              <a:buNone/>
            </a:pPr>
            <a:r>
              <a:rPr lang="en-US" sz="2550" dirty="0">
                <a:solidFill>
                  <a:srgbClr val="FFFFFF">
                    <a:alpha val="82000"/>
                  </a:srgbClr>
                </a:solidFill>
                <a:latin typeface="Poppins" pitchFamily="34" charset="0"/>
                <a:ea typeface="Poppins" pitchFamily="34" charset="-122"/>
                <a:cs typeface="Poppins" pitchFamily="34" charset="-120"/>
              </a:rPr>
              <a:t>A semantic layer with natural-language query, delivered alongside metadata and governance standardisation, as one programme. Value modelled across data discovery, analytics and interpretation.</a:t>
            </a:r>
            <a:endParaRPr lang="en-US" sz="2550" dirty="0"/>
          </a:p>
        </p:txBody>
      </p:sp>
      <p:sp>
        <p:nvSpPr>
          <p:cNvPr id="6" name="Text 4"/>
          <p:cNvSpPr/>
          <p:nvPr/>
        </p:nvSpPr>
        <p:spPr>
          <a:xfrm>
            <a:off x="914363" y="8193608"/>
            <a:ext cx="2424832" cy="805743"/>
          </a:xfrm>
          <a:prstGeom prst="rect">
            <a:avLst/>
          </a:prstGeom>
          <a:noFill/>
          <a:ln/>
        </p:spPr>
        <p:txBody>
          <a:bodyPr wrap="square" lIns="25400" tIns="25400" rIns="25400" bIns="25400" rtlCol="0" anchor="t">
            <a:normAutofit/>
          </a:bodyPr>
          <a:lstStyle/>
          <a:p>
            <a:pPr algn="l" indent="0" marL="0">
              <a:lnSpc>
                <a:spcPct val="103444"/>
              </a:lnSpc>
              <a:buNone/>
            </a:pPr>
            <a:r>
              <a:rPr lang="en-US" sz="3900" b="1" spc="-78" kern="0" dirty="0">
                <a:solidFill>
                  <a:srgbClr val="FFFFFF"/>
                </a:solidFill>
                <a:latin typeface="Poppins" pitchFamily="34" charset="0"/>
                <a:ea typeface="Poppins" pitchFamily="34" charset="-122"/>
                <a:cs typeface="Poppins" pitchFamily="34" charset="-120"/>
              </a:rPr>
              <a:t>22</a:t>
            </a:r>
            <a:endParaRPr lang="en-US" sz="3900" dirty="0"/>
          </a:p>
        </p:txBody>
      </p:sp>
      <p:sp>
        <p:nvSpPr>
          <p:cNvPr id="7" name="Text 5"/>
          <p:cNvSpPr/>
          <p:nvPr/>
        </p:nvSpPr>
        <p:spPr>
          <a:xfrm>
            <a:off x="914363" y="9018364"/>
            <a:ext cx="2424832"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A5B3FE"/>
                </a:solidFill>
                <a:latin typeface="Poppins" pitchFamily="34" charset="0"/>
                <a:ea typeface="Poppins" pitchFamily="34" charset="-122"/>
                <a:cs typeface="Poppins" pitchFamily="34" charset="-120"/>
              </a:rPr>
              <a:t>VALUE DRIVERS</a:t>
            </a:r>
            <a:endParaRPr lang="en-US" sz="1800" dirty="0"/>
          </a:p>
        </p:txBody>
      </p:sp>
      <p:sp>
        <p:nvSpPr>
          <p:cNvPr id="8" name="Text 6"/>
          <p:cNvSpPr/>
          <p:nvPr/>
        </p:nvSpPr>
        <p:spPr>
          <a:xfrm>
            <a:off x="3728331" y="8193608"/>
            <a:ext cx="2383904" cy="805743"/>
          </a:xfrm>
          <a:prstGeom prst="rect">
            <a:avLst/>
          </a:prstGeom>
          <a:noFill/>
          <a:ln/>
        </p:spPr>
        <p:txBody>
          <a:bodyPr wrap="square" lIns="25400" tIns="25400" rIns="25400" bIns="25400" rtlCol="0" anchor="t">
            <a:normAutofit/>
          </a:bodyPr>
          <a:lstStyle/>
          <a:p>
            <a:pPr algn="l" indent="0" marL="0">
              <a:lnSpc>
                <a:spcPct val="103444"/>
              </a:lnSpc>
              <a:buNone/>
            </a:pPr>
            <a:r>
              <a:rPr lang="en-US" sz="3900" b="1" spc="-78" kern="0" dirty="0">
                <a:solidFill>
                  <a:srgbClr val="FFFFFF"/>
                </a:solidFill>
                <a:latin typeface="Poppins" pitchFamily="34" charset="0"/>
                <a:ea typeface="Poppins" pitchFamily="34" charset="-122"/>
                <a:cs typeface="Poppins" pitchFamily="34" charset="-120"/>
              </a:rPr>
              <a:t>11</a:t>
            </a:r>
            <a:endParaRPr lang="en-US" sz="3900" dirty="0"/>
          </a:p>
        </p:txBody>
      </p:sp>
      <p:sp>
        <p:nvSpPr>
          <p:cNvPr id="9" name="Text 7"/>
          <p:cNvSpPr/>
          <p:nvPr/>
        </p:nvSpPr>
        <p:spPr>
          <a:xfrm>
            <a:off x="3728331" y="9018364"/>
            <a:ext cx="2383904"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A5B3FE"/>
                </a:solidFill>
                <a:latin typeface="Poppins" pitchFamily="34" charset="0"/>
                <a:ea typeface="Poppins" pitchFamily="34" charset="-122"/>
                <a:cs typeface="Poppins" pitchFamily="34" charset="-120"/>
              </a:rPr>
              <a:t>WORKSTREAMS</a:t>
            </a:r>
            <a:endParaRPr lang="en-US" sz="1800" dirty="0"/>
          </a:p>
        </p:txBody>
      </p:sp>
      <p:sp>
        <p:nvSpPr>
          <p:cNvPr id="10" name="Text 8"/>
          <p:cNvSpPr/>
          <p:nvPr/>
        </p:nvSpPr>
        <p:spPr>
          <a:xfrm>
            <a:off x="6505091" y="8193608"/>
            <a:ext cx="2660985" cy="805743"/>
          </a:xfrm>
          <a:prstGeom prst="rect">
            <a:avLst/>
          </a:prstGeom>
          <a:noFill/>
          <a:ln/>
        </p:spPr>
        <p:txBody>
          <a:bodyPr wrap="square" lIns="25400" tIns="25400" rIns="25400" bIns="25400" rtlCol="0" anchor="t">
            <a:normAutofit/>
          </a:bodyPr>
          <a:lstStyle/>
          <a:p>
            <a:pPr algn="l" indent="0" marL="0">
              <a:lnSpc>
                <a:spcPct val="103444"/>
              </a:lnSpc>
              <a:buNone/>
            </a:pPr>
            <a:r>
              <a:rPr lang="en-US" sz="3900" b="1" spc="-78" kern="0" dirty="0">
                <a:solidFill>
                  <a:srgbClr val="FFFFFF"/>
                </a:solidFill>
                <a:latin typeface="Poppins" pitchFamily="34" charset="0"/>
                <a:ea typeface="Poppins" pitchFamily="34" charset="-122"/>
                <a:cs typeface="Poppins" pitchFamily="34" charset="-120"/>
              </a:rPr>
              <a:t>3</a:t>
            </a:r>
            <a:endParaRPr lang="en-US" sz="3900" dirty="0"/>
          </a:p>
        </p:txBody>
      </p:sp>
      <p:sp>
        <p:nvSpPr>
          <p:cNvPr id="11" name="Text 9"/>
          <p:cNvSpPr/>
          <p:nvPr/>
        </p:nvSpPr>
        <p:spPr>
          <a:xfrm>
            <a:off x="6505091" y="9018364"/>
            <a:ext cx="2660985"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A5B3FE"/>
                </a:solidFill>
                <a:latin typeface="Poppins" pitchFamily="34" charset="0"/>
                <a:ea typeface="Poppins" pitchFamily="34" charset="-122"/>
                <a:cs typeface="Poppins" pitchFamily="34" charset="-120"/>
              </a:rPr>
              <a:t>PIPELINE STAGES</a:t>
            </a:r>
            <a:endParaRPr lang="en-US" sz="1800" dirty="0"/>
          </a:p>
        </p:txBody>
      </p:sp>
      <p:pic>
        <p:nvPicPr>
          <p:cNvPr id="12" name="Image 0" descr="preencoded.png">    </p:cNvPr>
          <p:cNvPicPr>
            <a:picLocks noChangeAspect="1"/>
          </p:cNvPicPr>
          <p:nvPr/>
        </p:nvPicPr>
        <p:blipFill>
          <a:blip r:embed="rId1"/>
          <a:stretch>
            <a:fillRect/>
          </a:stretch>
        </p:blipFill>
        <p:spPr>
          <a:xfrm>
            <a:off x="14197087" y="8648774"/>
            <a:ext cx="3176550" cy="7238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575" y="1504900"/>
            <a:ext cx="17068849" cy="9525"/>
          </a:xfrm>
          <a:prstGeom prst="rect">
            <a:avLst/>
          </a:prstGeom>
          <a:solidFill>
            <a:srgbClr val="DEDEDE"/>
          </a:solidFill>
          <a:ln/>
        </p:spPr>
      </p:sp>
      <p:sp>
        <p:nvSpPr>
          <p:cNvPr id="3" name="Text 1"/>
          <p:cNvSpPr/>
          <p:nvPr/>
        </p:nvSpPr>
        <p:spPr>
          <a:xfrm>
            <a:off x="609575" y="609575"/>
            <a:ext cx="8777157" cy="704850"/>
          </a:xfrm>
          <a:prstGeom prst="rect">
            <a:avLst/>
          </a:prstGeom>
          <a:noFill/>
          <a:ln/>
        </p:spPr>
        <p:txBody>
          <a:bodyPr wrap="square" lIns="25400" tIns="25400" rIns="25400" bIns="25400" rtlCol="0" anchor="t">
            <a:normAutofit/>
          </a:bodyPr>
          <a:lstStyle/>
          <a:p>
            <a:pPr algn="l" indent="0" marL="0">
              <a:lnSpc>
                <a:spcPct val="83582"/>
              </a:lnSpc>
              <a:buNone/>
            </a:pPr>
            <a:r>
              <a:rPr lang="en-US" sz="4200" b="1" spc="-84" kern="0" dirty="0">
                <a:solidFill>
                  <a:srgbClr val="220F60"/>
                </a:solidFill>
                <a:latin typeface="Poppins" pitchFamily="34" charset="0"/>
                <a:ea typeface="Poppins" pitchFamily="34" charset="-122"/>
                <a:cs typeface="Poppins" pitchFamily="34" charset="-120"/>
              </a:rPr>
              <a:t>One programme, three </a:t>
            </a:r>
            <a:pPr algn="l" indent="0" marL="0">
              <a:lnSpc>
                <a:spcPct val="83582"/>
              </a:lnSpc>
              <a:buNone/>
            </a:pPr>
            <a:r>
              <a:rPr lang="en-US" sz="4200" b="1" spc="-84" kern="0" dirty="0">
                <a:solidFill>
                  <a:srgbClr val="001FFF"/>
                </a:solidFill>
                <a:latin typeface="Poppins" pitchFamily="34" charset="0"/>
                <a:ea typeface="Poppins" pitchFamily="34" charset="-122"/>
                <a:cs typeface="Poppins" pitchFamily="34" charset="-120"/>
              </a:rPr>
              <a:t>stages</a:t>
            </a:r>
            <a:endParaRPr lang="en-US" sz="4200" dirty="0"/>
          </a:p>
        </p:txBody>
      </p:sp>
      <p:pic>
        <p:nvPicPr>
          <p:cNvPr id="4" name="Image 0" descr="preencoded.png">    </p:cNvPr>
          <p:cNvPicPr>
            <a:picLocks noChangeAspect="1"/>
          </p:cNvPicPr>
          <p:nvPr/>
        </p:nvPicPr>
        <p:blipFill>
          <a:blip r:embed="rId1"/>
          <a:stretch>
            <a:fillRect/>
          </a:stretch>
        </p:blipFill>
        <p:spPr>
          <a:xfrm>
            <a:off x="16250046" y="952500"/>
            <a:ext cx="1428378" cy="323825"/>
          </a:xfrm>
          <a:prstGeom prst="rect">
            <a:avLst/>
          </a:prstGeom>
        </p:spPr>
      </p:pic>
      <p:sp>
        <p:nvSpPr>
          <p:cNvPr id="5" name="Text 2"/>
          <p:cNvSpPr/>
          <p:nvPr/>
        </p:nvSpPr>
        <p:spPr>
          <a:xfrm>
            <a:off x="609575" y="1969988"/>
            <a:ext cx="5494020" cy="2252538"/>
          </a:xfrm>
          <a:prstGeom prst="rect">
            <a:avLst/>
          </a:prstGeom>
          <a:noFill/>
          <a:ln/>
        </p:spPr>
        <p:txBody>
          <a:bodyPr wrap="square" lIns="25400" tIns="25400" rIns="25400" bIns="25400" rtlCol="0" anchor="t">
            <a:normAutofit/>
          </a:bodyPr>
          <a:lstStyle/>
          <a:p>
            <a:pPr algn="l" indent="0" marL="0">
              <a:lnSpc>
                <a:spcPct val="103333"/>
              </a:lnSpc>
              <a:buNone/>
            </a:pPr>
            <a:r>
              <a:rPr lang="en-US" sz="2250" dirty="0">
                <a:solidFill>
                  <a:srgbClr val="15103A"/>
                </a:solidFill>
                <a:latin typeface="Poppins" pitchFamily="34" charset="0"/>
                <a:ea typeface="Poppins" pitchFamily="34" charset="-122"/>
                <a:cs typeface="Poppins" pitchFamily="34" charset="-120"/>
              </a:rPr>
              <a:t>The semantic layer and its natural-language query interface sit on top of standardised metadata and governance. Neither part delivers the numbers alone.</a:t>
            </a:r>
            <a:endParaRPr lang="en-US" sz="2250" dirty="0"/>
          </a:p>
        </p:txBody>
      </p:sp>
      <p:sp>
        <p:nvSpPr>
          <p:cNvPr id="6" name="Shape 3"/>
          <p:cNvSpPr/>
          <p:nvPr/>
        </p:nvSpPr>
        <p:spPr>
          <a:xfrm>
            <a:off x="609575" y="4527289"/>
            <a:ext cx="28525" cy="1126691"/>
          </a:xfrm>
          <a:prstGeom prst="rect">
            <a:avLst/>
          </a:prstGeom>
          <a:solidFill>
            <a:srgbClr val="001FFF"/>
          </a:solidFill>
          <a:ln/>
        </p:spPr>
      </p:sp>
      <p:sp>
        <p:nvSpPr>
          <p:cNvPr id="7" name="Text 4"/>
          <p:cNvSpPr/>
          <p:nvPr/>
        </p:nvSpPr>
        <p:spPr>
          <a:xfrm>
            <a:off x="828601" y="4527289"/>
            <a:ext cx="5626472"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b="1" dirty="0">
                <a:solidFill>
                  <a:srgbClr val="220F60"/>
                </a:solidFill>
                <a:latin typeface="Poppins" pitchFamily="34" charset="0"/>
                <a:ea typeface="Poppins" pitchFamily="34" charset="-122"/>
                <a:cs typeface="Poppins" pitchFamily="34" charset="-120"/>
              </a:rPr>
              <a:t>Semantic layer and NLQ</a:t>
            </a:r>
            <a:endParaRPr lang="en-US" sz="1950" dirty="0"/>
          </a:p>
        </p:txBody>
      </p:sp>
      <p:sp>
        <p:nvSpPr>
          <p:cNvPr id="8" name="Text 5"/>
          <p:cNvSpPr/>
          <p:nvPr/>
        </p:nvSpPr>
        <p:spPr>
          <a:xfrm>
            <a:off x="828601" y="4968255"/>
            <a:ext cx="5268424" cy="723826"/>
          </a:xfrm>
          <a:prstGeom prst="rect">
            <a:avLst/>
          </a:prstGeom>
          <a:noFill/>
          <a:ln/>
        </p:spPr>
        <p:txBody>
          <a:bodyPr wrap="square" lIns="25400" tIns="25400" rIns="25400" bIns="25400" rtlCol="0" anchor="t">
            <a:normAutofit/>
          </a:bodyPr>
          <a:lstStyle/>
          <a:p>
            <a:pPr algn="l" indent="0" marL="0">
              <a:lnSpc>
                <a:spcPct val="100465"/>
              </a:lnSpc>
              <a:buNone/>
            </a:pPr>
            <a:r>
              <a:rPr lang="en-US" sz="1800" dirty="0">
                <a:solidFill>
                  <a:srgbClr val="3B5C7F"/>
                </a:solidFill>
                <a:latin typeface="Poppins" pitchFamily="34" charset="0"/>
                <a:ea typeface="Poppins" pitchFamily="34" charset="-122"/>
                <a:cs typeface="Poppins" pitchFamily="34" charset="-120"/>
              </a:rPr>
              <a:t>Analysts query a governed model in plain language instead of reconstructing joins.</a:t>
            </a:r>
            <a:endParaRPr lang="en-US" sz="1800" dirty="0"/>
          </a:p>
        </p:txBody>
      </p:sp>
      <p:sp>
        <p:nvSpPr>
          <p:cNvPr id="9" name="Shape 6"/>
          <p:cNvSpPr/>
          <p:nvPr/>
        </p:nvSpPr>
        <p:spPr>
          <a:xfrm>
            <a:off x="609575" y="5844480"/>
            <a:ext cx="28525" cy="1469554"/>
          </a:xfrm>
          <a:prstGeom prst="rect">
            <a:avLst/>
          </a:prstGeom>
          <a:solidFill>
            <a:srgbClr val="001FFF"/>
          </a:solidFill>
          <a:ln/>
        </p:spPr>
      </p:sp>
      <p:sp>
        <p:nvSpPr>
          <p:cNvPr id="10" name="Text 7"/>
          <p:cNvSpPr/>
          <p:nvPr/>
        </p:nvSpPr>
        <p:spPr>
          <a:xfrm>
            <a:off x="828601" y="5844480"/>
            <a:ext cx="5626472"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b="1" dirty="0">
                <a:solidFill>
                  <a:srgbClr val="220F60"/>
                </a:solidFill>
                <a:latin typeface="Poppins" pitchFamily="34" charset="0"/>
                <a:ea typeface="Poppins" pitchFamily="34" charset="-122"/>
                <a:cs typeface="Poppins" pitchFamily="34" charset="-120"/>
              </a:rPr>
              <a:t>Metadata and governance</a:t>
            </a:r>
            <a:endParaRPr lang="en-US" sz="1950" dirty="0"/>
          </a:p>
        </p:txBody>
      </p:sp>
      <p:sp>
        <p:nvSpPr>
          <p:cNvPr id="11" name="Text 8"/>
          <p:cNvSpPr/>
          <p:nvPr/>
        </p:nvSpPr>
        <p:spPr>
          <a:xfrm>
            <a:off x="828601" y="6285445"/>
            <a:ext cx="5268424" cy="1066688"/>
          </a:xfrm>
          <a:prstGeom prst="rect">
            <a:avLst/>
          </a:prstGeom>
          <a:noFill/>
          <a:ln/>
        </p:spPr>
        <p:txBody>
          <a:bodyPr wrap="square" lIns="25400" tIns="25400" rIns="25400" bIns="25400" rtlCol="0" anchor="t">
            <a:normAutofit/>
          </a:bodyPr>
          <a:lstStyle/>
          <a:p>
            <a:pPr algn="l" indent="0" marL="0">
              <a:lnSpc>
                <a:spcPct val="100465"/>
              </a:lnSpc>
              <a:buNone/>
            </a:pPr>
            <a:r>
              <a:rPr lang="en-US" sz="1800" dirty="0">
                <a:solidFill>
                  <a:srgbClr val="3B5C7F"/>
                </a:solidFill>
                <a:latin typeface="Poppins" pitchFamily="34" charset="0"/>
                <a:ea typeface="Poppins" pitchFamily="34" charset="-122"/>
                <a:cs typeface="Poppins" pitchFamily="34" charset="-120"/>
              </a:rPr>
              <a:t>Standardised documentation, consistent definitions and enrichment applied at source.</a:t>
            </a:r>
            <a:endParaRPr lang="en-US" sz="1800" dirty="0"/>
          </a:p>
        </p:txBody>
      </p:sp>
      <p:sp>
        <p:nvSpPr>
          <p:cNvPr id="12" name="Shape 9"/>
          <p:cNvSpPr/>
          <p:nvPr/>
        </p:nvSpPr>
        <p:spPr>
          <a:xfrm>
            <a:off x="6476938" y="1969988"/>
            <a:ext cx="11201486" cy="1478111"/>
          </a:xfrm>
          <a:prstGeom prst="roundRect">
            <a:avLst>
              <a:gd name="adj" fmla="val 6444"/>
            </a:avLst>
          </a:prstGeom>
          <a:solidFill>
            <a:srgbClr val="001FFF"/>
          </a:solidFill>
          <a:ln/>
          <a:effectLst>
            <a:outerShdw sx="100000" sy="100000" kx="0" ky="0" algn="bl" rotWithShape="0" blurRad="266700" dist="95250" dir="5400000">
              <a:srgbClr val="001FFF">
                <a:alpha val="22000"/>
              </a:srgbClr>
            </a:outerShdw>
          </a:effectLst>
        </p:spPr>
      </p:sp>
      <p:sp>
        <p:nvSpPr>
          <p:cNvPr id="13" name="Text 10"/>
          <p:cNvSpPr/>
          <p:nvPr/>
        </p:nvSpPr>
        <p:spPr>
          <a:xfrm>
            <a:off x="6781726" y="2531876"/>
            <a:ext cx="609563"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FFFFFF">
                    <a:alpha val="70000"/>
                  </a:srgbClr>
                </a:solidFill>
                <a:latin typeface="Poppins" pitchFamily="34" charset="0"/>
                <a:ea typeface="Poppins" pitchFamily="34" charset="-122"/>
                <a:cs typeface="Poppins" pitchFamily="34" charset="-120"/>
              </a:rPr>
              <a:t>01</a:t>
            </a:r>
            <a:endParaRPr lang="en-US" sz="1800" dirty="0"/>
          </a:p>
        </p:txBody>
      </p:sp>
      <p:sp>
        <p:nvSpPr>
          <p:cNvPr id="14" name="Text 11"/>
          <p:cNvSpPr/>
          <p:nvPr/>
        </p:nvSpPr>
        <p:spPr>
          <a:xfrm>
            <a:off x="7543663" y="2278559"/>
            <a:ext cx="9294415" cy="510505"/>
          </a:xfrm>
          <a:prstGeom prst="rect">
            <a:avLst/>
          </a:prstGeom>
          <a:noFill/>
          <a:ln/>
        </p:spPr>
        <p:txBody>
          <a:bodyPr wrap="square" lIns="25400" tIns="25400" rIns="25400" bIns="25400" rtlCol="0" anchor="t">
            <a:normAutofit/>
          </a:bodyPr>
          <a:lstStyle/>
          <a:p>
            <a:pPr algn="l" indent="0" marL="0">
              <a:lnSpc>
                <a:spcPct val="102621"/>
              </a:lnSpc>
              <a:buNone/>
            </a:pPr>
            <a:r>
              <a:rPr lang="en-US" sz="2400" b="1" dirty="0">
                <a:solidFill>
                  <a:srgbClr val="FFFFFF"/>
                </a:solidFill>
                <a:latin typeface="Poppins" pitchFamily="34" charset="0"/>
                <a:ea typeface="Poppins" pitchFamily="34" charset="-122"/>
                <a:cs typeface="Poppins" pitchFamily="34" charset="-120"/>
              </a:rPr>
              <a:t>Data Discovery</a:t>
            </a:r>
            <a:endParaRPr lang="en-US" sz="2400" dirty="0"/>
          </a:p>
        </p:txBody>
      </p:sp>
      <p:sp>
        <p:nvSpPr>
          <p:cNvPr id="15" name="Text 12"/>
          <p:cNvSpPr/>
          <p:nvPr/>
        </p:nvSpPr>
        <p:spPr>
          <a:xfrm>
            <a:off x="7543663" y="2808077"/>
            <a:ext cx="9294415" cy="369491"/>
          </a:xfrm>
          <a:prstGeom prst="rect">
            <a:avLst/>
          </a:prstGeom>
          <a:noFill/>
          <a:ln/>
        </p:spPr>
        <p:txBody>
          <a:bodyPr wrap="square" lIns="25400" tIns="25400" rIns="25400" bIns="25400" rtlCol="0" anchor="t">
            <a:normAutofit/>
          </a:bodyPr>
          <a:lstStyle/>
          <a:p>
            <a:pPr algn="l" indent="0" marL="0">
              <a:lnSpc>
                <a:spcPct val="97116"/>
              </a:lnSpc>
              <a:buNone/>
            </a:pPr>
            <a:r>
              <a:rPr lang="en-US" sz="1800" dirty="0">
                <a:solidFill>
                  <a:srgbClr val="FFFFFF">
                    <a:alpha val="86000"/>
                  </a:srgbClr>
                </a:solidFill>
                <a:latin typeface="Poppins" pitchFamily="34" charset="0"/>
                <a:ea typeface="Poppins" pitchFamily="34" charset="-122"/>
                <a:cs typeface="Poppins" pitchFamily="34" charset="-120"/>
              </a:rPr>
              <a:t>Find the right data without waiting on a domain expert.</a:t>
            </a:r>
            <a:endParaRPr lang="en-US" sz="1800" dirty="0"/>
          </a:p>
        </p:txBody>
      </p:sp>
      <p:sp>
        <p:nvSpPr>
          <p:cNvPr id="16" name="Text 13"/>
          <p:cNvSpPr/>
          <p:nvPr/>
        </p:nvSpPr>
        <p:spPr>
          <a:xfrm>
            <a:off x="16145508" y="2236639"/>
            <a:ext cx="1228130" cy="628638"/>
          </a:xfrm>
          <a:prstGeom prst="rect">
            <a:avLst/>
          </a:prstGeom>
          <a:noFill/>
          <a:ln/>
        </p:spPr>
        <p:txBody>
          <a:bodyPr wrap="square" lIns="25400" tIns="25400" rIns="25400" bIns="25400" rtlCol="0" anchor="t">
            <a:normAutofit/>
          </a:bodyPr>
          <a:lstStyle/>
          <a:p>
            <a:pPr algn="r" indent="0" marL="0">
              <a:lnSpc>
                <a:spcPct val="102621"/>
              </a:lnSpc>
              <a:buNone/>
            </a:pPr>
            <a:r>
              <a:rPr lang="en-US" sz="3000" b="1" dirty="0">
                <a:solidFill>
                  <a:srgbClr val="FFFFFF"/>
                </a:solidFill>
                <a:latin typeface="Poppins" pitchFamily="34" charset="0"/>
                <a:ea typeface="Poppins" pitchFamily="34" charset="-122"/>
                <a:cs typeface="Poppins" pitchFamily="34" charset="-120"/>
              </a:rPr>
              <a:t>6</a:t>
            </a:r>
            <a:endParaRPr lang="en-US" sz="3000" dirty="0"/>
          </a:p>
        </p:txBody>
      </p:sp>
      <p:sp>
        <p:nvSpPr>
          <p:cNvPr id="17" name="Text 14"/>
          <p:cNvSpPr/>
          <p:nvPr/>
        </p:nvSpPr>
        <p:spPr>
          <a:xfrm>
            <a:off x="16145508" y="2827176"/>
            <a:ext cx="1228130" cy="392373"/>
          </a:xfrm>
          <a:prstGeom prst="rect">
            <a:avLst/>
          </a:prstGeom>
          <a:noFill/>
          <a:ln/>
        </p:spPr>
        <p:txBody>
          <a:bodyPr wrap="square" lIns="25400" tIns="25400" rIns="25400" bIns="25400" rtlCol="0" anchor="t">
            <a:normAutofit/>
          </a:bodyPr>
          <a:lstStyle/>
          <a:p>
            <a:pPr algn="r" indent="0" marL="0">
              <a:lnSpc>
                <a:spcPct val="103814"/>
              </a:lnSpc>
              <a:buNone/>
            </a:pPr>
            <a:r>
              <a:rPr lang="en-US" sz="1800" spc="252" kern="0" dirty="0">
                <a:solidFill>
                  <a:srgbClr val="FFFFFF">
                    <a:alpha val="72000"/>
                  </a:srgbClr>
                </a:solidFill>
                <a:latin typeface="Poppins" pitchFamily="34" charset="0"/>
                <a:ea typeface="Poppins" pitchFamily="34" charset="-122"/>
                <a:cs typeface="Poppins" pitchFamily="34" charset="-120"/>
              </a:rPr>
              <a:t>DRIVERS</a:t>
            </a:r>
            <a:endParaRPr lang="en-US" sz="1800" dirty="0"/>
          </a:p>
        </p:txBody>
      </p:sp>
      <p:sp>
        <p:nvSpPr>
          <p:cNvPr id="18" name="Shape 15"/>
          <p:cNvSpPr/>
          <p:nvPr/>
        </p:nvSpPr>
        <p:spPr>
          <a:xfrm>
            <a:off x="6476938" y="3638599"/>
            <a:ext cx="11201486" cy="1493986"/>
          </a:xfrm>
          <a:prstGeom prst="roundRect">
            <a:avLst>
              <a:gd name="adj" fmla="val 6376"/>
            </a:avLst>
          </a:prstGeom>
          <a:solidFill>
            <a:srgbClr val="FFFFFF"/>
          </a:solidFill>
          <a:ln w="7937">
            <a:solidFill>
              <a:srgbClr val="DEDEDE"/>
            </a:solidFill>
            <a:prstDash val="solid"/>
          </a:ln>
        </p:spPr>
      </p:sp>
      <p:sp>
        <p:nvSpPr>
          <p:cNvPr id="19" name="Text 16"/>
          <p:cNvSpPr/>
          <p:nvPr/>
        </p:nvSpPr>
        <p:spPr>
          <a:xfrm>
            <a:off x="6789663" y="4208425"/>
            <a:ext cx="609563"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9AA3AD"/>
                </a:solidFill>
                <a:latin typeface="Poppins" pitchFamily="34" charset="0"/>
                <a:ea typeface="Poppins" pitchFamily="34" charset="-122"/>
                <a:cs typeface="Poppins" pitchFamily="34" charset="-120"/>
              </a:rPr>
              <a:t>02</a:t>
            </a:r>
            <a:endParaRPr lang="en-US" sz="1800" dirty="0"/>
          </a:p>
        </p:txBody>
      </p:sp>
      <p:sp>
        <p:nvSpPr>
          <p:cNvPr id="20" name="Text 17"/>
          <p:cNvSpPr/>
          <p:nvPr/>
        </p:nvSpPr>
        <p:spPr>
          <a:xfrm>
            <a:off x="7551601" y="3955107"/>
            <a:ext cx="9276953" cy="510505"/>
          </a:xfrm>
          <a:prstGeom prst="rect">
            <a:avLst/>
          </a:prstGeom>
          <a:noFill/>
          <a:ln/>
        </p:spPr>
        <p:txBody>
          <a:bodyPr wrap="square" lIns="25400" tIns="25400" rIns="25400" bIns="25400" rtlCol="0" anchor="t">
            <a:normAutofit/>
          </a:bodyPr>
          <a:lstStyle/>
          <a:p>
            <a:pPr algn="l" indent="0" marL="0">
              <a:lnSpc>
                <a:spcPct val="102621"/>
              </a:lnSpc>
              <a:buNone/>
            </a:pPr>
            <a:r>
              <a:rPr lang="en-US" sz="2400" b="1" dirty="0">
                <a:solidFill>
                  <a:srgbClr val="220F60"/>
                </a:solidFill>
                <a:latin typeface="Poppins" pitchFamily="34" charset="0"/>
                <a:ea typeface="Poppins" pitchFamily="34" charset="-122"/>
                <a:cs typeface="Poppins" pitchFamily="34" charset="-120"/>
              </a:rPr>
              <a:t>Data Analytics</a:t>
            </a:r>
            <a:endParaRPr lang="en-US" sz="2400" dirty="0"/>
          </a:p>
        </p:txBody>
      </p:sp>
      <p:sp>
        <p:nvSpPr>
          <p:cNvPr id="21" name="Text 18"/>
          <p:cNvSpPr/>
          <p:nvPr/>
        </p:nvSpPr>
        <p:spPr>
          <a:xfrm>
            <a:off x="7551601" y="4484625"/>
            <a:ext cx="9276953" cy="369491"/>
          </a:xfrm>
          <a:prstGeom prst="rect">
            <a:avLst/>
          </a:prstGeom>
          <a:noFill/>
          <a:ln/>
        </p:spPr>
        <p:txBody>
          <a:bodyPr wrap="square" lIns="25400" tIns="25400" rIns="25400" bIns="25400" rtlCol="0" anchor="t">
            <a:normAutofit/>
          </a:bodyPr>
          <a:lstStyle/>
          <a:p>
            <a:pPr algn="l" indent="0" marL="0">
              <a:lnSpc>
                <a:spcPct val="97116"/>
              </a:lnSpc>
              <a:buNone/>
            </a:pPr>
            <a:r>
              <a:rPr lang="en-US" sz="1800" dirty="0">
                <a:solidFill>
                  <a:srgbClr val="3B5C7F"/>
                </a:solidFill>
                <a:latin typeface="Poppins" pitchFamily="34" charset="0"/>
                <a:ea typeface="Poppins" pitchFamily="34" charset="-122"/>
                <a:cs typeface="Poppins" pitchFamily="34" charset="-120"/>
              </a:rPr>
              <a:t>Integrate and enrich without manual reconciliation.</a:t>
            </a:r>
            <a:endParaRPr lang="en-US" sz="1800" dirty="0"/>
          </a:p>
        </p:txBody>
      </p:sp>
      <p:sp>
        <p:nvSpPr>
          <p:cNvPr id="22" name="Text 19"/>
          <p:cNvSpPr/>
          <p:nvPr/>
        </p:nvSpPr>
        <p:spPr>
          <a:xfrm>
            <a:off x="16137570" y="3913187"/>
            <a:ext cx="1228130" cy="628638"/>
          </a:xfrm>
          <a:prstGeom prst="rect">
            <a:avLst/>
          </a:prstGeom>
          <a:noFill/>
          <a:ln/>
        </p:spPr>
        <p:txBody>
          <a:bodyPr wrap="square" lIns="25400" tIns="25400" rIns="25400" bIns="25400" rtlCol="0" anchor="t">
            <a:normAutofit/>
          </a:bodyPr>
          <a:lstStyle/>
          <a:p>
            <a:pPr algn="r" indent="0" marL="0">
              <a:lnSpc>
                <a:spcPct val="102621"/>
              </a:lnSpc>
              <a:buNone/>
            </a:pPr>
            <a:r>
              <a:rPr lang="en-US" sz="3000" b="1" dirty="0">
                <a:solidFill>
                  <a:srgbClr val="220F60"/>
                </a:solidFill>
                <a:latin typeface="Poppins" pitchFamily="34" charset="0"/>
                <a:ea typeface="Poppins" pitchFamily="34" charset="-122"/>
                <a:cs typeface="Poppins" pitchFamily="34" charset="-120"/>
              </a:rPr>
              <a:t>6</a:t>
            </a:r>
            <a:endParaRPr lang="en-US" sz="3000" dirty="0"/>
          </a:p>
        </p:txBody>
      </p:sp>
      <p:sp>
        <p:nvSpPr>
          <p:cNvPr id="23" name="Text 20"/>
          <p:cNvSpPr/>
          <p:nvPr/>
        </p:nvSpPr>
        <p:spPr>
          <a:xfrm>
            <a:off x="16137570" y="4503725"/>
            <a:ext cx="1228130" cy="392373"/>
          </a:xfrm>
          <a:prstGeom prst="rect">
            <a:avLst/>
          </a:prstGeom>
          <a:noFill/>
          <a:ln/>
        </p:spPr>
        <p:txBody>
          <a:bodyPr wrap="square" lIns="25400" tIns="25400" rIns="25400" bIns="25400" rtlCol="0" anchor="t">
            <a:normAutofit/>
          </a:bodyPr>
          <a:lstStyle/>
          <a:p>
            <a:pPr algn="r" indent="0" marL="0">
              <a:lnSpc>
                <a:spcPct val="103814"/>
              </a:lnSpc>
              <a:buNone/>
            </a:pPr>
            <a:r>
              <a:rPr lang="en-US" sz="1800" spc="252" kern="0" dirty="0">
                <a:solidFill>
                  <a:srgbClr val="3B5C7F"/>
                </a:solidFill>
                <a:latin typeface="Poppins" pitchFamily="34" charset="0"/>
                <a:ea typeface="Poppins" pitchFamily="34" charset="-122"/>
                <a:cs typeface="Poppins" pitchFamily="34" charset="-120"/>
              </a:rPr>
              <a:t>DRIVERS</a:t>
            </a:r>
            <a:endParaRPr lang="en-US" sz="1800" dirty="0"/>
          </a:p>
        </p:txBody>
      </p:sp>
      <p:sp>
        <p:nvSpPr>
          <p:cNvPr id="24" name="Shape 21"/>
          <p:cNvSpPr/>
          <p:nvPr/>
        </p:nvSpPr>
        <p:spPr>
          <a:xfrm>
            <a:off x="6476938" y="5323086"/>
            <a:ext cx="11201486" cy="1493986"/>
          </a:xfrm>
          <a:prstGeom prst="roundRect">
            <a:avLst>
              <a:gd name="adj" fmla="val 6376"/>
            </a:avLst>
          </a:prstGeom>
          <a:solidFill>
            <a:srgbClr val="FFFFFF"/>
          </a:solidFill>
          <a:ln w="7937">
            <a:solidFill>
              <a:srgbClr val="DEDEDE"/>
            </a:solidFill>
            <a:prstDash val="solid"/>
          </a:ln>
        </p:spPr>
      </p:sp>
      <p:sp>
        <p:nvSpPr>
          <p:cNvPr id="25" name="Text 22"/>
          <p:cNvSpPr/>
          <p:nvPr/>
        </p:nvSpPr>
        <p:spPr>
          <a:xfrm>
            <a:off x="6789663" y="5892911"/>
            <a:ext cx="609563"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9AA3AD"/>
                </a:solidFill>
                <a:latin typeface="Poppins" pitchFamily="34" charset="0"/>
                <a:ea typeface="Poppins" pitchFamily="34" charset="-122"/>
                <a:cs typeface="Poppins" pitchFamily="34" charset="-120"/>
              </a:rPr>
              <a:t>03</a:t>
            </a:r>
            <a:endParaRPr lang="en-US" sz="1800" dirty="0"/>
          </a:p>
        </p:txBody>
      </p:sp>
      <p:sp>
        <p:nvSpPr>
          <p:cNvPr id="26" name="Text 23"/>
          <p:cNvSpPr/>
          <p:nvPr/>
        </p:nvSpPr>
        <p:spPr>
          <a:xfrm>
            <a:off x="7551601" y="5639594"/>
            <a:ext cx="9276953" cy="510505"/>
          </a:xfrm>
          <a:prstGeom prst="rect">
            <a:avLst/>
          </a:prstGeom>
          <a:noFill/>
          <a:ln/>
        </p:spPr>
        <p:txBody>
          <a:bodyPr wrap="square" lIns="25400" tIns="25400" rIns="25400" bIns="25400" rtlCol="0" anchor="t">
            <a:normAutofit/>
          </a:bodyPr>
          <a:lstStyle/>
          <a:p>
            <a:pPr algn="l" indent="0" marL="0">
              <a:lnSpc>
                <a:spcPct val="102621"/>
              </a:lnSpc>
              <a:buNone/>
            </a:pPr>
            <a:r>
              <a:rPr lang="en-US" sz="2400" b="1" dirty="0">
                <a:solidFill>
                  <a:srgbClr val="220F60"/>
                </a:solidFill>
                <a:latin typeface="Poppins" pitchFamily="34" charset="0"/>
                <a:ea typeface="Poppins" pitchFamily="34" charset="-122"/>
                <a:cs typeface="Poppins" pitchFamily="34" charset="-120"/>
              </a:rPr>
              <a:t>Data Interpretation</a:t>
            </a:r>
            <a:endParaRPr lang="en-US" sz="2400" dirty="0"/>
          </a:p>
        </p:txBody>
      </p:sp>
      <p:sp>
        <p:nvSpPr>
          <p:cNvPr id="27" name="Text 24"/>
          <p:cNvSpPr/>
          <p:nvPr/>
        </p:nvSpPr>
        <p:spPr>
          <a:xfrm>
            <a:off x="7551601" y="6169112"/>
            <a:ext cx="9276953" cy="369491"/>
          </a:xfrm>
          <a:prstGeom prst="rect">
            <a:avLst/>
          </a:prstGeom>
          <a:noFill/>
          <a:ln/>
        </p:spPr>
        <p:txBody>
          <a:bodyPr wrap="square" lIns="25400" tIns="25400" rIns="25400" bIns="25400" rtlCol="0" anchor="t">
            <a:normAutofit/>
          </a:bodyPr>
          <a:lstStyle/>
          <a:p>
            <a:pPr algn="l" indent="0" marL="0">
              <a:lnSpc>
                <a:spcPct val="97116"/>
              </a:lnSpc>
              <a:buNone/>
            </a:pPr>
            <a:r>
              <a:rPr lang="en-US" sz="1800" dirty="0">
                <a:solidFill>
                  <a:srgbClr val="3B5C7F"/>
                </a:solidFill>
                <a:latin typeface="Poppins" pitchFamily="34" charset="0"/>
                <a:ea typeface="Poppins" pitchFamily="34" charset="-122"/>
                <a:cs typeface="Poppins" pitchFamily="34" charset="-120"/>
              </a:rPr>
              <a:t>Faster, more accurate insight at a lower cost per project.</a:t>
            </a:r>
            <a:endParaRPr lang="en-US" sz="1800" dirty="0"/>
          </a:p>
        </p:txBody>
      </p:sp>
      <p:sp>
        <p:nvSpPr>
          <p:cNvPr id="28" name="Text 25"/>
          <p:cNvSpPr/>
          <p:nvPr/>
        </p:nvSpPr>
        <p:spPr>
          <a:xfrm>
            <a:off x="16137570" y="5597673"/>
            <a:ext cx="1228130" cy="628638"/>
          </a:xfrm>
          <a:prstGeom prst="rect">
            <a:avLst/>
          </a:prstGeom>
          <a:noFill/>
          <a:ln/>
        </p:spPr>
        <p:txBody>
          <a:bodyPr wrap="square" lIns="25400" tIns="25400" rIns="25400" bIns="25400" rtlCol="0" anchor="t">
            <a:normAutofit/>
          </a:bodyPr>
          <a:lstStyle/>
          <a:p>
            <a:pPr algn="r" indent="0" marL="0">
              <a:lnSpc>
                <a:spcPct val="102621"/>
              </a:lnSpc>
              <a:buNone/>
            </a:pPr>
            <a:r>
              <a:rPr lang="en-US" sz="3000" b="1" dirty="0">
                <a:solidFill>
                  <a:srgbClr val="220F60"/>
                </a:solidFill>
                <a:latin typeface="Poppins" pitchFamily="34" charset="0"/>
                <a:ea typeface="Poppins" pitchFamily="34" charset="-122"/>
                <a:cs typeface="Poppins" pitchFamily="34" charset="-120"/>
              </a:rPr>
              <a:t>10</a:t>
            </a:r>
            <a:endParaRPr lang="en-US" sz="3000" dirty="0"/>
          </a:p>
        </p:txBody>
      </p:sp>
      <p:sp>
        <p:nvSpPr>
          <p:cNvPr id="29" name="Text 26"/>
          <p:cNvSpPr/>
          <p:nvPr/>
        </p:nvSpPr>
        <p:spPr>
          <a:xfrm>
            <a:off x="16137570" y="6188211"/>
            <a:ext cx="1228130" cy="392373"/>
          </a:xfrm>
          <a:prstGeom prst="rect">
            <a:avLst/>
          </a:prstGeom>
          <a:noFill/>
          <a:ln/>
        </p:spPr>
        <p:txBody>
          <a:bodyPr wrap="square" lIns="25400" tIns="25400" rIns="25400" bIns="25400" rtlCol="0" anchor="t">
            <a:normAutofit/>
          </a:bodyPr>
          <a:lstStyle/>
          <a:p>
            <a:pPr algn="r" indent="0" marL="0">
              <a:lnSpc>
                <a:spcPct val="103814"/>
              </a:lnSpc>
              <a:buNone/>
            </a:pPr>
            <a:r>
              <a:rPr lang="en-US" sz="1800" spc="252" kern="0" dirty="0">
                <a:solidFill>
                  <a:srgbClr val="3B5C7F"/>
                </a:solidFill>
                <a:latin typeface="Poppins" pitchFamily="34" charset="0"/>
                <a:ea typeface="Poppins" pitchFamily="34" charset="-122"/>
                <a:cs typeface="Poppins" pitchFamily="34" charset="-120"/>
              </a:rPr>
              <a:t>DRIVERS</a:t>
            </a:r>
            <a:endParaRPr lang="en-US" sz="1800" dirty="0"/>
          </a:p>
        </p:txBody>
      </p:sp>
      <p:sp>
        <p:nvSpPr>
          <p:cNvPr id="30" name="Shape 27"/>
          <p:cNvSpPr/>
          <p:nvPr/>
        </p:nvSpPr>
        <p:spPr>
          <a:xfrm>
            <a:off x="609575" y="9672712"/>
            <a:ext cx="95250" cy="19038"/>
          </a:xfrm>
          <a:prstGeom prst="rect">
            <a:avLst/>
          </a:prstGeom>
          <a:solidFill>
            <a:srgbClr val="001FFF"/>
          </a:solidFill>
          <a:ln/>
        </p:spPr>
      </p:sp>
      <p:sp>
        <p:nvSpPr>
          <p:cNvPr id="31" name="Text 28"/>
          <p:cNvSpPr/>
          <p:nvPr/>
        </p:nvSpPr>
        <p:spPr>
          <a:xfrm>
            <a:off x="857188" y="9534612"/>
            <a:ext cx="2401912" cy="333338"/>
          </a:xfrm>
          <a:prstGeom prst="rect">
            <a:avLst/>
          </a:prstGeom>
          <a:noFill/>
          <a:ln/>
        </p:spPr>
        <p:txBody>
          <a:bodyPr wrap="square" lIns="25400" tIns="25400" rIns="25400" bIns="25400" rtlCol="0" anchor="t">
            <a:normAutofit/>
          </a:bodyPr>
          <a:lstStyle/>
          <a:p>
            <a:pPr algn="l" indent="0" marL="0">
              <a:lnSpc>
                <a:spcPct val="103333"/>
              </a:lnSpc>
              <a:buNone/>
            </a:pPr>
            <a:r>
              <a:rPr lang="en-US" sz="1500" dirty="0">
                <a:solidFill>
                  <a:srgbClr val="9AA3AD"/>
                </a:solidFill>
                <a:latin typeface="Poppins" pitchFamily="34" charset="0"/>
                <a:ea typeface="Poppins" pitchFamily="34" charset="-122"/>
                <a:cs typeface="Poppins" pitchFamily="34" charset="-120"/>
              </a:rPr>
              <a:t>Pipeline improvements</a:t>
            </a:r>
            <a:endParaRPr lang="en-US" sz="1500" dirty="0"/>
          </a:p>
        </p:txBody>
      </p:sp>
      <p:sp>
        <p:nvSpPr>
          <p:cNvPr id="32" name="Text 29"/>
          <p:cNvSpPr/>
          <p:nvPr/>
        </p:nvSpPr>
        <p:spPr>
          <a:xfrm>
            <a:off x="17446005" y="9534612"/>
            <a:ext cx="308620" cy="333338"/>
          </a:xfrm>
          <a:prstGeom prst="rect">
            <a:avLst/>
          </a:prstGeom>
          <a:noFill/>
          <a:ln/>
        </p:spPr>
        <p:txBody>
          <a:bodyPr wrap="square" lIns="25400" tIns="25400" rIns="25400" bIns="25400" rtlCol="0" anchor="t">
            <a:normAutofit/>
          </a:bodyPr>
          <a:lstStyle/>
          <a:p>
            <a:pPr algn="l" indent="0" marL="0">
              <a:lnSpc>
                <a:spcPct val="103333"/>
              </a:lnSpc>
              <a:buNone/>
            </a:pPr>
            <a:r>
              <a:rPr lang="en-US" sz="1500" b="1" dirty="0">
                <a:solidFill>
                  <a:srgbClr val="3B5C7F"/>
                </a:solidFill>
                <a:latin typeface="Poppins" pitchFamily="34" charset="0"/>
                <a:ea typeface="Poppins" pitchFamily="34" charset="-122"/>
                <a:cs typeface="Poppins" pitchFamily="34" charset="-120"/>
              </a:rPr>
              <a:t>02</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575" y="1504900"/>
            <a:ext cx="17068849" cy="9525"/>
          </a:xfrm>
          <a:prstGeom prst="rect">
            <a:avLst/>
          </a:prstGeom>
          <a:solidFill>
            <a:srgbClr val="DEDEDE"/>
          </a:solidFill>
          <a:ln/>
        </p:spPr>
      </p:sp>
      <p:sp>
        <p:nvSpPr>
          <p:cNvPr id="3" name="Text 1"/>
          <p:cNvSpPr/>
          <p:nvPr/>
        </p:nvSpPr>
        <p:spPr>
          <a:xfrm>
            <a:off x="609575" y="609575"/>
            <a:ext cx="6167877" cy="704850"/>
          </a:xfrm>
          <a:prstGeom prst="rect">
            <a:avLst/>
          </a:prstGeom>
          <a:noFill/>
          <a:ln/>
        </p:spPr>
        <p:txBody>
          <a:bodyPr wrap="square" lIns="25400" tIns="25400" rIns="25400" bIns="25400" rtlCol="0" anchor="t">
            <a:normAutofit/>
          </a:bodyPr>
          <a:lstStyle/>
          <a:p>
            <a:pPr algn="l" indent="0" marL="0">
              <a:lnSpc>
                <a:spcPct val="83582"/>
              </a:lnSpc>
              <a:buNone/>
            </a:pPr>
            <a:r>
              <a:rPr lang="en-US" sz="4200" b="1" spc="-84" kern="0" dirty="0">
                <a:solidFill>
                  <a:srgbClr val="220F60"/>
                </a:solidFill>
                <a:latin typeface="Poppins" pitchFamily="34" charset="0"/>
                <a:ea typeface="Poppins" pitchFamily="34" charset="-122"/>
                <a:cs typeface="Poppins" pitchFamily="34" charset="-120"/>
              </a:rPr>
              <a:t>The pipeline as a </a:t>
            </a:r>
            <a:pPr algn="l" indent="0" marL="0">
              <a:lnSpc>
                <a:spcPct val="83582"/>
              </a:lnSpc>
              <a:buNone/>
            </a:pPr>
            <a:r>
              <a:rPr lang="en-US" sz="4200" b="1" spc="-84" kern="0" dirty="0">
                <a:solidFill>
                  <a:srgbClr val="001FFF"/>
                </a:solidFill>
                <a:latin typeface="Poppins" pitchFamily="34" charset="0"/>
                <a:ea typeface="Poppins" pitchFamily="34" charset="-122"/>
                <a:cs typeface="Poppins" pitchFamily="34" charset="-120"/>
              </a:rPr>
              <a:t>flow</a:t>
            </a:r>
            <a:endParaRPr lang="en-US" sz="4200" dirty="0"/>
          </a:p>
        </p:txBody>
      </p:sp>
      <p:pic>
        <p:nvPicPr>
          <p:cNvPr id="4" name="Image 0" descr="preencoded.png">    </p:cNvPr>
          <p:cNvPicPr>
            <a:picLocks noChangeAspect="1"/>
          </p:cNvPicPr>
          <p:nvPr/>
        </p:nvPicPr>
        <p:blipFill>
          <a:blip r:embed="rId1"/>
          <a:stretch>
            <a:fillRect/>
          </a:stretch>
        </p:blipFill>
        <p:spPr>
          <a:xfrm>
            <a:off x="16250046" y="952500"/>
            <a:ext cx="1428378" cy="323825"/>
          </a:xfrm>
          <a:prstGeom prst="rect">
            <a:avLst/>
          </a:prstGeom>
        </p:spPr>
      </p:pic>
      <p:sp>
        <p:nvSpPr>
          <p:cNvPr id="5" name="Shape 2"/>
          <p:cNvSpPr/>
          <p:nvPr/>
        </p:nvSpPr>
        <p:spPr>
          <a:xfrm>
            <a:off x="609575" y="1855701"/>
            <a:ext cx="27781" cy="2378583"/>
          </a:xfrm>
          <a:prstGeom prst="rect">
            <a:avLst/>
          </a:prstGeom>
          <a:solidFill>
            <a:srgbClr val="001FFF"/>
          </a:solidFill>
          <a:ln/>
        </p:spPr>
      </p:sp>
      <p:sp>
        <p:nvSpPr>
          <p:cNvPr id="6" name="Text 3"/>
          <p:cNvSpPr/>
          <p:nvPr/>
        </p:nvSpPr>
        <p:spPr>
          <a:xfrm>
            <a:off x="827856" y="2509738"/>
            <a:ext cx="2095500"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3B5C7F"/>
                </a:solidFill>
                <a:latin typeface="Poppins" pitchFamily="34" charset="0"/>
                <a:ea typeface="Poppins" pitchFamily="34" charset="-122"/>
                <a:cs typeface="Poppins" pitchFamily="34" charset="-120"/>
              </a:rPr>
              <a:t>STAGE 01</a:t>
            </a:r>
            <a:endParaRPr lang="en-US" sz="1800" dirty="0"/>
          </a:p>
        </p:txBody>
      </p:sp>
      <p:sp>
        <p:nvSpPr>
          <p:cNvPr id="7" name="Text 4"/>
          <p:cNvSpPr/>
          <p:nvPr/>
        </p:nvSpPr>
        <p:spPr>
          <a:xfrm>
            <a:off x="827856" y="2940162"/>
            <a:ext cx="1981200" cy="678185"/>
          </a:xfrm>
          <a:prstGeom prst="rect">
            <a:avLst/>
          </a:prstGeom>
          <a:noFill/>
          <a:ln/>
        </p:spPr>
        <p:txBody>
          <a:bodyPr wrap="square" lIns="25400" tIns="25400" rIns="25400" bIns="25400" rtlCol="0" anchor="t">
            <a:normAutofit/>
          </a:bodyPr>
          <a:lstStyle/>
          <a:p>
            <a:pPr algn="l" indent="0" marL="0">
              <a:lnSpc>
                <a:spcPct val="79059"/>
              </a:lnSpc>
              <a:buNone/>
            </a:pPr>
            <a:r>
              <a:rPr lang="en-US" sz="2100" b="1" dirty="0">
                <a:solidFill>
                  <a:srgbClr val="220F60"/>
                </a:solidFill>
                <a:latin typeface="Poppins" pitchFamily="34" charset="0"/>
                <a:ea typeface="Poppins" pitchFamily="34" charset="-122"/>
                <a:cs typeface="Poppins" pitchFamily="34" charset="-120"/>
              </a:rPr>
              <a:t>Data Discovery</a:t>
            </a:r>
            <a:endParaRPr lang="en-US" sz="2100" dirty="0"/>
          </a:p>
        </p:txBody>
      </p:sp>
      <p:sp>
        <p:nvSpPr>
          <p:cNvPr id="8" name="Shape 5"/>
          <p:cNvSpPr/>
          <p:nvPr/>
        </p:nvSpPr>
        <p:spPr>
          <a:xfrm>
            <a:off x="2961431" y="1855701"/>
            <a:ext cx="4707743" cy="2378583"/>
          </a:xfrm>
          <a:prstGeom prst="roundRect">
            <a:avLst>
              <a:gd name="adj" fmla="val 4004"/>
            </a:avLst>
          </a:prstGeom>
          <a:ln w="7937">
            <a:solidFill>
              <a:srgbClr val="DEDEDE"/>
            </a:solidFill>
            <a:prstDash val="solid"/>
          </a:ln>
        </p:spPr>
      </p:sp>
      <p:sp>
        <p:nvSpPr>
          <p:cNvPr id="9" name="Text 6"/>
          <p:cNvSpPr/>
          <p:nvPr/>
        </p:nvSpPr>
        <p:spPr>
          <a:xfrm>
            <a:off x="3197944" y="2073176"/>
            <a:ext cx="4658190"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3B5C7F"/>
                </a:solidFill>
                <a:latin typeface="Poppins" pitchFamily="34" charset="0"/>
                <a:ea typeface="Poppins" pitchFamily="34" charset="-122"/>
                <a:cs typeface="Poppins" pitchFamily="34" charset="-120"/>
              </a:rPr>
              <a:t>01</a:t>
            </a:r>
            <a:endParaRPr lang="en-US" sz="1800" dirty="0"/>
          </a:p>
        </p:txBody>
      </p:sp>
      <p:sp>
        <p:nvSpPr>
          <p:cNvPr id="10" name="Text 7"/>
          <p:cNvSpPr/>
          <p:nvPr/>
        </p:nvSpPr>
        <p:spPr>
          <a:xfrm>
            <a:off x="3197944" y="2560774"/>
            <a:ext cx="4658190" cy="347663"/>
          </a:xfrm>
          <a:prstGeom prst="rect">
            <a:avLst/>
          </a:prstGeom>
          <a:noFill/>
          <a:ln/>
        </p:spPr>
        <p:txBody>
          <a:bodyPr wrap="square" lIns="25400" tIns="25400" rIns="25400" bIns="25400" rtlCol="0" anchor="t">
            <a:normAutofit/>
          </a:bodyPr>
          <a:lstStyle/>
          <a:p>
            <a:pPr algn="l" indent="0" marL="0">
              <a:lnSpc>
                <a:spcPct val="82979"/>
              </a:lnSpc>
              <a:buNone/>
            </a:pPr>
            <a:r>
              <a:rPr lang="en-US" sz="1950" b="1" dirty="0">
                <a:solidFill>
                  <a:srgbClr val="220F60"/>
                </a:solidFill>
                <a:latin typeface="Poppins" pitchFamily="34" charset="0"/>
                <a:ea typeface="Poppins" pitchFamily="34" charset="-122"/>
                <a:cs typeface="Poppins" pitchFamily="34" charset="-120"/>
              </a:rPr>
              <a:t>Metadata coverage</a:t>
            </a:r>
            <a:endParaRPr lang="en-US" sz="1950" dirty="0"/>
          </a:p>
        </p:txBody>
      </p:sp>
      <p:sp>
        <p:nvSpPr>
          <p:cNvPr id="11" name="Shape 8"/>
          <p:cNvSpPr/>
          <p:nvPr/>
        </p:nvSpPr>
        <p:spPr>
          <a:xfrm>
            <a:off x="3197944" y="3003661"/>
            <a:ext cx="2417217" cy="468499"/>
          </a:xfrm>
          <a:prstGeom prst="roundRect">
            <a:avLst>
              <a:gd name="adj" fmla="val 8132"/>
            </a:avLst>
          </a:prstGeom>
          <a:solidFill>
            <a:srgbClr val="EEF1FF"/>
          </a:solidFill>
          <a:ln/>
        </p:spPr>
      </p:sp>
      <p:sp>
        <p:nvSpPr>
          <p:cNvPr id="12" name="Text 9"/>
          <p:cNvSpPr/>
          <p:nvPr/>
        </p:nvSpPr>
        <p:spPr>
          <a:xfrm>
            <a:off x="3312244" y="3060811"/>
            <a:ext cx="2264817" cy="392299"/>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001FFF"/>
                </a:solidFill>
                <a:latin typeface="Poppins" pitchFamily="34" charset="0"/>
                <a:ea typeface="Poppins" pitchFamily="34" charset="-122"/>
                <a:cs typeface="Poppins" pitchFamily="34" charset="-120"/>
              </a:rPr>
              <a:t>+30% documented</a:t>
            </a:r>
            <a:endParaRPr lang="en-US" sz="1800" dirty="0"/>
          </a:p>
        </p:txBody>
      </p:sp>
      <p:sp>
        <p:nvSpPr>
          <p:cNvPr id="13" name="Shape 10"/>
          <p:cNvSpPr/>
          <p:nvPr/>
        </p:nvSpPr>
        <p:spPr>
          <a:xfrm>
            <a:off x="3197944" y="3548310"/>
            <a:ext cx="2704827" cy="468499"/>
          </a:xfrm>
          <a:prstGeom prst="roundRect">
            <a:avLst>
              <a:gd name="adj" fmla="val 8132"/>
            </a:avLst>
          </a:prstGeom>
          <a:solidFill>
            <a:srgbClr val="EEF1FF"/>
          </a:solidFill>
          <a:ln/>
        </p:spPr>
      </p:sp>
      <p:sp>
        <p:nvSpPr>
          <p:cNvPr id="14" name="Text 11"/>
          <p:cNvSpPr/>
          <p:nvPr/>
        </p:nvSpPr>
        <p:spPr>
          <a:xfrm>
            <a:off x="3312244" y="3605460"/>
            <a:ext cx="2557372" cy="392299"/>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001FFF"/>
                </a:solidFill>
                <a:latin typeface="Poppins" pitchFamily="34" charset="0"/>
                <a:ea typeface="Poppins" pitchFamily="34" charset="-122"/>
                <a:cs typeface="Poppins" pitchFamily="34" charset="-120"/>
              </a:rPr>
              <a:t>-30% expert requests</a:t>
            </a:r>
            <a:endParaRPr lang="en-US" sz="1800" dirty="0"/>
          </a:p>
        </p:txBody>
      </p:sp>
      <p:sp>
        <p:nvSpPr>
          <p:cNvPr id="15" name="Shape 12"/>
          <p:cNvSpPr/>
          <p:nvPr/>
        </p:nvSpPr>
        <p:spPr>
          <a:xfrm>
            <a:off x="7669175" y="3040248"/>
            <a:ext cx="221444" cy="9525"/>
          </a:xfrm>
          <a:prstGeom prst="rect">
            <a:avLst/>
          </a:prstGeom>
          <a:solidFill>
            <a:srgbClr val="C7C7C7"/>
          </a:solidFill>
          <a:ln/>
        </p:spPr>
      </p:sp>
      <p:sp>
        <p:nvSpPr>
          <p:cNvPr id="16" name="Shape 13"/>
          <p:cNvSpPr/>
          <p:nvPr/>
        </p:nvSpPr>
        <p:spPr>
          <a:xfrm>
            <a:off x="7890619" y="2989399"/>
            <a:ext cx="83344" cy="111125"/>
          </a:xfrm>
          <a:prstGeom prst="rect">
            <a:avLst/>
          </a:prstGeom>
          <a:solidFill>
            <a:srgbClr val="C7C7C7"/>
          </a:solidFill>
          <a:ln/>
        </p:spPr>
      </p:sp>
      <p:sp>
        <p:nvSpPr>
          <p:cNvPr id="17" name="Shape 14"/>
          <p:cNvSpPr/>
          <p:nvPr/>
        </p:nvSpPr>
        <p:spPr>
          <a:xfrm>
            <a:off x="7973963" y="1855701"/>
            <a:ext cx="4707806" cy="2378583"/>
          </a:xfrm>
          <a:prstGeom prst="roundRect">
            <a:avLst>
              <a:gd name="adj" fmla="val 4004"/>
            </a:avLst>
          </a:prstGeom>
          <a:ln w="7937">
            <a:solidFill>
              <a:srgbClr val="DEDEDE"/>
            </a:solidFill>
            <a:prstDash val="solid"/>
          </a:ln>
        </p:spPr>
      </p:sp>
      <p:sp>
        <p:nvSpPr>
          <p:cNvPr id="18" name="Text 15"/>
          <p:cNvSpPr/>
          <p:nvPr/>
        </p:nvSpPr>
        <p:spPr>
          <a:xfrm>
            <a:off x="8210476" y="2073176"/>
            <a:ext cx="4658258"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3B5C7F"/>
                </a:solidFill>
                <a:latin typeface="Poppins" pitchFamily="34" charset="0"/>
                <a:ea typeface="Poppins" pitchFamily="34" charset="-122"/>
                <a:cs typeface="Poppins" pitchFamily="34" charset="-120"/>
              </a:rPr>
              <a:t>02</a:t>
            </a:r>
            <a:endParaRPr lang="en-US" sz="1800" dirty="0"/>
          </a:p>
        </p:txBody>
      </p:sp>
      <p:sp>
        <p:nvSpPr>
          <p:cNvPr id="19" name="Text 16"/>
          <p:cNvSpPr/>
          <p:nvPr/>
        </p:nvSpPr>
        <p:spPr>
          <a:xfrm>
            <a:off x="8210476" y="2560774"/>
            <a:ext cx="4658258" cy="347663"/>
          </a:xfrm>
          <a:prstGeom prst="rect">
            <a:avLst/>
          </a:prstGeom>
          <a:noFill/>
          <a:ln/>
        </p:spPr>
        <p:txBody>
          <a:bodyPr wrap="square" lIns="25400" tIns="25400" rIns="25400" bIns="25400" rtlCol="0" anchor="t">
            <a:normAutofit/>
          </a:bodyPr>
          <a:lstStyle/>
          <a:p>
            <a:pPr algn="l" indent="0" marL="0">
              <a:lnSpc>
                <a:spcPct val="82979"/>
              </a:lnSpc>
              <a:buNone/>
            </a:pPr>
            <a:r>
              <a:rPr lang="en-US" sz="1950" b="1" dirty="0">
                <a:solidFill>
                  <a:srgbClr val="220F60"/>
                </a:solidFill>
                <a:latin typeface="Poppins" pitchFamily="34" charset="0"/>
                <a:ea typeface="Poppins" pitchFamily="34" charset="-122"/>
                <a:cs typeface="Poppins" pitchFamily="34" charset="-120"/>
              </a:rPr>
              <a:t>Data discovery time</a:t>
            </a:r>
            <a:endParaRPr lang="en-US" sz="1950" dirty="0"/>
          </a:p>
        </p:txBody>
      </p:sp>
      <p:sp>
        <p:nvSpPr>
          <p:cNvPr id="20" name="Shape 17"/>
          <p:cNvSpPr/>
          <p:nvPr/>
        </p:nvSpPr>
        <p:spPr>
          <a:xfrm>
            <a:off x="8210476" y="3003661"/>
            <a:ext cx="2536341" cy="468499"/>
          </a:xfrm>
          <a:prstGeom prst="roundRect">
            <a:avLst>
              <a:gd name="adj" fmla="val 8132"/>
            </a:avLst>
          </a:prstGeom>
          <a:solidFill>
            <a:srgbClr val="EEF1FF"/>
          </a:solidFill>
          <a:ln/>
        </p:spPr>
      </p:sp>
      <p:sp>
        <p:nvSpPr>
          <p:cNvPr id="21" name="Text 18"/>
          <p:cNvSpPr/>
          <p:nvPr/>
        </p:nvSpPr>
        <p:spPr>
          <a:xfrm>
            <a:off x="8324776" y="3060811"/>
            <a:ext cx="2383941" cy="392299"/>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001FFF"/>
                </a:solidFill>
                <a:latin typeface="Poppins" pitchFamily="34" charset="0"/>
                <a:ea typeface="Poppins" pitchFamily="34" charset="-122"/>
                <a:cs typeface="Poppins" pitchFamily="34" charset="-120"/>
              </a:rPr>
              <a:t>-5 days to find data</a:t>
            </a:r>
            <a:endParaRPr lang="en-US" sz="1800" dirty="0"/>
          </a:p>
        </p:txBody>
      </p:sp>
      <p:sp>
        <p:nvSpPr>
          <p:cNvPr id="22" name="Shape 19"/>
          <p:cNvSpPr/>
          <p:nvPr/>
        </p:nvSpPr>
        <p:spPr>
          <a:xfrm>
            <a:off x="8210476" y="3548310"/>
            <a:ext cx="3140025" cy="468499"/>
          </a:xfrm>
          <a:prstGeom prst="roundRect">
            <a:avLst>
              <a:gd name="adj" fmla="val 8132"/>
            </a:avLst>
          </a:prstGeom>
          <a:solidFill>
            <a:srgbClr val="EEF1FF"/>
          </a:solidFill>
          <a:ln/>
        </p:spPr>
      </p:sp>
      <p:sp>
        <p:nvSpPr>
          <p:cNvPr id="23" name="Text 20"/>
          <p:cNvSpPr/>
          <p:nvPr/>
        </p:nvSpPr>
        <p:spPr>
          <a:xfrm>
            <a:off x="8324776" y="3605460"/>
            <a:ext cx="3005626" cy="392299"/>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001FFF"/>
                </a:solidFill>
                <a:latin typeface="Poppins" pitchFamily="34" charset="0"/>
                <a:ea typeface="Poppins" pitchFamily="34" charset="-122"/>
                <a:cs typeface="Poppins" pitchFamily="34" charset="-120"/>
              </a:rPr>
              <a:t>+20% value-adding work</a:t>
            </a:r>
            <a:endParaRPr lang="en-US" sz="1800" dirty="0"/>
          </a:p>
        </p:txBody>
      </p:sp>
      <p:sp>
        <p:nvSpPr>
          <p:cNvPr id="24" name="Shape 21"/>
          <p:cNvSpPr/>
          <p:nvPr/>
        </p:nvSpPr>
        <p:spPr>
          <a:xfrm>
            <a:off x="12681768" y="3040248"/>
            <a:ext cx="221444" cy="9525"/>
          </a:xfrm>
          <a:prstGeom prst="rect">
            <a:avLst/>
          </a:prstGeom>
          <a:solidFill>
            <a:srgbClr val="C7C7C7"/>
          </a:solidFill>
          <a:ln/>
        </p:spPr>
      </p:sp>
      <p:sp>
        <p:nvSpPr>
          <p:cNvPr id="25" name="Shape 22"/>
          <p:cNvSpPr/>
          <p:nvPr/>
        </p:nvSpPr>
        <p:spPr>
          <a:xfrm>
            <a:off x="12903212" y="2989399"/>
            <a:ext cx="83344" cy="111125"/>
          </a:xfrm>
          <a:prstGeom prst="rect">
            <a:avLst/>
          </a:prstGeom>
          <a:solidFill>
            <a:srgbClr val="C7C7C7"/>
          </a:solidFill>
          <a:ln/>
        </p:spPr>
      </p:sp>
      <p:sp>
        <p:nvSpPr>
          <p:cNvPr id="26" name="Shape 23"/>
          <p:cNvSpPr/>
          <p:nvPr/>
        </p:nvSpPr>
        <p:spPr>
          <a:xfrm>
            <a:off x="12986556" y="1855701"/>
            <a:ext cx="4691869" cy="2378583"/>
          </a:xfrm>
          <a:prstGeom prst="roundRect">
            <a:avLst>
              <a:gd name="adj" fmla="val 4004"/>
            </a:avLst>
          </a:prstGeom>
          <a:solidFill>
            <a:srgbClr val="001FFF"/>
          </a:solidFill>
          <a:ln/>
          <a:effectLst>
            <a:outerShdw sx="100000" sy="100000" kx="0" ky="0" algn="bl" rotWithShape="0" blurRad="266700" dist="95250" dir="5400000">
              <a:srgbClr val="001FFF">
                <a:alpha val="22000"/>
              </a:srgbClr>
            </a:outerShdw>
          </a:effectLst>
        </p:spPr>
      </p:sp>
      <p:sp>
        <p:nvSpPr>
          <p:cNvPr id="27" name="Text 24"/>
          <p:cNvSpPr/>
          <p:nvPr/>
        </p:nvSpPr>
        <p:spPr>
          <a:xfrm>
            <a:off x="13215131" y="2073176"/>
            <a:ext cx="4658190"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FFFFFF">
                    <a:alpha val="90000"/>
                  </a:srgbClr>
                </a:solidFill>
                <a:latin typeface="Poppins" pitchFamily="34" charset="0"/>
                <a:ea typeface="Poppins" pitchFamily="34" charset="-122"/>
                <a:cs typeface="Poppins" pitchFamily="34" charset="-120"/>
              </a:rPr>
              <a:t>03</a:t>
            </a:r>
            <a:endParaRPr lang="en-US" sz="1800" dirty="0"/>
          </a:p>
        </p:txBody>
      </p:sp>
      <p:sp>
        <p:nvSpPr>
          <p:cNvPr id="28" name="Text 25"/>
          <p:cNvSpPr/>
          <p:nvPr/>
        </p:nvSpPr>
        <p:spPr>
          <a:xfrm>
            <a:off x="13215131" y="2560774"/>
            <a:ext cx="4658190" cy="347663"/>
          </a:xfrm>
          <a:prstGeom prst="rect">
            <a:avLst/>
          </a:prstGeom>
          <a:noFill/>
          <a:ln/>
        </p:spPr>
        <p:txBody>
          <a:bodyPr wrap="square" lIns="25400" tIns="25400" rIns="25400" bIns="25400" rtlCol="0" anchor="t">
            <a:normAutofit/>
          </a:bodyPr>
          <a:lstStyle/>
          <a:p>
            <a:pPr algn="l" indent="0" marL="0">
              <a:lnSpc>
                <a:spcPct val="82979"/>
              </a:lnSpc>
              <a:buNone/>
            </a:pPr>
            <a:r>
              <a:rPr lang="en-US" sz="1950" b="1" dirty="0">
                <a:solidFill>
                  <a:srgbClr val="FFFFFF"/>
                </a:solidFill>
                <a:latin typeface="Poppins" pitchFamily="34" charset="0"/>
                <a:ea typeface="Poppins" pitchFamily="34" charset="-122"/>
                <a:cs typeface="Poppins" pitchFamily="34" charset="-120"/>
              </a:rPr>
              <a:t>Discovery success rate</a:t>
            </a:r>
            <a:endParaRPr lang="en-US" sz="1950" dirty="0"/>
          </a:p>
        </p:txBody>
      </p:sp>
      <p:sp>
        <p:nvSpPr>
          <p:cNvPr id="29" name="Shape 26"/>
          <p:cNvSpPr/>
          <p:nvPr/>
        </p:nvSpPr>
        <p:spPr>
          <a:xfrm>
            <a:off x="13215131" y="3003661"/>
            <a:ext cx="2378149" cy="468499"/>
          </a:xfrm>
          <a:prstGeom prst="roundRect">
            <a:avLst>
              <a:gd name="adj" fmla="val 8132"/>
            </a:avLst>
          </a:prstGeom>
          <a:solidFill>
            <a:srgbClr val="FFFFFF">
              <a:alpha val="18000"/>
            </a:srgbClr>
          </a:solidFill>
          <a:ln/>
        </p:spPr>
      </p:sp>
      <p:sp>
        <p:nvSpPr>
          <p:cNvPr id="30" name="Text 27"/>
          <p:cNvSpPr/>
          <p:nvPr/>
        </p:nvSpPr>
        <p:spPr>
          <a:xfrm>
            <a:off x="13329431" y="3060811"/>
            <a:ext cx="2225749" cy="392299"/>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FFFFFF"/>
                </a:solidFill>
                <a:latin typeface="Poppins" pitchFamily="34" charset="0"/>
                <a:ea typeface="Poppins" pitchFamily="34" charset="-122"/>
                <a:cs typeface="Poppins" pitchFamily="34" charset="-120"/>
              </a:rPr>
              <a:t>+20% success rate</a:t>
            </a:r>
            <a:endParaRPr lang="en-US" sz="1800" dirty="0"/>
          </a:p>
        </p:txBody>
      </p:sp>
      <p:sp>
        <p:nvSpPr>
          <p:cNvPr id="31" name="Shape 28"/>
          <p:cNvSpPr/>
          <p:nvPr/>
        </p:nvSpPr>
        <p:spPr>
          <a:xfrm>
            <a:off x="13215131" y="3548310"/>
            <a:ext cx="2293565" cy="468499"/>
          </a:xfrm>
          <a:prstGeom prst="roundRect">
            <a:avLst>
              <a:gd name="adj" fmla="val 8132"/>
            </a:avLst>
          </a:prstGeom>
          <a:solidFill>
            <a:srgbClr val="FFFFFF">
              <a:alpha val="18000"/>
            </a:srgbClr>
          </a:solidFill>
          <a:ln/>
        </p:spPr>
      </p:sp>
      <p:sp>
        <p:nvSpPr>
          <p:cNvPr id="32" name="Text 29"/>
          <p:cNvSpPr/>
          <p:nvPr/>
        </p:nvSpPr>
        <p:spPr>
          <a:xfrm>
            <a:off x="13329431" y="3605460"/>
            <a:ext cx="2141165" cy="392299"/>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FFFFFF"/>
                </a:solidFill>
                <a:latin typeface="Poppins" pitchFamily="34" charset="0"/>
                <a:ea typeface="Poppins" pitchFamily="34" charset="-122"/>
                <a:cs typeface="Poppins" pitchFamily="34" charset="-120"/>
              </a:rPr>
              <a:t>-40% search time</a:t>
            </a:r>
            <a:endParaRPr lang="en-US" sz="1800" dirty="0"/>
          </a:p>
        </p:txBody>
      </p:sp>
      <p:sp>
        <p:nvSpPr>
          <p:cNvPr id="33" name="Shape 30"/>
          <p:cNvSpPr/>
          <p:nvPr/>
        </p:nvSpPr>
        <p:spPr>
          <a:xfrm>
            <a:off x="609575" y="4443822"/>
            <a:ext cx="27781" cy="2378583"/>
          </a:xfrm>
          <a:prstGeom prst="rect">
            <a:avLst/>
          </a:prstGeom>
          <a:solidFill>
            <a:srgbClr val="001FFF"/>
          </a:solidFill>
          <a:ln/>
        </p:spPr>
      </p:sp>
      <p:sp>
        <p:nvSpPr>
          <p:cNvPr id="34" name="Text 31"/>
          <p:cNvSpPr/>
          <p:nvPr/>
        </p:nvSpPr>
        <p:spPr>
          <a:xfrm>
            <a:off x="827856" y="5097859"/>
            <a:ext cx="2095500"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3B5C7F"/>
                </a:solidFill>
                <a:latin typeface="Poppins" pitchFamily="34" charset="0"/>
                <a:ea typeface="Poppins" pitchFamily="34" charset="-122"/>
                <a:cs typeface="Poppins" pitchFamily="34" charset="-120"/>
              </a:rPr>
              <a:t>STAGE 02</a:t>
            </a:r>
            <a:endParaRPr lang="en-US" sz="1800" dirty="0"/>
          </a:p>
        </p:txBody>
      </p:sp>
      <p:sp>
        <p:nvSpPr>
          <p:cNvPr id="35" name="Text 32"/>
          <p:cNvSpPr/>
          <p:nvPr/>
        </p:nvSpPr>
        <p:spPr>
          <a:xfrm>
            <a:off x="827856" y="5528282"/>
            <a:ext cx="1981200" cy="678185"/>
          </a:xfrm>
          <a:prstGeom prst="rect">
            <a:avLst/>
          </a:prstGeom>
          <a:noFill/>
          <a:ln/>
        </p:spPr>
        <p:txBody>
          <a:bodyPr wrap="square" lIns="25400" tIns="25400" rIns="25400" bIns="25400" rtlCol="0" anchor="t">
            <a:normAutofit/>
          </a:bodyPr>
          <a:lstStyle/>
          <a:p>
            <a:pPr algn="l" indent="0" marL="0">
              <a:lnSpc>
                <a:spcPct val="79059"/>
              </a:lnSpc>
              <a:buNone/>
            </a:pPr>
            <a:r>
              <a:rPr lang="en-US" sz="2100" b="1" dirty="0">
                <a:solidFill>
                  <a:srgbClr val="220F60"/>
                </a:solidFill>
                <a:latin typeface="Poppins" pitchFamily="34" charset="0"/>
                <a:ea typeface="Poppins" pitchFamily="34" charset="-122"/>
                <a:cs typeface="Poppins" pitchFamily="34" charset="-120"/>
              </a:rPr>
              <a:t>Data Analytics</a:t>
            </a:r>
            <a:endParaRPr lang="en-US" sz="2100" dirty="0"/>
          </a:p>
        </p:txBody>
      </p:sp>
      <p:sp>
        <p:nvSpPr>
          <p:cNvPr id="36" name="Shape 33"/>
          <p:cNvSpPr/>
          <p:nvPr/>
        </p:nvSpPr>
        <p:spPr>
          <a:xfrm>
            <a:off x="2961431" y="4443822"/>
            <a:ext cx="4707743" cy="2378583"/>
          </a:xfrm>
          <a:prstGeom prst="roundRect">
            <a:avLst>
              <a:gd name="adj" fmla="val 4004"/>
            </a:avLst>
          </a:prstGeom>
          <a:ln w="7937">
            <a:solidFill>
              <a:srgbClr val="DEDEDE"/>
            </a:solidFill>
            <a:prstDash val="solid"/>
          </a:ln>
        </p:spPr>
      </p:sp>
      <p:sp>
        <p:nvSpPr>
          <p:cNvPr id="37" name="Text 34"/>
          <p:cNvSpPr/>
          <p:nvPr/>
        </p:nvSpPr>
        <p:spPr>
          <a:xfrm>
            <a:off x="3197944" y="4661297"/>
            <a:ext cx="4658190"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3B5C7F"/>
                </a:solidFill>
                <a:latin typeface="Poppins" pitchFamily="34" charset="0"/>
                <a:ea typeface="Poppins" pitchFamily="34" charset="-122"/>
                <a:cs typeface="Poppins" pitchFamily="34" charset="-120"/>
              </a:rPr>
              <a:t>04</a:t>
            </a:r>
            <a:endParaRPr lang="en-US" sz="1800" dirty="0"/>
          </a:p>
        </p:txBody>
      </p:sp>
      <p:sp>
        <p:nvSpPr>
          <p:cNvPr id="38" name="Text 35"/>
          <p:cNvSpPr/>
          <p:nvPr/>
        </p:nvSpPr>
        <p:spPr>
          <a:xfrm>
            <a:off x="3197944" y="5148895"/>
            <a:ext cx="4658190" cy="347663"/>
          </a:xfrm>
          <a:prstGeom prst="rect">
            <a:avLst/>
          </a:prstGeom>
          <a:noFill/>
          <a:ln/>
        </p:spPr>
        <p:txBody>
          <a:bodyPr wrap="square" lIns="25400" tIns="25400" rIns="25400" bIns="25400" rtlCol="0" anchor="t">
            <a:normAutofit/>
          </a:bodyPr>
          <a:lstStyle/>
          <a:p>
            <a:pPr algn="l" indent="0" marL="0">
              <a:lnSpc>
                <a:spcPct val="82979"/>
              </a:lnSpc>
              <a:buNone/>
            </a:pPr>
            <a:r>
              <a:rPr lang="en-US" sz="1950" b="1" dirty="0">
                <a:solidFill>
                  <a:srgbClr val="220F60"/>
                </a:solidFill>
                <a:latin typeface="Poppins" pitchFamily="34" charset="0"/>
                <a:ea typeface="Poppins" pitchFamily="34" charset="-122"/>
                <a:cs typeface="Poppins" pitchFamily="34" charset="-120"/>
              </a:rPr>
              <a:t>Data integration time</a:t>
            </a:r>
            <a:endParaRPr lang="en-US" sz="1950" dirty="0"/>
          </a:p>
        </p:txBody>
      </p:sp>
      <p:sp>
        <p:nvSpPr>
          <p:cNvPr id="39" name="Shape 36"/>
          <p:cNvSpPr/>
          <p:nvPr/>
        </p:nvSpPr>
        <p:spPr>
          <a:xfrm>
            <a:off x="3197944" y="5591783"/>
            <a:ext cx="2527411" cy="468499"/>
          </a:xfrm>
          <a:prstGeom prst="roundRect">
            <a:avLst>
              <a:gd name="adj" fmla="val 8132"/>
            </a:avLst>
          </a:prstGeom>
          <a:solidFill>
            <a:srgbClr val="EEF1FF"/>
          </a:solidFill>
          <a:ln/>
        </p:spPr>
      </p:sp>
      <p:sp>
        <p:nvSpPr>
          <p:cNvPr id="40" name="Text 37"/>
          <p:cNvSpPr/>
          <p:nvPr/>
        </p:nvSpPr>
        <p:spPr>
          <a:xfrm>
            <a:off x="3312244" y="5648933"/>
            <a:ext cx="2375011" cy="392299"/>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001FFF"/>
                </a:solidFill>
                <a:latin typeface="Poppins" pitchFamily="34" charset="0"/>
                <a:ea typeface="Poppins" pitchFamily="34" charset="-122"/>
                <a:cs typeface="Poppins" pitchFamily="34" charset="-120"/>
              </a:rPr>
              <a:t>-1 week to integrate</a:t>
            </a:r>
            <a:endParaRPr lang="en-US" sz="1800" dirty="0"/>
          </a:p>
        </p:txBody>
      </p:sp>
      <p:sp>
        <p:nvSpPr>
          <p:cNvPr id="41" name="Shape 38"/>
          <p:cNvSpPr/>
          <p:nvPr/>
        </p:nvSpPr>
        <p:spPr>
          <a:xfrm>
            <a:off x="3197944" y="6136431"/>
            <a:ext cx="2731306" cy="468499"/>
          </a:xfrm>
          <a:prstGeom prst="roundRect">
            <a:avLst>
              <a:gd name="adj" fmla="val 8132"/>
            </a:avLst>
          </a:prstGeom>
          <a:solidFill>
            <a:srgbClr val="EEF1FF"/>
          </a:solidFill>
          <a:ln/>
        </p:spPr>
      </p:sp>
      <p:sp>
        <p:nvSpPr>
          <p:cNvPr id="42" name="Text 39"/>
          <p:cNvSpPr/>
          <p:nvPr/>
        </p:nvSpPr>
        <p:spPr>
          <a:xfrm>
            <a:off x="3312244" y="6193581"/>
            <a:ext cx="2584645" cy="392299"/>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001FFF"/>
                </a:solidFill>
                <a:latin typeface="Poppins" pitchFamily="34" charset="0"/>
                <a:ea typeface="Poppins" pitchFamily="34" charset="-122"/>
                <a:cs typeface="Poppins" pitchFamily="34" charset="-120"/>
              </a:rPr>
              <a:t>-25% integration cost</a:t>
            </a:r>
            <a:endParaRPr lang="en-US" sz="1800" dirty="0"/>
          </a:p>
        </p:txBody>
      </p:sp>
      <p:sp>
        <p:nvSpPr>
          <p:cNvPr id="43" name="Shape 40"/>
          <p:cNvSpPr/>
          <p:nvPr/>
        </p:nvSpPr>
        <p:spPr>
          <a:xfrm>
            <a:off x="7669175" y="5628369"/>
            <a:ext cx="221444" cy="9525"/>
          </a:xfrm>
          <a:prstGeom prst="rect">
            <a:avLst/>
          </a:prstGeom>
          <a:solidFill>
            <a:srgbClr val="C7C7C7"/>
          </a:solidFill>
          <a:ln/>
        </p:spPr>
      </p:sp>
      <p:sp>
        <p:nvSpPr>
          <p:cNvPr id="44" name="Shape 41"/>
          <p:cNvSpPr/>
          <p:nvPr/>
        </p:nvSpPr>
        <p:spPr>
          <a:xfrm>
            <a:off x="7890619" y="5577520"/>
            <a:ext cx="83344" cy="111125"/>
          </a:xfrm>
          <a:prstGeom prst="rect">
            <a:avLst/>
          </a:prstGeom>
          <a:solidFill>
            <a:srgbClr val="C7C7C7"/>
          </a:solidFill>
          <a:ln/>
        </p:spPr>
      </p:sp>
      <p:sp>
        <p:nvSpPr>
          <p:cNvPr id="45" name="Shape 42"/>
          <p:cNvSpPr/>
          <p:nvPr/>
        </p:nvSpPr>
        <p:spPr>
          <a:xfrm>
            <a:off x="7973963" y="4443822"/>
            <a:ext cx="4691930" cy="2378583"/>
          </a:xfrm>
          <a:prstGeom prst="roundRect">
            <a:avLst>
              <a:gd name="adj" fmla="val 4004"/>
            </a:avLst>
          </a:prstGeom>
          <a:solidFill>
            <a:srgbClr val="001FFF"/>
          </a:solidFill>
          <a:ln/>
          <a:effectLst>
            <a:outerShdw sx="100000" sy="100000" kx="0" ky="0" algn="bl" rotWithShape="0" blurRad="266700" dist="95250" dir="5400000">
              <a:srgbClr val="001FFF">
                <a:alpha val="22000"/>
              </a:srgbClr>
            </a:outerShdw>
          </a:effectLst>
        </p:spPr>
      </p:sp>
      <p:sp>
        <p:nvSpPr>
          <p:cNvPr id="46" name="Text 43"/>
          <p:cNvSpPr/>
          <p:nvPr/>
        </p:nvSpPr>
        <p:spPr>
          <a:xfrm>
            <a:off x="8202538" y="4661297"/>
            <a:ext cx="4658258"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FFFFFF">
                    <a:alpha val="90000"/>
                  </a:srgbClr>
                </a:solidFill>
                <a:latin typeface="Poppins" pitchFamily="34" charset="0"/>
                <a:ea typeface="Poppins" pitchFamily="34" charset="-122"/>
                <a:cs typeface="Poppins" pitchFamily="34" charset="-120"/>
              </a:rPr>
              <a:t>05</a:t>
            </a:r>
            <a:endParaRPr lang="en-US" sz="1800" dirty="0"/>
          </a:p>
        </p:txBody>
      </p:sp>
      <p:sp>
        <p:nvSpPr>
          <p:cNvPr id="47" name="Text 44"/>
          <p:cNvSpPr/>
          <p:nvPr/>
        </p:nvSpPr>
        <p:spPr>
          <a:xfrm>
            <a:off x="8202538" y="5148895"/>
            <a:ext cx="4658258" cy="347663"/>
          </a:xfrm>
          <a:prstGeom prst="rect">
            <a:avLst/>
          </a:prstGeom>
          <a:noFill/>
          <a:ln/>
        </p:spPr>
        <p:txBody>
          <a:bodyPr wrap="square" lIns="25400" tIns="25400" rIns="25400" bIns="25400" rtlCol="0" anchor="t">
            <a:normAutofit/>
          </a:bodyPr>
          <a:lstStyle/>
          <a:p>
            <a:pPr algn="l" indent="0" marL="0">
              <a:lnSpc>
                <a:spcPct val="82979"/>
              </a:lnSpc>
              <a:buNone/>
            </a:pPr>
            <a:r>
              <a:rPr lang="en-US" sz="1950" b="1" dirty="0">
                <a:solidFill>
                  <a:srgbClr val="FFFFFF"/>
                </a:solidFill>
                <a:latin typeface="Poppins" pitchFamily="34" charset="0"/>
                <a:ea typeface="Poppins" pitchFamily="34" charset="-122"/>
                <a:cs typeface="Poppins" pitchFamily="34" charset="-120"/>
              </a:rPr>
              <a:t>Data consistency score</a:t>
            </a:r>
            <a:endParaRPr lang="en-US" sz="1950" dirty="0"/>
          </a:p>
        </p:txBody>
      </p:sp>
      <p:sp>
        <p:nvSpPr>
          <p:cNvPr id="48" name="Shape 45"/>
          <p:cNvSpPr/>
          <p:nvPr/>
        </p:nvSpPr>
        <p:spPr>
          <a:xfrm>
            <a:off x="8202538" y="5591783"/>
            <a:ext cx="2260637" cy="468499"/>
          </a:xfrm>
          <a:prstGeom prst="roundRect">
            <a:avLst>
              <a:gd name="adj" fmla="val 8132"/>
            </a:avLst>
          </a:prstGeom>
          <a:solidFill>
            <a:srgbClr val="FFFFFF">
              <a:alpha val="18000"/>
            </a:srgbClr>
          </a:solidFill>
          <a:ln/>
        </p:spPr>
      </p:sp>
      <p:sp>
        <p:nvSpPr>
          <p:cNvPr id="49" name="Text 46"/>
          <p:cNvSpPr/>
          <p:nvPr/>
        </p:nvSpPr>
        <p:spPr>
          <a:xfrm>
            <a:off x="8316838" y="5648933"/>
            <a:ext cx="2108237" cy="392299"/>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FFFFFF"/>
                </a:solidFill>
                <a:latin typeface="Poppins" pitchFamily="34" charset="0"/>
                <a:ea typeface="Poppins" pitchFamily="34" charset="-122"/>
                <a:cs typeface="Poppins" pitchFamily="34" charset="-120"/>
              </a:rPr>
              <a:t>+15% consistency</a:t>
            </a:r>
            <a:endParaRPr lang="en-US" sz="1800" dirty="0"/>
          </a:p>
        </p:txBody>
      </p:sp>
      <p:sp>
        <p:nvSpPr>
          <p:cNvPr id="50" name="Shape 47"/>
          <p:cNvSpPr/>
          <p:nvPr/>
        </p:nvSpPr>
        <p:spPr>
          <a:xfrm>
            <a:off x="8202538" y="6136431"/>
            <a:ext cx="2501119" cy="468499"/>
          </a:xfrm>
          <a:prstGeom prst="roundRect">
            <a:avLst>
              <a:gd name="adj" fmla="val 8132"/>
            </a:avLst>
          </a:prstGeom>
          <a:solidFill>
            <a:srgbClr val="FFFFFF">
              <a:alpha val="18000"/>
            </a:srgbClr>
          </a:solidFill>
          <a:ln/>
        </p:spPr>
      </p:sp>
      <p:sp>
        <p:nvSpPr>
          <p:cNvPr id="51" name="Text 48"/>
          <p:cNvSpPr/>
          <p:nvPr/>
        </p:nvSpPr>
        <p:spPr>
          <a:xfrm>
            <a:off x="8316838" y="6193581"/>
            <a:ext cx="2348719" cy="392299"/>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FFFFFF"/>
                </a:solidFill>
                <a:latin typeface="Poppins" pitchFamily="34" charset="0"/>
                <a:ea typeface="Poppins" pitchFamily="34" charset="-122"/>
                <a:cs typeface="Poppins" pitchFamily="34" charset="-120"/>
              </a:rPr>
              <a:t>-50% reconciliation</a:t>
            </a:r>
            <a:endParaRPr lang="en-US" sz="1800" dirty="0"/>
          </a:p>
        </p:txBody>
      </p:sp>
      <p:sp>
        <p:nvSpPr>
          <p:cNvPr id="52" name="Shape 49"/>
          <p:cNvSpPr/>
          <p:nvPr/>
        </p:nvSpPr>
        <p:spPr>
          <a:xfrm>
            <a:off x="12665893" y="5628369"/>
            <a:ext cx="221444" cy="9525"/>
          </a:xfrm>
          <a:prstGeom prst="rect">
            <a:avLst/>
          </a:prstGeom>
          <a:solidFill>
            <a:srgbClr val="C7C7C7"/>
          </a:solidFill>
          <a:ln/>
        </p:spPr>
      </p:sp>
      <p:sp>
        <p:nvSpPr>
          <p:cNvPr id="53" name="Shape 50"/>
          <p:cNvSpPr/>
          <p:nvPr/>
        </p:nvSpPr>
        <p:spPr>
          <a:xfrm>
            <a:off x="12887337" y="5577520"/>
            <a:ext cx="83344" cy="111125"/>
          </a:xfrm>
          <a:prstGeom prst="rect">
            <a:avLst/>
          </a:prstGeom>
          <a:solidFill>
            <a:srgbClr val="C7C7C7"/>
          </a:solidFill>
          <a:ln/>
        </p:spPr>
      </p:sp>
      <p:sp>
        <p:nvSpPr>
          <p:cNvPr id="54" name="Shape 51"/>
          <p:cNvSpPr/>
          <p:nvPr/>
        </p:nvSpPr>
        <p:spPr>
          <a:xfrm>
            <a:off x="12970680" y="4443822"/>
            <a:ext cx="4707743" cy="2378583"/>
          </a:xfrm>
          <a:prstGeom prst="roundRect">
            <a:avLst>
              <a:gd name="adj" fmla="val 4004"/>
            </a:avLst>
          </a:prstGeom>
          <a:ln w="7937">
            <a:solidFill>
              <a:srgbClr val="DEDEDE"/>
            </a:solidFill>
            <a:prstDash val="solid"/>
          </a:ln>
        </p:spPr>
      </p:sp>
      <p:sp>
        <p:nvSpPr>
          <p:cNvPr id="55" name="Text 52"/>
          <p:cNvSpPr/>
          <p:nvPr/>
        </p:nvSpPr>
        <p:spPr>
          <a:xfrm>
            <a:off x="13207194" y="4661297"/>
            <a:ext cx="4658190"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3B5C7F"/>
                </a:solidFill>
                <a:latin typeface="Poppins" pitchFamily="34" charset="0"/>
                <a:ea typeface="Poppins" pitchFamily="34" charset="-122"/>
                <a:cs typeface="Poppins" pitchFamily="34" charset="-120"/>
              </a:rPr>
              <a:t>06</a:t>
            </a:r>
            <a:endParaRPr lang="en-US" sz="1800" dirty="0"/>
          </a:p>
        </p:txBody>
      </p:sp>
      <p:sp>
        <p:nvSpPr>
          <p:cNvPr id="56" name="Text 53"/>
          <p:cNvSpPr/>
          <p:nvPr/>
        </p:nvSpPr>
        <p:spPr>
          <a:xfrm>
            <a:off x="13207194" y="5148895"/>
            <a:ext cx="4658190" cy="347663"/>
          </a:xfrm>
          <a:prstGeom prst="rect">
            <a:avLst/>
          </a:prstGeom>
          <a:noFill/>
          <a:ln/>
        </p:spPr>
        <p:txBody>
          <a:bodyPr wrap="square" lIns="25400" tIns="25400" rIns="25400" bIns="25400" rtlCol="0" anchor="t">
            <a:normAutofit/>
          </a:bodyPr>
          <a:lstStyle/>
          <a:p>
            <a:pPr algn="l" indent="0" marL="0">
              <a:lnSpc>
                <a:spcPct val="82979"/>
              </a:lnSpc>
              <a:buNone/>
            </a:pPr>
            <a:r>
              <a:rPr lang="en-US" sz="1950" b="1" dirty="0">
                <a:solidFill>
                  <a:srgbClr val="220F60"/>
                </a:solidFill>
                <a:latin typeface="Poppins" pitchFamily="34" charset="0"/>
                <a:ea typeface="Poppins" pitchFamily="34" charset="-122"/>
                <a:cs typeface="Poppins" pitchFamily="34" charset="-120"/>
              </a:rPr>
              <a:t>Data enrichment rate</a:t>
            </a:r>
            <a:endParaRPr lang="en-US" sz="1950" dirty="0"/>
          </a:p>
        </p:txBody>
      </p:sp>
      <p:sp>
        <p:nvSpPr>
          <p:cNvPr id="57" name="Shape 54"/>
          <p:cNvSpPr/>
          <p:nvPr/>
        </p:nvSpPr>
        <p:spPr>
          <a:xfrm>
            <a:off x="13207194" y="5591783"/>
            <a:ext cx="3031009" cy="468499"/>
          </a:xfrm>
          <a:prstGeom prst="roundRect">
            <a:avLst>
              <a:gd name="adj" fmla="val 8132"/>
            </a:avLst>
          </a:prstGeom>
          <a:solidFill>
            <a:srgbClr val="EEF1FF"/>
          </a:solidFill>
          <a:ln/>
        </p:spPr>
      </p:sp>
      <p:sp>
        <p:nvSpPr>
          <p:cNvPr id="58" name="Text 55"/>
          <p:cNvSpPr/>
          <p:nvPr/>
        </p:nvSpPr>
        <p:spPr>
          <a:xfrm>
            <a:off x="13321494" y="5648933"/>
            <a:ext cx="2893339" cy="392299"/>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001FFF"/>
                </a:solidFill>
                <a:latin typeface="Poppins" pitchFamily="34" charset="0"/>
                <a:ea typeface="Poppins" pitchFamily="34" charset="-122"/>
                <a:cs typeface="Poppins" pitchFamily="34" charset="-120"/>
              </a:rPr>
              <a:t>+30% enriched datasets</a:t>
            </a:r>
            <a:endParaRPr lang="en-US" sz="1800" dirty="0"/>
          </a:p>
        </p:txBody>
      </p:sp>
      <p:sp>
        <p:nvSpPr>
          <p:cNvPr id="59" name="Shape 56"/>
          <p:cNvSpPr/>
          <p:nvPr/>
        </p:nvSpPr>
        <p:spPr>
          <a:xfrm>
            <a:off x="13207194" y="6136431"/>
            <a:ext cx="3709727" cy="468499"/>
          </a:xfrm>
          <a:prstGeom prst="roundRect">
            <a:avLst>
              <a:gd name="adj" fmla="val 8132"/>
            </a:avLst>
          </a:prstGeom>
          <a:solidFill>
            <a:srgbClr val="EEF1FF"/>
          </a:solidFill>
          <a:ln/>
        </p:spPr>
      </p:sp>
      <p:sp>
        <p:nvSpPr>
          <p:cNvPr id="60" name="Text 57"/>
          <p:cNvSpPr/>
          <p:nvPr/>
        </p:nvSpPr>
        <p:spPr>
          <a:xfrm>
            <a:off x="13321494" y="6193581"/>
            <a:ext cx="3592419" cy="392299"/>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001FFF"/>
                </a:solidFill>
                <a:latin typeface="Poppins" pitchFamily="34" charset="0"/>
                <a:ea typeface="Poppins" pitchFamily="34" charset="-122"/>
                <a:cs typeface="Poppins" pitchFamily="34" charset="-120"/>
              </a:rPr>
              <a:t>+20% segmentation accuracy</a:t>
            </a:r>
            <a:endParaRPr lang="en-US" sz="1800" dirty="0"/>
          </a:p>
        </p:txBody>
      </p:sp>
      <p:sp>
        <p:nvSpPr>
          <p:cNvPr id="61" name="Shape 58"/>
          <p:cNvSpPr/>
          <p:nvPr/>
        </p:nvSpPr>
        <p:spPr>
          <a:xfrm>
            <a:off x="609575" y="7031943"/>
            <a:ext cx="27781" cy="2575843"/>
          </a:xfrm>
          <a:prstGeom prst="rect">
            <a:avLst/>
          </a:prstGeom>
          <a:solidFill>
            <a:srgbClr val="001FFF"/>
          </a:solidFill>
          <a:ln/>
        </p:spPr>
      </p:sp>
      <p:sp>
        <p:nvSpPr>
          <p:cNvPr id="62" name="Text 59"/>
          <p:cNvSpPr/>
          <p:nvPr/>
        </p:nvSpPr>
        <p:spPr>
          <a:xfrm>
            <a:off x="827856" y="7784579"/>
            <a:ext cx="2095500"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3B5C7F"/>
                </a:solidFill>
                <a:latin typeface="Poppins" pitchFamily="34" charset="0"/>
                <a:ea typeface="Poppins" pitchFamily="34" charset="-122"/>
                <a:cs typeface="Poppins" pitchFamily="34" charset="-120"/>
              </a:rPr>
              <a:t>STAGE 03</a:t>
            </a:r>
            <a:endParaRPr lang="en-US" sz="1800" dirty="0"/>
          </a:p>
        </p:txBody>
      </p:sp>
      <p:sp>
        <p:nvSpPr>
          <p:cNvPr id="63" name="Text 60"/>
          <p:cNvSpPr/>
          <p:nvPr/>
        </p:nvSpPr>
        <p:spPr>
          <a:xfrm>
            <a:off x="827856" y="8215002"/>
            <a:ext cx="1981200" cy="678185"/>
          </a:xfrm>
          <a:prstGeom prst="rect">
            <a:avLst/>
          </a:prstGeom>
          <a:noFill/>
          <a:ln/>
        </p:spPr>
        <p:txBody>
          <a:bodyPr wrap="square" lIns="25400" tIns="25400" rIns="25400" bIns="25400" rtlCol="0" anchor="t">
            <a:normAutofit/>
          </a:bodyPr>
          <a:lstStyle/>
          <a:p>
            <a:pPr algn="l" indent="0" marL="0">
              <a:lnSpc>
                <a:spcPct val="79059"/>
              </a:lnSpc>
              <a:buNone/>
            </a:pPr>
            <a:r>
              <a:rPr lang="en-US" sz="2100" b="1" dirty="0">
                <a:solidFill>
                  <a:srgbClr val="220F60"/>
                </a:solidFill>
                <a:latin typeface="Poppins" pitchFamily="34" charset="0"/>
                <a:ea typeface="Poppins" pitchFamily="34" charset="-122"/>
                <a:cs typeface="Poppins" pitchFamily="34" charset="-120"/>
              </a:rPr>
              <a:t>Data Interpretation</a:t>
            </a:r>
            <a:endParaRPr lang="en-US" sz="2100" dirty="0"/>
          </a:p>
        </p:txBody>
      </p:sp>
      <p:sp>
        <p:nvSpPr>
          <p:cNvPr id="64" name="Shape 61"/>
          <p:cNvSpPr/>
          <p:nvPr/>
        </p:nvSpPr>
        <p:spPr>
          <a:xfrm>
            <a:off x="2961431" y="7031943"/>
            <a:ext cx="2748483" cy="2575843"/>
          </a:xfrm>
          <a:prstGeom prst="roundRect">
            <a:avLst>
              <a:gd name="adj" fmla="val 3698"/>
            </a:avLst>
          </a:prstGeom>
          <a:ln w="7937">
            <a:solidFill>
              <a:srgbClr val="DEDEDE"/>
            </a:solidFill>
            <a:prstDash val="solid"/>
          </a:ln>
        </p:spPr>
      </p:sp>
      <p:sp>
        <p:nvSpPr>
          <p:cNvPr id="65" name="Text 62"/>
          <p:cNvSpPr/>
          <p:nvPr/>
        </p:nvSpPr>
        <p:spPr>
          <a:xfrm>
            <a:off x="3159869" y="7407486"/>
            <a:ext cx="2586769"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3B5C7F"/>
                </a:solidFill>
                <a:latin typeface="Poppins" pitchFamily="34" charset="0"/>
                <a:ea typeface="Poppins" pitchFamily="34" charset="-122"/>
                <a:cs typeface="Poppins" pitchFamily="34" charset="-120"/>
              </a:rPr>
              <a:t>07</a:t>
            </a:r>
            <a:endParaRPr lang="en-US" sz="1800" dirty="0"/>
          </a:p>
        </p:txBody>
      </p:sp>
      <p:sp>
        <p:nvSpPr>
          <p:cNvPr id="66" name="Text 63"/>
          <p:cNvSpPr/>
          <p:nvPr/>
        </p:nvSpPr>
        <p:spPr>
          <a:xfrm>
            <a:off x="3159869" y="7876046"/>
            <a:ext cx="2586769" cy="323788"/>
          </a:xfrm>
          <a:prstGeom prst="rect">
            <a:avLst/>
          </a:prstGeom>
          <a:noFill/>
          <a:ln/>
        </p:spPr>
        <p:txBody>
          <a:bodyPr wrap="square" lIns="25400" tIns="25400" rIns="25400" bIns="25400" rtlCol="0" anchor="t">
            <a:normAutofit/>
          </a:bodyPr>
          <a:lstStyle/>
          <a:p>
            <a:pPr algn="l" indent="0" marL="0">
              <a:lnSpc>
                <a:spcPct val="83721"/>
              </a:lnSpc>
              <a:buNone/>
            </a:pPr>
            <a:r>
              <a:rPr lang="en-US" sz="1800" b="1" dirty="0">
                <a:solidFill>
                  <a:srgbClr val="220F60"/>
                </a:solidFill>
                <a:latin typeface="Poppins" pitchFamily="34" charset="0"/>
                <a:ea typeface="Poppins" pitchFamily="34" charset="-122"/>
                <a:cs typeface="Poppins" pitchFamily="34" charset="-120"/>
              </a:rPr>
              <a:t>Quality evaluation</a:t>
            </a:r>
            <a:endParaRPr lang="en-US" sz="1800" dirty="0"/>
          </a:p>
        </p:txBody>
      </p:sp>
      <p:sp>
        <p:nvSpPr>
          <p:cNvPr id="67" name="Shape 64"/>
          <p:cNvSpPr/>
          <p:nvPr/>
        </p:nvSpPr>
        <p:spPr>
          <a:xfrm>
            <a:off x="3159869" y="8276022"/>
            <a:ext cx="1082290" cy="449523"/>
          </a:xfrm>
          <a:prstGeom prst="roundRect">
            <a:avLst>
              <a:gd name="adj" fmla="val 8476"/>
            </a:avLst>
          </a:prstGeom>
          <a:solidFill>
            <a:srgbClr val="EEF1FF"/>
          </a:solidFill>
          <a:ln/>
        </p:spPr>
      </p:sp>
      <p:sp>
        <p:nvSpPr>
          <p:cNvPr id="68" name="Text 65"/>
          <p:cNvSpPr/>
          <p:nvPr/>
        </p:nvSpPr>
        <p:spPr>
          <a:xfrm>
            <a:off x="3255119" y="8323647"/>
            <a:ext cx="967990"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001FFF"/>
                </a:solidFill>
                <a:latin typeface="Poppins" pitchFamily="34" charset="0"/>
                <a:ea typeface="Poppins" pitchFamily="34" charset="-122"/>
                <a:cs typeface="Poppins" pitchFamily="34" charset="-120"/>
              </a:rPr>
              <a:t>-2 days</a:t>
            </a:r>
            <a:endParaRPr lang="en-US" sz="1800" dirty="0"/>
          </a:p>
        </p:txBody>
      </p:sp>
      <p:sp>
        <p:nvSpPr>
          <p:cNvPr id="69" name="Shape 66"/>
          <p:cNvSpPr/>
          <p:nvPr/>
        </p:nvSpPr>
        <p:spPr>
          <a:xfrm>
            <a:off x="3159869" y="8782658"/>
            <a:ext cx="2121297" cy="449523"/>
          </a:xfrm>
          <a:prstGeom prst="roundRect">
            <a:avLst>
              <a:gd name="adj" fmla="val 8476"/>
            </a:avLst>
          </a:prstGeom>
          <a:solidFill>
            <a:srgbClr val="EEF1FF"/>
          </a:solidFill>
          <a:ln/>
        </p:spPr>
      </p:sp>
      <p:sp>
        <p:nvSpPr>
          <p:cNvPr id="70" name="Text 67"/>
          <p:cNvSpPr/>
          <p:nvPr/>
        </p:nvSpPr>
        <p:spPr>
          <a:xfrm>
            <a:off x="3255119" y="8830283"/>
            <a:ext cx="2006997"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001FFF"/>
                </a:solidFill>
                <a:latin typeface="Poppins" pitchFamily="34" charset="0"/>
                <a:ea typeface="Poppins" pitchFamily="34" charset="-122"/>
                <a:cs typeface="Poppins" pitchFamily="34" charset="-120"/>
              </a:rPr>
              <a:t>+15% confidence</a:t>
            </a:r>
            <a:endParaRPr lang="en-US" sz="1800" dirty="0"/>
          </a:p>
        </p:txBody>
      </p:sp>
      <p:sp>
        <p:nvSpPr>
          <p:cNvPr id="71" name="Shape 68"/>
          <p:cNvSpPr/>
          <p:nvPr/>
        </p:nvSpPr>
        <p:spPr>
          <a:xfrm>
            <a:off x="5709915" y="8315089"/>
            <a:ext cx="172207" cy="9525"/>
          </a:xfrm>
          <a:prstGeom prst="rect">
            <a:avLst/>
          </a:prstGeom>
          <a:solidFill>
            <a:srgbClr val="C7C7C7"/>
          </a:solidFill>
          <a:ln/>
        </p:spPr>
      </p:sp>
      <p:sp>
        <p:nvSpPr>
          <p:cNvPr id="72" name="Shape 69"/>
          <p:cNvSpPr/>
          <p:nvPr/>
        </p:nvSpPr>
        <p:spPr>
          <a:xfrm>
            <a:off x="5882121" y="8272239"/>
            <a:ext cx="75406" cy="95250"/>
          </a:xfrm>
          <a:prstGeom prst="rect">
            <a:avLst/>
          </a:prstGeom>
          <a:solidFill>
            <a:srgbClr val="C7C7C7"/>
          </a:solidFill>
          <a:ln/>
        </p:spPr>
      </p:sp>
      <p:sp>
        <p:nvSpPr>
          <p:cNvPr id="73" name="Shape 70"/>
          <p:cNvSpPr/>
          <p:nvPr/>
        </p:nvSpPr>
        <p:spPr>
          <a:xfrm>
            <a:off x="5957528" y="7031943"/>
            <a:ext cx="2748483" cy="2575843"/>
          </a:xfrm>
          <a:prstGeom prst="roundRect">
            <a:avLst>
              <a:gd name="adj" fmla="val 3698"/>
            </a:avLst>
          </a:prstGeom>
          <a:ln w="7937">
            <a:solidFill>
              <a:srgbClr val="DEDEDE"/>
            </a:solidFill>
            <a:prstDash val="solid"/>
          </a:ln>
        </p:spPr>
      </p:sp>
      <p:sp>
        <p:nvSpPr>
          <p:cNvPr id="74" name="Text 71"/>
          <p:cNvSpPr/>
          <p:nvPr/>
        </p:nvSpPr>
        <p:spPr>
          <a:xfrm>
            <a:off x="6155965" y="7407486"/>
            <a:ext cx="2586769"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3B5C7F"/>
                </a:solidFill>
                <a:latin typeface="Poppins" pitchFamily="34" charset="0"/>
                <a:ea typeface="Poppins" pitchFamily="34" charset="-122"/>
                <a:cs typeface="Poppins" pitchFamily="34" charset="-120"/>
              </a:rPr>
              <a:t>08</a:t>
            </a:r>
            <a:endParaRPr lang="en-US" sz="1800" dirty="0"/>
          </a:p>
        </p:txBody>
      </p:sp>
      <p:sp>
        <p:nvSpPr>
          <p:cNvPr id="75" name="Text 72"/>
          <p:cNvSpPr/>
          <p:nvPr/>
        </p:nvSpPr>
        <p:spPr>
          <a:xfrm>
            <a:off x="6155965" y="7876046"/>
            <a:ext cx="2586769" cy="323788"/>
          </a:xfrm>
          <a:prstGeom prst="rect">
            <a:avLst/>
          </a:prstGeom>
          <a:noFill/>
          <a:ln/>
        </p:spPr>
        <p:txBody>
          <a:bodyPr wrap="square" lIns="25400" tIns="25400" rIns="25400" bIns="25400" rtlCol="0" anchor="t">
            <a:normAutofit/>
          </a:bodyPr>
          <a:lstStyle/>
          <a:p>
            <a:pPr algn="l" indent="0" marL="0">
              <a:lnSpc>
                <a:spcPct val="83721"/>
              </a:lnSpc>
              <a:buNone/>
            </a:pPr>
            <a:r>
              <a:rPr lang="en-US" sz="1800" b="1" dirty="0">
                <a:solidFill>
                  <a:srgbClr val="220F60"/>
                </a:solidFill>
                <a:latin typeface="Poppins" pitchFamily="34" charset="0"/>
                <a:ea typeface="Poppins" pitchFamily="34" charset="-122"/>
                <a:cs typeface="Poppins" pitchFamily="34" charset="-120"/>
              </a:rPr>
              <a:t>Insight accuracy</a:t>
            </a:r>
            <a:endParaRPr lang="en-US" sz="1800" dirty="0"/>
          </a:p>
        </p:txBody>
      </p:sp>
      <p:sp>
        <p:nvSpPr>
          <p:cNvPr id="76" name="Shape 73"/>
          <p:cNvSpPr/>
          <p:nvPr/>
        </p:nvSpPr>
        <p:spPr>
          <a:xfrm>
            <a:off x="6155965" y="8276022"/>
            <a:ext cx="1923107" cy="449523"/>
          </a:xfrm>
          <a:prstGeom prst="roundRect">
            <a:avLst>
              <a:gd name="adj" fmla="val 8476"/>
            </a:avLst>
          </a:prstGeom>
          <a:solidFill>
            <a:srgbClr val="EEF1FF"/>
          </a:solidFill>
          <a:ln/>
        </p:spPr>
      </p:sp>
      <p:sp>
        <p:nvSpPr>
          <p:cNvPr id="77" name="Text 74"/>
          <p:cNvSpPr/>
          <p:nvPr/>
        </p:nvSpPr>
        <p:spPr>
          <a:xfrm>
            <a:off x="6251215" y="8323647"/>
            <a:ext cx="1808807"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001FFF"/>
                </a:solidFill>
                <a:latin typeface="Poppins" pitchFamily="34" charset="0"/>
                <a:ea typeface="Poppins" pitchFamily="34" charset="-122"/>
                <a:cs typeface="Poppins" pitchFamily="34" charset="-120"/>
              </a:rPr>
              <a:t>+15% accuracy</a:t>
            </a:r>
            <a:endParaRPr lang="en-US" sz="1800" dirty="0"/>
          </a:p>
        </p:txBody>
      </p:sp>
      <p:sp>
        <p:nvSpPr>
          <p:cNvPr id="78" name="Shape 75"/>
          <p:cNvSpPr/>
          <p:nvPr/>
        </p:nvSpPr>
        <p:spPr>
          <a:xfrm>
            <a:off x="6155965" y="8782658"/>
            <a:ext cx="2172953" cy="449523"/>
          </a:xfrm>
          <a:prstGeom prst="roundRect">
            <a:avLst>
              <a:gd name="adj" fmla="val 8476"/>
            </a:avLst>
          </a:prstGeom>
          <a:solidFill>
            <a:srgbClr val="EEF1FF"/>
          </a:solidFill>
          <a:ln/>
        </p:spPr>
      </p:sp>
      <p:sp>
        <p:nvSpPr>
          <p:cNvPr id="79" name="Text 76"/>
          <p:cNvSpPr/>
          <p:nvPr/>
        </p:nvSpPr>
        <p:spPr>
          <a:xfrm>
            <a:off x="6251215" y="8830283"/>
            <a:ext cx="2058653"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001FFF"/>
                </a:solidFill>
                <a:latin typeface="Poppins" pitchFamily="34" charset="0"/>
                <a:ea typeface="Poppins" pitchFamily="34" charset="-122"/>
                <a:cs typeface="Poppins" pitchFamily="34" charset="-120"/>
              </a:rPr>
              <a:t>-30% corrections</a:t>
            </a:r>
            <a:endParaRPr lang="en-US" sz="1800" dirty="0"/>
          </a:p>
        </p:txBody>
      </p:sp>
      <p:sp>
        <p:nvSpPr>
          <p:cNvPr id="80" name="Shape 77"/>
          <p:cNvSpPr/>
          <p:nvPr/>
        </p:nvSpPr>
        <p:spPr>
          <a:xfrm>
            <a:off x="8706011" y="8315089"/>
            <a:ext cx="172207" cy="9525"/>
          </a:xfrm>
          <a:prstGeom prst="rect">
            <a:avLst/>
          </a:prstGeom>
          <a:solidFill>
            <a:srgbClr val="C7C7C7"/>
          </a:solidFill>
          <a:ln/>
        </p:spPr>
      </p:sp>
      <p:sp>
        <p:nvSpPr>
          <p:cNvPr id="81" name="Shape 78"/>
          <p:cNvSpPr/>
          <p:nvPr/>
        </p:nvSpPr>
        <p:spPr>
          <a:xfrm>
            <a:off x="8878217" y="8272239"/>
            <a:ext cx="75406" cy="95250"/>
          </a:xfrm>
          <a:prstGeom prst="rect">
            <a:avLst/>
          </a:prstGeom>
          <a:solidFill>
            <a:srgbClr val="C7C7C7"/>
          </a:solidFill>
          <a:ln/>
        </p:spPr>
      </p:sp>
      <p:sp>
        <p:nvSpPr>
          <p:cNvPr id="82" name="Shape 79"/>
          <p:cNvSpPr/>
          <p:nvPr/>
        </p:nvSpPr>
        <p:spPr>
          <a:xfrm>
            <a:off x="8953624" y="7031943"/>
            <a:ext cx="2748483" cy="2575843"/>
          </a:xfrm>
          <a:prstGeom prst="roundRect">
            <a:avLst>
              <a:gd name="adj" fmla="val 3698"/>
            </a:avLst>
          </a:prstGeom>
          <a:ln w="7937">
            <a:solidFill>
              <a:srgbClr val="DEDEDE"/>
            </a:solidFill>
            <a:prstDash val="solid"/>
          </a:ln>
        </p:spPr>
      </p:sp>
      <p:sp>
        <p:nvSpPr>
          <p:cNvPr id="83" name="Text 80"/>
          <p:cNvSpPr/>
          <p:nvPr/>
        </p:nvSpPr>
        <p:spPr>
          <a:xfrm>
            <a:off x="9152061" y="7230380"/>
            <a:ext cx="2586769"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3B5C7F"/>
                </a:solidFill>
                <a:latin typeface="Poppins" pitchFamily="34" charset="0"/>
                <a:ea typeface="Poppins" pitchFamily="34" charset="-122"/>
                <a:cs typeface="Poppins" pitchFamily="34" charset="-120"/>
              </a:rPr>
              <a:t>09</a:t>
            </a:r>
            <a:endParaRPr lang="en-US" sz="1800" dirty="0"/>
          </a:p>
        </p:txBody>
      </p:sp>
      <p:sp>
        <p:nvSpPr>
          <p:cNvPr id="84" name="Text 81"/>
          <p:cNvSpPr/>
          <p:nvPr/>
        </p:nvSpPr>
        <p:spPr>
          <a:xfrm>
            <a:off x="9152061" y="7698941"/>
            <a:ext cx="2586769" cy="323788"/>
          </a:xfrm>
          <a:prstGeom prst="rect">
            <a:avLst/>
          </a:prstGeom>
          <a:noFill/>
          <a:ln/>
        </p:spPr>
        <p:txBody>
          <a:bodyPr wrap="square" lIns="25400" tIns="25400" rIns="25400" bIns="25400" rtlCol="0" anchor="t">
            <a:normAutofit/>
          </a:bodyPr>
          <a:lstStyle/>
          <a:p>
            <a:pPr algn="l" indent="0" marL="0">
              <a:lnSpc>
                <a:spcPct val="83721"/>
              </a:lnSpc>
              <a:buNone/>
            </a:pPr>
            <a:r>
              <a:rPr lang="en-US" sz="1800" b="1" dirty="0">
                <a:solidFill>
                  <a:srgbClr val="220F60"/>
                </a:solidFill>
                <a:latin typeface="Poppins" pitchFamily="34" charset="0"/>
                <a:ea typeface="Poppins" pitchFamily="34" charset="-122"/>
                <a:cs typeface="Poppins" pitchFamily="34" charset="-120"/>
              </a:rPr>
              <a:t>Time to insight</a:t>
            </a:r>
            <a:endParaRPr lang="en-US" sz="1800" dirty="0"/>
          </a:p>
        </p:txBody>
      </p:sp>
      <p:sp>
        <p:nvSpPr>
          <p:cNvPr id="85" name="Shape 82"/>
          <p:cNvSpPr/>
          <p:nvPr/>
        </p:nvSpPr>
        <p:spPr>
          <a:xfrm>
            <a:off x="9152061" y="8098916"/>
            <a:ext cx="1098290" cy="449523"/>
          </a:xfrm>
          <a:prstGeom prst="roundRect">
            <a:avLst>
              <a:gd name="adj" fmla="val 8476"/>
            </a:avLst>
          </a:prstGeom>
          <a:solidFill>
            <a:srgbClr val="EEF1FF"/>
          </a:solidFill>
          <a:ln/>
        </p:spPr>
      </p:sp>
      <p:sp>
        <p:nvSpPr>
          <p:cNvPr id="86" name="Text 83"/>
          <p:cNvSpPr/>
          <p:nvPr/>
        </p:nvSpPr>
        <p:spPr>
          <a:xfrm>
            <a:off x="9247311" y="8146541"/>
            <a:ext cx="983990"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001FFF"/>
                </a:solidFill>
                <a:latin typeface="Poppins" pitchFamily="34" charset="0"/>
                <a:ea typeface="Poppins" pitchFamily="34" charset="-122"/>
                <a:cs typeface="Poppins" pitchFamily="34" charset="-120"/>
              </a:rPr>
              <a:t>-5 days</a:t>
            </a:r>
            <a:endParaRPr lang="en-US" sz="1800" dirty="0"/>
          </a:p>
        </p:txBody>
      </p:sp>
      <p:sp>
        <p:nvSpPr>
          <p:cNvPr id="87" name="Shape 84"/>
          <p:cNvSpPr/>
          <p:nvPr/>
        </p:nvSpPr>
        <p:spPr>
          <a:xfrm>
            <a:off x="9152061" y="8605552"/>
            <a:ext cx="2351608" cy="803796"/>
          </a:xfrm>
          <a:prstGeom prst="roundRect">
            <a:avLst>
              <a:gd name="adj" fmla="val 4740"/>
            </a:avLst>
          </a:prstGeom>
          <a:solidFill>
            <a:srgbClr val="EEF1FF"/>
          </a:solidFill>
          <a:ln/>
        </p:spPr>
      </p:sp>
      <p:sp>
        <p:nvSpPr>
          <p:cNvPr id="88" name="Text 85"/>
          <p:cNvSpPr/>
          <p:nvPr/>
        </p:nvSpPr>
        <p:spPr>
          <a:xfrm>
            <a:off x="9247311" y="8653177"/>
            <a:ext cx="2237308" cy="746646"/>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001FFF"/>
                </a:solidFill>
                <a:latin typeface="Poppins" pitchFamily="34" charset="0"/>
                <a:ea typeface="Poppins" pitchFamily="34" charset="-122"/>
                <a:cs typeface="Poppins" pitchFamily="34" charset="-120"/>
              </a:rPr>
              <a:t>+20% in-window decisions</a:t>
            </a:r>
            <a:endParaRPr lang="en-US" sz="1800" dirty="0"/>
          </a:p>
        </p:txBody>
      </p:sp>
      <p:sp>
        <p:nvSpPr>
          <p:cNvPr id="89" name="Shape 86"/>
          <p:cNvSpPr/>
          <p:nvPr/>
        </p:nvSpPr>
        <p:spPr>
          <a:xfrm>
            <a:off x="11702107" y="8315089"/>
            <a:ext cx="172207" cy="9525"/>
          </a:xfrm>
          <a:prstGeom prst="rect">
            <a:avLst/>
          </a:prstGeom>
          <a:solidFill>
            <a:srgbClr val="C7C7C7"/>
          </a:solidFill>
          <a:ln/>
        </p:spPr>
      </p:sp>
      <p:sp>
        <p:nvSpPr>
          <p:cNvPr id="90" name="Shape 87"/>
          <p:cNvSpPr/>
          <p:nvPr/>
        </p:nvSpPr>
        <p:spPr>
          <a:xfrm>
            <a:off x="11874314" y="8272239"/>
            <a:ext cx="75406" cy="95250"/>
          </a:xfrm>
          <a:prstGeom prst="rect">
            <a:avLst/>
          </a:prstGeom>
          <a:solidFill>
            <a:srgbClr val="C7C7C7"/>
          </a:solidFill>
          <a:ln/>
        </p:spPr>
      </p:sp>
      <p:sp>
        <p:nvSpPr>
          <p:cNvPr id="91" name="Shape 88"/>
          <p:cNvSpPr/>
          <p:nvPr/>
        </p:nvSpPr>
        <p:spPr>
          <a:xfrm>
            <a:off x="11949719" y="7031943"/>
            <a:ext cx="2732608" cy="2575843"/>
          </a:xfrm>
          <a:prstGeom prst="roundRect">
            <a:avLst>
              <a:gd name="adj" fmla="val 3698"/>
            </a:avLst>
          </a:prstGeom>
          <a:solidFill>
            <a:srgbClr val="001FFF"/>
          </a:solidFill>
          <a:ln/>
          <a:effectLst>
            <a:outerShdw sx="100000" sy="100000" kx="0" ky="0" algn="bl" rotWithShape="0" blurRad="266700" dist="95250" dir="5400000">
              <a:srgbClr val="001FFF">
                <a:alpha val="22000"/>
              </a:srgbClr>
            </a:outerShdw>
          </a:effectLst>
        </p:spPr>
      </p:sp>
      <p:sp>
        <p:nvSpPr>
          <p:cNvPr id="92" name="Text 89"/>
          <p:cNvSpPr/>
          <p:nvPr/>
        </p:nvSpPr>
        <p:spPr>
          <a:xfrm>
            <a:off x="12140219" y="7264673"/>
            <a:ext cx="2586769"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FFFFFF">
                    <a:alpha val="90000"/>
                  </a:srgbClr>
                </a:solidFill>
                <a:latin typeface="Poppins" pitchFamily="34" charset="0"/>
                <a:ea typeface="Poppins" pitchFamily="34" charset="-122"/>
                <a:cs typeface="Poppins" pitchFamily="34" charset="-120"/>
              </a:rPr>
              <a:t>10</a:t>
            </a:r>
            <a:endParaRPr lang="en-US" sz="1800" dirty="0"/>
          </a:p>
        </p:txBody>
      </p:sp>
      <p:sp>
        <p:nvSpPr>
          <p:cNvPr id="93" name="Text 90"/>
          <p:cNvSpPr/>
          <p:nvPr/>
        </p:nvSpPr>
        <p:spPr>
          <a:xfrm>
            <a:off x="12140219" y="7733233"/>
            <a:ext cx="2427808" cy="609476"/>
          </a:xfrm>
          <a:prstGeom prst="rect">
            <a:avLst/>
          </a:prstGeom>
          <a:noFill/>
          <a:ln/>
        </p:spPr>
        <p:txBody>
          <a:bodyPr wrap="square" lIns="25400" tIns="25400" rIns="25400" bIns="25400" rtlCol="0" anchor="t">
            <a:normAutofit/>
          </a:bodyPr>
          <a:lstStyle/>
          <a:p>
            <a:pPr algn="l" indent="0" marL="0">
              <a:lnSpc>
                <a:spcPct val="83721"/>
              </a:lnSpc>
              <a:buNone/>
            </a:pPr>
            <a:r>
              <a:rPr lang="en-US" sz="1800" b="1" dirty="0">
                <a:solidFill>
                  <a:srgbClr val="FFFFFF"/>
                </a:solidFill>
                <a:latin typeface="Poppins" pitchFamily="34" charset="0"/>
                <a:ea typeface="Poppins" pitchFamily="34" charset="-122"/>
                <a:cs typeface="Poppins" pitchFamily="34" charset="-120"/>
              </a:rPr>
              <a:t>Analyst productivity</a:t>
            </a:r>
            <a:endParaRPr lang="en-US" sz="1800" dirty="0"/>
          </a:p>
        </p:txBody>
      </p:sp>
      <p:sp>
        <p:nvSpPr>
          <p:cNvPr id="94" name="Shape 91"/>
          <p:cNvSpPr/>
          <p:nvPr/>
        </p:nvSpPr>
        <p:spPr>
          <a:xfrm>
            <a:off x="12140219" y="8418897"/>
            <a:ext cx="1815641" cy="449523"/>
          </a:xfrm>
          <a:prstGeom prst="roundRect">
            <a:avLst>
              <a:gd name="adj" fmla="val 8476"/>
            </a:avLst>
          </a:prstGeom>
          <a:solidFill>
            <a:srgbClr val="FFFFFF">
              <a:alpha val="18000"/>
            </a:srgbClr>
          </a:solidFill>
          <a:ln/>
        </p:spPr>
      </p:sp>
      <p:sp>
        <p:nvSpPr>
          <p:cNvPr id="95" name="Text 92"/>
          <p:cNvSpPr/>
          <p:nvPr/>
        </p:nvSpPr>
        <p:spPr>
          <a:xfrm>
            <a:off x="12235469" y="8466522"/>
            <a:ext cx="1701341"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FFFFFF"/>
                </a:solidFill>
                <a:latin typeface="Poppins" pitchFamily="34" charset="0"/>
                <a:ea typeface="Poppins" pitchFamily="34" charset="-122"/>
                <a:cs typeface="Poppins" pitchFamily="34" charset="-120"/>
              </a:rPr>
              <a:t>+25% projects</a:t>
            </a:r>
            <a:endParaRPr lang="en-US" sz="1800" dirty="0"/>
          </a:p>
        </p:txBody>
      </p:sp>
      <p:sp>
        <p:nvSpPr>
          <p:cNvPr id="96" name="Shape 93"/>
          <p:cNvSpPr/>
          <p:nvPr/>
        </p:nvSpPr>
        <p:spPr>
          <a:xfrm>
            <a:off x="12140219" y="8925533"/>
            <a:ext cx="1982515" cy="449523"/>
          </a:xfrm>
          <a:prstGeom prst="roundRect">
            <a:avLst>
              <a:gd name="adj" fmla="val 8476"/>
            </a:avLst>
          </a:prstGeom>
          <a:solidFill>
            <a:srgbClr val="FFFFFF">
              <a:alpha val="18000"/>
            </a:srgbClr>
          </a:solidFill>
          <a:ln/>
        </p:spPr>
      </p:sp>
      <p:sp>
        <p:nvSpPr>
          <p:cNvPr id="97" name="Text 94"/>
          <p:cNvSpPr/>
          <p:nvPr/>
        </p:nvSpPr>
        <p:spPr>
          <a:xfrm>
            <a:off x="12235469" y="8973158"/>
            <a:ext cx="1868215"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FFFFFF"/>
                </a:solidFill>
                <a:latin typeface="Poppins" pitchFamily="34" charset="0"/>
                <a:ea typeface="Poppins" pitchFamily="34" charset="-122"/>
                <a:cs typeface="Poppins" pitchFamily="34" charset="-120"/>
              </a:rPr>
              <a:t>-20% cost each</a:t>
            </a:r>
            <a:endParaRPr lang="en-US" sz="1800" dirty="0"/>
          </a:p>
        </p:txBody>
      </p:sp>
      <p:sp>
        <p:nvSpPr>
          <p:cNvPr id="98" name="Shape 95"/>
          <p:cNvSpPr/>
          <p:nvPr/>
        </p:nvSpPr>
        <p:spPr>
          <a:xfrm>
            <a:off x="14682328" y="8315089"/>
            <a:ext cx="172207" cy="9525"/>
          </a:xfrm>
          <a:prstGeom prst="rect">
            <a:avLst/>
          </a:prstGeom>
          <a:solidFill>
            <a:srgbClr val="C7C7C7"/>
          </a:solidFill>
          <a:ln/>
        </p:spPr>
      </p:sp>
      <p:sp>
        <p:nvSpPr>
          <p:cNvPr id="99" name="Shape 96"/>
          <p:cNvSpPr/>
          <p:nvPr/>
        </p:nvSpPr>
        <p:spPr>
          <a:xfrm>
            <a:off x="14854535" y="8272239"/>
            <a:ext cx="75406" cy="95250"/>
          </a:xfrm>
          <a:prstGeom prst="rect">
            <a:avLst/>
          </a:prstGeom>
          <a:solidFill>
            <a:srgbClr val="C7C7C7"/>
          </a:solidFill>
          <a:ln/>
        </p:spPr>
      </p:sp>
      <p:sp>
        <p:nvSpPr>
          <p:cNvPr id="100" name="Shape 97"/>
          <p:cNvSpPr/>
          <p:nvPr/>
        </p:nvSpPr>
        <p:spPr>
          <a:xfrm>
            <a:off x="14929941" y="7031943"/>
            <a:ext cx="2748483" cy="2575843"/>
          </a:xfrm>
          <a:prstGeom prst="roundRect">
            <a:avLst>
              <a:gd name="adj" fmla="val 3698"/>
            </a:avLst>
          </a:prstGeom>
          <a:ln w="7937">
            <a:solidFill>
              <a:srgbClr val="DEDEDE"/>
            </a:solidFill>
            <a:prstDash val="solid"/>
          </a:ln>
        </p:spPr>
      </p:sp>
      <p:sp>
        <p:nvSpPr>
          <p:cNvPr id="101" name="Text 98"/>
          <p:cNvSpPr/>
          <p:nvPr/>
        </p:nvSpPr>
        <p:spPr>
          <a:xfrm>
            <a:off x="15128379" y="7264673"/>
            <a:ext cx="2586769"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3B5C7F"/>
                </a:solidFill>
                <a:latin typeface="Poppins" pitchFamily="34" charset="0"/>
                <a:ea typeface="Poppins" pitchFamily="34" charset="-122"/>
                <a:cs typeface="Poppins" pitchFamily="34" charset="-120"/>
              </a:rPr>
              <a:t>11</a:t>
            </a:r>
            <a:endParaRPr lang="en-US" sz="1800" dirty="0"/>
          </a:p>
        </p:txBody>
      </p:sp>
      <p:sp>
        <p:nvSpPr>
          <p:cNvPr id="102" name="Text 99"/>
          <p:cNvSpPr/>
          <p:nvPr/>
        </p:nvSpPr>
        <p:spPr>
          <a:xfrm>
            <a:off x="15128379" y="7733233"/>
            <a:ext cx="2427808" cy="609476"/>
          </a:xfrm>
          <a:prstGeom prst="rect">
            <a:avLst/>
          </a:prstGeom>
          <a:noFill/>
          <a:ln/>
        </p:spPr>
        <p:txBody>
          <a:bodyPr wrap="square" lIns="25400" tIns="25400" rIns="25400" bIns="25400" rtlCol="0" anchor="t">
            <a:normAutofit/>
          </a:bodyPr>
          <a:lstStyle/>
          <a:p>
            <a:pPr algn="l" indent="0" marL="0">
              <a:lnSpc>
                <a:spcPct val="83721"/>
              </a:lnSpc>
              <a:buNone/>
            </a:pPr>
            <a:r>
              <a:rPr lang="en-US" sz="1800" b="1" dirty="0">
                <a:solidFill>
                  <a:srgbClr val="220F60"/>
                </a:solidFill>
                <a:latin typeface="Poppins" pitchFamily="34" charset="0"/>
                <a:ea typeface="Poppins" pitchFamily="34" charset="-122"/>
                <a:cs typeface="Poppins" pitchFamily="34" charset="-120"/>
              </a:rPr>
              <a:t>Cross-entity coverage</a:t>
            </a:r>
            <a:endParaRPr lang="en-US" sz="1800" dirty="0"/>
          </a:p>
        </p:txBody>
      </p:sp>
      <p:sp>
        <p:nvSpPr>
          <p:cNvPr id="103" name="Shape 100"/>
          <p:cNvSpPr/>
          <p:nvPr/>
        </p:nvSpPr>
        <p:spPr>
          <a:xfrm>
            <a:off x="15128379" y="8418897"/>
            <a:ext cx="1821842" cy="449523"/>
          </a:xfrm>
          <a:prstGeom prst="roundRect">
            <a:avLst>
              <a:gd name="adj" fmla="val 8476"/>
            </a:avLst>
          </a:prstGeom>
          <a:solidFill>
            <a:srgbClr val="EEF1FF"/>
          </a:solidFill>
          <a:ln/>
        </p:spPr>
      </p:sp>
      <p:sp>
        <p:nvSpPr>
          <p:cNvPr id="104" name="Text 101"/>
          <p:cNvSpPr/>
          <p:nvPr/>
        </p:nvSpPr>
        <p:spPr>
          <a:xfrm>
            <a:off x="15223629" y="8466522"/>
            <a:ext cx="1707542"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001FFF"/>
                </a:solidFill>
                <a:latin typeface="Poppins" pitchFamily="34" charset="0"/>
                <a:ea typeface="Poppins" pitchFamily="34" charset="-122"/>
                <a:cs typeface="Poppins" pitchFamily="34" charset="-120"/>
              </a:rPr>
              <a:t>+30% projects</a:t>
            </a:r>
            <a:endParaRPr lang="en-US" sz="1800" dirty="0"/>
          </a:p>
        </p:txBody>
      </p:sp>
      <p:sp>
        <p:nvSpPr>
          <p:cNvPr id="105" name="Shape 102"/>
          <p:cNvSpPr/>
          <p:nvPr/>
        </p:nvSpPr>
        <p:spPr>
          <a:xfrm>
            <a:off x="15128379" y="8925533"/>
            <a:ext cx="2223492" cy="449523"/>
          </a:xfrm>
          <a:prstGeom prst="roundRect">
            <a:avLst>
              <a:gd name="adj" fmla="val 8476"/>
            </a:avLst>
          </a:prstGeom>
          <a:solidFill>
            <a:srgbClr val="EEF1FF"/>
          </a:solidFill>
          <a:ln/>
        </p:spPr>
      </p:sp>
      <p:sp>
        <p:nvSpPr>
          <p:cNvPr id="106" name="Text 103"/>
          <p:cNvSpPr/>
          <p:nvPr/>
        </p:nvSpPr>
        <p:spPr>
          <a:xfrm>
            <a:off x="15223629" y="8973158"/>
            <a:ext cx="2109192"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b="1" dirty="0">
                <a:solidFill>
                  <a:srgbClr val="001FFF"/>
                </a:solidFill>
                <a:latin typeface="Poppins" pitchFamily="34" charset="0"/>
                <a:ea typeface="Poppins" pitchFamily="34" charset="-122"/>
                <a:cs typeface="Poppins" pitchFamily="34" charset="-120"/>
              </a:rPr>
              <a:t>+3 collaborations</a:t>
            </a:r>
            <a:endParaRPr lang="en-US" sz="1800" dirty="0"/>
          </a:p>
        </p:txBody>
      </p:sp>
      <p:sp>
        <p:nvSpPr>
          <p:cNvPr id="107" name="Shape 104"/>
          <p:cNvSpPr/>
          <p:nvPr/>
        </p:nvSpPr>
        <p:spPr>
          <a:xfrm>
            <a:off x="609575" y="9974461"/>
            <a:ext cx="95250" cy="19038"/>
          </a:xfrm>
          <a:prstGeom prst="rect">
            <a:avLst/>
          </a:prstGeom>
          <a:solidFill>
            <a:srgbClr val="001FFF"/>
          </a:solidFill>
          <a:ln/>
        </p:spPr>
      </p:sp>
      <p:sp>
        <p:nvSpPr>
          <p:cNvPr id="108" name="Text 105"/>
          <p:cNvSpPr/>
          <p:nvPr/>
        </p:nvSpPr>
        <p:spPr>
          <a:xfrm>
            <a:off x="857188" y="9836360"/>
            <a:ext cx="6261807" cy="333338"/>
          </a:xfrm>
          <a:prstGeom prst="rect">
            <a:avLst/>
          </a:prstGeom>
          <a:noFill/>
          <a:ln/>
        </p:spPr>
        <p:txBody>
          <a:bodyPr wrap="square" lIns="25400" tIns="25400" rIns="25400" bIns="25400" rtlCol="0" anchor="t">
            <a:normAutofit/>
          </a:bodyPr>
          <a:lstStyle/>
          <a:p>
            <a:pPr algn="l" indent="0" marL="0">
              <a:lnSpc>
                <a:spcPct val="103333"/>
              </a:lnSpc>
              <a:buNone/>
            </a:pPr>
            <a:r>
              <a:rPr lang="en-US" sz="1500" dirty="0">
                <a:solidFill>
                  <a:srgbClr val="9AA3AD"/>
                </a:solidFill>
                <a:latin typeface="Poppins" pitchFamily="34" charset="0"/>
                <a:ea typeface="Poppins" pitchFamily="34" charset="-122"/>
                <a:cs typeface="Poppins" pitchFamily="34" charset="-120"/>
              </a:rPr>
              <a:t>Blue events carry the largest modelled impact in their stage</a:t>
            </a:r>
            <a:endParaRPr lang="en-US" sz="1500" dirty="0"/>
          </a:p>
        </p:txBody>
      </p:sp>
      <p:sp>
        <p:nvSpPr>
          <p:cNvPr id="109" name="Text 106"/>
          <p:cNvSpPr/>
          <p:nvPr/>
        </p:nvSpPr>
        <p:spPr>
          <a:xfrm>
            <a:off x="17441230" y="9836360"/>
            <a:ext cx="313395" cy="333338"/>
          </a:xfrm>
          <a:prstGeom prst="rect">
            <a:avLst/>
          </a:prstGeom>
          <a:noFill/>
          <a:ln/>
        </p:spPr>
        <p:txBody>
          <a:bodyPr wrap="square" lIns="25400" tIns="25400" rIns="25400" bIns="25400" rtlCol="0" anchor="t">
            <a:normAutofit/>
          </a:bodyPr>
          <a:lstStyle/>
          <a:p>
            <a:pPr algn="l" indent="0" marL="0">
              <a:lnSpc>
                <a:spcPct val="103333"/>
              </a:lnSpc>
              <a:buNone/>
            </a:pPr>
            <a:r>
              <a:rPr lang="en-US" sz="1500" b="1" dirty="0">
                <a:solidFill>
                  <a:srgbClr val="3B5C7F"/>
                </a:solidFill>
                <a:latin typeface="Poppins" pitchFamily="34" charset="0"/>
                <a:ea typeface="Poppins" pitchFamily="34" charset="-122"/>
                <a:cs typeface="Poppins" pitchFamily="34" charset="-120"/>
              </a:rPr>
              <a:t>03</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609575" y="1504900"/>
            <a:ext cx="17068849" cy="9525"/>
          </a:xfrm>
          <a:prstGeom prst="rect">
            <a:avLst/>
          </a:prstGeom>
          <a:solidFill>
            <a:srgbClr val="DEDEDE"/>
          </a:solidFill>
          <a:ln/>
        </p:spPr>
      </p:sp>
      <p:sp>
        <p:nvSpPr>
          <p:cNvPr id="3" name="Text 1"/>
          <p:cNvSpPr/>
          <p:nvPr/>
        </p:nvSpPr>
        <p:spPr>
          <a:xfrm>
            <a:off x="609575" y="609575"/>
            <a:ext cx="8418630" cy="704850"/>
          </a:xfrm>
          <a:prstGeom prst="rect">
            <a:avLst/>
          </a:prstGeom>
          <a:noFill/>
          <a:ln/>
        </p:spPr>
        <p:txBody>
          <a:bodyPr wrap="square" lIns="25400" tIns="25400" rIns="25400" bIns="25400" rtlCol="0" anchor="t">
            <a:normAutofit/>
          </a:bodyPr>
          <a:lstStyle/>
          <a:p>
            <a:pPr algn="l" indent="0" marL="0">
              <a:lnSpc>
                <a:spcPct val="83582"/>
              </a:lnSpc>
              <a:buNone/>
            </a:pPr>
            <a:r>
              <a:rPr lang="en-US" sz="4200" b="1" spc="-84" kern="0" dirty="0">
                <a:solidFill>
                  <a:srgbClr val="220F60"/>
                </a:solidFill>
                <a:latin typeface="Poppins" pitchFamily="34" charset="0"/>
                <a:ea typeface="Poppins" pitchFamily="34" charset="-122"/>
                <a:cs typeface="Poppins" pitchFamily="34" charset="-120"/>
              </a:rPr>
              <a:t>Time removed along the </a:t>
            </a:r>
            <a:pPr algn="l" indent="0" marL="0">
              <a:lnSpc>
                <a:spcPct val="83582"/>
              </a:lnSpc>
              <a:buNone/>
            </a:pPr>
            <a:r>
              <a:rPr lang="en-US" sz="4200" b="1" spc="-84" kern="0" dirty="0">
                <a:solidFill>
                  <a:srgbClr val="001FFF"/>
                </a:solidFill>
                <a:latin typeface="Poppins" pitchFamily="34" charset="0"/>
                <a:ea typeface="Poppins" pitchFamily="34" charset="-122"/>
                <a:cs typeface="Poppins" pitchFamily="34" charset="-120"/>
              </a:rPr>
              <a:t>flow</a:t>
            </a:r>
            <a:endParaRPr lang="en-US" sz="4200" dirty="0"/>
          </a:p>
        </p:txBody>
      </p:sp>
      <p:pic>
        <p:nvPicPr>
          <p:cNvPr id="4" name="Image 0" descr="preencoded.png">    </p:cNvPr>
          <p:cNvPicPr>
            <a:picLocks noChangeAspect="1"/>
          </p:cNvPicPr>
          <p:nvPr/>
        </p:nvPicPr>
        <p:blipFill>
          <a:blip r:embed="rId1"/>
          <a:stretch>
            <a:fillRect/>
          </a:stretch>
        </p:blipFill>
        <p:spPr>
          <a:xfrm>
            <a:off x="16250046" y="952500"/>
            <a:ext cx="1428378" cy="323825"/>
          </a:xfrm>
          <a:prstGeom prst="rect">
            <a:avLst/>
          </a:prstGeom>
        </p:spPr>
      </p:pic>
      <p:sp>
        <p:nvSpPr>
          <p:cNvPr id="5" name="Text 2"/>
          <p:cNvSpPr/>
          <p:nvPr/>
        </p:nvSpPr>
        <p:spPr>
          <a:xfrm>
            <a:off x="609575" y="2918581"/>
            <a:ext cx="4071150" cy="1181100"/>
          </a:xfrm>
          <a:prstGeom prst="rect">
            <a:avLst/>
          </a:prstGeom>
          <a:noFill/>
          <a:ln/>
        </p:spPr>
        <p:txBody>
          <a:bodyPr wrap="square" lIns="25400" tIns="25400" rIns="25400" bIns="25400" rtlCol="0" anchor="t">
            <a:normAutofit/>
          </a:bodyPr>
          <a:lstStyle/>
          <a:p>
            <a:pPr algn="l" indent="0" marL="0">
              <a:lnSpc>
                <a:spcPct val="66667"/>
              </a:lnSpc>
              <a:buNone/>
            </a:pPr>
            <a:r>
              <a:rPr lang="en-US" sz="9000" b="1" spc="-180" kern="0" dirty="0">
                <a:solidFill>
                  <a:srgbClr val="DF367C"/>
                </a:solidFill>
                <a:latin typeface="Poppins" pitchFamily="34" charset="0"/>
                <a:ea typeface="Poppins" pitchFamily="34" charset="-122"/>
                <a:cs typeface="Poppins" pitchFamily="34" charset="-120"/>
              </a:rPr>
              <a:t>17</a:t>
            </a:r>
            <a:endParaRPr lang="en-US" sz="9000" dirty="0"/>
          </a:p>
        </p:txBody>
      </p:sp>
      <p:sp>
        <p:nvSpPr>
          <p:cNvPr id="6" name="Text 3"/>
          <p:cNvSpPr/>
          <p:nvPr/>
        </p:nvSpPr>
        <p:spPr>
          <a:xfrm>
            <a:off x="609575" y="4137732"/>
            <a:ext cx="4071150"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3B5C7F"/>
                </a:solidFill>
                <a:latin typeface="Poppins" pitchFamily="34" charset="0"/>
                <a:ea typeface="Poppins" pitchFamily="34" charset="-122"/>
                <a:cs typeface="Poppins" pitchFamily="34" charset="-120"/>
              </a:rPr>
              <a:t>WORKING DAYS REMOVED</a:t>
            </a:r>
            <a:endParaRPr lang="en-US" sz="1800" dirty="0"/>
          </a:p>
        </p:txBody>
      </p:sp>
      <p:sp>
        <p:nvSpPr>
          <p:cNvPr id="7" name="Text 4"/>
          <p:cNvSpPr/>
          <p:nvPr/>
        </p:nvSpPr>
        <p:spPr>
          <a:xfrm>
            <a:off x="4843983" y="3175744"/>
            <a:ext cx="8044815" cy="1278210"/>
          </a:xfrm>
          <a:prstGeom prst="rect">
            <a:avLst/>
          </a:prstGeom>
          <a:noFill/>
          <a:ln/>
        </p:spPr>
        <p:txBody>
          <a:bodyPr wrap="square" lIns="25400" tIns="25400" rIns="25400" bIns="25400" rtlCol="0" anchor="t">
            <a:normAutofit/>
          </a:bodyPr>
          <a:lstStyle/>
          <a:p>
            <a:pPr algn="l" indent="0" marL="0">
              <a:lnSpc>
                <a:spcPct val="102118"/>
              </a:lnSpc>
              <a:buNone/>
            </a:pPr>
            <a:r>
              <a:rPr lang="en-US" sz="2100" dirty="0">
                <a:solidFill>
                  <a:srgbClr val="15103A"/>
                </a:solidFill>
                <a:latin typeface="Poppins" pitchFamily="34" charset="0"/>
                <a:ea typeface="Poppins" pitchFamily="34" charset="-122"/>
                <a:cs typeface="Poppins" pitchFamily="34" charset="-120"/>
              </a:rPr>
              <a:t>Four of the eleven events give back calendar time on every pass through the pipeline. The remaining eighteen drivers move cost, trust and reach instead.</a:t>
            </a:r>
            <a:endParaRPr lang="en-US" sz="2100" dirty="0"/>
          </a:p>
        </p:txBody>
      </p:sp>
      <p:sp>
        <p:nvSpPr>
          <p:cNvPr id="8" name="Shape 5"/>
          <p:cNvSpPr/>
          <p:nvPr/>
        </p:nvSpPr>
        <p:spPr>
          <a:xfrm>
            <a:off x="609575" y="5025368"/>
            <a:ext cx="4937311" cy="876288"/>
          </a:xfrm>
          <a:custGeom>
            <a:avLst/>
            <a:gdLst/>
            <a:ahLst/>
            <a:cxnLst/>
            <a:rect l="l" t="t" r="r" b="b"/>
            <a:pathLst>
              <a:path w="4937311" h="876288">
                <a:moveTo>
                  <a:pt x="95250" y="0"/>
                </a:moveTo>
                <a:lnTo>
                  <a:pt x="4899211" y="0"/>
                </a:lnTo>
                <a:arcTo hR="38100" wR="38100" stAng="16200000" swAng="5400000"/>
                <a:lnTo>
                  <a:pt x="4937311" y="838188"/>
                </a:lnTo>
                <a:arcTo hR="38100" wR="38100" stAng="0" swAng="5400000"/>
                <a:lnTo>
                  <a:pt x="95250" y="876288"/>
                </a:lnTo>
                <a:arcTo hR="95250" wR="95250" stAng="5400000" swAng="5400000"/>
                <a:lnTo>
                  <a:pt x="0" y="95250"/>
                </a:lnTo>
                <a:arcTo hR="95250" wR="95250" stAng="10800000" swAng="5400000"/>
                <a:close/>
              </a:path>
            </a:pathLst>
          </a:custGeom>
          <a:solidFill>
            <a:srgbClr val="001FFF"/>
          </a:solidFill>
          <a:ln/>
        </p:spPr>
      </p:sp>
      <p:sp>
        <p:nvSpPr>
          <p:cNvPr id="9" name="Text 6"/>
          <p:cNvSpPr/>
          <p:nvPr/>
        </p:nvSpPr>
        <p:spPr>
          <a:xfrm>
            <a:off x="876226" y="5168243"/>
            <a:ext cx="1378855" cy="628638"/>
          </a:xfrm>
          <a:prstGeom prst="rect">
            <a:avLst/>
          </a:prstGeom>
          <a:noFill/>
          <a:ln/>
        </p:spPr>
        <p:txBody>
          <a:bodyPr wrap="square" lIns="25400" tIns="25400" rIns="25400" bIns="25400" rtlCol="0" anchor="t">
            <a:normAutofit/>
          </a:bodyPr>
          <a:lstStyle/>
          <a:p>
            <a:pPr algn="l" indent="0" marL="0">
              <a:lnSpc>
                <a:spcPct val="102621"/>
              </a:lnSpc>
              <a:buNone/>
            </a:pPr>
            <a:r>
              <a:rPr lang="en-US" sz="3000" b="1" spc="-60" kern="0" dirty="0">
                <a:solidFill>
                  <a:srgbClr val="FFFFFF"/>
                </a:solidFill>
                <a:latin typeface="Poppins" pitchFamily="34" charset="0"/>
                <a:ea typeface="Poppins" pitchFamily="34" charset="-122"/>
                <a:cs typeface="Poppins" pitchFamily="34" charset="-120"/>
              </a:rPr>
              <a:t>5 days</a:t>
            </a:r>
            <a:endParaRPr lang="en-US" sz="3000" dirty="0"/>
          </a:p>
        </p:txBody>
      </p:sp>
      <p:sp>
        <p:nvSpPr>
          <p:cNvPr id="10" name="Shape 7"/>
          <p:cNvSpPr/>
          <p:nvPr/>
        </p:nvSpPr>
        <p:spPr>
          <a:xfrm>
            <a:off x="5584961" y="5025368"/>
            <a:ext cx="4937373" cy="876288"/>
          </a:xfrm>
          <a:prstGeom prst="roundRect">
            <a:avLst>
              <a:gd name="adj" fmla="val 4348"/>
            </a:avLst>
          </a:prstGeom>
          <a:solidFill>
            <a:srgbClr val="0019E0"/>
          </a:solidFill>
          <a:ln/>
        </p:spPr>
      </p:sp>
      <p:sp>
        <p:nvSpPr>
          <p:cNvPr id="11" name="Text 8"/>
          <p:cNvSpPr/>
          <p:nvPr/>
        </p:nvSpPr>
        <p:spPr>
          <a:xfrm>
            <a:off x="5851611" y="5168243"/>
            <a:ext cx="1334449" cy="628638"/>
          </a:xfrm>
          <a:prstGeom prst="rect">
            <a:avLst/>
          </a:prstGeom>
          <a:noFill/>
          <a:ln/>
        </p:spPr>
        <p:txBody>
          <a:bodyPr wrap="square" lIns="25400" tIns="25400" rIns="25400" bIns="25400" rtlCol="0" anchor="t">
            <a:normAutofit/>
          </a:bodyPr>
          <a:lstStyle/>
          <a:p>
            <a:pPr algn="l" indent="0" marL="0">
              <a:lnSpc>
                <a:spcPct val="102621"/>
              </a:lnSpc>
              <a:buNone/>
            </a:pPr>
            <a:r>
              <a:rPr lang="en-US" sz="3000" b="1" spc="-60" kern="0" dirty="0">
                <a:solidFill>
                  <a:srgbClr val="FFFFFF"/>
                </a:solidFill>
                <a:latin typeface="Poppins" pitchFamily="34" charset="0"/>
                <a:ea typeface="Poppins" pitchFamily="34" charset="-122"/>
                <a:cs typeface="Poppins" pitchFamily="34" charset="-120"/>
              </a:rPr>
              <a:t>1 week</a:t>
            </a:r>
            <a:endParaRPr lang="en-US" sz="3000" dirty="0"/>
          </a:p>
        </p:txBody>
      </p:sp>
      <p:sp>
        <p:nvSpPr>
          <p:cNvPr id="12" name="Shape 9"/>
          <p:cNvSpPr/>
          <p:nvPr/>
        </p:nvSpPr>
        <p:spPr>
          <a:xfrm>
            <a:off x="10560409" y="5025368"/>
            <a:ext cx="2142629" cy="876288"/>
          </a:xfrm>
          <a:prstGeom prst="roundRect">
            <a:avLst>
              <a:gd name="adj" fmla="val 4348"/>
            </a:avLst>
          </a:prstGeom>
          <a:solidFill>
            <a:srgbClr val="0018CC"/>
          </a:solidFill>
          <a:ln/>
        </p:spPr>
      </p:sp>
      <p:sp>
        <p:nvSpPr>
          <p:cNvPr id="13" name="Text 10"/>
          <p:cNvSpPr/>
          <p:nvPr/>
        </p:nvSpPr>
        <p:spPr>
          <a:xfrm>
            <a:off x="10750909" y="5197760"/>
            <a:ext cx="1177280" cy="569602"/>
          </a:xfrm>
          <a:prstGeom prst="rect">
            <a:avLst/>
          </a:prstGeom>
          <a:noFill/>
          <a:ln/>
        </p:spPr>
        <p:txBody>
          <a:bodyPr wrap="square" lIns="25400" tIns="25400" rIns="25400" bIns="25400" rtlCol="0" anchor="t">
            <a:normAutofit/>
          </a:bodyPr>
          <a:lstStyle/>
          <a:p>
            <a:pPr algn="l" indent="0" marL="0">
              <a:lnSpc>
                <a:spcPct val="103015"/>
              </a:lnSpc>
              <a:buNone/>
            </a:pPr>
            <a:r>
              <a:rPr lang="en-US" sz="2700" b="1" spc="-54" kern="0" dirty="0">
                <a:solidFill>
                  <a:srgbClr val="FFFFFF"/>
                </a:solidFill>
                <a:latin typeface="Poppins" pitchFamily="34" charset="0"/>
                <a:ea typeface="Poppins" pitchFamily="34" charset="-122"/>
                <a:cs typeface="Poppins" pitchFamily="34" charset="-120"/>
              </a:rPr>
              <a:t>2 days</a:t>
            </a:r>
            <a:endParaRPr lang="en-US" sz="2700" dirty="0"/>
          </a:p>
        </p:txBody>
      </p:sp>
      <p:sp>
        <p:nvSpPr>
          <p:cNvPr id="14" name="Shape 11"/>
          <p:cNvSpPr/>
          <p:nvPr/>
        </p:nvSpPr>
        <p:spPr>
          <a:xfrm>
            <a:off x="12741113" y="5025368"/>
            <a:ext cx="4937311" cy="876288"/>
          </a:xfrm>
          <a:custGeom>
            <a:avLst/>
            <a:gdLst/>
            <a:ahLst/>
            <a:cxnLst/>
            <a:rect l="l" t="t" r="r" b="b"/>
            <a:pathLst>
              <a:path w="4937311" h="876288">
                <a:moveTo>
                  <a:pt x="38100" y="0"/>
                </a:moveTo>
                <a:lnTo>
                  <a:pt x="4842061" y="0"/>
                </a:lnTo>
                <a:arcTo hR="95250" wR="95250" stAng="16200000" swAng="5400000"/>
                <a:lnTo>
                  <a:pt x="4937311" y="781038"/>
                </a:lnTo>
                <a:arcTo hR="95250" wR="95250" stAng="0" swAng="5400000"/>
                <a:lnTo>
                  <a:pt x="38100" y="876288"/>
                </a:lnTo>
                <a:arcTo hR="38100" wR="38100" stAng="5400000" swAng="5400000"/>
                <a:lnTo>
                  <a:pt x="0" y="38100"/>
                </a:lnTo>
                <a:arcTo hR="38100" wR="38100" stAng="10800000" swAng="5400000"/>
                <a:close/>
              </a:path>
            </a:pathLst>
          </a:custGeom>
          <a:solidFill>
            <a:srgbClr val="220F60"/>
          </a:solidFill>
          <a:ln/>
        </p:spPr>
      </p:sp>
      <p:sp>
        <p:nvSpPr>
          <p:cNvPr id="15" name="Text 12"/>
          <p:cNvSpPr/>
          <p:nvPr/>
        </p:nvSpPr>
        <p:spPr>
          <a:xfrm>
            <a:off x="13007764" y="5168243"/>
            <a:ext cx="1378855" cy="628638"/>
          </a:xfrm>
          <a:prstGeom prst="rect">
            <a:avLst/>
          </a:prstGeom>
          <a:noFill/>
          <a:ln/>
        </p:spPr>
        <p:txBody>
          <a:bodyPr wrap="square" lIns="25400" tIns="25400" rIns="25400" bIns="25400" rtlCol="0" anchor="t">
            <a:normAutofit/>
          </a:bodyPr>
          <a:lstStyle/>
          <a:p>
            <a:pPr algn="l" indent="0" marL="0">
              <a:lnSpc>
                <a:spcPct val="102621"/>
              </a:lnSpc>
              <a:buNone/>
            </a:pPr>
            <a:r>
              <a:rPr lang="en-US" sz="3000" b="1" spc="-60" kern="0" dirty="0">
                <a:solidFill>
                  <a:srgbClr val="FFFFFF"/>
                </a:solidFill>
                <a:latin typeface="Poppins" pitchFamily="34" charset="0"/>
                <a:ea typeface="Poppins" pitchFamily="34" charset="-122"/>
                <a:cs typeface="Poppins" pitchFamily="34" charset="-120"/>
              </a:rPr>
              <a:t>5 days</a:t>
            </a:r>
            <a:endParaRPr lang="en-US" sz="3000" dirty="0"/>
          </a:p>
        </p:txBody>
      </p:sp>
      <p:sp>
        <p:nvSpPr>
          <p:cNvPr id="16" name="Text 13"/>
          <p:cNvSpPr/>
          <p:nvPr/>
        </p:nvSpPr>
        <p:spPr>
          <a:xfrm>
            <a:off x="609575" y="6092155"/>
            <a:ext cx="5300414"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3B5C7F"/>
                </a:solidFill>
                <a:latin typeface="Poppins" pitchFamily="34" charset="0"/>
                <a:ea typeface="Poppins" pitchFamily="34" charset="-122"/>
                <a:cs typeface="Poppins" pitchFamily="34" charset="-120"/>
              </a:rPr>
              <a:t>Event 02</a:t>
            </a:r>
            <a:endParaRPr lang="en-US" sz="1800" dirty="0"/>
          </a:p>
        </p:txBody>
      </p:sp>
      <p:sp>
        <p:nvSpPr>
          <p:cNvPr id="17" name="Text 14"/>
          <p:cNvSpPr/>
          <p:nvPr/>
        </p:nvSpPr>
        <p:spPr>
          <a:xfrm>
            <a:off x="609575" y="6503541"/>
            <a:ext cx="5300414"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b="1" dirty="0">
                <a:solidFill>
                  <a:srgbClr val="220F60"/>
                </a:solidFill>
                <a:latin typeface="Poppins" pitchFamily="34" charset="0"/>
                <a:ea typeface="Poppins" pitchFamily="34" charset="-122"/>
                <a:cs typeface="Poppins" pitchFamily="34" charset="-120"/>
              </a:rPr>
              <a:t>Data discovery time</a:t>
            </a:r>
            <a:endParaRPr lang="en-US" sz="1950" dirty="0"/>
          </a:p>
        </p:txBody>
      </p:sp>
      <p:sp>
        <p:nvSpPr>
          <p:cNvPr id="18" name="Text 15"/>
          <p:cNvSpPr/>
          <p:nvPr/>
        </p:nvSpPr>
        <p:spPr>
          <a:xfrm>
            <a:off x="609575" y="6944506"/>
            <a:ext cx="4963115" cy="673348"/>
          </a:xfrm>
          <a:prstGeom prst="rect">
            <a:avLst/>
          </a:prstGeom>
          <a:noFill/>
          <a:ln/>
        </p:spPr>
        <p:txBody>
          <a:bodyPr wrap="square" lIns="25400" tIns="25400" rIns="25400" bIns="25400" rtlCol="0" anchor="t">
            <a:normAutofit/>
          </a:bodyPr>
          <a:lstStyle/>
          <a:p>
            <a:pPr algn="l" indent="0" marL="0">
              <a:lnSpc>
                <a:spcPct val="96434"/>
              </a:lnSpc>
              <a:buNone/>
            </a:pPr>
            <a:r>
              <a:rPr lang="en-US" sz="1725" dirty="0">
                <a:solidFill>
                  <a:srgbClr val="3B5C7F"/>
                </a:solidFill>
                <a:latin typeface="Poppins" pitchFamily="34" charset="0"/>
                <a:ea typeface="Poppins" pitchFamily="34" charset="-122"/>
                <a:cs typeface="Poppins" pitchFamily="34" charset="-120"/>
              </a:rPr>
              <a:t>Time from starting a search to finding the right datasets.</a:t>
            </a:r>
            <a:endParaRPr lang="en-US" sz="1725" dirty="0"/>
          </a:p>
        </p:txBody>
      </p:sp>
      <p:sp>
        <p:nvSpPr>
          <p:cNvPr id="19" name="Text 16"/>
          <p:cNvSpPr/>
          <p:nvPr/>
        </p:nvSpPr>
        <p:spPr>
          <a:xfrm>
            <a:off x="5656709" y="6092155"/>
            <a:ext cx="5300414"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3B5C7F"/>
                </a:solidFill>
                <a:latin typeface="Poppins" pitchFamily="34" charset="0"/>
                <a:ea typeface="Poppins" pitchFamily="34" charset="-122"/>
                <a:cs typeface="Poppins" pitchFamily="34" charset="-120"/>
              </a:rPr>
              <a:t>Event 04</a:t>
            </a:r>
            <a:endParaRPr lang="en-US" sz="1800" dirty="0"/>
          </a:p>
        </p:txBody>
      </p:sp>
      <p:sp>
        <p:nvSpPr>
          <p:cNvPr id="20" name="Text 17"/>
          <p:cNvSpPr/>
          <p:nvPr/>
        </p:nvSpPr>
        <p:spPr>
          <a:xfrm>
            <a:off x="5656709" y="6503541"/>
            <a:ext cx="5300414"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b="1" dirty="0">
                <a:solidFill>
                  <a:srgbClr val="220F60"/>
                </a:solidFill>
                <a:latin typeface="Poppins" pitchFamily="34" charset="0"/>
                <a:ea typeface="Poppins" pitchFamily="34" charset="-122"/>
                <a:cs typeface="Poppins" pitchFamily="34" charset="-120"/>
              </a:rPr>
              <a:t>Data integration time</a:t>
            </a:r>
            <a:endParaRPr lang="en-US" sz="1950" dirty="0"/>
          </a:p>
        </p:txBody>
      </p:sp>
      <p:sp>
        <p:nvSpPr>
          <p:cNvPr id="21" name="Text 18"/>
          <p:cNvSpPr/>
          <p:nvPr/>
        </p:nvSpPr>
        <p:spPr>
          <a:xfrm>
            <a:off x="5656709" y="6944506"/>
            <a:ext cx="4963115" cy="673348"/>
          </a:xfrm>
          <a:prstGeom prst="rect">
            <a:avLst/>
          </a:prstGeom>
          <a:noFill/>
          <a:ln/>
        </p:spPr>
        <p:txBody>
          <a:bodyPr wrap="square" lIns="25400" tIns="25400" rIns="25400" bIns="25400" rtlCol="0" anchor="t">
            <a:normAutofit/>
          </a:bodyPr>
          <a:lstStyle/>
          <a:p>
            <a:pPr algn="l" indent="0" marL="0">
              <a:lnSpc>
                <a:spcPct val="96434"/>
              </a:lnSpc>
              <a:buNone/>
            </a:pPr>
            <a:r>
              <a:rPr lang="en-US" sz="1725" dirty="0">
                <a:solidFill>
                  <a:srgbClr val="3B5C7F"/>
                </a:solidFill>
                <a:latin typeface="Poppins" pitchFamily="34" charset="0"/>
                <a:ea typeface="Poppins" pitchFamily="34" charset="-122"/>
                <a:cs typeface="Poppins" pitchFamily="34" charset="-120"/>
              </a:rPr>
              <a:t>Initiation to completion of integration activities.</a:t>
            </a:r>
            <a:endParaRPr lang="en-US" sz="1725" dirty="0"/>
          </a:p>
        </p:txBody>
      </p:sp>
      <p:sp>
        <p:nvSpPr>
          <p:cNvPr id="22" name="Text 19"/>
          <p:cNvSpPr/>
          <p:nvPr/>
        </p:nvSpPr>
        <p:spPr>
          <a:xfrm>
            <a:off x="10703842" y="6092155"/>
            <a:ext cx="2120193"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3B5C7F"/>
                </a:solidFill>
                <a:latin typeface="Poppins" pitchFamily="34" charset="0"/>
                <a:ea typeface="Poppins" pitchFamily="34" charset="-122"/>
                <a:cs typeface="Poppins" pitchFamily="34" charset="-120"/>
              </a:rPr>
              <a:t>Event 07</a:t>
            </a:r>
            <a:endParaRPr lang="en-US" sz="1800" dirty="0"/>
          </a:p>
        </p:txBody>
      </p:sp>
      <p:sp>
        <p:nvSpPr>
          <p:cNvPr id="23" name="Text 20"/>
          <p:cNvSpPr/>
          <p:nvPr/>
        </p:nvSpPr>
        <p:spPr>
          <a:xfrm>
            <a:off x="10703842" y="6503541"/>
            <a:ext cx="2003648" cy="805805"/>
          </a:xfrm>
          <a:prstGeom prst="rect">
            <a:avLst/>
          </a:prstGeom>
          <a:noFill/>
          <a:ln/>
        </p:spPr>
        <p:txBody>
          <a:bodyPr wrap="square" lIns="25400" tIns="25400" rIns="25400" bIns="25400" rtlCol="0" anchor="t">
            <a:normAutofit/>
          </a:bodyPr>
          <a:lstStyle/>
          <a:p>
            <a:pPr algn="l" indent="0" marL="0">
              <a:lnSpc>
                <a:spcPct val="102894"/>
              </a:lnSpc>
              <a:buNone/>
            </a:pPr>
            <a:r>
              <a:rPr lang="en-US" sz="1950" b="1" dirty="0">
                <a:solidFill>
                  <a:srgbClr val="220F60"/>
                </a:solidFill>
                <a:latin typeface="Poppins" pitchFamily="34" charset="0"/>
                <a:ea typeface="Poppins" pitchFamily="34" charset="-122"/>
                <a:cs typeface="Poppins" pitchFamily="34" charset="-120"/>
              </a:rPr>
              <a:t>Quality evaluation</a:t>
            </a:r>
            <a:endParaRPr lang="en-US" sz="1950" dirty="0"/>
          </a:p>
        </p:txBody>
      </p:sp>
      <p:sp>
        <p:nvSpPr>
          <p:cNvPr id="24" name="Text 21"/>
          <p:cNvSpPr/>
          <p:nvPr/>
        </p:nvSpPr>
        <p:spPr>
          <a:xfrm>
            <a:off x="10703842" y="7328358"/>
            <a:ext cx="2003648" cy="990972"/>
          </a:xfrm>
          <a:prstGeom prst="rect">
            <a:avLst/>
          </a:prstGeom>
          <a:noFill/>
          <a:ln/>
        </p:spPr>
        <p:txBody>
          <a:bodyPr wrap="square" lIns="25400" tIns="25400" rIns="25400" bIns="25400" rtlCol="0" anchor="t">
            <a:normAutofit/>
          </a:bodyPr>
          <a:lstStyle/>
          <a:p>
            <a:pPr algn="l" indent="0" marL="0">
              <a:lnSpc>
                <a:spcPct val="96434"/>
              </a:lnSpc>
              <a:buNone/>
            </a:pPr>
            <a:r>
              <a:rPr lang="en-US" sz="1725" dirty="0">
                <a:solidFill>
                  <a:srgbClr val="3B5C7F"/>
                </a:solidFill>
                <a:latin typeface="Poppins" pitchFamily="34" charset="0"/>
                <a:ea typeface="Poppins" pitchFamily="34" charset="-122"/>
                <a:cs typeface="Poppins" pitchFamily="34" charset="-120"/>
              </a:rPr>
              <a:t>Assessing whether data is fit to use.</a:t>
            </a:r>
            <a:endParaRPr lang="en-US" sz="1725" dirty="0"/>
          </a:p>
        </p:txBody>
      </p:sp>
      <p:sp>
        <p:nvSpPr>
          <p:cNvPr id="25" name="Text 22"/>
          <p:cNvSpPr/>
          <p:nvPr/>
        </p:nvSpPr>
        <p:spPr>
          <a:xfrm>
            <a:off x="12859866" y="6092155"/>
            <a:ext cx="5300414"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3B5C7F"/>
                </a:solidFill>
                <a:latin typeface="Poppins" pitchFamily="34" charset="0"/>
                <a:ea typeface="Poppins" pitchFamily="34" charset="-122"/>
                <a:cs typeface="Poppins" pitchFamily="34" charset="-120"/>
              </a:rPr>
              <a:t>Event 09</a:t>
            </a:r>
            <a:endParaRPr lang="en-US" sz="1800" dirty="0"/>
          </a:p>
        </p:txBody>
      </p:sp>
      <p:sp>
        <p:nvSpPr>
          <p:cNvPr id="26" name="Text 23"/>
          <p:cNvSpPr/>
          <p:nvPr/>
        </p:nvSpPr>
        <p:spPr>
          <a:xfrm>
            <a:off x="12859866" y="6503541"/>
            <a:ext cx="5300414"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b="1" dirty="0">
                <a:solidFill>
                  <a:srgbClr val="220F60"/>
                </a:solidFill>
                <a:latin typeface="Poppins" pitchFamily="34" charset="0"/>
                <a:ea typeface="Poppins" pitchFamily="34" charset="-122"/>
                <a:cs typeface="Poppins" pitchFamily="34" charset="-120"/>
              </a:rPr>
              <a:t>Time to insight</a:t>
            </a:r>
            <a:endParaRPr lang="en-US" sz="1950" dirty="0"/>
          </a:p>
        </p:txBody>
      </p:sp>
      <p:sp>
        <p:nvSpPr>
          <p:cNvPr id="27" name="Text 24"/>
          <p:cNvSpPr/>
          <p:nvPr/>
        </p:nvSpPr>
        <p:spPr>
          <a:xfrm>
            <a:off x="12859866" y="6944506"/>
            <a:ext cx="5300414" cy="355724"/>
          </a:xfrm>
          <a:prstGeom prst="rect">
            <a:avLst/>
          </a:prstGeom>
          <a:noFill/>
          <a:ln/>
        </p:spPr>
        <p:txBody>
          <a:bodyPr wrap="square" lIns="25400" tIns="25400" rIns="25400" bIns="25400" rtlCol="0" anchor="t">
            <a:normAutofit/>
          </a:bodyPr>
          <a:lstStyle/>
          <a:p>
            <a:pPr algn="l" indent="0" marL="0">
              <a:lnSpc>
                <a:spcPct val="96434"/>
              </a:lnSpc>
              <a:buNone/>
            </a:pPr>
            <a:r>
              <a:rPr lang="en-US" sz="1725" dirty="0">
                <a:solidFill>
                  <a:srgbClr val="3B5C7F"/>
                </a:solidFill>
                <a:latin typeface="Poppins" pitchFamily="34" charset="0"/>
                <a:ea typeface="Poppins" pitchFamily="34" charset="-122"/>
                <a:cs typeface="Poppins" pitchFamily="34" charset="-120"/>
              </a:rPr>
              <a:t>Data availability to an actionable answer.</a:t>
            </a:r>
            <a:endParaRPr lang="en-US" sz="1725" dirty="0"/>
          </a:p>
        </p:txBody>
      </p:sp>
      <p:sp>
        <p:nvSpPr>
          <p:cNvPr id="28" name="Shape 25"/>
          <p:cNvSpPr/>
          <p:nvPr/>
        </p:nvSpPr>
        <p:spPr>
          <a:xfrm>
            <a:off x="609575" y="9672712"/>
            <a:ext cx="95250" cy="19038"/>
          </a:xfrm>
          <a:prstGeom prst="rect">
            <a:avLst/>
          </a:prstGeom>
          <a:solidFill>
            <a:srgbClr val="001FFF"/>
          </a:solidFill>
          <a:ln/>
        </p:spPr>
      </p:sp>
      <p:sp>
        <p:nvSpPr>
          <p:cNvPr id="29" name="Text 26"/>
          <p:cNvSpPr/>
          <p:nvPr/>
        </p:nvSpPr>
        <p:spPr>
          <a:xfrm>
            <a:off x="857188" y="9534612"/>
            <a:ext cx="4130495" cy="333338"/>
          </a:xfrm>
          <a:prstGeom prst="rect">
            <a:avLst/>
          </a:prstGeom>
          <a:noFill/>
          <a:ln/>
        </p:spPr>
        <p:txBody>
          <a:bodyPr wrap="square" lIns="25400" tIns="25400" rIns="25400" bIns="25400" rtlCol="0" anchor="t">
            <a:normAutofit/>
          </a:bodyPr>
          <a:lstStyle/>
          <a:p>
            <a:pPr algn="l" indent="0" marL="0">
              <a:lnSpc>
                <a:spcPct val="103333"/>
              </a:lnSpc>
              <a:buNone/>
            </a:pPr>
            <a:r>
              <a:rPr lang="en-US" sz="1500" dirty="0">
                <a:solidFill>
                  <a:srgbClr val="9AA3AD"/>
                </a:solidFill>
                <a:latin typeface="Poppins" pitchFamily="34" charset="0"/>
                <a:ea typeface="Poppins" pitchFamily="34" charset="-122"/>
                <a:cs typeface="Poppins" pitchFamily="34" charset="-120"/>
              </a:rPr>
              <a:t>One week counted as five working days</a:t>
            </a:r>
            <a:endParaRPr lang="en-US" sz="1500" dirty="0"/>
          </a:p>
        </p:txBody>
      </p:sp>
      <p:sp>
        <p:nvSpPr>
          <p:cNvPr id="30" name="Text 27"/>
          <p:cNvSpPr/>
          <p:nvPr/>
        </p:nvSpPr>
        <p:spPr>
          <a:xfrm>
            <a:off x="17429385" y="9534612"/>
            <a:ext cx="325239" cy="333338"/>
          </a:xfrm>
          <a:prstGeom prst="rect">
            <a:avLst/>
          </a:prstGeom>
          <a:noFill/>
          <a:ln/>
        </p:spPr>
        <p:txBody>
          <a:bodyPr wrap="square" lIns="25400" tIns="25400" rIns="25400" bIns="25400" rtlCol="0" anchor="t">
            <a:normAutofit/>
          </a:bodyPr>
          <a:lstStyle/>
          <a:p>
            <a:pPr algn="l" indent="0" marL="0">
              <a:lnSpc>
                <a:spcPct val="103333"/>
              </a:lnSpc>
              <a:buNone/>
            </a:pPr>
            <a:r>
              <a:rPr lang="en-US" sz="1500" b="1" dirty="0">
                <a:solidFill>
                  <a:srgbClr val="3B5C7F"/>
                </a:solidFill>
                <a:latin typeface="Poppins" pitchFamily="34" charset="0"/>
                <a:ea typeface="Poppins" pitchFamily="34" charset="-122"/>
                <a:cs typeface="Poppins" pitchFamily="34" charset="-120"/>
              </a:rPr>
              <a:t>04</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575" y="1504900"/>
            <a:ext cx="17068849" cy="9525"/>
          </a:xfrm>
          <a:prstGeom prst="rect">
            <a:avLst/>
          </a:prstGeom>
          <a:solidFill>
            <a:srgbClr val="DEDEDE"/>
          </a:solidFill>
          <a:ln/>
        </p:spPr>
      </p:sp>
      <p:sp>
        <p:nvSpPr>
          <p:cNvPr id="3" name="Text 1"/>
          <p:cNvSpPr/>
          <p:nvPr/>
        </p:nvSpPr>
        <p:spPr>
          <a:xfrm>
            <a:off x="609575" y="609575"/>
            <a:ext cx="4428176" cy="704850"/>
          </a:xfrm>
          <a:prstGeom prst="rect">
            <a:avLst/>
          </a:prstGeom>
          <a:noFill/>
          <a:ln/>
        </p:spPr>
        <p:txBody>
          <a:bodyPr wrap="square" lIns="25400" tIns="25400" rIns="25400" bIns="25400" rtlCol="0" anchor="t">
            <a:normAutofit/>
          </a:bodyPr>
          <a:lstStyle/>
          <a:p>
            <a:pPr algn="l" indent="0" marL="0">
              <a:lnSpc>
                <a:spcPct val="83582"/>
              </a:lnSpc>
              <a:buNone/>
            </a:pPr>
            <a:r>
              <a:rPr lang="en-US" sz="4200" b="1" spc="-84" kern="0" dirty="0">
                <a:solidFill>
                  <a:srgbClr val="220F60"/>
                </a:solidFill>
                <a:latin typeface="Poppins" pitchFamily="34" charset="0"/>
                <a:ea typeface="Poppins" pitchFamily="34" charset="-122"/>
                <a:cs typeface="Poppins" pitchFamily="34" charset="-120"/>
              </a:rPr>
              <a:t>Data </a:t>
            </a:r>
            <a:pPr algn="l" indent="0" marL="0">
              <a:lnSpc>
                <a:spcPct val="83582"/>
              </a:lnSpc>
              <a:buNone/>
            </a:pPr>
            <a:r>
              <a:rPr lang="en-US" sz="4200" b="1" spc="-84" kern="0" dirty="0">
                <a:solidFill>
                  <a:srgbClr val="001FFF"/>
                </a:solidFill>
                <a:latin typeface="Poppins" pitchFamily="34" charset="0"/>
                <a:ea typeface="Poppins" pitchFamily="34" charset="-122"/>
                <a:cs typeface="Poppins" pitchFamily="34" charset="-120"/>
              </a:rPr>
              <a:t>Discovery</a:t>
            </a:r>
            <a:endParaRPr lang="en-US" sz="4200" dirty="0"/>
          </a:p>
        </p:txBody>
      </p:sp>
      <p:pic>
        <p:nvPicPr>
          <p:cNvPr id="4" name="Image 0" descr="preencoded.png">    </p:cNvPr>
          <p:cNvPicPr>
            <a:picLocks noChangeAspect="1"/>
          </p:cNvPicPr>
          <p:nvPr/>
        </p:nvPicPr>
        <p:blipFill>
          <a:blip r:embed="rId1"/>
          <a:stretch>
            <a:fillRect/>
          </a:stretch>
        </p:blipFill>
        <p:spPr>
          <a:xfrm>
            <a:off x="16250046" y="952500"/>
            <a:ext cx="1428378" cy="323825"/>
          </a:xfrm>
          <a:prstGeom prst="rect">
            <a:avLst/>
          </a:prstGeom>
        </p:spPr>
      </p:pic>
      <p:sp>
        <p:nvSpPr>
          <p:cNvPr id="5" name="Shape 2"/>
          <p:cNvSpPr/>
          <p:nvPr/>
        </p:nvSpPr>
        <p:spPr>
          <a:xfrm>
            <a:off x="609575" y="1931913"/>
            <a:ext cx="5715000" cy="7374123"/>
          </a:xfrm>
          <a:prstGeom prst="roundRect">
            <a:avLst>
              <a:gd name="adj" fmla="val 1667"/>
            </a:avLst>
          </a:prstGeom>
          <a:solidFill>
            <a:srgbClr val="220F60"/>
          </a:solidFill>
          <a:ln/>
        </p:spPr>
      </p:sp>
      <p:sp>
        <p:nvSpPr>
          <p:cNvPr id="6" name="Text 3"/>
          <p:cNvSpPr/>
          <p:nvPr/>
        </p:nvSpPr>
        <p:spPr>
          <a:xfrm>
            <a:off x="990575" y="2312913"/>
            <a:ext cx="5448300"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A5B3FE"/>
                </a:solidFill>
                <a:latin typeface="Poppins" pitchFamily="34" charset="0"/>
                <a:ea typeface="Poppins" pitchFamily="34" charset="-122"/>
                <a:cs typeface="Poppins" pitchFamily="34" charset="-120"/>
              </a:rPr>
              <a:t>STAGE 01</a:t>
            </a:r>
            <a:endParaRPr lang="en-US" sz="1800" dirty="0"/>
          </a:p>
        </p:txBody>
      </p:sp>
      <p:sp>
        <p:nvSpPr>
          <p:cNvPr id="7" name="Text 4"/>
          <p:cNvSpPr/>
          <p:nvPr/>
        </p:nvSpPr>
        <p:spPr>
          <a:xfrm>
            <a:off x="990575" y="2895761"/>
            <a:ext cx="5101590" cy="1238213"/>
          </a:xfrm>
          <a:prstGeom prst="rect">
            <a:avLst/>
          </a:prstGeom>
          <a:noFill/>
          <a:ln/>
        </p:spPr>
        <p:txBody>
          <a:bodyPr wrap="square" lIns="25400" tIns="25400" rIns="25400" bIns="25400" rtlCol="0" anchor="t">
            <a:normAutofit/>
          </a:bodyPr>
          <a:lstStyle/>
          <a:p>
            <a:pPr algn="l" indent="0" marL="0">
              <a:lnSpc>
                <a:spcPct val="98824"/>
              </a:lnSpc>
              <a:buNone/>
            </a:pPr>
            <a:r>
              <a:rPr lang="en-US" sz="2100" dirty="0">
                <a:solidFill>
                  <a:srgbClr val="FFFFFF">
                    <a:alpha val="86000"/>
                  </a:srgbClr>
                </a:solidFill>
                <a:latin typeface="Poppins" pitchFamily="34" charset="0"/>
                <a:ea typeface="Poppins" pitchFamily="34" charset="-122"/>
                <a:cs typeface="Poppins" pitchFamily="34" charset="-120"/>
              </a:rPr>
              <a:t>Analysts stop hunting for datasets and stop queuing for the people who know where they are.</a:t>
            </a:r>
            <a:endParaRPr lang="en-US" sz="2100" dirty="0"/>
          </a:p>
        </p:txBody>
      </p:sp>
      <p:sp>
        <p:nvSpPr>
          <p:cNvPr id="8" name="Text 5"/>
          <p:cNvSpPr/>
          <p:nvPr/>
        </p:nvSpPr>
        <p:spPr>
          <a:xfrm>
            <a:off x="990575" y="7248674"/>
            <a:ext cx="5448300"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A5B3FE"/>
                </a:solidFill>
                <a:latin typeface="Poppins" pitchFamily="34" charset="0"/>
                <a:ea typeface="Poppins" pitchFamily="34" charset="-122"/>
                <a:cs typeface="Poppins" pitchFamily="34" charset="-120"/>
              </a:rPr>
              <a:t>WORKSTREAMS</a:t>
            </a:r>
            <a:endParaRPr lang="en-US" sz="1800" dirty="0"/>
          </a:p>
        </p:txBody>
      </p:sp>
      <p:sp>
        <p:nvSpPr>
          <p:cNvPr id="9" name="Text 6"/>
          <p:cNvSpPr/>
          <p:nvPr/>
        </p:nvSpPr>
        <p:spPr>
          <a:xfrm>
            <a:off x="990575" y="7736272"/>
            <a:ext cx="5101590" cy="1226865"/>
          </a:xfrm>
          <a:prstGeom prst="rect">
            <a:avLst/>
          </a:prstGeom>
          <a:noFill/>
          <a:ln/>
        </p:spPr>
        <p:txBody>
          <a:bodyPr wrap="square" lIns="25400" tIns="25400" rIns="25400" bIns="25400" rtlCol="0" anchor="t">
            <a:normAutofit/>
          </a:bodyPr>
          <a:lstStyle/>
          <a:p>
            <a:pPr algn="l" indent="0" marL="0">
              <a:lnSpc>
                <a:spcPct val="106213"/>
              </a:lnSpc>
              <a:buNone/>
            </a:pPr>
            <a:r>
              <a:rPr lang="en-US" sz="1950" b="1" dirty="0">
                <a:solidFill>
                  <a:srgbClr val="FFFFFF"/>
                </a:solidFill>
                <a:latin typeface="Poppins" pitchFamily="34" charset="0"/>
                <a:ea typeface="Poppins" pitchFamily="34" charset="-122"/>
                <a:cs typeface="Poppins" pitchFamily="34" charset="-120"/>
              </a:rPr>
              <a:t>Metadata coverage Discovery time Discovery success rate</a:t>
            </a:r>
            <a:endParaRPr lang="en-US" sz="1950" dirty="0"/>
          </a:p>
        </p:txBody>
      </p:sp>
      <p:sp>
        <p:nvSpPr>
          <p:cNvPr id="10" name="Text 7"/>
          <p:cNvSpPr/>
          <p:nvPr/>
        </p:nvSpPr>
        <p:spPr>
          <a:xfrm>
            <a:off x="6857938" y="1931913"/>
            <a:ext cx="11902535" cy="348159"/>
          </a:xfrm>
          <a:prstGeom prst="rect">
            <a:avLst/>
          </a:prstGeom>
          <a:noFill/>
          <a:ln/>
        </p:spPr>
        <p:txBody>
          <a:bodyPr wrap="square" lIns="25400" tIns="25400" rIns="25400" bIns="25400" rtlCol="0" anchor="t">
            <a:normAutofit/>
          </a:bodyPr>
          <a:lstStyle/>
          <a:p>
            <a:pPr algn="l" indent="0" marL="0">
              <a:lnSpc>
                <a:spcPct val="102789"/>
              </a:lnSpc>
              <a:buNone/>
            </a:pPr>
            <a:r>
              <a:rPr lang="en-US" sz="1575" spc="276" kern="0" dirty="0">
                <a:solidFill>
                  <a:srgbClr val="3B5C7F"/>
                </a:solidFill>
                <a:latin typeface="Poppins" pitchFamily="34" charset="0"/>
                <a:ea typeface="Poppins" pitchFamily="34" charset="-122"/>
                <a:cs typeface="Poppins" pitchFamily="34" charset="-120"/>
              </a:rPr>
              <a:t>METADATA COVERAGE</a:t>
            </a:r>
            <a:endParaRPr lang="en-US" sz="1575" dirty="0"/>
          </a:p>
        </p:txBody>
      </p:sp>
      <p:sp>
        <p:nvSpPr>
          <p:cNvPr id="11" name="Text 8"/>
          <p:cNvSpPr/>
          <p:nvPr/>
        </p:nvSpPr>
        <p:spPr>
          <a:xfrm>
            <a:off x="6676963" y="2375297"/>
            <a:ext cx="1990725" cy="687611"/>
          </a:xfrm>
          <a:prstGeom prst="rect">
            <a:avLst/>
          </a:prstGeom>
          <a:noFill/>
          <a:ln/>
        </p:spPr>
        <p:txBody>
          <a:bodyPr wrap="square" lIns="25400" tIns="25400" rIns="25400" bIns="25400" rtlCol="0" anchor="t">
            <a:normAutofit/>
          </a:bodyPr>
          <a:lstStyle/>
          <a:p>
            <a:pPr algn="r" indent="0" marL="0">
              <a:lnSpc>
                <a:spcPct val="102943"/>
              </a:lnSpc>
              <a:buNone/>
            </a:pPr>
            <a:r>
              <a:rPr lang="en-US" sz="3300" b="1" spc="-66" kern="0" dirty="0">
                <a:solidFill>
                  <a:srgbClr val="001FFF"/>
                </a:solidFill>
                <a:latin typeface="Poppins" pitchFamily="34" charset="0"/>
                <a:ea typeface="Poppins" pitchFamily="34" charset="-122"/>
                <a:cs typeface="Poppins" pitchFamily="34" charset="-120"/>
              </a:rPr>
              <a:t>+30%</a:t>
            </a:r>
            <a:endParaRPr lang="en-US" sz="3300" dirty="0"/>
          </a:p>
        </p:txBody>
      </p:sp>
      <p:sp>
        <p:nvSpPr>
          <p:cNvPr id="12" name="Text 9"/>
          <p:cNvSpPr/>
          <p:nvPr/>
        </p:nvSpPr>
        <p:spPr>
          <a:xfrm>
            <a:off x="8934338" y="2422426"/>
            <a:ext cx="9618495"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dirty="0">
                <a:solidFill>
                  <a:srgbClr val="15103A"/>
                </a:solidFill>
                <a:latin typeface="Poppins" pitchFamily="34" charset="0"/>
                <a:ea typeface="Poppins" pitchFamily="34" charset="-122"/>
                <a:cs typeface="Poppins" pitchFamily="34" charset="-120"/>
              </a:rPr>
              <a:t>Datasets with standardised metadata</a:t>
            </a:r>
            <a:endParaRPr lang="en-US" sz="1950" dirty="0"/>
          </a:p>
        </p:txBody>
      </p:sp>
      <p:sp>
        <p:nvSpPr>
          <p:cNvPr id="13" name="Shape 10"/>
          <p:cNvSpPr/>
          <p:nvPr/>
        </p:nvSpPr>
        <p:spPr>
          <a:xfrm>
            <a:off x="8934338" y="2901528"/>
            <a:ext cx="8744086" cy="76150"/>
          </a:xfrm>
          <a:prstGeom prst="roundRect">
            <a:avLst>
              <a:gd name="adj" fmla="val 50000"/>
            </a:avLst>
          </a:prstGeom>
          <a:solidFill>
            <a:srgbClr val="E8E8E8"/>
          </a:solidFill>
          <a:ln/>
        </p:spPr>
      </p:sp>
      <p:sp>
        <p:nvSpPr>
          <p:cNvPr id="14" name="Shape 11"/>
          <p:cNvSpPr/>
          <p:nvPr/>
        </p:nvSpPr>
        <p:spPr>
          <a:xfrm>
            <a:off x="8934338" y="2901528"/>
            <a:ext cx="2623220" cy="76150"/>
          </a:xfrm>
          <a:prstGeom prst="roundRect">
            <a:avLst>
              <a:gd name="adj" fmla="val 50000"/>
            </a:avLst>
          </a:prstGeom>
          <a:solidFill>
            <a:srgbClr val="001FFF"/>
          </a:solidFill>
          <a:ln/>
        </p:spPr>
      </p:sp>
      <p:sp>
        <p:nvSpPr>
          <p:cNvPr id="15" name="Text 12"/>
          <p:cNvSpPr/>
          <p:nvPr/>
        </p:nvSpPr>
        <p:spPr>
          <a:xfrm>
            <a:off x="6676963" y="3158133"/>
            <a:ext cx="1990725" cy="687611"/>
          </a:xfrm>
          <a:prstGeom prst="rect">
            <a:avLst/>
          </a:prstGeom>
          <a:noFill/>
          <a:ln/>
        </p:spPr>
        <p:txBody>
          <a:bodyPr wrap="square" lIns="25400" tIns="25400" rIns="25400" bIns="25400" rtlCol="0" anchor="t">
            <a:normAutofit/>
          </a:bodyPr>
          <a:lstStyle/>
          <a:p>
            <a:pPr algn="r" indent="0" marL="0">
              <a:lnSpc>
                <a:spcPct val="102943"/>
              </a:lnSpc>
              <a:buNone/>
            </a:pPr>
            <a:r>
              <a:rPr lang="en-US" sz="3300" b="1" spc="-66" kern="0" dirty="0">
                <a:solidFill>
                  <a:srgbClr val="001FFF"/>
                </a:solidFill>
                <a:latin typeface="Poppins" pitchFamily="34" charset="0"/>
                <a:ea typeface="Poppins" pitchFamily="34" charset="-122"/>
                <a:cs typeface="Poppins" pitchFamily="34" charset="-120"/>
              </a:rPr>
              <a:t>-30%</a:t>
            </a:r>
            <a:endParaRPr lang="en-US" sz="3300" dirty="0"/>
          </a:p>
        </p:txBody>
      </p:sp>
      <p:sp>
        <p:nvSpPr>
          <p:cNvPr id="16" name="Text 13"/>
          <p:cNvSpPr/>
          <p:nvPr/>
        </p:nvSpPr>
        <p:spPr>
          <a:xfrm>
            <a:off x="8934338" y="3205262"/>
            <a:ext cx="9618495"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dirty="0">
                <a:solidFill>
                  <a:srgbClr val="15103A"/>
                </a:solidFill>
                <a:latin typeface="Poppins" pitchFamily="34" charset="0"/>
                <a:ea typeface="Poppins" pitchFamily="34" charset="-122"/>
                <a:cs typeface="Poppins" pitchFamily="34" charset="-120"/>
              </a:rPr>
              <a:t>Support requests to domain experts</a:t>
            </a:r>
            <a:endParaRPr lang="en-US" sz="1950" dirty="0"/>
          </a:p>
        </p:txBody>
      </p:sp>
      <p:sp>
        <p:nvSpPr>
          <p:cNvPr id="17" name="Shape 14"/>
          <p:cNvSpPr/>
          <p:nvPr/>
        </p:nvSpPr>
        <p:spPr>
          <a:xfrm>
            <a:off x="8934338" y="3684364"/>
            <a:ext cx="8744086" cy="76150"/>
          </a:xfrm>
          <a:prstGeom prst="roundRect">
            <a:avLst>
              <a:gd name="adj" fmla="val 50000"/>
            </a:avLst>
          </a:prstGeom>
          <a:solidFill>
            <a:srgbClr val="E8E8E8"/>
          </a:solidFill>
          <a:ln/>
        </p:spPr>
      </p:sp>
      <p:sp>
        <p:nvSpPr>
          <p:cNvPr id="18" name="Shape 15"/>
          <p:cNvSpPr/>
          <p:nvPr/>
        </p:nvSpPr>
        <p:spPr>
          <a:xfrm>
            <a:off x="8934338" y="3684364"/>
            <a:ext cx="2623220" cy="76150"/>
          </a:xfrm>
          <a:prstGeom prst="roundRect">
            <a:avLst>
              <a:gd name="adj" fmla="val 50000"/>
            </a:avLst>
          </a:prstGeom>
          <a:solidFill>
            <a:srgbClr val="001FFF"/>
          </a:solidFill>
          <a:ln/>
        </p:spPr>
      </p:sp>
      <p:sp>
        <p:nvSpPr>
          <p:cNvPr id="19" name="Text 16"/>
          <p:cNvSpPr/>
          <p:nvPr/>
        </p:nvSpPr>
        <p:spPr>
          <a:xfrm>
            <a:off x="6857938" y="4055256"/>
            <a:ext cx="11902535" cy="348159"/>
          </a:xfrm>
          <a:prstGeom prst="rect">
            <a:avLst/>
          </a:prstGeom>
          <a:noFill/>
          <a:ln/>
        </p:spPr>
        <p:txBody>
          <a:bodyPr wrap="square" lIns="25400" tIns="25400" rIns="25400" bIns="25400" rtlCol="0" anchor="t">
            <a:normAutofit/>
          </a:bodyPr>
          <a:lstStyle/>
          <a:p>
            <a:pPr algn="l" indent="0" marL="0">
              <a:lnSpc>
                <a:spcPct val="102789"/>
              </a:lnSpc>
              <a:buNone/>
            </a:pPr>
            <a:r>
              <a:rPr lang="en-US" sz="1575" spc="276" kern="0" dirty="0">
                <a:solidFill>
                  <a:srgbClr val="3B5C7F"/>
                </a:solidFill>
                <a:latin typeface="Poppins" pitchFamily="34" charset="0"/>
                <a:ea typeface="Poppins" pitchFamily="34" charset="-122"/>
                <a:cs typeface="Poppins" pitchFamily="34" charset="-120"/>
              </a:rPr>
              <a:t>DATA DISCOVERY TIME</a:t>
            </a:r>
            <a:endParaRPr lang="en-US" sz="1575" dirty="0"/>
          </a:p>
        </p:txBody>
      </p:sp>
      <p:sp>
        <p:nvSpPr>
          <p:cNvPr id="20" name="Text 17"/>
          <p:cNvSpPr/>
          <p:nvPr/>
        </p:nvSpPr>
        <p:spPr>
          <a:xfrm>
            <a:off x="6676963" y="4498640"/>
            <a:ext cx="1990725" cy="687611"/>
          </a:xfrm>
          <a:prstGeom prst="rect">
            <a:avLst/>
          </a:prstGeom>
          <a:noFill/>
          <a:ln/>
        </p:spPr>
        <p:txBody>
          <a:bodyPr wrap="square" lIns="25400" tIns="25400" rIns="25400" bIns="25400" rtlCol="0" anchor="t">
            <a:normAutofit/>
          </a:bodyPr>
          <a:lstStyle/>
          <a:p>
            <a:pPr algn="r" indent="0" marL="0">
              <a:lnSpc>
                <a:spcPct val="102943"/>
              </a:lnSpc>
              <a:buNone/>
            </a:pPr>
            <a:r>
              <a:rPr lang="en-US" sz="3300" b="1" spc="-66" kern="0" dirty="0">
                <a:solidFill>
                  <a:srgbClr val="001FFF"/>
                </a:solidFill>
                <a:latin typeface="Poppins" pitchFamily="34" charset="0"/>
                <a:ea typeface="Poppins" pitchFamily="34" charset="-122"/>
                <a:cs typeface="Poppins" pitchFamily="34" charset="-120"/>
              </a:rPr>
              <a:t>-5 days</a:t>
            </a:r>
            <a:endParaRPr lang="en-US" sz="3300" dirty="0"/>
          </a:p>
        </p:txBody>
      </p:sp>
      <p:sp>
        <p:nvSpPr>
          <p:cNvPr id="21" name="Text 18"/>
          <p:cNvSpPr/>
          <p:nvPr/>
        </p:nvSpPr>
        <p:spPr>
          <a:xfrm>
            <a:off x="8934338" y="4545769"/>
            <a:ext cx="9618495"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dirty="0">
                <a:solidFill>
                  <a:srgbClr val="15103A"/>
                </a:solidFill>
                <a:latin typeface="Poppins" pitchFamily="34" charset="0"/>
                <a:ea typeface="Poppins" pitchFamily="34" charset="-122"/>
                <a:cs typeface="Poppins" pitchFamily="34" charset="-120"/>
              </a:rPr>
              <a:t>Average time to discover relevant data</a:t>
            </a:r>
            <a:endParaRPr lang="en-US" sz="1950" dirty="0"/>
          </a:p>
        </p:txBody>
      </p:sp>
      <p:sp>
        <p:nvSpPr>
          <p:cNvPr id="22" name="Shape 19"/>
          <p:cNvSpPr/>
          <p:nvPr/>
        </p:nvSpPr>
        <p:spPr>
          <a:xfrm>
            <a:off x="8934338" y="5024871"/>
            <a:ext cx="8744086" cy="76150"/>
          </a:xfrm>
          <a:prstGeom prst="roundRect">
            <a:avLst>
              <a:gd name="adj" fmla="val 50000"/>
            </a:avLst>
          </a:prstGeom>
          <a:solidFill>
            <a:srgbClr val="E8E8E8"/>
          </a:solidFill>
          <a:ln/>
        </p:spPr>
      </p:sp>
      <p:sp>
        <p:nvSpPr>
          <p:cNvPr id="23" name="Shape 20"/>
          <p:cNvSpPr/>
          <p:nvPr/>
        </p:nvSpPr>
        <p:spPr>
          <a:xfrm>
            <a:off x="8934338" y="5024871"/>
            <a:ext cx="4372012" cy="76150"/>
          </a:xfrm>
          <a:prstGeom prst="roundRect">
            <a:avLst>
              <a:gd name="adj" fmla="val 50000"/>
            </a:avLst>
          </a:prstGeom>
          <a:solidFill>
            <a:srgbClr val="001FFF"/>
          </a:solidFill>
          <a:ln/>
        </p:spPr>
      </p:sp>
      <p:sp>
        <p:nvSpPr>
          <p:cNvPr id="24" name="Text 21"/>
          <p:cNvSpPr/>
          <p:nvPr/>
        </p:nvSpPr>
        <p:spPr>
          <a:xfrm>
            <a:off x="6676963" y="5281476"/>
            <a:ext cx="1990725" cy="687611"/>
          </a:xfrm>
          <a:prstGeom prst="rect">
            <a:avLst/>
          </a:prstGeom>
          <a:noFill/>
          <a:ln/>
        </p:spPr>
        <p:txBody>
          <a:bodyPr wrap="square" lIns="25400" tIns="25400" rIns="25400" bIns="25400" rtlCol="0" anchor="t">
            <a:normAutofit/>
          </a:bodyPr>
          <a:lstStyle/>
          <a:p>
            <a:pPr algn="r" indent="0" marL="0">
              <a:lnSpc>
                <a:spcPct val="102943"/>
              </a:lnSpc>
              <a:buNone/>
            </a:pPr>
            <a:r>
              <a:rPr lang="en-US" sz="3300" b="1" spc="-66" kern="0" dirty="0">
                <a:solidFill>
                  <a:srgbClr val="001FFF"/>
                </a:solidFill>
                <a:latin typeface="Poppins" pitchFamily="34" charset="0"/>
                <a:ea typeface="Poppins" pitchFamily="34" charset="-122"/>
                <a:cs typeface="Poppins" pitchFamily="34" charset="-120"/>
              </a:rPr>
              <a:t>+20%</a:t>
            </a:r>
            <a:endParaRPr lang="en-US" sz="3300" dirty="0"/>
          </a:p>
        </p:txBody>
      </p:sp>
      <p:sp>
        <p:nvSpPr>
          <p:cNvPr id="25" name="Text 22"/>
          <p:cNvSpPr/>
          <p:nvPr/>
        </p:nvSpPr>
        <p:spPr>
          <a:xfrm>
            <a:off x="8934338" y="5328605"/>
            <a:ext cx="9618495"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dirty="0">
                <a:solidFill>
                  <a:srgbClr val="15103A"/>
                </a:solidFill>
                <a:latin typeface="Poppins" pitchFamily="34" charset="0"/>
                <a:ea typeface="Poppins" pitchFamily="34" charset="-122"/>
                <a:cs typeface="Poppins" pitchFamily="34" charset="-120"/>
              </a:rPr>
              <a:t>Value-adding activities by analysts</a:t>
            </a:r>
            <a:endParaRPr lang="en-US" sz="1950" dirty="0"/>
          </a:p>
        </p:txBody>
      </p:sp>
      <p:sp>
        <p:nvSpPr>
          <p:cNvPr id="26" name="Shape 23"/>
          <p:cNvSpPr/>
          <p:nvPr/>
        </p:nvSpPr>
        <p:spPr>
          <a:xfrm>
            <a:off x="8934338" y="5807707"/>
            <a:ext cx="8744086" cy="76150"/>
          </a:xfrm>
          <a:prstGeom prst="roundRect">
            <a:avLst>
              <a:gd name="adj" fmla="val 50000"/>
            </a:avLst>
          </a:prstGeom>
          <a:solidFill>
            <a:srgbClr val="E8E8E8"/>
          </a:solidFill>
          <a:ln/>
        </p:spPr>
      </p:sp>
      <p:sp>
        <p:nvSpPr>
          <p:cNvPr id="27" name="Shape 24"/>
          <p:cNvSpPr/>
          <p:nvPr/>
        </p:nvSpPr>
        <p:spPr>
          <a:xfrm>
            <a:off x="8934338" y="5807707"/>
            <a:ext cx="1748792" cy="76150"/>
          </a:xfrm>
          <a:prstGeom prst="roundRect">
            <a:avLst>
              <a:gd name="adj" fmla="val 50000"/>
            </a:avLst>
          </a:prstGeom>
          <a:solidFill>
            <a:srgbClr val="001FFF"/>
          </a:solidFill>
          <a:ln/>
        </p:spPr>
      </p:sp>
      <p:sp>
        <p:nvSpPr>
          <p:cNvPr id="28" name="Text 25"/>
          <p:cNvSpPr/>
          <p:nvPr/>
        </p:nvSpPr>
        <p:spPr>
          <a:xfrm>
            <a:off x="6857938" y="6178600"/>
            <a:ext cx="11902535" cy="348159"/>
          </a:xfrm>
          <a:prstGeom prst="rect">
            <a:avLst/>
          </a:prstGeom>
          <a:noFill/>
          <a:ln/>
        </p:spPr>
        <p:txBody>
          <a:bodyPr wrap="square" lIns="25400" tIns="25400" rIns="25400" bIns="25400" rtlCol="0" anchor="t">
            <a:normAutofit/>
          </a:bodyPr>
          <a:lstStyle/>
          <a:p>
            <a:pPr algn="l" indent="0" marL="0">
              <a:lnSpc>
                <a:spcPct val="102789"/>
              </a:lnSpc>
              <a:buNone/>
            </a:pPr>
            <a:r>
              <a:rPr lang="en-US" sz="1575" spc="276" kern="0" dirty="0">
                <a:solidFill>
                  <a:srgbClr val="3B5C7F"/>
                </a:solidFill>
                <a:latin typeface="Poppins" pitchFamily="34" charset="0"/>
                <a:ea typeface="Poppins" pitchFamily="34" charset="-122"/>
                <a:cs typeface="Poppins" pitchFamily="34" charset="-120"/>
              </a:rPr>
              <a:t>DISCOVERY SUCCESS RATE</a:t>
            </a:r>
            <a:endParaRPr lang="en-US" sz="1575" dirty="0"/>
          </a:p>
        </p:txBody>
      </p:sp>
      <p:sp>
        <p:nvSpPr>
          <p:cNvPr id="29" name="Text 26"/>
          <p:cNvSpPr/>
          <p:nvPr/>
        </p:nvSpPr>
        <p:spPr>
          <a:xfrm>
            <a:off x="6676963" y="6621983"/>
            <a:ext cx="1990725" cy="687611"/>
          </a:xfrm>
          <a:prstGeom prst="rect">
            <a:avLst/>
          </a:prstGeom>
          <a:noFill/>
          <a:ln/>
        </p:spPr>
        <p:txBody>
          <a:bodyPr wrap="square" lIns="25400" tIns="25400" rIns="25400" bIns="25400" rtlCol="0" anchor="t">
            <a:normAutofit/>
          </a:bodyPr>
          <a:lstStyle/>
          <a:p>
            <a:pPr algn="r" indent="0" marL="0">
              <a:lnSpc>
                <a:spcPct val="102943"/>
              </a:lnSpc>
              <a:buNone/>
            </a:pPr>
            <a:r>
              <a:rPr lang="en-US" sz="3300" b="1" spc="-66" kern="0" dirty="0">
                <a:solidFill>
                  <a:srgbClr val="001FFF"/>
                </a:solidFill>
                <a:latin typeface="Poppins" pitchFamily="34" charset="0"/>
                <a:ea typeface="Poppins" pitchFamily="34" charset="-122"/>
                <a:cs typeface="Poppins" pitchFamily="34" charset="-120"/>
              </a:rPr>
              <a:t>+20%</a:t>
            </a:r>
            <a:endParaRPr lang="en-US" sz="3300" dirty="0"/>
          </a:p>
        </p:txBody>
      </p:sp>
      <p:sp>
        <p:nvSpPr>
          <p:cNvPr id="30" name="Text 27"/>
          <p:cNvSpPr/>
          <p:nvPr/>
        </p:nvSpPr>
        <p:spPr>
          <a:xfrm>
            <a:off x="8934338" y="6669112"/>
            <a:ext cx="9618495"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dirty="0">
                <a:solidFill>
                  <a:srgbClr val="15103A"/>
                </a:solidFill>
                <a:latin typeface="Poppins" pitchFamily="34" charset="0"/>
                <a:ea typeface="Poppins" pitchFamily="34" charset="-122"/>
                <a:cs typeface="Poppins" pitchFamily="34" charset="-120"/>
              </a:rPr>
              <a:t>Data discovery success rate</a:t>
            </a:r>
            <a:endParaRPr lang="en-US" sz="1950" dirty="0"/>
          </a:p>
        </p:txBody>
      </p:sp>
      <p:sp>
        <p:nvSpPr>
          <p:cNvPr id="31" name="Shape 28"/>
          <p:cNvSpPr/>
          <p:nvPr/>
        </p:nvSpPr>
        <p:spPr>
          <a:xfrm>
            <a:off x="8934338" y="7148215"/>
            <a:ext cx="8744086" cy="76150"/>
          </a:xfrm>
          <a:prstGeom prst="roundRect">
            <a:avLst>
              <a:gd name="adj" fmla="val 50000"/>
            </a:avLst>
          </a:prstGeom>
          <a:solidFill>
            <a:srgbClr val="E8E8E8"/>
          </a:solidFill>
          <a:ln/>
        </p:spPr>
      </p:sp>
      <p:sp>
        <p:nvSpPr>
          <p:cNvPr id="32" name="Shape 29"/>
          <p:cNvSpPr/>
          <p:nvPr/>
        </p:nvSpPr>
        <p:spPr>
          <a:xfrm>
            <a:off x="8934338" y="7148215"/>
            <a:ext cx="1748792" cy="76150"/>
          </a:xfrm>
          <a:prstGeom prst="roundRect">
            <a:avLst>
              <a:gd name="adj" fmla="val 50000"/>
            </a:avLst>
          </a:prstGeom>
          <a:solidFill>
            <a:srgbClr val="001FFF"/>
          </a:solidFill>
          <a:ln/>
        </p:spPr>
      </p:sp>
      <p:sp>
        <p:nvSpPr>
          <p:cNvPr id="33" name="Text 30"/>
          <p:cNvSpPr/>
          <p:nvPr/>
        </p:nvSpPr>
        <p:spPr>
          <a:xfrm>
            <a:off x="6676963" y="7404819"/>
            <a:ext cx="1990725" cy="687611"/>
          </a:xfrm>
          <a:prstGeom prst="rect">
            <a:avLst/>
          </a:prstGeom>
          <a:noFill/>
          <a:ln/>
        </p:spPr>
        <p:txBody>
          <a:bodyPr wrap="square" lIns="25400" tIns="25400" rIns="25400" bIns="25400" rtlCol="0" anchor="t">
            <a:normAutofit/>
          </a:bodyPr>
          <a:lstStyle/>
          <a:p>
            <a:pPr algn="r" indent="0" marL="0">
              <a:lnSpc>
                <a:spcPct val="102943"/>
              </a:lnSpc>
              <a:buNone/>
            </a:pPr>
            <a:r>
              <a:rPr lang="en-US" sz="3300" b="1" spc="-66" kern="0" dirty="0">
                <a:solidFill>
                  <a:srgbClr val="DF367C"/>
                </a:solidFill>
                <a:latin typeface="Poppins" pitchFamily="34" charset="0"/>
                <a:ea typeface="Poppins" pitchFamily="34" charset="-122"/>
                <a:cs typeface="Poppins" pitchFamily="34" charset="-120"/>
              </a:rPr>
              <a:t>-40%</a:t>
            </a:r>
            <a:endParaRPr lang="en-US" sz="3300" dirty="0"/>
          </a:p>
        </p:txBody>
      </p:sp>
      <p:sp>
        <p:nvSpPr>
          <p:cNvPr id="34" name="Text 31"/>
          <p:cNvSpPr/>
          <p:nvPr/>
        </p:nvSpPr>
        <p:spPr>
          <a:xfrm>
            <a:off x="8934338" y="7451948"/>
            <a:ext cx="9618495"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dirty="0">
                <a:solidFill>
                  <a:srgbClr val="15103A"/>
                </a:solidFill>
                <a:latin typeface="Poppins" pitchFamily="34" charset="0"/>
                <a:ea typeface="Poppins" pitchFamily="34" charset="-122"/>
                <a:cs typeface="Poppins" pitchFamily="34" charset="-120"/>
              </a:rPr>
              <a:t>Time spent on data searches</a:t>
            </a:r>
            <a:endParaRPr lang="en-US" sz="1950" dirty="0"/>
          </a:p>
        </p:txBody>
      </p:sp>
      <p:sp>
        <p:nvSpPr>
          <p:cNvPr id="35" name="Shape 32"/>
          <p:cNvSpPr/>
          <p:nvPr/>
        </p:nvSpPr>
        <p:spPr>
          <a:xfrm>
            <a:off x="8934338" y="7931051"/>
            <a:ext cx="8744086" cy="76150"/>
          </a:xfrm>
          <a:prstGeom prst="roundRect">
            <a:avLst>
              <a:gd name="adj" fmla="val 50000"/>
            </a:avLst>
          </a:prstGeom>
          <a:solidFill>
            <a:srgbClr val="E8E8E8"/>
          </a:solidFill>
          <a:ln/>
        </p:spPr>
      </p:sp>
      <p:sp>
        <p:nvSpPr>
          <p:cNvPr id="36" name="Shape 33"/>
          <p:cNvSpPr/>
          <p:nvPr/>
        </p:nvSpPr>
        <p:spPr>
          <a:xfrm>
            <a:off x="8934338" y="7931051"/>
            <a:ext cx="3497585" cy="76150"/>
          </a:xfrm>
          <a:prstGeom prst="roundRect">
            <a:avLst>
              <a:gd name="adj" fmla="val 50000"/>
            </a:avLst>
          </a:prstGeom>
          <a:solidFill>
            <a:srgbClr val="DF367C"/>
          </a:solidFill>
          <a:ln/>
        </p:spPr>
      </p:sp>
      <p:sp>
        <p:nvSpPr>
          <p:cNvPr id="37" name="Shape 34"/>
          <p:cNvSpPr/>
          <p:nvPr/>
        </p:nvSpPr>
        <p:spPr>
          <a:xfrm>
            <a:off x="609575" y="9672712"/>
            <a:ext cx="95250" cy="19038"/>
          </a:xfrm>
          <a:prstGeom prst="rect">
            <a:avLst/>
          </a:prstGeom>
          <a:solidFill>
            <a:srgbClr val="001FFF"/>
          </a:solidFill>
          <a:ln/>
        </p:spPr>
      </p:sp>
      <p:sp>
        <p:nvSpPr>
          <p:cNvPr id="38" name="Text 35"/>
          <p:cNvSpPr/>
          <p:nvPr/>
        </p:nvSpPr>
        <p:spPr>
          <a:xfrm>
            <a:off x="857188" y="9534612"/>
            <a:ext cx="2401912" cy="333338"/>
          </a:xfrm>
          <a:prstGeom prst="rect">
            <a:avLst/>
          </a:prstGeom>
          <a:noFill/>
          <a:ln/>
        </p:spPr>
        <p:txBody>
          <a:bodyPr wrap="square" lIns="25400" tIns="25400" rIns="25400" bIns="25400" rtlCol="0" anchor="t">
            <a:normAutofit/>
          </a:bodyPr>
          <a:lstStyle/>
          <a:p>
            <a:pPr algn="l" indent="0" marL="0">
              <a:lnSpc>
                <a:spcPct val="103333"/>
              </a:lnSpc>
              <a:buNone/>
            </a:pPr>
            <a:r>
              <a:rPr lang="en-US" sz="1500" dirty="0">
                <a:solidFill>
                  <a:srgbClr val="9AA3AD"/>
                </a:solidFill>
                <a:latin typeface="Poppins" pitchFamily="34" charset="0"/>
                <a:ea typeface="Poppins" pitchFamily="34" charset="-122"/>
                <a:cs typeface="Poppins" pitchFamily="34" charset="-120"/>
              </a:rPr>
              <a:t>Pipeline improvements</a:t>
            </a:r>
            <a:endParaRPr lang="en-US" sz="1500" dirty="0"/>
          </a:p>
        </p:txBody>
      </p:sp>
      <p:sp>
        <p:nvSpPr>
          <p:cNvPr id="39" name="Text 36"/>
          <p:cNvSpPr/>
          <p:nvPr/>
        </p:nvSpPr>
        <p:spPr>
          <a:xfrm>
            <a:off x="17432672" y="9534612"/>
            <a:ext cx="321952" cy="333338"/>
          </a:xfrm>
          <a:prstGeom prst="rect">
            <a:avLst/>
          </a:prstGeom>
          <a:noFill/>
          <a:ln/>
        </p:spPr>
        <p:txBody>
          <a:bodyPr wrap="square" lIns="25400" tIns="25400" rIns="25400" bIns="25400" rtlCol="0" anchor="t">
            <a:normAutofit/>
          </a:bodyPr>
          <a:lstStyle/>
          <a:p>
            <a:pPr algn="l" indent="0" marL="0">
              <a:lnSpc>
                <a:spcPct val="103333"/>
              </a:lnSpc>
              <a:buNone/>
            </a:pPr>
            <a:r>
              <a:rPr lang="en-US" sz="1500" b="1" dirty="0">
                <a:solidFill>
                  <a:srgbClr val="3B5C7F"/>
                </a:solidFill>
                <a:latin typeface="Poppins" pitchFamily="34" charset="0"/>
                <a:ea typeface="Poppins" pitchFamily="34" charset="-122"/>
                <a:cs typeface="Poppins" pitchFamily="34" charset="-120"/>
              </a:rPr>
              <a:t>05</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575" y="1504900"/>
            <a:ext cx="17068849" cy="9525"/>
          </a:xfrm>
          <a:prstGeom prst="rect">
            <a:avLst/>
          </a:prstGeom>
          <a:solidFill>
            <a:srgbClr val="DEDEDE"/>
          </a:solidFill>
          <a:ln/>
        </p:spPr>
      </p:sp>
      <p:sp>
        <p:nvSpPr>
          <p:cNvPr id="3" name="Text 1"/>
          <p:cNvSpPr/>
          <p:nvPr/>
        </p:nvSpPr>
        <p:spPr>
          <a:xfrm>
            <a:off x="609575" y="609575"/>
            <a:ext cx="4285611" cy="704850"/>
          </a:xfrm>
          <a:prstGeom prst="rect">
            <a:avLst/>
          </a:prstGeom>
          <a:noFill/>
          <a:ln/>
        </p:spPr>
        <p:txBody>
          <a:bodyPr wrap="square" lIns="25400" tIns="25400" rIns="25400" bIns="25400" rtlCol="0" anchor="t">
            <a:normAutofit/>
          </a:bodyPr>
          <a:lstStyle/>
          <a:p>
            <a:pPr algn="l" indent="0" marL="0">
              <a:lnSpc>
                <a:spcPct val="83582"/>
              </a:lnSpc>
              <a:buNone/>
            </a:pPr>
            <a:r>
              <a:rPr lang="en-US" sz="4200" b="1" spc="-84" kern="0" dirty="0">
                <a:solidFill>
                  <a:srgbClr val="220F60"/>
                </a:solidFill>
                <a:latin typeface="Poppins" pitchFamily="34" charset="0"/>
                <a:ea typeface="Poppins" pitchFamily="34" charset="-122"/>
                <a:cs typeface="Poppins" pitchFamily="34" charset="-120"/>
              </a:rPr>
              <a:t>Data </a:t>
            </a:r>
            <a:pPr algn="l" indent="0" marL="0">
              <a:lnSpc>
                <a:spcPct val="83582"/>
              </a:lnSpc>
              <a:buNone/>
            </a:pPr>
            <a:r>
              <a:rPr lang="en-US" sz="4200" b="1" spc="-84" kern="0" dirty="0">
                <a:solidFill>
                  <a:srgbClr val="001FFF"/>
                </a:solidFill>
                <a:latin typeface="Poppins" pitchFamily="34" charset="0"/>
                <a:ea typeface="Poppins" pitchFamily="34" charset="-122"/>
                <a:cs typeface="Poppins" pitchFamily="34" charset="-120"/>
              </a:rPr>
              <a:t>Analytics</a:t>
            </a:r>
            <a:endParaRPr lang="en-US" sz="4200" dirty="0"/>
          </a:p>
        </p:txBody>
      </p:sp>
      <p:pic>
        <p:nvPicPr>
          <p:cNvPr id="4" name="Image 0" descr="preencoded.png">    </p:cNvPr>
          <p:cNvPicPr>
            <a:picLocks noChangeAspect="1"/>
          </p:cNvPicPr>
          <p:nvPr/>
        </p:nvPicPr>
        <p:blipFill>
          <a:blip r:embed="rId1"/>
          <a:stretch>
            <a:fillRect/>
          </a:stretch>
        </p:blipFill>
        <p:spPr>
          <a:xfrm>
            <a:off x="16250046" y="952500"/>
            <a:ext cx="1428378" cy="323825"/>
          </a:xfrm>
          <a:prstGeom prst="rect">
            <a:avLst/>
          </a:prstGeom>
        </p:spPr>
      </p:pic>
      <p:sp>
        <p:nvSpPr>
          <p:cNvPr id="5" name="Shape 2"/>
          <p:cNvSpPr/>
          <p:nvPr/>
        </p:nvSpPr>
        <p:spPr>
          <a:xfrm>
            <a:off x="609575" y="1931913"/>
            <a:ext cx="5715000" cy="7374123"/>
          </a:xfrm>
          <a:prstGeom prst="roundRect">
            <a:avLst>
              <a:gd name="adj" fmla="val 1667"/>
            </a:avLst>
          </a:prstGeom>
          <a:solidFill>
            <a:srgbClr val="220F60"/>
          </a:solidFill>
          <a:ln/>
        </p:spPr>
      </p:sp>
      <p:sp>
        <p:nvSpPr>
          <p:cNvPr id="6" name="Text 3"/>
          <p:cNvSpPr/>
          <p:nvPr/>
        </p:nvSpPr>
        <p:spPr>
          <a:xfrm>
            <a:off x="990575" y="2312913"/>
            <a:ext cx="5448300"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A5B3FE"/>
                </a:solidFill>
                <a:latin typeface="Poppins" pitchFamily="34" charset="0"/>
                <a:ea typeface="Poppins" pitchFamily="34" charset="-122"/>
                <a:cs typeface="Poppins" pitchFamily="34" charset="-120"/>
              </a:rPr>
              <a:t>STAGE 02</a:t>
            </a:r>
            <a:endParaRPr lang="en-US" sz="1800" dirty="0"/>
          </a:p>
        </p:txBody>
      </p:sp>
      <p:sp>
        <p:nvSpPr>
          <p:cNvPr id="7" name="Text 4"/>
          <p:cNvSpPr/>
          <p:nvPr/>
        </p:nvSpPr>
        <p:spPr>
          <a:xfrm>
            <a:off x="990575" y="2895761"/>
            <a:ext cx="5101590" cy="1638250"/>
          </a:xfrm>
          <a:prstGeom prst="rect">
            <a:avLst/>
          </a:prstGeom>
          <a:noFill/>
          <a:ln/>
        </p:spPr>
        <p:txBody>
          <a:bodyPr wrap="square" lIns="25400" tIns="25400" rIns="25400" bIns="25400" rtlCol="0" anchor="t">
            <a:normAutofit/>
          </a:bodyPr>
          <a:lstStyle/>
          <a:p>
            <a:pPr algn="l" indent="0" marL="0">
              <a:lnSpc>
                <a:spcPct val="98824"/>
              </a:lnSpc>
              <a:buNone/>
            </a:pPr>
            <a:r>
              <a:rPr lang="en-US" sz="2100" dirty="0">
                <a:solidFill>
                  <a:srgbClr val="FFFFFF">
                    <a:alpha val="86000"/>
                  </a:srgbClr>
                </a:solidFill>
                <a:latin typeface="Poppins" pitchFamily="34" charset="0"/>
                <a:ea typeface="Poppins" pitchFamily="34" charset="-122"/>
                <a:cs typeface="Poppins" pitchFamily="34" charset="-120"/>
              </a:rPr>
              <a:t>Integration and enrichment run against one governed model, so consistency is inherited instead of reconciled.</a:t>
            </a:r>
            <a:endParaRPr lang="en-US" sz="2100" dirty="0"/>
          </a:p>
        </p:txBody>
      </p:sp>
      <p:sp>
        <p:nvSpPr>
          <p:cNvPr id="8" name="Text 5"/>
          <p:cNvSpPr/>
          <p:nvPr/>
        </p:nvSpPr>
        <p:spPr>
          <a:xfrm>
            <a:off x="990575" y="7248674"/>
            <a:ext cx="5448300"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A5B3FE"/>
                </a:solidFill>
                <a:latin typeface="Poppins" pitchFamily="34" charset="0"/>
                <a:ea typeface="Poppins" pitchFamily="34" charset="-122"/>
                <a:cs typeface="Poppins" pitchFamily="34" charset="-120"/>
              </a:rPr>
              <a:t>WORKSTREAMS</a:t>
            </a:r>
            <a:endParaRPr lang="en-US" sz="1800" dirty="0"/>
          </a:p>
        </p:txBody>
      </p:sp>
      <p:sp>
        <p:nvSpPr>
          <p:cNvPr id="9" name="Text 6"/>
          <p:cNvSpPr/>
          <p:nvPr/>
        </p:nvSpPr>
        <p:spPr>
          <a:xfrm>
            <a:off x="990575" y="7736272"/>
            <a:ext cx="5101590" cy="1226865"/>
          </a:xfrm>
          <a:prstGeom prst="rect">
            <a:avLst/>
          </a:prstGeom>
          <a:noFill/>
          <a:ln/>
        </p:spPr>
        <p:txBody>
          <a:bodyPr wrap="square" lIns="25400" tIns="25400" rIns="25400" bIns="25400" rtlCol="0" anchor="t">
            <a:normAutofit/>
          </a:bodyPr>
          <a:lstStyle/>
          <a:p>
            <a:pPr algn="l" indent="0" marL="0">
              <a:lnSpc>
                <a:spcPct val="106213"/>
              </a:lnSpc>
              <a:buNone/>
            </a:pPr>
            <a:r>
              <a:rPr lang="en-US" sz="1950" b="1" dirty="0">
                <a:solidFill>
                  <a:srgbClr val="FFFFFF"/>
                </a:solidFill>
                <a:latin typeface="Poppins" pitchFamily="34" charset="0"/>
                <a:ea typeface="Poppins" pitchFamily="34" charset="-122"/>
                <a:cs typeface="Poppins" pitchFamily="34" charset="-120"/>
              </a:rPr>
              <a:t>Integration time Consistency score Enrichment rate</a:t>
            </a:r>
            <a:endParaRPr lang="en-US" sz="1950" dirty="0"/>
          </a:p>
        </p:txBody>
      </p:sp>
      <p:sp>
        <p:nvSpPr>
          <p:cNvPr id="10" name="Text 7"/>
          <p:cNvSpPr/>
          <p:nvPr/>
        </p:nvSpPr>
        <p:spPr>
          <a:xfrm>
            <a:off x="6857938" y="1931913"/>
            <a:ext cx="11902535" cy="348159"/>
          </a:xfrm>
          <a:prstGeom prst="rect">
            <a:avLst/>
          </a:prstGeom>
          <a:noFill/>
          <a:ln/>
        </p:spPr>
        <p:txBody>
          <a:bodyPr wrap="square" lIns="25400" tIns="25400" rIns="25400" bIns="25400" rtlCol="0" anchor="t">
            <a:normAutofit/>
          </a:bodyPr>
          <a:lstStyle/>
          <a:p>
            <a:pPr algn="l" indent="0" marL="0">
              <a:lnSpc>
                <a:spcPct val="102789"/>
              </a:lnSpc>
              <a:buNone/>
            </a:pPr>
            <a:r>
              <a:rPr lang="en-US" sz="1575" spc="276" kern="0" dirty="0">
                <a:solidFill>
                  <a:srgbClr val="3B5C7F"/>
                </a:solidFill>
                <a:latin typeface="Poppins" pitchFamily="34" charset="0"/>
                <a:ea typeface="Poppins" pitchFamily="34" charset="-122"/>
                <a:cs typeface="Poppins" pitchFamily="34" charset="-120"/>
              </a:rPr>
              <a:t>DATA INTEGRATION TIME</a:t>
            </a:r>
            <a:endParaRPr lang="en-US" sz="1575" dirty="0"/>
          </a:p>
        </p:txBody>
      </p:sp>
      <p:sp>
        <p:nvSpPr>
          <p:cNvPr id="11" name="Text 8"/>
          <p:cNvSpPr/>
          <p:nvPr/>
        </p:nvSpPr>
        <p:spPr>
          <a:xfrm>
            <a:off x="6676963" y="2375297"/>
            <a:ext cx="1990725" cy="687611"/>
          </a:xfrm>
          <a:prstGeom prst="rect">
            <a:avLst/>
          </a:prstGeom>
          <a:noFill/>
          <a:ln/>
        </p:spPr>
        <p:txBody>
          <a:bodyPr wrap="square" lIns="25400" tIns="25400" rIns="25400" bIns="25400" rtlCol="0" anchor="t">
            <a:normAutofit/>
          </a:bodyPr>
          <a:lstStyle/>
          <a:p>
            <a:pPr algn="r" indent="0" marL="0">
              <a:lnSpc>
                <a:spcPct val="102943"/>
              </a:lnSpc>
              <a:buNone/>
            </a:pPr>
            <a:r>
              <a:rPr lang="en-US" sz="3300" b="1" spc="-66" kern="0" dirty="0">
                <a:solidFill>
                  <a:srgbClr val="001FFF"/>
                </a:solidFill>
                <a:latin typeface="Poppins" pitchFamily="34" charset="0"/>
                <a:ea typeface="Poppins" pitchFamily="34" charset="-122"/>
                <a:cs typeface="Poppins" pitchFamily="34" charset="-120"/>
              </a:rPr>
              <a:t>-1 week</a:t>
            </a:r>
            <a:endParaRPr lang="en-US" sz="3300" dirty="0"/>
          </a:p>
        </p:txBody>
      </p:sp>
      <p:sp>
        <p:nvSpPr>
          <p:cNvPr id="12" name="Text 9"/>
          <p:cNvSpPr/>
          <p:nvPr/>
        </p:nvSpPr>
        <p:spPr>
          <a:xfrm>
            <a:off x="8934338" y="2422426"/>
            <a:ext cx="9618495"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dirty="0">
                <a:solidFill>
                  <a:srgbClr val="15103A"/>
                </a:solidFill>
                <a:latin typeface="Poppins" pitchFamily="34" charset="0"/>
                <a:ea typeface="Poppins" pitchFamily="34" charset="-122"/>
                <a:cs typeface="Poppins" pitchFamily="34" charset="-120"/>
              </a:rPr>
              <a:t>Average data integration time</a:t>
            </a:r>
            <a:endParaRPr lang="en-US" sz="1950" dirty="0"/>
          </a:p>
        </p:txBody>
      </p:sp>
      <p:sp>
        <p:nvSpPr>
          <p:cNvPr id="13" name="Shape 10"/>
          <p:cNvSpPr/>
          <p:nvPr/>
        </p:nvSpPr>
        <p:spPr>
          <a:xfrm>
            <a:off x="8934338" y="2901528"/>
            <a:ext cx="8744086" cy="76150"/>
          </a:xfrm>
          <a:prstGeom prst="roundRect">
            <a:avLst>
              <a:gd name="adj" fmla="val 50000"/>
            </a:avLst>
          </a:prstGeom>
          <a:solidFill>
            <a:srgbClr val="E8E8E8"/>
          </a:solidFill>
          <a:ln/>
        </p:spPr>
      </p:sp>
      <p:sp>
        <p:nvSpPr>
          <p:cNvPr id="14" name="Shape 11"/>
          <p:cNvSpPr/>
          <p:nvPr/>
        </p:nvSpPr>
        <p:spPr>
          <a:xfrm>
            <a:off x="8934338" y="2901528"/>
            <a:ext cx="4809195" cy="76150"/>
          </a:xfrm>
          <a:prstGeom prst="roundRect">
            <a:avLst>
              <a:gd name="adj" fmla="val 50000"/>
            </a:avLst>
          </a:prstGeom>
          <a:solidFill>
            <a:srgbClr val="001FFF"/>
          </a:solidFill>
          <a:ln/>
        </p:spPr>
      </p:sp>
      <p:sp>
        <p:nvSpPr>
          <p:cNvPr id="15" name="Text 12"/>
          <p:cNvSpPr/>
          <p:nvPr/>
        </p:nvSpPr>
        <p:spPr>
          <a:xfrm>
            <a:off x="6676963" y="3158133"/>
            <a:ext cx="1990725" cy="687611"/>
          </a:xfrm>
          <a:prstGeom prst="rect">
            <a:avLst/>
          </a:prstGeom>
          <a:noFill/>
          <a:ln/>
        </p:spPr>
        <p:txBody>
          <a:bodyPr wrap="square" lIns="25400" tIns="25400" rIns="25400" bIns="25400" rtlCol="0" anchor="t">
            <a:normAutofit/>
          </a:bodyPr>
          <a:lstStyle/>
          <a:p>
            <a:pPr algn="r" indent="0" marL="0">
              <a:lnSpc>
                <a:spcPct val="102943"/>
              </a:lnSpc>
              <a:buNone/>
            </a:pPr>
            <a:r>
              <a:rPr lang="en-US" sz="3300" b="1" spc="-66" kern="0" dirty="0">
                <a:solidFill>
                  <a:srgbClr val="001FFF"/>
                </a:solidFill>
                <a:latin typeface="Poppins" pitchFamily="34" charset="0"/>
                <a:ea typeface="Poppins" pitchFamily="34" charset="-122"/>
                <a:cs typeface="Poppins" pitchFamily="34" charset="-120"/>
              </a:rPr>
              <a:t>-25%</a:t>
            </a:r>
            <a:endParaRPr lang="en-US" sz="3300" dirty="0"/>
          </a:p>
        </p:txBody>
      </p:sp>
      <p:sp>
        <p:nvSpPr>
          <p:cNvPr id="16" name="Text 13"/>
          <p:cNvSpPr/>
          <p:nvPr/>
        </p:nvSpPr>
        <p:spPr>
          <a:xfrm>
            <a:off x="8934338" y="3205262"/>
            <a:ext cx="9618495"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dirty="0">
                <a:solidFill>
                  <a:srgbClr val="15103A"/>
                </a:solidFill>
                <a:latin typeface="Poppins" pitchFamily="34" charset="0"/>
                <a:ea typeface="Poppins" pitchFamily="34" charset="-122"/>
                <a:cs typeface="Poppins" pitchFamily="34" charset="-120"/>
              </a:rPr>
              <a:t>Cost of data integration activities</a:t>
            </a:r>
            <a:endParaRPr lang="en-US" sz="1950" dirty="0"/>
          </a:p>
        </p:txBody>
      </p:sp>
      <p:sp>
        <p:nvSpPr>
          <p:cNvPr id="17" name="Shape 14"/>
          <p:cNvSpPr/>
          <p:nvPr/>
        </p:nvSpPr>
        <p:spPr>
          <a:xfrm>
            <a:off x="8934338" y="3684364"/>
            <a:ext cx="8744086" cy="76150"/>
          </a:xfrm>
          <a:prstGeom prst="roundRect">
            <a:avLst>
              <a:gd name="adj" fmla="val 50000"/>
            </a:avLst>
          </a:prstGeom>
          <a:solidFill>
            <a:srgbClr val="E8E8E8"/>
          </a:solidFill>
          <a:ln/>
        </p:spPr>
      </p:sp>
      <p:sp>
        <p:nvSpPr>
          <p:cNvPr id="18" name="Shape 15"/>
          <p:cNvSpPr/>
          <p:nvPr/>
        </p:nvSpPr>
        <p:spPr>
          <a:xfrm>
            <a:off x="8934338" y="3684364"/>
            <a:ext cx="2185975" cy="76150"/>
          </a:xfrm>
          <a:prstGeom prst="roundRect">
            <a:avLst>
              <a:gd name="adj" fmla="val 50000"/>
            </a:avLst>
          </a:prstGeom>
          <a:solidFill>
            <a:srgbClr val="001FFF"/>
          </a:solidFill>
          <a:ln/>
        </p:spPr>
      </p:sp>
      <p:sp>
        <p:nvSpPr>
          <p:cNvPr id="19" name="Text 16"/>
          <p:cNvSpPr/>
          <p:nvPr/>
        </p:nvSpPr>
        <p:spPr>
          <a:xfrm>
            <a:off x="6857938" y="4055256"/>
            <a:ext cx="11902535" cy="348159"/>
          </a:xfrm>
          <a:prstGeom prst="rect">
            <a:avLst/>
          </a:prstGeom>
          <a:noFill/>
          <a:ln/>
        </p:spPr>
        <p:txBody>
          <a:bodyPr wrap="square" lIns="25400" tIns="25400" rIns="25400" bIns="25400" rtlCol="0" anchor="t">
            <a:normAutofit/>
          </a:bodyPr>
          <a:lstStyle/>
          <a:p>
            <a:pPr algn="l" indent="0" marL="0">
              <a:lnSpc>
                <a:spcPct val="102789"/>
              </a:lnSpc>
              <a:buNone/>
            </a:pPr>
            <a:r>
              <a:rPr lang="en-US" sz="1575" spc="276" kern="0" dirty="0">
                <a:solidFill>
                  <a:srgbClr val="3B5C7F"/>
                </a:solidFill>
                <a:latin typeface="Poppins" pitchFamily="34" charset="0"/>
                <a:ea typeface="Poppins" pitchFamily="34" charset="-122"/>
                <a:cs typeface="Poppins" pitchFamily="34" charset="-120"/>
              </a:rPr>
              <a:t>DATA CONSISTENCY SCORE</a:t>
            </a:r>
            <a:endParaRPr lang="en-US" sz="1575" dirty="0"/>
          </a:p>
        </p:txBody>
      </p:sp>
      <p:sp>
        <p:nvSpPr>
          <p:cNvPr id="20" name="Text 17"/>
          <p:cNvSpPr/>
          <p:nvPr/>
        </p:nvSpPr>
        <p:spPr>
          <a:xfrm>
            <a:off x="6676963" y="4498640"/>
            <a:ext cx="1990725" cy="687611"/>
          </a:xfrm>
          <a:prstGeom prst="rect">
            <a:avLst/>
          </a:prstGeom>
          <a:noFill/>
          <a:ln/>
        </p:spPr>
        <p:txBody>
          <a:bodyPr wrap="square" lIns="25400" tIns="25400" rIns="25400" bIns="25400" rtlCol="0" anchor="t">
            <a:normAutofit/>
          </a:bodyPr>
          <a:lstStyle/>
          <a:p>
            <a:pPr algn="r" indent="0" marL="0">
              <a:lnSpc>
                <a:spcPct val="102943"/>
              </a:lnSpc>
              <a:buNone/>
            </a:pPr>
            <a:r>
              <a:rPr lang="en-US" sz="3300" b="1" spc="-66" kern="0" dirty="0">
                <a:solidFill>
                  <a:srgbClr val="001FFF"/>
                </a:solidFill>
                <a:latin typeface="Poppins" pitchFamily="34" charset="0"/>
                <a:ea typeface="Poppins" pitchFamily="34" charset="-122"/>
                <a:cs typeface="Poppins" pitchFamily="34" charset="-120"/>
              </a:rPr>
              <a:t>+15%</a:t>
            </a:r>
            <a:endParaRPr lang="en-US" sz="3300" dirty="0"/>
          </a:p>
        </p:txBody>
      </p:sp>
      <p:sp>
        <p:nvSpPr>
          <p:cNvPr id="21" name="Text 18"/>
          <p:cNvSpPr/>
          <p:nvPr/>
        </p:nvSpPr>
        <p:spPr>
          <a:xfrm>
            <a:off x="8934338" y="4545769"/>
            <a:ext cx="9618495"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dirty="0">
                <a:solidFill>
                  <a:srgbClr val="15103A"/>
                </a:solidFill>
                <a:latin typeface="Poppins" pitchFamily="34" charset="0"/>
                <a:ea typeface="Poppins" pitchFamily="34" charset="-122"/>
                <a:cs typeface="Poppins" pitchFamily="34" charset="-120"/>
              </a:rPr>
              <a:t>Data consistency score</a:t>
            </a:r>
            <a:endParaRPr lang="en-US" sz="1950" dirty="0"/>
          </a:p>
        </p:txBody>
      </p:sp>
      <p:sp>
        <p:nvSpPr>
          <p:cNvPr id="22" name="Shape 19"/>
          <p:cNvSpPr/>
          <p:nvPr/>
        </p:nvSpPr>
        <p:spPr>
          <a:xfrm>
            <a:off x="8934338" y="5024871"/>
            <a:ext cx="8744086" cy="76150"/>
          </a:xfrm>
          <a:prstGeom prst="roundRect">
            <a:avLst>
              <a:gd name="adj" fmla="val 50000"/>
            </a:avLst>
          </a:prstGeom>
          <a:solidFill>
            <a:srgbClr val="E8E8E8"/>
          </a:solidFill>
          <a:ln/>
        </p:spPr>
      </p:sp>
      <p:sp>
        <p:nvSpPr>
          <p:cNvPr id="23" name="Shape 20"/>
          <p:cNvSpPr/>
          <p:nvPr/>
        </p:nvSpPr>
        <p:spPr>
          <a:xfrm>
            <a:off x="8934338" y="5024871"/>
            <a:ext cx="1311610" cy="76150"/>
          </a:xfrm>
          <a:prstGeom prst="roundRect">
            <a:avLst>
              <a:gd name="adj" fmla="val 50000"/>
            </a:avLst>
          </a:prstGeom>
          <a:solidFill>
            <a:srgbClr val="001FFF"/>
          </a:solidFill>
          <a:ln/>
        </p:spPr>
      </p:sp>
      <p:sp>
        <p:nvSpPr>
          <p:cNvPr id="24" name="Text 21"/>
          <p:cNvSpPr/>
          <p:nvPr/>
        </p:nvSpPr>
        <p:spPr>
          <a:xfrm>
            <a:off x="6676963" y="5281476"/>
            <a:ext cx="1990725" cy="687611"/>
          </a:xfrm>
          <a:prstGeom prst="rect">
            <a:avLst/>
          </a:prstGeom>
          <a:noFill/>
          <a:ln/>
        </p:spPr>
        <p:txBody>
          <a:bodyPr wrap="square" lIns="25400" tIns="25400" rIns="25400" bIns="25400" rtlCol="0" anchor="t">
            <a:normAutofit/>
          </a:bodyPr>
          <a:lstStyle/>
          <a:p>
            <a:pPr algn="r" indent="0" marL="0">
              <a:lnSpc>
                <a:spcPct val="102943"/>
              </a:lnSpc>
              <a:buNone/>
            </a:pPr>
            <a:r>
              <a:rPr lang="en-US" sz="3300" b="1" spc="-66" kern="0" dirty="0">
                <a:solidFill>
                  <a:srgbClr val="DF367C"/>
                </a:solidFill>
                <a:latin typeface="Poppins" pitchFamily="34" charset="0"/>
                <a:ea typeface="Poppins" pitchFamily="34" charset="-122"/>
                <a:cs typeface="Poppins" pitchFamily="34" charset="-120"/>
              </a:rPr>
              <a:t>-50%</a:t>
            </a:r>
            <a:endParaRPr lang="en-US" sz="3300" dirty="0"/>
          </a:p>
        </p:txBody>
      </p:sp>
      <p:sp>
        <p:nvSpPr>
          <p:cNvPr id="25" name="Text 22"/>
          <p:cNvSpPr/>
          <p:nvPr/>
        </p:nvSpPr>
        <p:spPr>
          <a:xfrm>
            <a:off x="8934338" y="5328605"/>
            <a:ext cx="9618495"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dirty="0">
                <a:solidFill>
                  <a:srgbClr val="15103A"/>
                </a:solidFill>
                <a:latin typeface="Poppins" pitchFamily="34" charset="0"/>
                <a:ea typeface="Poppins" pitchFamily="34" charset="-122"/>
                <a:cs typeface="Poppins" pitchFamily="34" charset="-120"/>
              </a:rPr>
              <a:t>Time spent on data reconciliation</a:t>
            </a:r>
            <a:endParaRPr lang="en-US" sz="1950" dirty="0"/>
          </a:p>
        </p:txBody>
      </p:sp>
      <p:sp>
        <p:nvSpPr>
          <p:cNvPr id="26" name="Shape 23"/>
          <p:cNvSpPr/>
          <p:nvPr/>
        </p:nvSpPr>
        <p:spPr>
          <a:xfrm>
            <a:off x="8934338" y="5807707"/>
            <a:ext cx="8744086" cy="76150"/>
          </a:xfrm>
          <a:prstGeom prst="roundRect">
            <a:avLst>
              <a:gd name="adj" fmla="val 50000"/>
            </a:avLst>
          </a:prstGeom>
          <a:solidFill>
            <a:srgbClr val="E8E8E8"/>
          </a:solidFill>
          <a:ln/>
        </p:spPr>
      </p:sp>
      <p:sp>
        <p:nvSpPr>
          <p:cNvPr id="27" name="Shape 24"/>
          <p:cNvSpPr/>
          <p:nvPr/>
        </p:nvSpPr>
        <p:spPr>
          <a:xfrm>
            <a:off x="8934338" y="5807707"/>
            <a:ext cx="4372012" cy="76150"/>
          </a:xfrm>
          <a:prstGeom prst="roundRect">
            <a:avLst>
              <a:gd name="adj" fmla="val 50000"/>
            </a:avLst>
          </a:prstGeom>
          <a:solidFill>
            <a:srgbClr val="DF367C"/>
          </a:solidFill>
          <a:ln/>
        </p:spPr>
      </p:sp>
      <p:sp>
        <p:nvSpPr>
          <p:cNvPr id="28" name="Text 25"/>
          <p:cNvSpPr/>
          <p:nvPr/>
        </p:nvSpPr>
        <p:spPr>
          <a:xfrm>
            <a:off x="6857938" y="6178600"/>
            <a:ext cx="11902535" cy="348159"/>
          </a:xfrm>
          <a:prstGeom prst="rect">
            <a:avLst/>
          </a:prstGeom>
          <a:noFill/>
          <a:ln/>
        </p:spPr>
        <p:txBody>
          <a:bodyPr wrap="square" lIns="25400" tIns="25400" rIns="25400" bIns="25400" rtlCol="0" anchor="t">
            <a:normAutofit/>
          </a:bodyPr>
          <a:lstStyle/>
          <a:p>
            <a:pPr algn="l" indent="0" marL="0">
              <a:lnSpc>
                <a:spcPct val="102789"/>
              </a:lnSpc>
              <a:buNone/>
            </a:pPr>
            <a:r>
              <a:rPr lang="en-US" sz="1575" spc="276" kern="0" dirty="0">
                <a:solidFill>
                  <a:srgbClr val="3B5C7F"/>
                </a:solidFill>
                <a:latin typeface="Poppins" pitchFamily="34" charset="0"/>
                <a:ea typeface="Poppins" pitchFamily="34" charset="-122"/>
                <a:cs typeface="Poppins" pitchFamily="34" charset="-120"/>
              </a:rPr>
              <a:t>DATA ENRICHMENT RATE</a:t>
            </a:r>
            <a:endParaRPr lang="en-US" sz="1575" dirty="0"/>
          </a:p>
        </p:txBody>
      </p:sp>
      <p:sp>
        <p:nvSpPr>
          <p:cNvPr id="29" name="Text 26"/>
          <p:cNvSpPr/>
          <p:nvPr/>
        </p:nvSpPr>
        <p:spPr>
          <a:xfrm>
            <a:off x="6676963" y="6621983"/>
            <a:ext cx="1990725" cy="687611"/>
          </a:xfrm>
          <a:prstGeom prst="rect">
            <a:avLst/>
          </a:prstGeom>
          <a:noFill/>
          <a:ln/>
        </p:spPr>
        <p:txBody>
          <a:bodyPr wrap="square" lIns="25400" tIns="25400" rIns="25400" bIns="25400" rtlCol="0" anchor="t">
            <a:normAutofit/>
          </a:bodyPr>
          <a:lstStyle/>
          <a:p>
            <a:pPr algn="r" indent="0" marL="0">
              <a:lnSpc>
                <a:spcPct val="102943"/>
              </a:lnSpc>
              <a:buNone/>
            </a:pPr>
            <a:r>
              <a:rPr lang="en-US" sz="3300" b="1" spc="-66" kern="0" dirty="0">
                <a:solidFill>
                  <a:srgbClr val="001FFF"/>
                </a:solidFill>
                <a:latin typeface="Poppins" pitchFamily="34" charset="0"/>
                <a:ea typeface="Poppins" pitchFamily="34" charset="-122"/>
                <a:cs typeface="Poppins" pitchFamily="34" charset="-120"/>
              </a:rPr>
              <a:t>+30%</a:t>
            </a:r>
            <a:endParaRPr lang="en-US" sz="3300" dirty="0"/>
          </a:p>
        </p:txBody>
      </p:sp>
      <p:sp>
        <p:nvSpPr>
          <p:cNvPr id="30" name="Text 27"/>
          <p:cNvSpPr/>
          <p:nvPr/>
        </p:nvSpPr>
        <p:spPr>
          <a:xfrm>
            <a:off x="8934338" y="6669112"/>
            <a:ext cx="9618495"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dirty="0">
                <a:solidFill>
                  <a:srgbClr val="15103A"/>
                </a:solidFill>
                <a:latin typeface="Poppins" pitchFamily="34" charset="0"/>
                <a:ea typeface="Poppins" pitchFamily="34" charset="-122"/>
                <a:cs typeface="Poppins" pitchFamily="34" charset="-120"/>
              </a:rPr>
              <a:t>Enriched datasets</a:t>
            </a:r>
            <a:endParaRPr lang="en-US" sz="1950" dirty="0"/>
          </a:p>
        </p:txBody>
      </p:sp>
      <p:sp>
        <p:nvSpPr>
          <p:cNvPr id="31" name="Shape 28"/>
          <p:cNvSpPr/>
          <p:nvPr/>
        </p:nvSpPr>
        <p:spPr>
          <a:xfrm>
            <a:off x="8934338" y="7148215"/>
            <a:ext cx="8744086" cy="76150"/>
          </a:xfrm>
          <a:prstGeom prst="roundRect">
            <a:avLst>
              <a:gd name="adj" fmla="val 50000"/>
            </a:avLst>
          </a:prstGeom>
          <a:solidFill>
            <a:srgbClr val="E8E8E8"/>
          </a:solidFill>
          <a:ln/>
        </p:spPr>
      </p:sp>
      <p:sp>
        <p:nvSpPr>
          <p:cNvPr id="32" name="Shape 29"/>
          <p:cNvSpPr/>
          <p:nvPr/>
        </p:nvSpPr>
        <p:spPr>
          <a:xfrm>
            <a:off x="8934338" y="7148215"/>
            <a:ext cx="2623220" cy="76150"/>
          </a:xfrm>
          <a:prstGeom prst="roundRect">
            <a:avLst>
              <a:gd name="adj" fmla="val 50000"/>
            </a:avLst>
          </a:prstGeom>
          <a:solidFill>
            <a:srgbClr val="001FFF"/>
          </a:solidFill>
          <a:ln/>
        </p:spPr>
      </p:sp>
      <p:sp>
        <p:nvSpPr>
          <p:cNvPr id="33" name="Text 30"/>
          <p:cNvSpPr/>
          <p:nvPr/>
        </p:nvSpPr>
        <p:spPr>
          <a:xfrm>
            <a:off x="6676963" y="7404819"/>
            <a:ext cx="1990725" cy="687611"/>
          </a:xfrm>
          <a:prstGeom prst="rect">
            <a:avLst/>
          </a:prstGeom>
          <a:noFill/>
          <a:ln/>
        </p:spPr>
        <p:txBody>
          <a:bodyPr wrap="square" lIns="25400" tIns="25400" rIns="25400" bIns="25400" rtlCol="0" anchor="t">
            <a:normAutofit/>
          </a:bodyPr>
          <a:lstStyle/>
          <a:p>
            <a:pPr algn="r" indent="0" marL="0">
              <a:lnSpc>
                <a:spcPct val="102943"/>
              </a:lnSpc>
              <a:buNone/>
            </a:pPr>
            <a:r>
              <a:rPr lang="en-US" sz="3300" b="1" spc="-66" kern="0" dirty="0">
                <a:solidFill>
                  <a:srgbClr val="001FFF"/>
                </a:solidFill>
                <a:latin typeface="Poppins" pitchFamily="34" charset="0"/>
                <a:ea typeface="Poppins" pitchFamily="34" charset="-122"/>
                <a:cs typeface="Poppins" pitchFamily="34" charset="-120"/>
              </a:rPr>
              <a:t>+20%</a:t>
            </a:r>
            <a:endParaRPr lang="en-US" sz="3300" dirty="0"/>
          </a:p>
        </p:txBody>
      </p:sp>
      <p:sp>
        <p:nvSpPr>
          <p:cNvPr id="34" name="Text 31"/>
          <p:cNvSpPr/>
          <p:nvPr/>
        </p:nvSpPr>
        <p:spPr>
          <a:xfrm>
            <a:off x="8934338" y="7451948"/>
            <a:ext cx="9618495"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dirty="0">
                <a:solidFill>
                  <a:srgbClr val="15103A"/>
                </a:solidFill>
                <a:latin typeface="Poppins" pitchFamily="34" charset="0"/>
                <a:ea typeface="Poppins" pitchFamily="34" charset="-122"/>
                <a:cs typeface="Poppins" pitchFamily="34" charset="-120"/>
              </a:rPr>
              <a:t>Customer segmentation accuracy</a:t>
            </a:r>
            <a:endParaRPr lang="en-US" sz="1950" dirty="0"/>
          </a:p>
        </p:txBody>
      </p:sp>
      <p:sp>
        <p:nvSpPr>
          <p:cNvPr id="35" name="Shape 32"/>
          <p:cNvSpPr/>
          <p:nvPr/>
        </p:nvSpPr>
        <p:spPr>
          <a:xfrm>
            <a:off x="8934338" y="7931051"/>
            <a:ext cx="8744086" cy="76150"/>
          </a:xfrm>
          <a:prstGeom prst="roundRect">
            <a:avLst>
              <a:gd name="adj" fmla="val 50000"/>
            </a:avLst>
          </a:prstGeom>
          <a:solidFill>
            <a:srgbClr val="E8E8E8"/>
          </a:solidFill>
          <a:ln/>
        </p:spPr>
      </p:sp>
      <p:sp>
        <p:nvSpPr>
          <p:cNvPr id="36" name="Shape 33"/>
          <p:cNvSpPr/>
          <p:nvPr/>
        </p:nvSpPr>
        <p:spPr>
          <a:xfrm>
            <a:off x="8934338" y="7931051"/>
            <a:ext cx="1748792" cy="76150"/>
          </a:xfrm>
          <a:prstGeom prst="roundRect">
            <a:avLst>
              <a:gd name="adj" fmla="val 50000"/>
            </a:avLst>
          </a:prstGeom>
          <a:solidFill>
            <a:srgbClr val="001FFF"/>
          </a:solidFill>
          <a:ln/>
        </p:spPr>
      </p:sp>
      <p:sp>
        <p:nvSpPr>
          <p:cNvPr id="37" name="Shape 34"/>
          <p:cNvSpPr/>
          <p:nvPr/>
        </p:nvSpPr>
        <p:spPr>
          <a:xfrm>
            <a:off x="609575" y="9672712"/>
            <a:ext cx="95250" cy="19038"/>
          </a:xfrm>
          <a:prstGeom prst="rect">
            <a:avLst/>
          </a:prstGeom>
          <a:solidFill>
            <a:srgbClr val="001FFF"/>
          </a:solidFill>
          <a:ln/>
        </p:spPr>
      </p:sp>
      <p:sp>
        <p:nvSpPr>
          <p:cNvPr id="38" name="Text 35"/>
          <p:cNvSpPr/>
          <p:nvPr/>
        </p:nvSpPr>
        <p:spPr>
          <a:xfrm>
            <a:off x="857188" y="9534612"/>
            <a:ext cx="2401912" cy="333338"/>
          </a:xfrm>
          <a:prstGeom prst="rect">
            <a:avLst/>
          </a:prstGeom>
          <a:noFill/>
          <a:ln/>
        </p:spPr>
        <p:txBody>
          <a:bodyPr wrap="square" lIns="25400" tIns="25400" rIns="25400" bIns="25400" rtlCol="0" anchor="t">
            <a:normAutofit/>
          </a:bodyPr>
          <a:lstStyle/>
          <a:p>
            <a:pPr algn="l" indent="0" marL="0">
              <a:lnSpc>
                <a:spcPct val="103333"/>
              </a:lnSpc>
              <a:buNone/>
            </a:pPr>
            <a:r>
              <a:rPr lang="en-US" sz="1500" dirty="0">
                <a:solidFill>
                  <a:srgbClr val="9AA3AD"/>
                </a:solidFill>
                <a:latin typeface="Poppins" pitchFamily="34" charset="0"/>
                <a:ea typeface="Poppins" pitchFamily="34" charset="-122"/>
                <a:cs typeface="Poppins" pitchFamily="34" charset="-120"/>
              </a:rPr>
              <a:t>Pipeline improvements</a:t>
            </a:r>
            <a:endParaRPr lang="en-US" sz="1500" dirty="0"/>
          </a:p>
        </p:txBody>
      </p:sp>
      <p:sp>
        <p:nvSpPr>
          <p:cNvPr id="39" name="Text 36"/>
          <p:cNvSpPr/>
          <p:nvPr/>
        </p:nvSpPr>
        <p:spPr>
          <a:xfrm>
            <a:off x="17433416" y="9534612"/>
            <a:ext cx="321208" cy="333338"/>
          </a:xfrm>
          <a:prstGeom prst="rect">
            <a:avLst/>
          </a:prstGeom>
          <a:noFill/>
          <a:ln/>
        </p:spPr>
        <p:txBody>
          <a:bodyPr wrap="square" lIns="25400" tIns="25400" rIns="25400" bIns="25400" rtlCol="0" anchor="t">
            <a:normAutofit/>
          </a:bodyPr>
          <a:lstStyle/>
          <a:p>
            <a:pPr algn="l" indent="0" marL="0">
              <a:lnSpc>
                <a:spcPct val="103333"/>
              </a:lnSpc>
              <a:buNone/>
            </a:pPr>
            <a:r>
              <a:rPr lang="en-US" sz="1500" b="1" dirty="0">
                <a:solidFill>
                  <a:srgbClr val="3B5C7F"/>
                </a:solidFill>
                <a:latin typeface="Poppins" pitchFamily="34" charset="0"/>
                <a:ea typeface="Poppins" pitchFamily="34" charset="-122"/>
                <a:cs typeface="Poppins" pitchFamily="34" charset="-120"/>
              </a:rPr>
              <a:t>06</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609575" y="1504900"/>
            <a:ext cx="17068849" cy="9525"/>
          </a:xfrm>
          <a:prstGeom prst="rect">
            <a:avLst/>
          </a:prstGeom>
          <a:solidFill>
            <a:srgbClr val="DEDEDE"/>
          </a:solidFill>
          <a:ln/>
        </p:spPr>
      </p:sp>
      <p:sp>
        <p:nvSpPr>
          <p:cNvPr id="3" name="Text 1"/>
          <p:cNvSpPr/>
          <p:nvPr/>
        </p:nvSpPr>
        <p:spPr>
          <a:xfrm>
            <a:off x="609575" y="609575"/>
            <a:ext cx="7788479" cy="704850"/>
          </a:xfrm>
          <a:prstGeom prst="rect">
            <a:avLst/>
          </a:prstGeom>
          <a:noFill/>
          <a:ln/>
        </p:spPr>
        <p:txBody>
          <a:bodyPr wrap="square" lIns="25400" tIns="25400" rIns="25400" bIns="25400" rtlCol="0" anchor="t">
            <a:normAutofit/>
          </a:bodyPr>
          <a:lstStyle/>
          <a:p>
            <a:pPr algn="l" indent="0" marL="0">
              <a:lnSpc>
                <a:spcPct val="83582"/>
              </a:lnSpc>
              <a:buNone/>
            </a:pPr>
            <a:r>
              <a:rPr lang="en-US" sz="4200" b="1" spc="-84" kern="0" dirty="0">
                <a:solidFill>
                  <a:srgbClr val="220F60"/>
                </a:solidFill>
                <a:latin typeface="Poppins" pitchFamily="34" charset="0"/>
                <a:ea typeface="Poppins" pitchFamily="34" charset="-122"/>
                <a:cs typeface="Poppins" pitchFamily="34" charset="-120"/>
              </a:rPr>
              <a:t>Data Interpretation </a:t>
            </a:r>
            <a:pPr algn="l" indent="0" marL="0">
              <a:lnSpc>
                <a:spcPct val="83582"/>
              </a:lnSpc>
              <a:buNone/>
            </a:pPr>
            <a:r>
              <a:rPr lang="en-US" sz="4200" b="1" spc="-84" kern="0" dirty="0">
                <a:solidFill>
                  <a:srgbClr val="001FFF"/>
                </a:solidFill>
                <a:latin typeface="Poppins" pitchFamily="34" charset="0"/>
                <a:ea typeface="Poppins" pitchFamily="34" charset="-122"/>
                <a:cs typeface="Poppins" pitchFamily="34" charset="-120"/>
              </a:rPr>
              <a:t>quality</a:t>
            </a:r>
            <a:endParaRPr lang="en-US" sz="4200" dirty="0"/>
          </a:p>
        </p:txBody>
      </p:sp>
      <p:pic>
        <p:nvPicPr>
          <p:cNvPr id="4" name="Image 0" descr="preencoded.png">    </p:cNvPr>
          <p:cNvPicPr>
            <a:picLocks noChangeAspect="1"/>
          </p:cNvPicPr>
          <p:nvPr/>
        </p:nvPicPr>
        <p:blipFill>
          <a:blip r:embed="rId1"/>
          <a:stretch>
            <a:fillRect/>
          </a:stretch>
        </p:blipFill>
        <p:spPr>
          <a:xfrm>
            <a:off x="16250046" y="952500"/>
            <a:ext cx="1428378" cy="323825"/>
          </a:xfrm>
          <a:prstGeom prst="rect">
            <a:avLst/>
          </a:prstGeom>
        </p:spPr>
      </p:pic>
      <p:sp>
        <p:nvSpPr>
          <p:cNvPr id="5" name="Shape 2"/>
          <p:cNvSpPr/>
          <p:nvPr/>
        </p:nvSpPr>
        <p:spPr>
          <a:xfrm>
            <a:off x="609575" y="1931913"/>
            <a:ext cx="5715000" cy="7374123"/>
          </a:xfrm>
          <a:prstGeom prst="roundRect">
            <a:avLst>
              <a:gd name="adj" fmla="val 1667"/>
            </a:avLst>
          </a:prstGeom>
          <a:solidFill>
            <a:srgbClr val="220F60"/>
          </a:solidFill>
          <a:ln/>
        </p:spPr>
      </p:sp>
      <p:sp>
        <p:nvSpPr>
          <p:cNvPr id="6" name="Text 3"/>
          <p:cNvSpPr/>
          <p:nvPr/>
        </p:nvSpPr>
        <p:spPr>
          <a:xfrm>
            <a:off x="990575" y="2312913"/>
            <a:ext cx="5448300"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A5B3FE"/>
                </a:solidFill>
                <a:latin typeface="Poppins" pitchFamily="34" charset="0"/>
                <a:ea typeface="Poppins" pitchFamily="34" charset="-122"/>
                <a:cs typeface="Poppins" pitchFamily="34" charset="-120"/>
              </a:rPr>
              <a:t>STAGE 03 · PART 1</a:t>
            </a:r>
            <a:endParaRPr lang="en-US" sz="1800" dirty="0"/>
          </a:p>
        </p:txBody>
      </p:sp>
      <p:sp>
        <p:nvSpPr>
          <p:cNvPr id="7" name="Text 4"/>
          <p:cNvSpPr/>
          <p:nvPr/>
        </p:nvSpPr>
        <p:spPr>
          <a:xfrm>
            <a:off x="990575" y="2895761"/>
            <a:ext cx="5101590" cy="1638250"/>
          </a:xfrm>
          <a:prstGeom prst="rect">
            <a:avLst/>
          </a:prstGeom>
          <a:noFill/>
          <a:ln/>
        </p:spPr>
        <p:txBody>
          <a:bodyPr wrap="square" lIns="25400" tIns="25400" rIns="25400" bIns="25400" rtlCol="0" anchor="t">
            <a:normAutofit/>
          </a:bodyPr>
          <a:lstStyle/>
          <a:p>
            <a:pPr algn="l" indent="0" marL="0">
              <a:lnSpc>
                <a:spcPct val="98824"/>
              </a:lnSpc>
              <a:buNone/>
            </a:pPr>
            <a:r>
              <a:rPr lang="en-US" sz="2100" dirty="0">
                <a:solidFill>
                  <a:srgbClr val="FFFFFF">
                    <a:alpha val="86000"/>
                  </a:srgbClr>
                </a:solidFill>
                <a:latin typeface="Poppins" pitchFamily="34" charset="0"/>
                <a:ea typeface="Poppins" pitchFamily="34" charset="-122"/>
                <a:cs typeface="Poppins" pitchFamily="34" charset="-120"/>
              </a:rPr>
              <a:t>Provenance and consistent definitions make data quality checkable, so confidence rises and fewer decisions need correcting.</a:t>
            </a:r>
            <a:endParaRPr lang="en-US" sz="2100" dirty="0"/>
          </a:p>
        </p:txBody>
      </p:sp>
      <p:sp>
        <p:nvSpPr>
          <p:cNvPr id="8" name="Text 5"/>
          <p:cNvSpPr/>
          <p:nvPr/>
        </p:nvSpPr>
        <p:spPr>
          <a:xfrm>
            <a:off x="990575" y="7644929"/>
            <a:ext cx="5448300"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A5B3FE"/>
                </a:solidFill>
                <a:latin typeface="Poppins" pitchFamily="34" charset="0"/>
                <a:ea typeface="Poppins" pitchFamily="34" charset="-122"/>
                <a:cs typeface="Poppins" pitchFamily="34" charset="-120"/>
              </a:rPr>
              <a:t>WORKSTREAMS</a:t>
            </a:r>
            <a:endParaRPr lang="en-US" sz="1800" dirty="0"/>
          </a:p>
        </p:txBody>
      </p:sp>
      <p:sp>
        <p:nvSpPr>
          <p:cNvPr id="9" name="Text 6"/>
          <p:cNvSpPr/>
          <p:nvPr/>
        </p:nvSpPr>
        <p:spPr>
          <a:xfrm>
            <a:off x="990575" y="8132527"/>
            <a:ext cx="5101590" cy="830610"/>
          </a:xfrm>
          <a:prstGeom prst="rect">
            <a:avLst/>
          </a:prstGeom>
          <a:noFill/>
          <a:ln/>
        </p:spPr>
        <p:txBody>
          <a:bodyPr wrap="square" lIns="25400" tIns="25400" rIns="25400" bIns="25400" rtlCol="0" anchor="t">
            <a:normAutofit/>
          </a:bodyPr>
          <a:lstStyle/>
          <a:p>
            <a:pPr algn="l" indent="0" marL="0">
              <a:lnSpc>
                <a:spcPct val="106213"/>
              </a:lnSpc>
              <a:buNone/>
            </a:pPr>
            <a:r>
              <a:rPr lang="en-US" sz="1950" b="1" dirty="0">
                <a:solidFill>
                  <a:srgbClr val="FFFFFF"/>
                </a:solidFill>
                <a:latin typeface="Poppins" pitchFamily="34" charset="0"/>
                <a:ea typeface="Poppins" pitchFamily="34" charset="-122"/>
                <a:cs typeface="Poppins" pitchFamily="34" charset="-120"/>
              </a:rPr>
              <a:t>Quality evaluation time Accuracy of insights</a:t>
            </a:r>
            <a:endParaRPr lang="en-US" sz="1950" dirty="0"/>
          </a:p>
        </p:txBody>
      </p:sp>
      <p:sp>
        <p:nvSpPr>
          <p:cNvPr id="10" name="Text 7"/>
          <p:cNvSpPr/>
          <p:nvPr/>
        </p:nvSpPr>
        <p:spPr>
          <a:xfrm>
            <a:off x="6857938" y="3358244"/>
            <a:ext cx="11902535" cy="348159"/>
          </a:xfrm>
          <a:prstGeom prst="rect">
            <a:avLst/>
          </a:prstGeom>
          <a:noFill/>
          <a:ln/>
        </p:spPr>
        <p:txBody>
          <a:bodyPr wrap="square" lIns="25400" tIns="25400" rIns="25400" bIns="25400" rtlCol="0" anchor="t">
            <a:normAutofit/>
          </a:bodyPr>
          <a:lstStyle/>
          <a:p>
            <a:pPr algn="l" indent="0" marL="0">
              <a:lnSpc>
                <a:spcPct val="102789"/>
              </a:lnSpc>
              <a:buNone/>
            </a:pPr>
            <a:r>
              <a:rPr lang="en-US" sz="1575" spc="276" kern="0" dirty="0">
                <a:solidFill>
                  <a:srgbClr val="3B5C7F"/>
                </a:solidFill>
                <a:latin typeface="Poppins" pitchFamily="34" charset="0"/>
                <a:ea typeface="Poppins" pitchFamily="34" charset="-122"/>
                <a:cs typeface="Poppins" pitchFamily="34" charset="-120"/>
              </a:rPr>
              <a:t>DATA QUALITY EVALUATION TIME</a:t>
            </a:r>
            <a:endParaRPr lang="en-US" sz="1575" dirty="0"/>
          </a:p>
        </p:txBody>
      </p:sp>
      <p:sp>
        <p:nvSpPr>
          <p:cNvPr id="11" name="Text 8"/>
          <p:cNvSpPr/>
          <p:nvPr/>
        </p:nvSpPr>
        <p:spPr>
          <a:xfrm>
            <a:off x="6676963" y="3839703"/>
            <a:ext cx="1990725" cy="746770"/>
          </a:xfrm>
          <a:prstGeom prst="rect">
            <a:avLst/>
          </a:prstGeom>
          <a:noFill/>
          <a:ln/>
        </p:spPr>
        <p:txBody>
          <a:bodyPr wrap="square" lIns="25400" tIns="25400" rIns="25400" bIns="25400" rtlCol="0" anchor="t">
            <a:normAutofit/>
          </a:bodyPr>
          <a:lstStyle/>
          <a:p>
            <a:pPr algn="r" indent="0" marL="0">
              <a:lnSpc>
                <a:spcPct val="103214"/>
              </a:lnSpc>
              <a:buNone/>
            </a:pPr>
            <a:r>
              <a:rPr lang="en-US" sz="3600" b="1" spc="-72" kern="0" dirty="0">
                <a:solidFill>
                  <a:srgbClr val="001FFF"/>
                </a:solidFill>
                <a:latin typeface="Poppins" pitchFamily="34" charset="0"/>
                <a:ea typeface="Poppins" pitchFamily="34" charset="-122"/>
                <a:cs typeface="Poppins" pitchFamily="34" charset="-120"/>
              </a:rPr>
              <a:t>-2 days</a:t>
            </a:r>
            <a:endParaRPr lang="en-US" sz="3600" dirty="0"/>
          </a:p>
        </p:txBody>
      </p:sp>
      <p:sp>
        <p:nvSpPr>
          <p:cNvPr id="12" name="Text 9"/>
          <p:cNvSpPr/>
          <p:nvPr/>
        </p:nvSpPr>
        <p:spPr>
          <a:xfrm>
            <a:off x="8934338" y="3909033"/>
            <a:ext cx="9618495" cy="436649"/>
          </a:xfrm>
          <a:prstGeom prst="rect">
            <a:avLst/>
          </a:prstGeom>
          <a:noFill/>
          <a:ln/>
        </p:spPr>
        <p:txBody>
          <a:bodyPr wrap="square" lIns="25400" tIns="25400" rIns="25400" bIns="25400" rtlCol="0" anchor="t">
            <a:normAutofit/>
          </a:bodyPr>
          <a:lstStyle/>
          <a:p>
            <a:pPr algn="l" indent="0" marL="0">
              <a:lnSpc>
                <a:spcPct val="103546"/>
              </a:lnSpc>
              <a:buNone/>
            </a:pPr>
            <a:r>
              <a:rPr lang="en-US" sz="2025" dirty="0">
                <a:solidFill>
                  <a:srgbClr val="15103A"/>
                </a:solidFill>
                <a:latin typeface="Poppins" pitchFamily="34" charset="0"/>
                <a:ea typeface="Poppins" pitchFamily="34" charset="-122"/>
                <a:cs typeface="Poppins" pitchFamily="34" charset="-120"/>
              </a:rPr>
              <a:t>Time to evaluate data quality</a:t>
            </a:r>
            <a:endParaRPr lang="en-US" sz="2025" dirty="0"/>
          </a:p>
        </p:txBody>
      </p:sp>
      <p:sp>
        <p:nvSpPr>
          <p:cNvPr id="13" name="Shape 10"/>
          <p:cNvSpPr/>
          <p:nvPr/>
        </p:nvSpPr>
        <p:spPr>
          <a:xfrm>
            <a:off x="8934338" y="4402832"/>
            <a:ext cx="8744086" cy="76150"/>
          </a:xfrm>
          <a:prstGeom prst="roundRect">
            <a:avLst>
              <a:gd name="adj" fmla="val 50000"/>
            </a:avLst>
          </a:prstGeom>
          <a:solidFill>
            <a:srgbClr val="DEDEDE"/>
          </a:solidFill>
          <a:ln/>
        </p:spPr>
      </p:sp>
      <p:sp>
        <p:nvSpPr>
          <p:cNvPr id="14" name="Shape 11"/>
          <p:cNvSpPr/>
          <p:nvPr/>
        </p:nvSpPr>
        <p:spPr>
          <a:xfrm>
            <a:off x="8934338" y="4402832"/>
            <a:ext cx="2185975" cy="76150"/>
          </a:xfrm>
          <a:prstGeom prst="roundRect">
            <a:avLst>
              <a:gd name="adj" fmla="val 50000"/>
            </a:avLst>
          </a:prstGeom>
          <a:solidFill>
            <a:srgbClr val="001FFF"/>
          </a:solidFill>
          <a:ln/>
        </p:spPr>
      </p:sp>
      <p:sp>
        <p:nvSpPr>
          <p:cNvPr id="15" name="Text 12"/>
          <p:cNvSpPr/>
          <p:nvPr/>
        </p:nvSpPr>
        <p:spPr>
          <a:xfrm>
            <a:off x="6676963" y="4719774"/>
            <a:ext cx="1990725" cy="746770"/>
          </a:xfrm>
          <a:prstGeom prst="rect">
            <a:avLst/>
          </a:prstGeom>
          <a:noFill/>
          <a:ln/>
        </p:spPr>
        <p:txBody>
          <a:bodyPr wrap="square" lIns="25400" tIns="25400" rIns="25400" bIns="25400" rtlCol="0" anchor="t">
            <a:normAutofit/>
          </a:bodyPr>
          <a:lstStyle/>
          <a:p>
            <a:pPr algn="r" indent="0" marL="0">
              <a:lnSpc>
                <a:spcPct val="103214"/>
              </a:lnSpc>
              <a:buNone/>
            </a:pPr>
            <a:r>
              <a:rPr lang="en-US" sz="3600" b="1" spc="-72" kern="0" dirty="0">
                <a:solidFill>
                  <a:srgbClr val="001FFF"/>
                </a:solidFill>
                <a:latin typeface="Poppins" pitchFamily="34" charset="0"/>
                <a:ea typeface="Poppins" pitchFamily="34" charset="-122"/>
                <a:cs typeface="Poppins" pitchFamily="34" charset="-120"/>
              </a:rPr>
              <a:t>+15%</a:t>
            </a:r>
            <a:endParaRPr lang="en-US" sz="3600" dirty="0"/>
          </a:p>
        </p:txBody>
      </p:sp>
      <p:sp>
        <p:nvSpPr>
          <p:cNvPr id="16" name="Text 13"/>
          <p:cNvSpPr/>
          <p:nvPr/>
        </p:nvSpPr>
        <p:spPr>
          <a:xfrm>
            <a:off x="8934338" y="4789103"/>
            <a:ext cx="9618495" cy="436649"/>
          </a:xfrm>
          <a:prstGeom prst="rect">
            <a:avLst/>
          </a:prstGeom>
          <a:noFill/>
          <a:ln/>
        </p:spPr>
        <p:txBody>
          <a:bodyPr wrap="square" lIns="25400" tIns="25400" rIns="25400" bIns="25400" rtlCol="0" anchor="t">
            <a:normAutofit/>
          </a:bodyPr>
          <a:lstStyle/>
          <a:p>
            <a:pPr algn="l" indent="0" marL="0">
              <a:lnSpc>
                <a:spcPct val="103546"/>
              </a:lnSpc>
              <a:buNone/>
            </a:pPr>
            <a:r>
              <a:rPr lang="en-US" sz="2025" dirty="0">
                <a:solidFill>
                  <a:srgbClr val="15103A"/>
                </a:solidFill>
                <a:latin typeface="Poppins" pitchFamily="34" charset="0"/>
                <a:ea typeface="Poppins" pitchFamily="34" charset="-122"/>
                <a:cs typeface="Poppins" pitchFamily="34" charset="-120"/>
              </a:rPr>
              <a:t>Data quality confidence rating</a:t>
            </a:r>
            <a:endParaRPr lang="en-US" sz="2025" dirty="0"/>
          </a:p>
        </p:txBody>
      </p:sp>
      <p:sp>
        <p:nvSpPr>
          <p:cNvPr id="17" name="Shape 14"/>
          <p:cNvSpPr/>
          <p:nvPr/>
        </p:nvSpPr>
        <p:spPr>
          <a:xfrm>
            <a:off x="8934338" y="5282902"/>
            <a:ext cx="8744086" cy="76150"/>
          </a:xfrm>
          <a:prstGeom prst="roundRect">
            <a:avLst>
              <a:gd name="adj" fmla="val 50000"/>
            </a:avLst>
          </a:prstGeom>
          <a:solidFill>
            <a:srgbClr val="DEDEDE"/>
          </a:solidFill>
          <a:ln/>
        </p:spPr>
      </p:sp>
      <p:sp>
        <p:nvSpPr>
          <p:cNvPr id="18" name="Shape 15"/>
          <p:cNvSpPr/>
          <p:nvPr/>
        </p:nvSpPr>
        <p:spPr>
          <a:xfrm>
            <a:off x="8934338" y="5282902"/>
            <a:ext cx="1311610" cy="76150"/>
          </a:xfrm>
          <a:prstGeom prst="roundRect">
            <a:avLst>
              <a:gd name="adj" fmla="val 50000"/>
            </a:avLst>
          </a:prstGeom>
          <a:solidFill>
            <a:srgbClr val="001FFF"/>
          </a:solidFill>
          <a:ln/>
        </p:spPr>
      </p:sp>
      <p:sp>
        <p:nvSpPr>
          <p:cNvPr id="19" name="Text 16"/>
          <p:cNvSpPr/>
          <p:nvPr/>
        </p:nvSpPr>
        <p:spPr>
          <a:xfrm>
            <a:off x="6857938" y="5809444"/>
            <a:ext cx="11902535" cy="348159"/>
          </a:xfrm>
          <a:prstGeom prst="rect">
            <a:avLst/>
          </a:prstGeom>
          <a:noFill/>
          <a:ln/>
        </p:spPr>
        <p:txBody>
          <a:bodyPr wrap="square" lIns="25400" tIns="25400" rIns="25400" bIns="25400" rtlCol="0" anchor="t">
            <a:normAutofit/>
          </a:bodyPr>
          <a:lstStyle/>
          <a:p>
            <a:pPr algn="l" indent="0" marL="0">
              <a:lnSpc>
                <a:spcPct val="102789"/>
              </a:lnSpc>
              <a:buNone/>
            </a:pPr>
            <a:r>
              <a:rPr lang="en-US" sz="1575" spc="276" kern="0" dirty="0">
                <a:solidFill>
                  <a:srgbClr val="3B5C7F"/>
                </a:solidFill>
                <a:latin typeface="Poppins" pitchFamily="34" charset="0"/>
                <a:ea typeface="Poppins" pitchFamily="34" charset="-122"/>
                <a:cs typeface="Poppins" pitchFamily="34" charset="-120"/>
              </a:rPr>
              <a:t>ACCURACY OF ANALYTICAL INSIGHTS</a:t>
            </a:r>
            <a:endParaRPr lang="en-US" sz="1575" dirty="0"/>
          </a:p>
        </p:txBody>
      </p:sp>
      <p:sp>
        <p:nvSpPr>
          <p:cNvPr id="20" name="Text 17"/>
          <p:cNvSpPr/>
          <p:nvPr/>
        </p:nvSpPr>
        <p:spPr>
          <a:xfrm>
            <a:off x="6676963" y="6290903"/>
            <a:ext cx="1990725" cy="746770"/>
          </a:xfrm>
          <a:prstGeom prst="rect">
            <a:avLst/>
          </a:prstGeom>
          <a:noFill/>
          <a:ln/>
        </p:spPr>
        <p:txBody>
          <a:bodyPr wrap="square" lIns="25400" tIns="25400" rIns="25400" bIns="25400" rtlCol="0" anchor="t">
            <a:normAutofit/>
          </a:bodyPr>
          <a:lstStyle/>
          <a:p>
            <a:pPr algn="r" indent="0" marL="0">
              <a:lnSpc>
                <a:spcPct val="103214"/>
              </a:lnSpc>
              <a:buNone/>
            </a:pPr>
            <a:r>
              <a:rPr lang="en-US" sz="3600" b="1" spc="-72" kern="0" dirty="0">
                <a:solidFill>
                  <a:srgbClr val="001FFF"/>
                </a:solidFill>
                <a:latin typeface="Poppins" pitchFamily="34" charset="0"/>
                <a:ea typeface="Poppins" pitchFamily="34" charset="-122"/>
                <a:cs typeface="Poppins" pitchFamily="34" charset="-120"/>
              </a:rPr>
              <a:t>+15%</a:t>
            </a:r>
            <a:endParaRPr lang="en-US" sz="3600" dirty="0"/>
          </a:p>
        </p:txBody>
      </p:sp>
      <p:sp>
        <p:nvSpPr>
          <p:cNvPr id="21" name="Text 18"/>
          <p:cNvSpPr/>
          <p:nvPr/>
        </p:nvSpPr>
        <p:spPr>
          <a:xfrm>
            <a:off x="8934338" y="6360232"/>
            <a:ext cx="9618495" cy="436649"/>
          </a:xfrm>
          <a:prstGeom prst="rect">
            <a:avLst/>
          </a:prstGeom>
          <a:noFill/>
          <a:ln/>
        </p:spPr>
        <p:txBody>
          <a:bodyPr wrap="square" lIns="25400" tIns="25400" rIns="25400" bIns="25400" rtlCol="0" anchor="t">
            <a:normAutofit/>
          </a:bodyPr>
          <a:lstStyle/>
          <a:p>
            <a:pPr algn="l" indent="0" marL="0">
              <a:lnSpc>
                <a:spcPct val="103546"/>
              </a:lnSpc>
              <a:buNone/>
            </a:pPr>
            <a:r>
              <a:rPr lang="en-US" sz="2025" dirty="0">
                <a:solidFill>
                  <a:srgbClr val="15103A"/>
                </a:solidFill>
                <a:latin typeface="Poppins" pitchFamily="34" charset="0"/>
                <a:ea typeface="Poppins" pitchFamily="34" charset="-122"/>
                <a:cs typeface="Poppins" pitchFamily="34" charset="-120"/>
              </a:rPr>
              <a:t>Accuracy of analytical insights</a:t>
            </a:r>
            <a:endParaRPr lang="en-US" sz="2025" dirty="0"/>
          </a:p>
        </p:txBody>
      </p:sp>
      <p:sp>
        <p:nvSpPr>
          <p:cNvPr id="22" name="Shape 19"/>
          <p:cNvSpPr/>
          <p:nvPr/>
        </p:nvSpPr>
        <p:spPr>
          <a:xfrm>
            <a:off x="8934338" y="6854031"/>
            <a:ext cx="8744086" cy="76150"/>
          </a:xfrm>
          <a:prstGeom prst="roundRect">
            <a:avLst>
              <a:gd name="adj" fmla="val 50000"/>
            </a:avLst>
          </a:prstGeom>
          <a:solidFill>
            <a:srgbClr val="DEDEDE"/>
          </a:solidFill>
          <a:ln/>
        </p:spPr>
      </p:sp>
      <p:sp>
        <p:nvSpPr>
          <p:cNvPr id="23" name="Shape 20"/>
          <p:cNvSpPr/>
          <p:nvPr/>
        </p:nvSpPr>
        <p:spPr>
          <a:xfrm>
            <a:off x="8934338" y="6854031"/>
            <a:ext cx="1311610" cy="76150"/>
          </a:xfrm>
          <a:prstGeom prst="roundRect">
            <a:avLst>
              <a:gd name="adj" fmla="val 50000"/>
            </a:avLst>
          </a:prstGeom>
          <a:solidFill>
            <a:srgbClr val="001FFF"/>
          </a:solidFill>
          <a:ln/>
        </p:spPr>
      </p:sp>
      <p:sp>
        <p:nvSpPr>
          <p:cNvPr id="24" name="Text 21"/>
          <p:cNvSpPr/>
          <p:nvPr/>
        </p:nvSpPr>
        <p:spPr>
          <a:xfrm>
            <a:off x="6676963" y="7170973"/>
            <a:ext cx="1990725" cy="746770"/>
          </a:xfrm>
          <a:prstGeom prst="rect">
            <a:avLst/>
          </a:prstGeom>
          <a:noFill/>
          <a:ln/>
        </p:spPr>
        <p:txBody>
          <a:bodyPr wrap="square" lIns="25400" tIns="25400" rIns="25400" bIns="25400" rtlCol="0" anchor="t">
            <a:normAutofit/>
          </a:bodyPr>
          <a:lstStyle/>
          <a:p>
            <a:pPr algn="r" indent="0" marL="0">
              <a:lnSpc>
                <a:spcPct val="103214"/>
              </a:lnSpc>
              <a:buNone/>
            </a:pPr>
            <a:r>
              <a:rPr lang="en-US" sz="3600" b="1" spc="-72" kern="0" dirty="0">
                <a:solidFill>
                  <a:srgbClr val="DF367C"/>
                </a:solidFill>
                <a:latin typeface="Poppins" pitchFamily="34" charset="0"/>
                <a:ea typeface="Poppins" pitchFamily="34" charset="-122"/>
                <a:cs typeface="Poppins" pitchFamily="34" charset="-120"/>
              </a:rPr>
              <a:t>-30%</a:t>
            </a:r>
            <a:endParaRPr lang="en-US" sz="3600" dirty="0"/>
          </a:p>
        </p:txBody>
      </p:sp>
      <p:sp>
        <p:nvSpPr>
          <p:cNvPr id="25" name="Text 22"/>
          <p:cNvSpPr/>
          <p:nvPr/>
        </p:nvSpPr>
        <p:spPr>
          <a:xfrm>
            <a:off x="8934338" y="7240302"/>
            <a:ext cx="9618495" cy="436649"/>
          </a:xfrm>
          <a:prstGeom prst="rect">
            <a:avLst/>
          </a:prstGeom>
          <a:noFill/>
          <a:ln/>
        </p:spPr>
        <p:txBody>
          <a:bodyPr wrap="square" lIns="25400" tIns="25400" rIns="25400" bIns="25400" rtlCol="0" anchor="t">
            <a:normAutofit/>
          </a:bodyPr>
          <a:lstStyle/>
          <a:p>
            <a:pPr algn="l" indent="0" marL="0">
              <a:lnSpc>
                <a:spcPct val="103546"/>
              </a:lnSpc>
              <a:buNone/>
            </a:pPr>
            <a:r>
              <a:rPr lang="en-US" sz="2025" dirty="0">
                <a:solidFill>
                  <a:srgbClr val="15103A"/>
                </a:solidFill>
                <a:latin typeface="Poppins" pitchFamily="34" charset="0"/>
                <a:ea typeface="Poppins" pitchFamily="34" charset="-122"/>
                <a:cs typeface="Poppins" pitchFamily="34" charset="-120"/>
              </a:rPr>
              <a:t>Occurrences of corrective decisions</a:t>
            </a:r>
            <a:endParaRPr lang="en-US" sz="2025" dirty="0"/>
          </a:p>
        </p:txBody>
      </p:sp>
      <p:sp>
        <p:nvSpPr>
          <p:cNvPr id="26" name="Shape 23"/>
          <p:cNvSpPr/>
          <p:nvPr/>
        </p:nvSpPr>
        <p:spPr>
          <a:xfrm>
            <a:off x="8934338" y="7734101"/>
            <a:ext cx="8744086" cy="76150"/>
          </a:xfrm>
          <a:prstGeom prst="roundRect">
            <a:avLst>
              <a:gd name="adj" fmla="val 50000"/>
            </a:avLst>
          </a:prstGeom>
          <a:solidFill>
            <a:srgbClr val="DEDEDE"/>
          </a:solidFill>
          <a:ln/>
        </p:spPr>
      </p:sp>
      <p:sp>
        <p:nvSpPr>
          <p:cNvPr id="27" name="Shape 24"/>
          <p:cNvSpPr/>
          <p:nvPr/>
        </p:nvSpPr>
        <p:spPr>
          <a:xfrm>
            <a:off x="8934338" y="7734101"/>
            <a:ext cx="2623220" cy="76150"/>
          </a:xfrm>
          <a:prstGeom prst="roundRect">
            <a:avLst>
              <a:gd name="adj" fmla="val 50000"/>
            </a:avLst>
          </a:prstGeom>
          <a:solidFill>
            <a:srgbClr val="DF367C"/>
          </a:solidFill>
          <a:ln/>
        </p:spPr>
      </p:sp>
      <p:sp>
        <p:nvSpPr>
          <p:cNvPr id="28" name="Shape 25"/>
          <p:cNvSpPr/>
          <p:nvPr/>
        </p:nvSpPr>
        <p:spPr>
          <a:xfrm>
            <a:off x="609575" y="9672712"/>
            <a:ext cx="95250" cy="19038"/>
          </a:xfrm>
          <a:prstGeom prst="rect">
            <a:avLst/>
          </a:prstGeom>
          <a:solidFill>
            <a:srgbClr val="001FFF"/>
          </a:solidFill>
          <a:ln/>
        </p:spPr>
      </p:sp>
      <p:sp>
        <p:nvSpPr>
          <p:cNvPr id="29" name="Text 26"/>
          <p:cNvSpPr/>
          <p:nvPr/>
        </p:nvSpPr>
        <p:spPr>
          <a:xfrm>
            <a:off x="857188" y="9534612"/>
            <a:ext cx="2401912" cy="333338"/>
          </a:xfrm>
          <a:prstGeom prst="rect">
            <a:avLst/>
          </a:prstGeom>
          <a:noFill/>
          <a:ln/>
        </p:spPr>
        <p:txBody>
          <a:bodyPr wrap="square" lIns="25400" tIns="25400" rIns="25400" bIns="25400" rtlCol="0" anchor="t">
            <a:normAutofit/>
          </a:bodyPr>
          <a:lstStyle/>
          <a:p>
            <a:pPr algn="l" indent="0" marL="0">
              <a:lnSpc>
                <a:spcPct val="103333"/>
              </a:lnSpc>
              <a:buNone/>
            </a:pPr>
            <a:r>
              <a:rPr lang="en-US" sz="1500" dirty="0">
                <a:solidFill>
                  <a:srgbClr val="9AA3AD"/>
                </a:solidFill>
                <a:latin typeface="Poppins" pitchFamily="34" charset="0"/>
                <a:ea typeface="Poppins" pitchFamily="34" charset="-122"/>
                <a:cs typeface="Poppins" pitchFamily="34" charset="-120"/>
              </a:rPr>
              <a:t>Pipeline improvements</a:t>
            </a:r>
            <a:endParaRPr lang="en-US" sz="1500" dirty="0"/>
          </a:p>
        </p:txBody>
      </p:sp>
      <p:sp>
        <p:nvSpPr>
          <p:cNvPr id="30" name="Text 27"/>
          <p:cNvSpPr/>
          <p:nvPr/>
        </p:nvSpPr>
        <p:spPr>
          <a:xfrm>
            <a:off x="17450965" y="9534612"/>
            <a:ext cx="303659" cy="333338"/>
          </a:xfrm>
          <a:prstGeom prst="rect">
            <a:avLst/>
          </a:prstGeom>
          <a:noFill/>
          <a:ln/>
        </p:spPr>
        <p:txBody>
          <a:bodyPr wrap="square" lIns="25400" tIns="25400" rIns="25400" bIns="25400" rtlCol="0" anchor="t">
            <a:normAutofit/>
          </a:bodyPr>
          <a:lstStyle/>
          <a:p>
            <a:pPr algn="l" indent="0" marL="0">
              <a:lnSpc>
                <a:spcPct val="103333"/>
              </a:lnSpc>
              <a:buNone/>
            </a:pPr>
            <a:r>
              <a:rPr lang="en-US" sz="1500" b="1" dirty="0">
                <a:solidFill>
                  <a:srgbClr val="3B5C7F"/>
                </a:solidFill>
                <a:latin typeface="Poppins" pitchFamily="34" charset="0"/>
                <a:ea typeface="Poppins" pitchFamily="34" charset="-122"/>
                <a:cs typeface="Poppins" pitchFamily="34" charset="-120"/>
              </a:rPr>
              <a:t>07</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609575" y="1504900"/>
            <a:ext cx="17068849" cy="9525"/>
          </a:xfrm>
          <a:prstGeom prst="rect">
            <a:avLst/>
          </a:prstGeom>
          <a:solidFill>
            <a:srgbClr val="DEDEDE"/>
          </a:solidFill>
          <a:ln/>
        </p:spPr>
      </p:sp>
      <p:sp>
        <p:nvSpPr>
          <p:cNvPr id="3" name="Text 1"/>
          <p:cNvSpPr/>
          <p:nvPr/>
        </p:nvSpPr>
        <p:spPr>
          <a:xfrm>
            <a:off x="609575" y="609575"/>
            <a:ext cx="9085752" cy="704850"/>
          </a:xfrm>
          <a:prstGeom prst="rect">
            <a:avLst/>
          </a:prstGeom>
          <a:noFill/>
          <a:ln/>
        </p:spPr>
        <p:txBody>
          <a:bodyPr wrap="square" lIns="25400" tIns="25400" rIns="25400" bIns="25400" rtlCol="0" anchor="t">
            <a:normAutofit/>
          </a:bodyPr>
          <a:lstStyle/>
          <a:p>
            <a:pPr algn="l" indent="0" marL="0">
              <a:lnSpc>
                <a:spcPct val="83582"/>
              </a:lnSpc>
              <a:buNone/>
            </a:pPr>
            <a:r>
              <a:rPr lang="en-US" sz="4200" b="1" spc="-84" kern="0" dirty="0">
                <a:solidFill>
                  <a:srgbClr val="220F60"/>
                </a:solidFill>
                <a:latin typeface="Poppins" pitchFamily="34" charset="0"/>
                <a:ea typeface="Poppins" pitchFamily="34" charset="-122"/>
                <a:cs typeface="Poppins" pitchFamily="34" charset="-120"/>
              </a:rPr>
              <a:t>Data Interpretation </a:t>
            </a:r>
            <a:pPr algn="l" indent="0" marL="0">
              <a:lnSpc>
                <a:spcPct val="83582"/>
              </a:lnSpc>
              <a:buNone/>
            </a:pPr>
            <a:r>
              <a:rPr lang="en-US" sz="4200" b="1" spc="-84" kern="0" dirty="0">
                <a:solidFill>
                  <a:srgbClr val="001FFF"/>
                </a:solidFill>
                <a:latin typeface="Poppins" pitchFamily="34" charset="0"/>
                <a:ea typeface="Poppins" pitchFamily="34" charset="-122"/>
                <a:cs typeface="Poppins" pitchFamily="34" charset="-120"/>
              </a:rPr>
              <a:t>throughput</a:t>
            </a:r>
            <a:endParaRPr lang="en-US" sz="4200" dirty="0"/>
          </a:p>
        </p:txBody>
      </p:sp>
      <p:pic>
        <p:nvPicPr>
          <p:cNvPr id="4" name="Image 0" descr="preencoded.png">    </p:cNvPr>
          <p:cNvPicPr>
            <a:picLocks noChangeAspect="1"/>
          </p:cNvPicPr>
          <p:nvPr/>
        </p:nvPicPr>
        <p:blipFill>
          <a:blip r:embed="rId1"/>
          <a:stretch>
            <a:fillRect/>
          </a:stretch>
        </p:blipFill>
        <p:spPr>
          <a:xfrm>
            <a:off x="16250046" y="952500"/>
            <a:ext cx="1428378" cy="323825"/>
          </a:xfrm>
          <a:prstGeom prst="rect">
            <a:avLst/>
          </a:prstGeom>
        </p:spPr>
      </p:pic>
      <p:sp>
        <p:nvSpPr>
          <p:cNvPr id="5" name="Shape 2"/>
          <p:cNvSpPr/>
          <p:nvPr/>
        </p:nvSpPr>
        <p:spPr>
          <a:xfrm>
            <a:off x="609575" y="1931913"/>
            <a:ext cx="5715000" cy="7374123"/>
          </a:xfrm>
          <a:prstGeom prst="roundRect">
            <a:avLst>
              <a:gd name="adj" fmla="val 1667"/>
            </a:avLst>
          </a:prstGeom>
          <a:solidFill>
            <a:srgbClr val="220F60"/>
          </a:solidFill>
          <a:ln/>
        </p:spPr>
      </p:sp>
      <p:sp>
        <p:nvSpPr>
          <p:cNvPr id="6" name="Text 3"/>
          <p:cNvSpPr/>
          <p:nvPr/>
        </p:nvSpPr>
        <p:spPr>
          <a:xfrm>
            <a:off x="990575" y="2312913"/>
            <a:ext cx="5448300"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A5B3FE"/>
                </a:solidFill>
                <a:latin typeface="Poppins" pitchFamily="34" charset="0"/>
                <a:ea typeface="Poppins" pitchFamily="34" charset="-122"/>
                <a:cs typeface="Poppins" pitchFamily="34" charset="-120"/>
              </a:rPr>
              <a:t>STAGE 03 · PART 2</a:t>
            </a:r>
            <a:endParaRPr lang="en-US" sz="1800" dirty="0"/>
          </a:p>
        </p:txBody>
      </p:sp>
      <p:sp>
        <p:nvSpPr>
          <p:cNvPr id="7" name="Text 4"/>
          <p:cNvSpPr/>
          <p:nvPr/>
        </p:nvSpPr>
        <p:spPr>
          <a:xfrm>
            <a:off x="990575" y="2895761"/>
            <a:ext cx="5101590" cy="1238213"/>
          </a:xfrm>
          <a:prstGeom prst="rect">
            <a:avLst/>
          </a:prstGeom>
          <a:noFill/>
          <a:ln/>
        </p:spPr>
        <p:txBody>
          <a:bodyPr wrap="square" lIns="25400" tIns="25400" rIns="25400" bIns="25400" rtlCol="0" anchor="t">
            <a:normAutofit/>
          </a:bodyPr>
          <a:lstStyle/>
          <a:p>
            <a:pPr algn="l" indent="0" marL="0">
              <a:lnSpc>
                <a:spcPct val="98824"/>
              </a:lnSpc>
              <a:buNone/>
            </a:pPr>
            <a:r>
              <a:rPr lang="en-US" sz="2100" dirty="0">
                <a:solidFill>
                  <a:srgbClr val="FFFFFF">
                    <a:alpha val="86000"/>
                  </a:srgbClr>
                </a:solidFill>
                <a:latin typeface="Poppins" pitchFamily="34" charset="0"/>
                <a:ea typeface="Poppins" pitchFamily="34" charset="-122"/>
                <a:cs typeface="Poppins" pitchFamily="34" charset="-120"/>
              </a:rPr>
              <a:t>Insight arrives sooner, each project costs less, and questions can finally cross entity boundaries.</a:t>
            </a:r>
            <a:endParaRPr lang="en-US" sz="2100" dirty="0"/>
          </a:p>
        </p:txBody>
      </p:sp>
      <p:sp>
        <p:nvSpPr>
          <p:cNvPr id="8" name="Text 5"/>
          <p:cNvSpPr/>
          <p:nvPr/>
        </p:nvSpPr>
        <p:spPr>
          <a:xfrm>
            <a:off x="990575" y="7248674"/>
            <a:ext cx="5448300"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A5B3FE"/>
                </a:solidFill>
                <a:latin typeface="Poppins" pitchFamily="34" charset="0"/>
                <a:ea typeface="Poppins" pitchFamily="34" charset="-122"/>
                <a:cs typeface="Poppins" pitchFamily="34" charset="-120"/>
              </a:rPr>
              <a:t>WORKSTREAMS</a:t>
            </a:r>
            <a:endParaRPr lang="en-US" sz="1800" dirty="0"/>
          </a:p>
        </p:txBody>
      </p:sp>
      <p:sp>
        <p:nvSpPr>
          <p:cNvPr id="9" name="Text 6"/>
          <p:cNvSpPr/>
          <p:nvPr/>
        </p:nvSpPr>
        <p:spPr>
          <a:xfrm>
            <a:off x="990575" y="7736272"/>
            <a:ext cx="5101590" cy="1226865"/>
          </a:xfrm>
          <a:prstGeom prst="rect">
            <a:avLst/>
          </a:prstGeom>
          <a:noFill/>
          <a:ln/>
        </p:spPr>
        <p:txBody>
          <a:bodyPr wrap="square" lIns="25400" tIns="25400" rIns="25400" bIns="25400" rtlCol="0" anchor="t">
            <a:normAutofit/>
          </a:bodyPr>
          <a:lstStyle/>
          <a:p>
            <a:pPr algn="l" indent="0" marL="0">
              <a:lnSpc>
                <a:spcPct val="106213"/>
              </a:lnSpc>
              <a:buNone/>
            </a:pPr>
            <a:r>
              <a:rPr lang="en-US" sz="1950" b="1" dirty="0">
                <a:solidFill>
                  <a:srgbClr val="FFFFFF"/>
                </a:solidFill>
                <a:latin typeface="Poppins" pitchFamily="34" charset="0"/>
                <a:ea typeface="Poppins" pitchFamily="34" charset="-122"/>
                <a:cs typeface="Poppins" pitchFamily="34" charset="-120"/>
              </a:rPr>
              <a:t>Time to insight Analyst productivity Cross-entity coverage</a:t>
            </a:r>
            <a:endParaRPr lang="en-US" sz="1950" dirty="0"/>
          </a:p>
        </p:txBody>
      </p:sp>
      <p:sp>
        <p:nvSpPr>
          <p:cNvPr id="10" name="Text 7"/>
          <p:cNvSpPr/>
          <p:nvPr/>
        </p:nvSpPr>
        <p:spPr>
          <a:xfrm>
            <a:off x="6857938" y="1931913"/>
            <a:ext cx="11902535" cy="348159"/>
          </a:xfrm>
          <a:prstGeom prst="rect">
            <a:avLst/>
          </a:prstGeom>
          <a:noFill/>
          <a:ln/>
        </p:spPr>
        <p:txBody>
          <a:bodyPr wrap="square" lIns="25400" tIns="25400" rIns="25400" bIns="25400" rtlCol="0" anchor="t">
            <a:normAutofit/>
          </a:bodyPr>
          <a:lstStyle/>
          <a:p>
            <a:pPr algn="l" indent="0" marL="0">
              <a:lnSpc>
                <a:spcPct val="102789"/>
              </a:lnSpc>
              <a:buNone/>
            </a:pPr>
            <a:r>
              <a:rPr lang="en-US" sz="1575" spc="276" kern="0" dirty="0">
                <a:solidFill>
                  <a:srgbClr val="3B5C7F"/>
                </a:solidFill>
                <a:latin typeface="Poppins" pitchFamily="34" charset="0"/>
                <a:ea typeface="Poppins" pitchFamily="34" charset="-122"/>
                <a:cs typeface="Poppins" pitchFamily="34" charset="-120"/>
              </a:rPr>
              <a:t>TIME TO INSIGHT</a:t>
            </a:r>
            <a:endParaRPr lang="en-US" sz="1575" dirty="0"/>
          </a:p>
        </p:txBody>
      </p:sp>
      <p:sp>
        <p:nvSpPr>
          <p:cNvPr id="11" name="Text 8"/>
          <p:cNvSpPr/>
          <p:nvPr/>
        </p:nvSpPr>
        <p:spPr>
          <a:xfrm>
            <a:off x="6676963" y="2375297"/>
            <a:ext cx="1990725" cy="687611"/>
          </a:xfrm>
          <a:prstGeom prst="rect">
            <a:avLst/>
          </a:prstGeom>
          <a:noFill/>
          <a:ln/>
        </p:spPr>
        <p:txBody>
          <a:bodyPr wrap="square" lIns="25400" tIns="25400" rIns="25400" bIns="25400" rtlCol="0" anchor="t">
            <a:normAutofit/>
          </a:bodyPr>
          <a:lstStyle/>
          <a:p>
            <a:pPr algn="r" indent="0" marL="0">
              <a:lnSpc>
                <a:spcPct val="102943"/>
              </a:lnSpc>
              <a:buNone/>
            </a:pPr>
            <a:r>
              <a:rPr lang="en-US" sz="3300" b="1" spc="-66" kern="0" dirty="0">
                <a:solidFill>
                  <a:srgbClr val="001FFF"/>
                </a:solidFill>
                <a:latin typeface="Poppins" pitchFamily="34" charset="0"/>
                <a:ea typeface="Poppins" pitchFamily="34" charset="-122"/>
                <a:cs typeface="Poppins" pitchFamily="34" charset="-120"/>
              </a:rPr>
              <a:t>-5 days</a:t>
            </a:r>
            <a:endParaRPr lang="en-US" sz="3300" dirty="0"/>
          </a:p>
        </p:txBody>
      </p:sp>
      <p:sp>
        <p:nvSpPr>
          <p:cNvPr id="12" name="Text 9"/>
          <p:cNvSpPr/>
          <p:nvPr/>
        </p:nvSpPr>
        <p:spPr>
          <a:xfrm>
            <a:off x="8934338" y="2422426"/>
            <a:ext cx="9618495"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dirty="0">
                <a:solidFill>
                  <a:srgbClr val="15103A"/>
                </a:solidFill>
                <a:latin typeface="Poppins" pitchFamily="34" charset="0"/>
                <a:ea typeface="Poppins" pitchFamily="34" charset="-122"/>
                <a:cs typeface="Poppins" pitchFamily="34" charset="-120"/>
              </a:rPr>
              <a:t>Average time to actionable insight</a:t>
            </a:r>
            <a:endParaRPr lang="en-US" sz="1950" dirty="0"/>
          </a:p>
        </p:txBody>
      </p:sp>
      <p:sp>
        <p:nvSpPr>
          <p:cNvPr id="13" name="Shape 10"/>
          <p:cNvSpPr/>
          <p:nvPr/>
        </p:nvSpPr>
        <p:spPr>
          <a:xfrm>
            <a:off x="8934338" y="2901528"/>
            <a:ext cx="8744086" cy="76150"/>
          </a:xfrm>
          <a:prstGeom prst="roundRect">
            <a:avLst>
              <a:gd name="adj" fmla="val 50000"/>
            </a:avLst>
          </a:prstGeom>
          <a:solidFill>
            <a:srgbClr val="DEDEDE"/>
          </a:solidFill>
          <a:ln/>
        </p:spPr>
      </p:sp>
      <p:sp>
        <p:nvSpPr>
          <p:cNvPr id="14" name="Shape 11"/>
          <p:cNvSpPr/>
          <p:nvPr/>
        </p:nvSpPr>
        <p:spPr>
          <a:xfrm>
            <a:off x="8934338" y="2901528"/>
            <a:ext cx="4372012" cy="76150"/>
          </a:xfrm>
          <a:prstGeom prst="roundRect">
            <a:avLst>
              <a:gd name="adj" fmla="val 50000"/>
            </a:avLst>
          </a:prstGeom>
          <a:solidFill>
            <a:srgbClr val="001FFF"/>
          </a:solidFill>
          <a:ln/>
        </p:spPr>
      </p:sp>
      <p:sp>
        <p:nvSpPr>
          <p:cNvPr id="15" name="Text 12"/>
          <p:cNvSpPr/>
          <p:nvPr/>
        </p:nvSpPr>
        <p:spPr>
          <a:xfrm>
            <a:off x="6676963" y="3158133"/>
            <a:ext cx="1990725" cy="687611"/>
          </a:xfrm>
          <a:prstGeom prst="rect">
            <a:avLst/>
          </a:prstGeom>
          <a:noFill/>
          <a:ln/>
        </p:spPr>
        <p:txBody>
          <a:bodyPr wrap="square" lIns="25400" tIns="25400" rIns="25400" bIns="25400" rtlCol="0" anchor="t">
            <a:normAutofit/>
          </a:bodyPr>
          <a:lstStyle/>
          <a:p>
            <a:pPr algn="r" indent="0" marL="0">
              <a:lnSpc>
                <a:spcPct val="102943"/>
              </a:lnSpc>
              <a:buNone/>
            </a:pPr>
            <a:r>
              <a:rPr lang="en-US" sz="3300" b="1" spc="-66" kern="0" dirty="0">
                <a:solidFill>
                  <a:srgbClr val="001FFF"/>
                </a:solidFill>
                <a:latin typeface="Poppins" pitchFamily="34" charset="0"/>
                <a:ea typeface="Poppins" pitchFamily="34" charset="-122"/>
                <a:cs typeface="Poppins" pitchFamily="34" charset="-120"/>
              </a:rPr>
              <a:t>+20%</a:t>
            </a:r>
            <a:endParaRPr lang="en-US" sz="3300" dirty="0"/>
          </a:p>
        </p:txBody>
      </p:sp>
      <p:sp>
        <p:nvSpPr>
          <p:cNvPr id="16" name="Text 13"/>
          <p:cNvSpPr/>
          <p:nvPr/>
        </p:nvSpPr>
        <p:spPr>
          <a:xfrm>
            <a:off x="8934338" y="3205262"/>
            <a:ext cx="9618495"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dirty="0">
                <a:solidFill>
                  <a:srgbClr val="15103A"/>
                </a:solidFill>
                <a:latin typeface="Poppins" pitchFamily="34" charset="0"/>
                <a:ea typeface="Poppins" pitchFamily="34" charset="-122"/>
                <a:cs typeface="Poppins" pitchFamily="34" charset="-120"/>
              </a:rPr>
              <a:t>Strategic decisions made within timeframe</a:t>
            </a:r>
            <a:endParaRPr lang="en-US" sz="1950" dirty="0"/>
          </a:p>
        </p:txBody>
      </p:sp>
      <p:sp>
        <p:nvSpPr>
          <p:cNvPr id="17" name="Shape 14"/>
          <p:cNvSpPr/>
          <p:nvPr/>
        </p:nvSpPr>
        <p:spPr>
          <a:xfrm>
            <a:off x="8934338" y="3684364"/>
            <a:ext cx="8744086" cy="76150"/>
          </a:xfrm>
          <a:prstGeom prst="roundRect">
            <a:avLst>
              <a:gd name="adj" fmla="val 50000"/>
            </a:avLst>
          </a:prstGeom>
          <a:solidFill>
            <a:srgbClr val="DEDEDE"/>
          </a:solidFill>
          <a:ln/>
        </p:spPr>
      </p:sp>
      <p:sp>
        <p:nvSpPr>
          <p:cNvPr id="18" name="Shape 15"/>
          <p:cNvSpPr/>
          <p:nvPr/>
        </p:nvSpPr>
        <p:spPr>
          <a:xfrm>
            <a:off x="8934338" y="3684364"/>
            <a:ext cx="1748792" cy="76150"/>
          </a:xfrm>
          <a:prstGeom prst="roundRect">
            <a:avLst>
              <a:gd name="adj" fmla="val 50000"/>
            </a:avLst>
          </a:prstGeom>
          <a:solidFill>
            <a:srgbClr val="001FFF"/>
          </a:solidFill>
          <a:ln/>
        </p:spPr>
      </p:sp>
      <p:sp>
        <p:nvSpPr>
          <p:cNvPr id="19" name="Text 16"/>
          <p:cNvSpPr/>
          <p:nvPr/>
        </p:nvSpPr>
        <p:spPr>
          <a:xfrm>
            <a:off x="6857938" y="4055256"/>
            <a:ext cx="11902535" cy="348159"/>
          </a:xfrm>
          <a:prstGeom prst="rect">
            <a:avLst/>
          </a:prstGeom>
          <a:noFill/>
          <a:ln/>
        </p:spPr>
        <p:txBody>
          <a:bodyPr wrap="square" lIns="25400" tIns="25400" rIns="25400" bIns="25400" rtlCol="0" anchor="t">
            <a:normAutofit/>
          </a:bodyPr>
          <a:lstStyle/>
          <a:p>
            <a:pPr algn="l" indent="0" marL="0">
              <a:lnSpc>
                <a:spcPct val="102789"/>
              </a:lnSpc>
              <a:buNone/>
            </a:pPr>
            <a:r>
              <a:rPr lang="en-US" sz="1575" spc="276" kern="0" dirty="0">
                <a:solidFill>
                  <a:srgbClr val="3B5C7F"/>
                </a:solidFill>
                <a:latin typeface="Poppins" pitchFamily="34" charset="0"/>
                <a:ea typeface="Poppins" pitchFamily="34" charset="-122"/>
                <a:cs typeface="Poppins" pitchFamily="34" charset="-120"/>
              </a:rPr>
              <a:t>ANALYST PRODUCTIVITY RATE</a:t>
            </a:r>
            <a:endParaRPr lang="en-US" sz="1575" dirty="0"/>
          </a:p>
        </p:txBody>
      </p:sp>
      <p:sp>
        <p:nvSpPr>
          <p:cNvPr id="20" name="Text 17"/>
          <p:cNvSpPr/>
          <p:nvPr/>
        </p:nvSpPr>
        <p:spPr>
          <a:xfrm>
            <a:off x="6676963" y="4498640"/>
            <a:ext cx="1990725" cy="687611"/>
          </a:xfrm>
          <a:prstGeom prst="rect">
            <a:avLst/>
          </a:prstGeom>
          <a:noFill/>
          <a:ln/>
        </p:spPr>
        <p:txBody>
          <a:bodyPr wrap="square" lIns="25400" tIns="25400" rIns="25400" bIns="25400" rtlCol="0" anchor="t">
            <a:normAutofit/>
          </a:bodyPr>
          <a:lstStyle/>
          <a:p>
            <a:pPr algn="r" indent="0" marL="0">
              <a:lnSpc>
                <a:spcPct val="102943"/>
              </a:lnSpc>
              <a:buNone/>
            </a:pPr>
            <a:r>
              <a:rPr lang="en-US" sz="3300" b="1" spc="-66" kern="0" dirty="0">
                <a:solidFill>
                  <a:srgbClr val="DF367C"/>
                </a:solidFill>
                <a:latin typeface="Poppins" pitchFamily="34" charset="0"/>
                <a:ea typeface="Poppins" pitchFamily="34" charset="-122"/>
                <a:cs typeface="Poppins" pitchFamily="34" charset="-120"/>
              </a:rPr>
              <a:t>+25%</a:t>
            </a:r>
            <a:endParaRPr lang="en-US" sz="3300" dirty="0"/>
          </a:p>
        </p:txBody>
      </p:sp>
      <p:sp>
        <p:nvSpPr>
          <p:cNvPr id="21" name="Text 18"/>
          <p:cNvSpPr/>
          <p:nvPr/>
        </p:nvSpPr>
        <p:spPr>
          <a:xfrm>
            <a:off x="8934338" y="4545769"/>
            <a:ext cx="9618495"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dirty="0">
                <a:solidFill>
                  <a:srgbClr val="15103A"/>
                </a:solidFill>
                <a:latin typeface="Poppins" pitchFamily="34" charset="0"/>
                <a:ea typeface="Poppins" pitchFamily="34" charset="-122"/>
                <a:cs typeface="Poppins" pitchFamily="34" charset="-120"/>
              </a:rPr>
              <a:t>Completed analytics projects per analyst</a:t>
            </a:r>
            <a:endParaRPr lang="en-US" sz="1950" dirty="0"/>
          </a:p>
        </p:txBody>
      </p:sp>
      <p:sp>
        <p:nvSpPr>
          <p:cNvPr id="22" name="Shape 19"/>
          <p:cNvSpPr/>
          <p:nvPr/>
        </p:nvSpPr>
        <p:spPr>
          <a:xfrm>
            <a:off x="8934338" y="5024871"/>
            <a:ext cx="8744086" cy="76150"/>
          </a:xfrm>
          <a:prstGeom prst="roundRect">
            <a:avLst>
              <a:gd name="adj" fmla="val 50000"/>
            </a:avLst>
          </a:prstGeom>
          <a:solidFill>
            <a:srgbClr val="DEDEDE"/>
          </a:solidFill>
          <a:ln/>
        </p:spPr>
      </p:sp>
      <p:sp>
        <p:nvSpPr>
          <p:cNvPr id="23" name="Shape 20"/>
          <p:cNvSpPr/>
          <p:nvPr/>
        </p:nvSpPr>
        <p:spPr>
          <a:xfrm>
            <a:off x="8934338" y="5024871"/>
            <a:ext cx="2185975" cy="76150"/>
          </a:xfrm>
          <a:prstGeom prst="roundRect">
            <a:avLst>
              <a:gd name="adj" fmla="val 50000"/>
            </a:avLst>
          </a:prstGeom>
          <a:solidFill>
            <a:srgbClr val="DF367C"/>
          </a:solidFill>
          <a:ln/>
        </p:spPr>
      </p:sp>
      <p:sp>
        <p:nvSpPr>
          <p:cNvPr id="24" name="Text 21"/>
          <p:cNvSpPr/>
          <p:nvPr/>
        </p:nvSpPr>
        <p:spPr>
          <a:xfrm>
            <a:off x="6676963" y="5281476"/>
            <a:ext cx="1990725" cy="687611"/>
          </a:xfrm>
          <a:prstGeom prst="rect">
            <a:avLst/>
          </a:prstGeom>
          <a:noFill/>
          <a:ln/>
        </p:spPr>
        <p:txBody>
          <a:bodyPr wrap="square" lIns="25400" tIns="25400" rIns="25400" bIns="25400" rtlCol="0" anchor="t">
            <a:normAutofit/>
          </a:bodyPr>
          <a:lstStyle/>
          <a:p>
            <a:pPr algn="r" indent="0" marL="0">
              <a:lnSpc>
                <a:spcPct val="102943"/>
              </a:lnSpc>
              <a:buNone/>
            </a:pPr>
            <a:r>
              <a:rPr lang="en-US" sz="3300" b="1" spc="-66" kern="0" dirty="0">
                <a:solidFill>
                  <a:srgbClr val="001FFF"/>
                </a:solidFill>
                <a:latin typeface="Poppins" pitchFamily="34" charset="0"/>
                <a:ea typeface="Poppins" pitchFamily="34" charset="-122"/>
                <a:cs typeface="Poppins" pitchFamily="34" charset="-120"/>
              </a:rPr>
              <a:t>-20%</a:t>
            </a:r>
            <a:endParaRPr lang="en-US" sz="3300" dirty="0"/>
          </a:p>
        </p:txBody>
      </p:sp>
      <p:sp>
        <p:nvSpPr>
          <p:cNvPr id="25" name="Text 22"/>
          <p:cNvSpPr/>
          <p:nvPr/>
        </p:nvSpPr>
        <p:spPr>
          <a:xfrm>
            <a:off x="8934338" y="5328605"/>
            <a:ext cx="9618495"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dirty="0">
                <a:solidFill>
                  <a:srgbClr val="15103A"/>
                </a:solidFill>
                <a:latin typeface="Poppins" pitchFamily="34" charset="0"/>
                <a:ea typeface="Poppins" pitchFamily="34" charset="-122"/>
                <a:cs typeface="Poppins" pitchFamily="34" charset="-120"/>
              </a:rPr>
              <a:t>Cost per analytics project</a:t>
            </a:r>
            <a:endParaRPr lang="en-US" sz="1950" dirty="0"/>
          </a:p>
        </p:txBody>
      </p:sp>
      <p:sp>
        <p:nvSpPr>
          <p:cNvPr id="26" name="Shape 23"/>
          <p:cNvSpPr/>
          <p:nvPr/>
        </p:nvSpPr>
        <p:spPr>
          <a:xfrm>
            <a:off x="8934338" y="5807707"/>
            <a:ext cx="8744086" cy="76150"/>
          </a:xfrm>
          <a:prstGeom prst="roundRect">
            <a:avLst>
              <a:gd name="adj" fmla="val 50000"/>
            </a:avLst>
          </a:prstGeom>
          <a:solidFill>
            <a:srgbClr val="DEDEDE"/>
          </a:solidFill>
          <a:ln/>
        </p:spPr>
      </p:sp>
      <p:sp>
        <p:nvSpPr>
          <p:cNvPr id="27" name="Shape 24"/>
          <p:cNvSpPr/>
          <p:nvPr/>
        </p:nvSpPr>
        <p:spPr>
          <a:xfrm>
            <a:off x="8934338" y="5807707"/>
            <a:ext cx="1748792" cy="76150"/>
          </a:xfrm>
          <a:prstGeom prst="roundRect">
            <a:avLst>
              <a:gd name="adj" fmla="val 50000"/>
            </a:avLst>
          </a:prstGeom>
          <a:solidFill>
            <a:srgbClr val="001FFF"/>
          </a:solidFill>
          <a:ln/>
        </p:spPr>
      </p:sp>
      <p:sp>
        <p:nvSpPr>
          <p:cNvPr id="28" name="Text 25"/>
          <p:cNvSpPr/>
          <p:nvPr/>
        </p:nvSpPr>
        <p:spPr>
          <a:xfrm>
            <a:off x="6857938" y="6178600"/>
            <a:ext cx="11902535" cy="348159"/>
          </a:xfrm>
          <a:prstGeom prst="rect">
            <a:avLst/>
          </a:prstGeom>
          <a:noFill/>
          <a:ln/>
        </p:spPr>
        <p:txBody>
          <a:bodyPr wrap="square" lIns="25400" tIns="25400" rIns="25400" bIns="25400" rtlCol="0" anchor="t">
            <a:normAutofit/>
          </a:bodyPr>
          <a:lstStyle/>
          <a:p>
            <a:pPr algn="l" indent="0" marL="0">
              <a:lnSpc>
                <a:spcPct val="102789"/>
              </a:lnSpc>
              <a:buNone/>
            </a:pPr>
            <a:r>
              <a:rPr lang="en-US" sz="1575" spc="276" kern="0" dirty="0">
                <a:solidFill>
                  <a:srgbClr val="3B5C7F"/>
                </a:solidFill>
                <a:latin typeface="Poppins" pitchFamily="34" charset="0"/>
                <a:ea typeface="Poppins" pitchFamily="34" charset="-122"/>
                <a:cs typeface="Poppins" pitchFamily="34" charset="-120"/>
              </a:rPr>
              <a:t>CROSS-ENTITY INSIGHT COVERAGE</a:t>
            </a:r>
            <a:endParaRPr lang="en-US" sz="1575" dirty="0"/>
          </a:p>
        </p:txBody>
      </p:sp>
      <p:sp>
        <p:nvSpPr>
          <p:cNvPr id="29" name="Text 26"/>
          <p:cNvSpPr/>
          <p:nvPr/>
        </p:nvSpPr>
        <p:spPr>
          <a:xfrm>
            <a:off x="6676963" y="6621983"/>
            <a:ext cx="1990725" cy="687611"/>
          </a:xfrm>
          <a:prstGeom prst="rect">
            <a:avLst/>
          </a:prstGeom>
          <a:noFill/>
          <a:ln/>
        </p:spPr>
        <p:txBody>
          <a:bodyPr wrap="square" lIns="25400" tIns="25400" rIns="25400" bIns="25400" rtlCol="0" anchor="t">
            <a:normAutofit/>
          </a:bodyPr>
          <a:lstStyle/>
          <a:p>
            <a:pPr algn="r" indent="0" marL="0">
              <a:lnSpc>
                <a:spcPct val="102943"/>
              </a:lnSpc>
              <a:buNone/>
            </a:pPr>
            <a:r>
              <a:rPr lang="en-US" sz="3300" b="1" spc="-66" kern="0" dirty="0">
                <a:solidFill>
                  <a:srgbClr val="001FFF"/>
                </a:solidFill>
                <a:latin typeface="Poppins" pitchFamily="34" charset="0"/>
                <a:ea typeface="Poppins" pitchFamily="34" charset="-122"/>
                <a:cs typeface="Poppins" pitchFamily="34" charset="-120"/>
              </a:rPr>
              <a:t>+30%</a:t>
            </a:r>
            <a:endParaRPr lang="en-US" sz="3300" dirty="0"/>
          </a:p>
        </p:txBody>
      </p:sp>
      <p:sp>
        <p:nvSpPr>
          <p:cNvPr id="30" name="Text 27"/>
          <p:cNvSpPr/>
          <p:nvPr/>
        </p:nvSpPr>
        <p:spPr>
          <a:xfrm>
            <a:off x="8934338" y="6669112"/>
            <a:ext cx="9618495"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dirty="0">
                <a:solidFill>
                  <a:srgbClr val="15103A"/>
                </a:solidFill>
                <a:latin typeface="Poppins" pitchFamily="34" charset="0"/>
                <a:ea typeface="Poppins" pitchFamily="34" charset="-122"/>
                <a:cs typeface="Poppins" pitchFamily="34" charset="-120"/>
              </a:rPr>
              <a:t>Projects with cross-entity analysis</a:t>
            </a:r>
            <a:endParaRPr lang="en-US" sz="1950" dirty="0"/>
          </a:p>
        </p:txBody>
      </p:sp>
      <p:sp>
        <p:nvSpPr>
          <p:cNvPr id="31" name="Shape 28"/>
          <p:cNvSpPr/>
          <p:nvPr/>
        </p:nvSpPr>
        <p:spPr>
          <a:xfrm>
            <a:off x="8934338" y="7148215"/>
            <a:ext cx="8744086" cy="76150"/>
          </a:xfrm>
          <a:prstGeom prst="roundRect">
            <a:avLst>
              <a:gd name="adj" fmla="val 50000"/>
            </a:avLst>
          </a:prstGeom>
          <a:solidFill>
            <a:srgbClr val="DEDEDE"/>
          </a:solidFill>
          <a:ln/>
        </p:spPr>
      </p:sp>
      <p:sp>
        <p:nvSpPr>
          <p:cNvPr id="32" name="Shape 29"/>
          <p:cNvSpPr/>
          <p:nvPr/>
        </p:nvSpPr>
        <p:spPr>
          <a:xfrm>
            <a:off x="8934338" y="7148215"/>
            <a:ext cx="2623220" cy="76150"/>
          </a:xfrm>
          <a:prstGeom prst="roundRect">
            <a:avLst>
              <a:gd name="adj" fmla="val 50000"/>
            </a:avLst>
          </a:prstGeom>
          <a:solidFill>
            <a:srgbClr val="001FFF"/>
          </a:solidFill>
          <a:ln/>
        </p:spPr>
      </p:sp>
      <p:sp>
        <p:nvSpPr>
          <p:cNvPr id="33" name="Text 30"/>
          <p:cNvSpPr/>
          <p:nvPr/>
        </p:nvSpPr>
        <p:spPr>
          <a:xfrm>
            <a:off x="6676963" y="7404819"/>
            <a:ext cx="1990725" cy="687611"/>
          </a:xfrm>
          <a:prstGeom prst="rect">
            <a:avLst/>
          </a:prstGeom>
          <a:noFill/>
          <a:ln/>
        </p:spPr>
        <p:txBody>
          <a:bodyPr wrap="square" lIns="25400" tIns="25400" rIns="25400" bIns="25400" rtlCol="0" anchor="t">
            <a:normAutofit/>
          </a:bodyPr>
          <a:lstStyle/>
          <a:p>
            <a:pPr algn="r" indent="0" marL="0">
              <a:lnSpc>
                <a:spcPct val="102943"/>
              </a:lnSpc>
              <a:buNone/>
            </a:pPr>
            <a:r>
              <a:rPr lang="en-US" sz="3300" b="1" spc="-66" kern="0" dirty="0">
                <a:solidFill>
                  <a:srgbClr val="001FFF"/>
                </a:solidFill>
                <a:latin typeface="Poppins" pitchFamily="34" charset="0"/>
                <a:ea typeface="Poppins" pitchFamily="34" charset="-122"/>
                <a:cs typeface="Poppins" pitchFamily="34" charset="-120"/>
              </a:rPr>
              <a:t>+3</a:t>
            </a:r>
            <a:endParaRPr lang="en-US" sz="3300" dirty="0"/>
          </a:p>
        </p:txBody>
      </p:sp>
      <p:sp>
        <p:nvSpPr>
          <p:cNvPr id="34" name="Text 31"/>
          <p:cNvSpPr/>
          <p:nvPr/>
        </p:nvSpPr>
        <p:spPr>
          <a:xfrm>
            <a:off x="8934338" y="7451948"/>
            <a:ext cx="9618495" cy="421953"/>
          </a:xfrm>
          <a:prstGeom prst="rect">
            <a:avLst/>
          </a:prstGeom>
          <a:noFill/>
          <a:ln/>
        </p:spPr>
        <p:txBody>
          <a:bodyPr wrap="square" lIns="25400" tIns="25400" rIns="25400" bIns="25400" rtlCol="0" anchor="t">
            <a:normAutofit/>
          </a:bodyPr>
          <a:lstStyle/>
          <a:p>
            <a:pPr algn="l" indent="0" marL="0">
              <a:lnSpc>
                <a:spcPct val="102894"/>
              </a:lnSpc>
              <a:buNone/>
            </a:pPr>
            <a:r>
              <a:rPr lang="en-US" sz="1950" dirty="0">
                <a:solidFill>
                  <a:srgbClr val="15103A"/>
                </a:solidFill>
                <a:latin typeface="Poppins" pitchFamily="34" charset="0"/>
                <a:ea typeface="Poppins" pitchFamily="34" charset="-122"/>
                <a:cs typeface="Poppins" pitchFamily="34" charset="-120"/>
              </a:rPr>
              <a:t>New cross-entity collaboration opportunities</a:t>
            </a:r>
            <a:endParaRPr lang="en-US" sz="1950" dirty="0"/>
          </a:p>
        </p:txBody>
      </p:sp>
      <p:sp>
        <p:nvSpPr>
          <p:cNvPr id="35" name="Shape 32"/>
          <p:cNvSpPr/>
          <p:nvPr/>
        </p:nvSpPr>
        <p:spPr>
          <a:xfrm>
            <a:off x="8934338" y="7931051"/>
            <a:ext cx="8744086" cy="76150"/>
          </a:xfrm>
          <a:prstGeom prst="roundRect">
            <a:avLst>
              <a:gd name="adj" fmla="val 50000"/>
            </a:avLst>
          </a:prstGeom>
          <a:solidFill>
            <a:srgbClr val="DEDEDE"/>
          </a:solidFill>
          <a:ln/>
        </p:spPr>
      </p:sp>
      <p:sp>
        <p:nvSpPr>
          <p:cNvPr id="36" name="Shape 33"/>
          <p:cNvSpPr/>
          <p:nvPr/>
        </p:nvSpPr>
        <p:spPr>
          <a:xfrm>
            <a:off x="8934338" y="7931051"/>
            <a:ext cx="2623220" cy="76150"/>
          </a:xfrm>
          <a:prstGeom prst="roundRect">
            <a:avLst>
              <a:gd name="adj" fmla="val 50000"/>
            </a:avLst>
          </a:prstGeom>
          <a:solidFill>
            <a:srgbClr val="001FFF"/>
          </a:solidFill>
          <a:ln/>
        </p:spPr>
      </p:sp>
      <p:sp>
        <p:nvSpPr>
          <p:cNvPr id="37" name="Shape 34"/>
          <p:cNvSpPr/>
          <p:nvPr/>
        </p:nvSpPr>
        <p:spPr>
          <a:xfrm>
            <a:off x="609575" y="9672712"/>
            <a:ext cx="95250" cy="19038"/>
          </a:xfrm>
          <a:prstGeom prst="rect">
            <a:avLst/>
          </a:prstGeom>
          <a:solidFill>
            <a:srgbClr val="001FFF"/>
          </a:solidFill>
          <a:ln/>
        </p:spPr>
      </p:sp>
      <p:sp>
        <p:nvSpPr>
          <p:cNvPr id="38" name="Text 35"/>
          <p:cNvSpPr/>
          <p:nvPr/>
        </p:nvSpPr>
        <p:spPr>
          <a:xfrm>
            <a:off x="857188" y="9534612"/>
            <a:ext cx="2401912" cy="333338"/>
          </a:xfrm>
          <a:prstGeom prst="rect">
            <a:avLst/>
          </a:prstGeom>
          <a:noFill/>
          <a:ln/>
        </p:spPr>
        <p:txBody>
          <a:bodyPr wrap="square" lIns="25400" tIns="25400" rIns="25400" bIns="25400" rtlCol="0" anchor="t">
            <a:normAutofit/>
          </a:bodyPr>
          <a:lstStyle/>
          <a:p>
            <a:pPr algn="l" indent="0" marL="0">
              <a:lnSpc>
                <a:spcPct val="103333"/>
              </a:lnSpc>
              <a:buNone/>
            </a:pPr>
            <a:r>
              <a:rPr lang="en-US" sz="1500" dirty="0">
                <a:solidFill>
                  <a:srgbClr val="9AA3AD"/>
                </a:solidFill>
                <a:latin typeface="Poppins" pitchFamily="34" charset="0"/>
                <a:ea typeface="Poppins" pitchFamily="34" charset="-122"/>
                <a:cs typeface="Poppins" pitchFamily="34" charset="-120"/>
              </a:rPr>
              <a:t>Pipeline improvements</a:t>
            </a:r>
            <a:endParaRPr lang="en-US" sz="1500" dirty="0"/>
          </a:p>
        </p:txBody>
      </p:sp>
      <p:sp>
        <p:nvSpPr>
          <p:cNvPr id="39" name="Text 36"/>
          <p:cNvSpPr/>
          <p:nvPr/>
        </p:nvSpPr>
        <p:spPr>
          <a:xfrm>
            <a:off x="17432858" y="9534612"/>
            <a:ext cx="321766" cy="333338"/>
          </a:xfrm>
          <a:prstGeom prst="rect">
            <a:avLst/>
          </a:prstGeom>
          <a:noFill/>
          <a:ln/>
        </p:spPr>
        <p:txBody>
          <a:bodyPr wrap="square" lIns="25400" tIns="25400" rIns="25400" bIns="25400" rtlCol="0" anchor="t">
            <a:normAutofit/>
          </a:bodyPr>
          <a:lstStyle/>
          <a:p>
            <a:pPr algn="l" indent="0" marL="0">
              <a:lnSpc>
                <a:spcPct val="103333"/>
              </a:lnSpc>
              <a:buNone/>
            </a:pPr>
            <a:r>
              <a:rPr lang="en-US" sz="1500" b="1" dirty="0">
                <a:solidFill>
                  <a:srgbClr val="3B5C7F"/>
                </a:solidFill>
                <a:latin typeface="Poppins" pitchFamily="34" charset="0"/>
                <a:ea typeface="Poppins" pitchFamily="34" charset="-122"/>
                <a:cs typeface="Poppins" pitchFamily="34" charset="-120"/>
              </a:rPr>
              <a:t>08</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575" y="1504900"/>
            <a:ext cx="17068849" cy="9525"/>
          </a:xfrm>
          <a:prstGeom prst="rect">
            <a:avLst/>
          </a:prstGeom>
          <a:solidFill>
            <a:srgbClr val="DEDEDE"/>
          </a:solidFill>
          <a:ln/>
        </p:spPr>
      </p:sp>
      <p:sp>
        <p:nvSpPr>
          <p:cNvPr id="3" name="Text 1"/>
          <p:cNvSpPr/>
          <p:nvPr/>
        </p:nvSpPr>
        <p:spPr>
          <a:xfrm>
            <a:off x="609575" y="609575"/>
            <a:ext cx="6497073" cy="704850"/>
          </a:xfrm>
          <a:prstGeom prst="rect">
            <a:avLst/>
          </a:prstGeom>
          <a:noFill/>
          <a:ln/>
        </p:spPr>
        <p:txBody>
          <a:bodyPr wrap="square" lIns="25400" tIns="25400" rIns="25400" bIns="25400" rtlCol="0" anchor="t">
            <a:normAutofit/>
          </a:bodyPr>
          <a:lstStyle/>
          <a:p>
            <a:pPr algn="l" indent="0" marL="0">
              <a:lnSpc>
                <a:spcPct val="83582"/>
              </a:lnSpc>
              <a:buNone/>
            </a:pPr>
            <a:r>
              <a:rPr lang="en-US" sz="4200" b="1" spc="-84" kern="0" dirty="0">
                <a:solidFill>
                  <a:srgbClr val="220F60"/>
                </a:solidFill>
                <a:latin typeface="Poppins" pitchFamily="34" charset="0"/>
                <a:ea typeface="Poppins" pitchFamily="34" charset="-122"/>
                <a:cs typeface="Poppins" pitchFamily="34" charset="-120"/>
              </a:rPr>
              <a:t>Where the value </a:t>
            </a:r>
            <a:pPr algn="l" indent="0" marL="0">
              <a:lnSpc>
                <a:spcPct val="83582"/>
              </a:lnSpc>
              <a:buNone/>
            </a:pPr>
            <a:r>
              <a:rPr lang="en-US" sz="4200" b="1" spc="-84" kern="0" dirty="0">
                <a:solidFill>
                  <a:srgbClr val="001FFF"/>
                </a:solidFill>
                <a:latin typeface="Poppins" pitchFamily="34" charset="0"/>
                <a:ea typeface="Poppins" pitchFamily="34" charset="-122"/>
                <a:cs typeface="Poppins" pitchFamily="34" charset="-120"/>
              </a:rPr>
              <a:t>lands</a:t>
            </a:r>
            <a:endParaRPr lang="en-US" sz="4200" dirty="0"/>
          </a:p>
        </p:txBody>
      </p:sp>
      <p:pic>
        <p:nvPicPr>
          <p:cNvPr id="4" name="Image 0" descr="preencoded.png">    </p:cNvPr>
          <p:cNvPicPr>
            <a:picLocks noChangeAspect="1"/>
          </p:cNvPicPr>
          <p:nvPr/>
        </p:nvPicPr>
        <p:blipFill>
          <a:blip r:embed="rId1"/>
          <a:stretch>
            <a:fillRect/>
          </a:stretch>
        </p:blipFill>
        <p:spPr>
          <a:xfrm>
            <a:off x="16250046" y="952500"/>
            <a:ext cx="1428378" cy="323825"/>
          </a:xfrm>
          <a:prstGeom prst="rect">
            <a:avLst/>
          </a:prstGeom>
        </p:spPr>
      </p:pic>
      <p:sp>
        <p:nvSpPr>
          <p:cNvPr id="5" name="Shape 2"/>
          <p:cNvSpPr/>
          <p:nvPr/>
        </p:nvSpPr>
        <p:spPr>
          <a:xfrm>
            <a:off x="609575" y="1931913"/>
            <a:ext cx="4124337" cy="7374123"/>
          </a:xfrm>
          <a:prstGeom prst="roundRect">
            <a:avLst>
              <a:gd name="adj" fmla="val 2309"/>
            </a:avLst>
          </a:prstGeom>
          <a:ln w="7937">
            <a:solidFill>
              <a:srgbClr val="DEDEDE"/>
            </a:solidFill>
            <a:prstDash val="solid"/>
          </a:ln>
        </p:spPr>
      </p:sp>
      <p:sp>
        <p:nvSpPr>
          <p:cNvPr id="6" name="Text 3"/>
          <p:cNvSpPr/>
          <p:nvPr/>
        </p:nvSpPr>
        <p:spPr>
          <a:xfrm>
            <a:off x="922300" y="2244638"/>
            <a:ext cx="3848776" cy="362855"/>
          </a:xfrm>
          <a:prstGeom prst="rect">
            <a:avLst/>
          </a:prstGeom>
          <a:noFill/>
          <a:ln/>
        </p:spPr>
        <p:txBody>
          <a:bodyPr wrap="square" lIns="25400" tIns="25400" rIns="25400" bIns="25400" rtlCol="0" anchor="t">
            <a:normAutofit/>
          </a:bodyPr>
          <a:lstStyle/>
          <a:p>
            <a:pPr algn="l" indent="0" marL="0">
              <a:lnSpc>
                <a:spcPct val="104923"/>
              </a:lnSpc>
              <a:buNone/>
            </a:pPr>
            <a:r>
              <a:rPr lang="en-US" sz="1650" spc="289" kern="0" dirty="0">
                <a:solidFill>
                  <a:srgbClr val="3B5C7F"/>
                </a:solidFill>
                <a:latin typeface="Poppins" pitchFamily="34" charset="0"/>
                <a:ea typeface="Poppins" pitchFamily="34" charset="-122"/>
                <a:cs typeface="Poppins" pitchFamily="34" charset="-120"/>
              </a:rPr>
              <a:t>TIME REMOVED</a:t>
            </a:r>
            <a:endParaRPr lang="en-US" sz="1650" dirty="0"/>
          </a:p>
        </p:txBody>
      </p:sp>
      <p:sp>
        <p:nvSpPr>
          <p:cNvPr id="7" name="Text 4"/>
          <p:cNvSpPr/>
          <p:nvPr/>
        </p:nvSpPr>
        <p:spPr>
          <a:xfrm>
            <a:off x="922300" y="2759893"/>
            <a:ext cx="3848776" cy="805743"/>
          </a:xfrm>
          <a:prstGeom prst="rect">
            <a:avLst/>
          </a:prstGeom>
          <a:noFill/>
          <a:ln/>
        </p:spPr>
        <p:txBody>
          <a:bodyPr wrap="square" lIns="25400" tIns="25400" rIns="25400" bIns="25400" rtlCol="0" anchor="t">
            <a:normAutofit/>
          </a:bodyPr>
          <a:lstStyle/>
          <a:p>
            <a:pPr algn="l" indent="0" marL="0">
              <a:lnSpc>
                <a:spcPct val="103444"/>
              </a:lnSpc>
              <a:buNone/>
            </a:pPr>
            <a:r>
              <a:rPr lang="en-US" sz="3900" b="1" spc="-78" kern="0" dirty="0">
                <a:solidFill>
                  <a:srgbClr val="001FFF"/>
                </a:solidFill>
                <a:latin typeface="Poppins" pitchFamily="34" charset="0"/>
                <a:ea typeface="Poppins" pitchFamily="34" charset="-122"/>
                <a:cs typeface="Poppins" pitchFamily="34" charset="-120"/>
              </a:rPr>
              <a:t>-5 days</a:t>
            </a:r>
            <a:endParaRPr lang="en-US" sz="3900" dirty="0"/>
          </a:p>
        </p:txBody>
      </p:sp>
      <p:sp>
        <p:nvSpPr>
          <p:cNvPr id="8" name="Text 5"/>
          <p:cNvSpPr/>
          <p:nvPr/>
        </p:nvSpPr>
        <p:spPr>
          <a:xfrm>
            <a:off x="922300" y="3527536"/>
            <a:ext cx="3848776" cy="358080"/>
          </a:xfrm>
          <a:prstGeom prst="rect">
            <a:avLst/>
          </a:prstGeom>
          <a:noFill/>
          <a:ln/>
        </p:spPr>
        <p:txBody>
          <a:bodyPr wrap="square" lIns="25400" tIns="25400" rIns="25400" bIns="25400" rtlCol="0" anchor="t">
            <a:normAutofit/>
          </a:bodyPr>
          <a:lstStyle/>
          <a:p>
            <a:pPr algn="l" indent="0" marL="0">
              <a:lnSpc>
                <a:spcPct val="93767"/>
              </a:lnSpc>
              <a:buNone/>
            </a:pPr>
            <a:r>
              <a:rPr lang="en-US" sz="1800" dirty="0">
                <a:solidFill>
                  <a:srgbClr val="15103A"/>
                </a:solidFill>
                <a:latin typeface="Poppins" pitchFamily="34" charset="0"/>
                <a:ea typeface="Poppins" pitchFamily="34" charset="-122"/>
                <a:cs typeface="Poppins" pitchFamily="34" charset="-120"/>
              </a:rPr>
              <a:t>to discover data</a:t>
            </a:r>
            <a:endParaRPr lang="en-US" sz="1800" dirty="0"/>
          </a:p>
        </p:txBody>
      </p:sp>
      <p:sp>
        <p:nvSpPr>
          <p:cNvPr id="9" name="Text 6"/>
          <p:cNvSpPr/>
          <p:nvPr/>
        </p:nvSpPr>
        <p:spPr>
          <a:xfrm>
            <a:off x="922300" y="4057055"/>
            <a:ext cx="3848776" cy="805743"/>
          </a:xfrm>
          <a:prstGeom prst="rect">
            <a:avLst/>
          </a:prstGeom>
          <a:noFill/>
          <a:ln/>
        </p:spPr>
        <p:txBody>
          <a:bodyPr wrap="square" lIns="25400" tIns="25400" rIns="25400" bIns="25400" rtlCol="0" anchor="t">
            <a:normAutofit/>
          </a:bodyPr>
          <a:lstStyle/>
          <a:p>
            <a:pPr algn="l" indent="0" marL="0">
              <a:lnSpc>
                <a:spcPct val="103444"/>
              </a:lnSpc>
              <a:buNone/>
            </a:pPr>
            <a:r>
              <a:rPr lang="en-US" sz="3900" b="1" spc="-78" kern="0" dirty="0">
                <a:solidFill>
                  <a:srgbClr val="001FFF"/>
                </a:solidFill>
                <a:latin typeface="Poppins" pitchFamily="34" charset="0"/>
                <a:ea typeface="Poppins" pitchFamily="34" charset="-122"/>
                <a:cs typeface="Poppins" pitchFamily="34" charset="-120"/>
              </a:rPr>
              <a:t>-5 days</a:t>
            </a:r>
            <a:endParaRPr lang="en-US" sz="3900" dirty="0"/>
          </a:p>
        </p:txBody>
      </p:sp>
      <p:sp>
        <p:nvSpPr>
          <p:cNvPr id="10" name="Text 7"/>
          <p:cNvSpPr/>
          <p:nvPr/>
        </p:nvSpPr>
        <p:spPr>
          <a:xfrm>
            <a:off x="922300" y="4824698"/>
            <a:ext cx="3848776" cy="358080"/>
          </a:xfrm>
          <a:prstGeom prst="rect">
            <a:avLst/>
          </a:prstGeom>
          <a:noFill/>
          <a:ln/>
        </p:spPr>
        <p:txBody>
          <a:bodyPr wrap="square" lIns="25400" tIns="25400" rIns="25400" bIns="25400" rtlCol="0" anchor="t">
            <a:normAutofit/>
          </a:bodyPr>
          <a:lstStyle/>
          <a:p>
            <a:pPr algn="l" indent="0" marL="0">
              <a:lnSpc>
                <a:spcPct val="93767"/>
              </a:lnSpc>
              <a:buNone/>
            </a:pPr>
            <a:r>
              <a:rPr lang="en-US" sz="1800" dirty="0">
                <a:solidFill>
                  <a:srgbClr val="15103A"/>
                </a:solidFill>
                <a:latin typeface="Poppins" pitchFamily="34" charset="0"/>
                <a:ea typeface="Poppins" pitchFamily="34" charset="-122"/>
                <a:cs typeface="Poppins" pitchFamily="34" charset="-120"/>
              </a:rPr>
              <a:t>to actionable insight</a:t>
            </a:r>
            <a:endParaRPr lang="en-US" sz="1800" dirty="0"/>
          </a:p>
        </p:txBody>
      </p:sp>
      <p:sp>
        <p:nvSpPr>
          <p:cNvPr id="11" name="Text 8"/>
          <p:cNvSpPr/>
          <p:nvPr/>
        </p:nvSpPr>
        <p:spPr>
          <a:xfrm>
            <a:off x="922300" y="5354216"/>
            <a:ext cx="3848776" cy="805743"/>
          </a:xfrm>
          <a:prstGeom prst="rect">
            <a:avLst/>
          </a:prstGeom>
          <a:noFill/>
          <a:ln/>
        </p:spPr>
        <p:txBody>
          <a:bodyPr wrap="square" lIns="25400" tIns="25400" rIns="25400" bIns="25400" rtlCol="0" anchor="t">
            <a:normAutofit/>
          </a:bodyPr>
          <a:lstStyle/>
          <a:p>
            <a:pPr algn="l" indent="0" marL="0">
              <a:lnSpc>
                <a:spcPct val="103444"/>
              </a:lnSpc>
              <a:buNone/>
            </a:pPr>
            <a:r>
              <a:rPr lang="en-US" sz="3900" b="1" spc="-78" kern="0" dirty="0">
                <a:solidFill>
                  <a:srgbClr val="001FFF"/>
                </a:solidFill>
                <a:latin typeface="Poppins" pitchFamily="34" charset="0"/>
                <a:ea typeface="Poppins" pitchFamily="34" charset="-122"/>
                <a:cs typeface="Poppins" pitchFamily="34" charset="-120"/>
              </a:rPr>
              <a:t>-1 week</a:t>
            </a:r>
            <a:endParaRPr lang="en-US" sz="3900" dirty="0"/>
          </a:p>
        </p:txBody>
      </p:sp>
      <p:sp>
        <p:nvSpPr>
          <p:cNvPr id="12" name="Text 9"/>
          <p:cNvSpPr/>
          <p:nvPr/>
        </p:nvSpPr>
        <p:spPr>
          <a:xfrm>
            <a:off x="922300" y="6121859"/>
            <a:ext cx="3848776" cy="358080"/>
          </a:xfrm>
          <a:prstGeom prst="rect">
            <a:avLst/>
          </a:prstGeom>
          <a:noFill/>
          <a:ln/>
        </p:spPr>
        <p:txBody>
          <a:bodyPr wrap="square" lIns="25400" tIns="25400" rIns="25400" bIns="25400" rtlCol="0" anchor="t">
            <a:normAutofit/>
          </a:bodyPr>
          <a:lstStyle/>
          <a:p>
            <a:pPr algn="l" indent="0" marL="0">
              <a:lnSpc>
                <a:spcPct val="93767"/>
              </a:lnSpc>
              <a:buNone/>
            </a:pPr>
            <a:r>
              <a:rPr lang="en-US" sz="1800" dirty="0">
                <a:solidFill>
                  <a:srgbClr val="15103A"/>
                </a:solidFill>
                <a:latin typeface="Poppins" pitchFamily="34" charset="0"/>
                <a:ea typeface="Poppins" pitchFamily="34" charset="-122"/>
                <a:cs typeface="Poppins" pitchFamily="34" charset="-120"/>
              </a:rPr>
              <a:t>to integrate data</a:t>
            </a:r>
            <a:endParaRPr lang="en-US" sz="1800" dirty="0"/>
          </a:p>
        </p:txBody>
      </p:sp>
      <p:sp>
        <p:nvSpPr>
          <p:cNvPr id="13" name="Shape 10"/>
          <p:cNvSpPr/>
          <p:nvPr/>
        </p:nvSpPr>
        <p:spPr>
          <a:xfrm>
            <a:off x="4924412" y="1931913"/>
            <a:ext cx="4124337" cy="7374123"/>
          </a:xfrm>
          <a:prstGeom prst="roundRect">
            <a:avLst>
              <a:gd name="adj" fmla="val 2309"/>
            </a:avLst>
          </a:prstGeom>
          <a:solidFill>
            <a:srgbClr val="001FFF"/>
          </a:solidFill>
          <a:ln/>
          <a:effectLst>
            <a:outerShdw sx="100000" sy="100000" kx="0" ky="0" algn="bl" rotWithShape="0" blurRad="266700" dist="95250" dir="5400000">
              <a:srgbClr val="001FFF">
                <a:alpha val="22000"/>
              </a:srgbClr>
            </a:outerShdw>
          </a:effectLst>
        </p:spPr>
      </p:sp>
      <p:sp>
        <p:nvSpPr>
          <p:cNvPr id="14" name="Text 11"/>
          <p:cNvSpPr/>
          <p:nvPr/>
        </p:nvSpPr>
        <p:spPr>
          <a:xfrm>
            <a:off x="5229200" y="2236701"/>
            <a:ext cx="3866238" cy="362855"/>
          </a:xfrm>
          <a:prstGeom prst="rect">
            <a:avLst/>
          </a:prstGeom>
          <a:noFill/>
          <a:ln/>
        </p:spPr>
        <p:txBody>
          <a:bodyPr wrap="square" lIns="25400" tIns="25400" rIns="25400" bIns="25400" rtlCol="0" anchor="t">
            <a:normAutofit/>
          </a:bodyPr>
          <a:lstStyle/>
          <a:p>
            <a:pPr algn="l" indent="0" marL="0">
              <a:lnSpc>
                <a:spcPct val="104923"/>
              </a:lnSpc>
              <a:buNone/>
            </a:pPr>
            <a:r>
              <a:rPr lang="en-US" sz="1650" spc="289" kern="0" dirty="0">
                <a:solidFill>
                  <a:srgbClr val="FFFFFF">
                    <a:alpha val="80000"/>
                  </a:srgbClr>
                </a:solidFill>
                <a:latin typeface="Poppins" pitchFamily="34" charset="0"/>
                <a:ea typeface="Poppins" pitchFamily="34" charset="-122"/>
                <a:cs typeface="Poppins" pitchFamily="34" charset="-120"/>
              </a:rPr>
              <a:t>COST REMOVED</a:t>
            </a:r>
            <a:endParaRPr lang="en-US" sz="1650" dirty="0"/>
          </a:p>
        </p:txBody>
      </p:sp>
      <p:sp>
        <p:nvSpPr>
          <p:cNvPr id="15" name="Text 12"/>
          <p:cNvSpPr/>
          <p:nvPr/>
        </p:nvSpPr>
        <p:spPr>
          <a:xfrm>
            <a:off x="5229200" y="2751956"/>
            <a:ext cx="3866238" cy="805743"/>
          </a:xfrm>
          <a:prstGeom prst="rect">
            <a:avLst/>
          </a:prstGeom>
          <a:noFill/>
          <a:ln/>
        </p:spPr>
        <p:txBody>
          <a:bodyPr wrap="square" lIns="25400" tIns="25400" rIns="25400" bIns="25400" rtlCol="0" anchor="t">
            <a:normAutofit/>
          </a:bodyPr>
          <a:lstStyle/>
          <a:p>
            <a:pPr algn="l" indent="0" marL="0">
              <a:lnSpc>
                <a:spcPct val="103444"/>
              </a:lnSpc>
              <a:buNone/>
            </a:pPr>
            <a:r>
              <a:rPr lang="en-US" sz="3900" b="1" spc="-78" kern="0" dirty="0">
                <a:solidFill>
                  <a:srgbClr val="FFFFFF"/>
                </a:solidFill>
                <a:latin typeface="Poppins" pitchFamily="34" charset="0"/>
                <a:ea typeface="Poppins" pitchFamily="34" charset="-122"/>
                <a:cs typeface="Poppins" pitchFamily="34" charset="-120"/>
              </a:rPr>
              <a:t>-25%</a:t>
            </a:r>
            <a:endParaRPr lang="en-US" sz="3900" dirty="0"/>
          </a:p>
        </p:txBody>
      </p:sp>
      <p:sp>
        <p:nvSpPr>
          <p:cNvPr id="16" name="Text 13"/>
          <p:cNvSpPr/>
          <p:nvPr/>
        </p:nvSpPr>
        <p:spPr>
          <a:xfrm>
            <a:off x="5229200" y="3519599"/>
            <a:ext cx="3866238" cy="358080"/>
          </a:xfrm>
          <a:prstGeom prst="rect">
            <a:avLst/>
          </a:prstGeom>
          <a:noFill/>
          <a:ln/>
        </p:spPr>
        <p:txBody>
          <a:bodyPr wrap="square" lIns="25400" tIns="25400" rIns="25400" bIns="25400" rtlCol="0" anchor="t">
            <a:normAutofit/>
          </a:bodyPr>
          <a:lstStyle/>
          <a:p>
            <a:pPr algn="l" indent="0" marL="0">
              <a:lnSpc>
                <a:spcPct val="93767"/>
              </a:lnSpc>
              <a:buNone/>
            </a:pPr>
            <a:r>
              <a:rPr lang="en-US" sz="1800" dirty="0">
                <a:solidFill>
                  <a:srgbClr val="FFFFFF"/>
                </a:solidFill>
                <a:latin typeface="Poppins" pitchFamily="34" charset="0"/>
                <a:ea typeface="Poppins" pitchFamily="34" charset="-122"/>
                <a:cs typeface="Poppins" pitchFamily="34" charset="-120"/>
              </a:rPr>
              <a:t>integration cost</a:t>
            </a:r>
            <a:endParaRPr lang="en-US" sz="1800" dirty="0"/>
          </a:p>
        </p:txBody>
      </p:sp>
      <p:sp>
        <p:nvSpPr>
          <p:cNvPr id="17" name="Text 14"/>
          <p:cNvSpPr/>
          <p:nvPr/>
        </p:nvSpPr>
        <p:spPr>
          <a:xfrm>
            <a:off x="5229200" y="4049117"/>
            <a:ext cx="3866238" cy="805743"/>
          </a:xfrm>
          <a:prstGeom prst="rect">
            <a:avLst/>
          </a:prstGeom>
          <a:noFill/>
          <a:ln/>
        </p:spPr>
        <p:txBody>
          <a:bodyPr wrap="square" lIns="25400" tIns="25400" rIns="25400" bIns="25400" rtlCol="0" anchor="t">
            <a:normAutofit/>
          </a:bodyPr>
          <a:lstStyle/>
          <a:p>
            <a:pPr algn="l" indent="0" marL="0">
              <a:lnSpc>
                <a:spcPct val="103444"/>
              </a:lnSpc>
              <a:buNone/>
            </a:pPr>
            <a:r>
              <a:rPr lang="en-US" sz="3900" b="1" spc="-78" kern="0" dirty="0">
                <a:solidFill>
                  <a:srgbClr val="FFFFFF"/>
                </a:solidFill>
                <a:latin typeface="Poppins" pitchFamily="34" charset="0"/>
                <a:ea typeface="Poppins" pitchFamily="34" charset="-122"/>
                <a:cs typeface="Poppins" pitchFamily="34" charset="-120"/>
              </a:rPr>
              <a:t>-20%</a:t>
            </a:r>
            <a:endParaRPr lang="en-US" sz="3900" dirty="0"/>
          </a:p>
        </p:txBody>
      </p:sp>
      <p:sp>
        <p:nvSpPr>
          <p:cNvPr id="18" name="Text 15"/>
          <p:cNvSpPr/>
          <p:nvPr/>
        </p:nvSpPr>
        <p:spPr>
          <a:xfrm>
            <a:off x="5229200" y="4816760"/>
            <a:ext cx="3866238" cy="358080"/>
          </a:xfrm>
          <a:prstGeom prst="rect">
            <a:avLst/>
          </a:prstGeom>
          <a:noFill/>
          <a:ln/>
        </p:spPr>
        <p:txBody>
          <a:bodyPr wrap="square" lIns="25400" tIns="25400" rIns="25400" bIns="25400" rtlCol="0" anchor="t">
            <a:normAutofit/>
          </a:bodyPr>
          <a:lstStyle/>
          <a:p>
            <a:pPr algn="l" indent="0" marL="0">
              <a:lnSpc>
                <a:spcPct val="93767"/>
              </a:lnSpc>
              <a:buNone/>
            </a:pPr>
            <a:r>
              <a:rPr lang="en-US" sz="1800" dirty="0">
                <a:solidFill>
                  <a:srgbClr val="FFFFFF"/>
                </a:solidFill>
                <a:latin typeface="Poppins" pitchFamily="34" charset="0"/>
                <a:ea typeface="Poppins" pitchFamily="34" charset="-122"/>
                <a:cs typeface="Poppins" pitchFamily="34" charset="-120"/>
              </a:rPr>
              <a:t>cost per project</a:t>
            </a:r>
            <a:endParaRPr lang="en-US" sz="1800" dirty="0"/>
          </a:p>
        </p:txBody>
      </p:sp>
      <p:sp>
        <p:nvSpPr>
          <p:cNvPr id="19" name="Text 16"/>
          <p:cNvSpPr/>
          <p:nvPr/>
        </p:nvSpPr>
        <p:spPr>
          <a:xfrm>
            <a:off x="5229200" y="5346278"/>
            <a:ext cx="3866238" cy="805743"/>
          </a:xfrm>
          <a:prstGeom prst="rect">
            <a:avLst/>
          </a:prstGeom>
          <a:noFill/>
          <a:ln/>
        </p:spPr>
        <p:txBody>
          <a:bodyPr wrap="square" lIns="25400" tIns="25400" rIns="25400" bIns="25400" rtlCol="0" anchor="t">
            <a:normAutofit/>
          </a:bodyPr>
          <a:lstStyle/>
          <a:p>
            <a:pPr algn="l" indent="0" marL="0">
              <a:lnSpc>
                <a:spcPct val="103444"/>
              </a:lnSpc>
              <a:buNone/>
            </a:pPr>
            <a:r>
              <a:rPr lang="en-US" sz="3900" b="1" spc="-78" kern="0" dirty="0">
                <a:solidFill>
                  <a:srgbClr val="FFFFFF"/>
                </a:solidFill>
                <a:latin typeface="Poppins" pitchFamily="34" charset="0"/>
                <a:ea typeface="Poppins" pitchFamily="34" charset="-122"/>
                <a:cs typeface="Poppins" pitchFamily="34" charset="-120"/>
              </a:rPr>
              <a:t>-50%</a:t>
            </a:r>
            <a:endParaRPr lang="en-US" sz="3900" dirty="0"/>
          </a:p>
        </p:txBody>
      </p:sp>
      <p:sp>
        <p:nvSpPr>
          <p:cNvPr id="20" name="Text 17"/>
          <p:cNvSpPr/>
          <p:nvPr/>
        </p:nvSpPr>
        <p:spPr>
          <a:xfrm>
            <a:off x="5229200" y="6113921"/>
            <a:ext cx="3866238" cy="358080"/>
          </a:xfrm>
          <a:prstGeom prst="rect">
            <a:avLst/>
          </a:prstGeom>
          <a:noFill/>
          <a:ln/>
        </p:spPr>
        <p:txBody>
          <a:bodyPr wrap="square" lIns="25400" tIns="25400" rIns="25400" bIns="25400" rtlCol="0" anchor="t">
            <a:normAutofit/>
          </a:bodyPr>
          <a:lstStyle/>
          <a:p>
            <a:pPr algn="l" indent="0" marL="0">
              <a:lnSpc>
                <a:spcPct val="93767"/>
              </a:lnSpc>
              <a:buNone/>
            </a:pPr>
            <a:r>
              <a:rPr lang="en-US" sz="1800" dirty="0">
                <a:solidFill>
                  <a:srgbClr val="FFFFFF"/>
                </a:solidFill>
                <a:latin typeface="Poppins" pitchFamily="34" charset="0"/>
                <a:ea typeface="Poppins" pitchFamily="34" charset="-122"/>
                <a:cs typeface="Poppins" pitchFamily="34" charset="-120"/>
              </a:rPr>
              <a:t>reconciliation effort</a:t>
            </a:r>
            <a:endParaRPr lang="en-US" sz="1800" dirty="0"/>
          </a:p>
        </p:txBody>
      </p:sp>
      <p:sp>
        <p:nvSpPr>
          <p:cNvPr id="21" name="Shape 18"/>
          <p:cNvSpPr/>
          <p:nvPr/>
        </p:nvSpPr>
        <p:spPr>
          <a:xfrm>
            <a:off x="9239250" y="1931913"/>
            <a:ext cx="4124337" cy="7374123"/>
          </a:xfrm>
          <a:prstGeom prst="roundRect">
            <a:avLst>
              <a:gd name="adj" fmla="val 2309"/>
            </a:avLst>
          </a:prstGeom>
          <a:ln w="7937">
            <a:solidFill>
              <a:srgbClr val="DEDEDE"/>
            </a:solidFill>
            <a:prstDash val="solid"/>
          </a:ln>
        </p:spPr>
      </p:sp>
      <p:sp>
        <p:nvSpPr>
          <p:cNvPr id="22" name="Text 19"/>
          <p:cNvSpPr/>
          <p:nvPr/>
        </p:nvSpPr>
        <p:spPr>
          <a:xfrm>
            <a:off x="9551975" y="2244638"/>
            <a:ext cx="3848776" cy="362855"/>
          </a:xfrm>
          <a:prstGeom prst="rect">
            <a:avLst/>
          </a:prstGeom>
          <a:noFill/>
          <a:ln/>
        </p:spPr>
        <p:txBody>
          <a:bodyPr wrap="square" lIns="25400" tIns="25400" rIns="25400" bIns="25400" rtlCol="0" anchor="t">
            <a:normAutofit/>
          </a:bodyPr>
          <a:lstStyle/>
          <a:p>
            <a:pPr algn="l" indent="0" marL="0">
              <a:lnSpc>
                <a:spcPct val="104923"/>
              </a:lnSpc>
              <a:buNone/>
            </a:pPr>
            <a:r>
              <a:rPr lang="en-US" sz="1650" spc="289" kern="0" dirty="0">
                <a:solidFill>
                  <a:srgbClr val="3B5C7F"/>
                </a:solidFill>
                <a:latin typeface="Poppins" pitchFamily="34" charset="0"/>
                <a:ea typeface="Poppins" pitchFamily="34" charset="-122"/>
                <a:cs typeface="Poppins" pitchFamily="34" charset="-120"/>
              </a:rPr>
              <a:t>TRUST GAINED</a:t>
            </a:r>
            <a:endParaRPr lang="en-US" sz="1650" dirty="0"/>
          </a:p>
        </p:txBody>
      </p:sp>
      <p:sp>
        <p:nvSpPr>
          <p:cNvPr id="23" name="Text 20"/>
          <p:cNvSpPr/>
          <p:nvPr/>
        </p:nvSpPr>
        <p:spPr>
          <a:xfrm>
            <a:off x="9551975" y="2759893"/>
            <a:ext cx="3848776" cy="805743"/>
          </a:xfrm>
          <a:prstGeom prst="rect">
            <a:avLst/>
          </a:prstGeom>
          <a:noFill/>
          <a:ln/>
        </p:spPr>
        <p:txBody>
          <a:bodyPr wrap="square" lIns="25400" tIns="25400" rIns="25400" bIns="25400" rtlCol="0" anchor="t">
            <a:normAutofit/>
          </a:bodyPr>
          <a:lstStyle/>
          <a:p>
            <a:pPr algn="l" indent="0" marL="0">
              <a:lnSpc>
                <a:spcPct val="103444"/>
              </a:lnSpc>
              <a:buNone/>
            </a:pPr>
            <a:r>
              <a:rPr lang="en-US" sz="3900" b="1" spc="-78" kern="0" dirty="0">
                <a:solidFill>
                  <a:srgbClr val="001FFF"/>
                </a:solidFill>
                <a:latin typeface="Poppins" pitchFamily="34" charset="0"/>
                <a:ea typeface="Poppins" pitchFamily="34" charset="-122"/>
                <a:cs typeface="Poppins" pitchFamily="34" charset="-120"/>
              </a:rPr>
              <a:t>+15%</a:t>
            </a:r>
            <a:endParaRPr lang="en-US" sz="3900" dirty="0"/>
          </a:p>
        </p:txBody>
      </p:sp>
      <p:sp>
        <p:nvSpPr>
          <p:cNvPr id="24" name="Text 21"/>
          <p:cNvSpPr/>
          <p:nvPr/>
        </p:nvSpPr>
        <p:spPr>
          <a:xfrm>
            <a:off x="9551975" y="3527536"/>
            <a:ext cx="3848776" cy="358080"/>
          </a:xfrm>
          <a:prstGeom prst="rect">
            <a:avLst/>
          </a:prstGeom>
          <a:noFill/>
          <a:ln/>
        </p:spPr>
        <p:txBody>
          <a:bodyPr wrap="square" lIns="25400" tIns="25400" rIns="25400" bIns="25400" rtlCol="0" anchor="t">
            <a:normAutofit/>
          </a:bodyPr>
          <a:lstStyle/>
          <a:p>
            <a:pPr algn="l" indent="0" marL="0">
              <a:lnSpc>
                <a:spcPct val="93767"/>
              </a:lnSpc>
              <a:buNone/>
            </a:pPr>
            <a:r>
              <a:rPr lang="en-US" sz="1800" dirty="0">
                <a:solidFill>
                  <a:srgbClr val="15103A"/>
                </a:solidFill>
                <a:latin typeface="Poppins" pitchFamily="34" charset="0"/>
                <a:ea typeface="Poppins" pitchFamily="34" charset="-122"/>
                <a:cs typeface="Poppins" pitchFamily="34" charset="-120"/>
              </a:rPr>
              <a:t>insight accuracy</a:t>
            </a:r>
            <a:endParaRPr lang="en-US" sz="1800" dirty="0"/>
          </a:p>
        </p:txBody>
      </p:sp>
      <p:sp>
        <p:nvSpPr>
          <p:cNvPr id="25" name="Text 22"/>
          <p:cNvSpPr/>
          <p:nvPr/>
        </p:nvSpPr>
        <p:spPr>
          <a:xfrm>
            <a:off x="9551975" y="4057055"/>
            <a:ext cx="3848776" cy="805743"/>
          </a:xfrm>
          <a:prstGeom prst="rect">
            <a:avLst/>
          </a:prstGeom>
          <a:noFill/>
          <a:ln/>
        </p:spPr>
        <p:txBody>
          <a:bodyPr wrap="square" lIns="25400" tIns="25400" rIns="25400" bIns="25400" rtlCol="0" anchor="t">
            <a:normAutofit/>
          </a:bodyPr>
          <a:lstStyle/>
          <a:p>
            <a:pPr algn="l" indent="0" marL="0">
              <a:lnSpc>
                <a:spcPct val="103444"/>
              </a:lnSpc>
              <a:buNone/>
            </a:pPr>
            <a:r>
              <a:rPr lang="en-US" sz="3900" b="1" spc="-78" kern="0" dirty="0">
                <a:solidFill>
                  <a:srgbClr val="001FFF"/>
                </a:solidFill>
                <a:latin typeface="Poppins" pitchFamily="34" charset="0"/>
                <a:ea typeface="Poppins" pitchFamily="34" charset="-122"/>
                <a:cs typeface="Poppins" pitchFamily="34" charset="-120"/>
              </a:rPr>
              <a:t>+15%</a:t>
            </a:r>
            <a:endParaRPr lang="en-US" sz="3900" dirty="0"/>
          </a:p>
        </p:txBody>
      </p:sp>
      <p:sp>
        <p:nvSpPr>
          <p:cNvPr id="26" name="Text 23"/>
          <p:cNvSpPr/>
          <p:nvPr/>
        </p:nvSpPr>
        <p:spPr>
          <a:xfrm>
            <a:off x="9551975" y="4824698"/>
            <a:ext cx="3848776" cy="358080"/>
          </a:xfrm>
          <a:prstGeom prst="rect">
            <a:avLst/>
          </a:prstGeom>
          <a:noFill/>
          <a:ln/>
        </p:spPr>
        <p:txBody>
          <a:bodyPr wrap="square" lIns="25400" tIns="25400" rIns="25400" bIns="25400" rtlCol="0" anchor="t">
            <a:normAutofit/>
          </a:bodyPr>
          <a:lstStyle/>
          <a:p>
            <a:pPr algn="l" indent="0" marL="0">
              <a:lnSpc>
                <a:spcPct val="93767"/>
              </a:lnSpc>
              <a:buNone/>
            </a:pPr>
            <a:r>
              <a:rPr lang="en-US" sz="1800" dirty="0">
                <a:solidFill>
                  <a:srgbClr val="15103A"/>
                </a:solidFill>
                <a:latin typeface="Poppins" pitchFamily="34" charset="0"/>
                <a:ea typeface="Poppins" pitchFamily="34" charset="-122"/>
                <a:cs typeface="Poppins" pitchFamily="34" charset="-120"/>
              </a:rPr>
              <a:t>consistency score</a:t>
            </a:r>
            <a:endParaRPr lang="en-US" sz="1800" dirty="0"/>
          </a:p>
        </p:txBody>
      </p:sp>
      <p:sp>
        <p:nvSpPr>
          <p:cNvPr id="27" name="Text 24"/>
          <p:cNvSpPr/>
          <p:nvPr/>
        </p:nvSpPr>
        <p:spPr>
          <a:xfrm>
            <a:off x="9551975" y="5354216"/>
            <a:ext cx="3848776" cy="805743"/>
          </a:xfrm>
          <a:prstGeom prst="rect">
            <a:avLst/>
          </a:prstGeom>
          <a:noFill/>
          <a:ln/>
        </p:spPr>
        <p:txBody>
          <a:bodyPr wrap="square" lIns="25400" tIns="25400" rIns="25400" bIns="25400" rtlCol="0" anchor="t">
            <a:normAutofit/>
          </a:bodyPr>
          <a:lstStyle/>
          <a:p>
            <a:pPr algn="l" indent="0" marL="0">
              <a:lnSpc>
                <a:spcPct val="103444"/>
              </a:lnSpc>
              <a:buNone/>
            </a:pPr>
            <a:r>
              <a:rPr lang="en-US" sz="3900" b="1" spc="-78" kern="0" dirty="0">
                <a:solidFill>
                  <a:srgbClr val="001FFF"/>
                </a:solidFill>
                <a:latin typeface="Poppins" pitchFamily="34" charset="0"/>
                <a:ea typeface="Poppins" pitchFamily="34" charset="-122"/>
                <a:cs typeface="Poppins" pitchFamily="34" charset="-120"/>
              </a:rPr>
              <a:t>-30%</a:t>
            </a:r>
            <a:endParaRPr lang="en-US" sz="3900" dirty="0"/>
          </a:p>
        </p:txBody>
      </p:sp>
      <p:sp>
        <p:nvSpPr>
          <p:cNvPr id="28" name="Text 25"/>
          <p:cNvSpPr/>
          <p:nvPr/>
        </p:nvSpPr>
        <p:spPr>
          <a:xfrm>
            <a:off x="9551975" y="6121859"/>
            <a:ext cx="3848776" cy="358080"/>
          </a:xfrm>
          <a:prstGeom prst="rect">
            <a:avLst/>
          </a:prstGeom>
          <a:noFill/>
          <a:ln/>
        </p:spPr>
        <p:txBody>
          <a:bodyPr wrap="square" lIns="25400" tIns="25400" rIns="25400" bIns="25400" rtlCol="0" anchor="t">
            <a:normAutofit/>
          </a:bodyPr>
          <a:lstStyle/>
          <a:p>
            <a:pPr algn="l" indent="0" marL="0">
              <a:lnSpc>
                <a:spcPct val="93767"/>
              </a:lnSpc>
              <a:buNone/>
            </a:pPr>
            <a:r>
              <a:rPr lang="en-US" sz="1800" dirty="0">
                <a:solidFill>
                  <a:srgbClr val="15103A"/>
                </a:solidFill>
                <a:latin typeface="Poppins" pitchFamily="34" charset="0"/>
                <a:ea typeface="Poppins" pitchFamily="34" charset="-122"/>
                <a:cs typeface="Poppins" pitchFamily="34" charset="-120"/>
              </a:rPr>
              <a:t>corrective decisions</a:t>
            </a:r>
            <a:endParaRPr lang="en-US" sz="1800" dirty="0"/>
          </a:p>
        </p:txBody>
      </p:sp>
      <p:sp>
        <p:nvSpPr>
          <p:cNvPr id="29" name="Shape 26"/>
          <p:cNvSpPr/>
          <p:nvPr/>
        </p:nvSpPr>
        <p:spPr>
          <a:xfrm>
            <a:off x="13554087" y="1931913"/>
            <a:ext cx="4124337" cy="7374123"/>
          </a:xfrm>
          <a:prstGeom prst="roundRect">
            <a:avLst>
              <a:gd name="adj" fmla="val 2309"/>
            </a:avLst>
          </a:prstGeom>
          <a:ln w="7937">
            <a:solidFill>
              <a:srgbClr val="DEDEDE"/>
            </a:solidFill>
            <a:prstDash val="solid"/>
          </a:ln>
        </p:spPr>
      </p:sp>
      <p:sp>
        <p:nvSpPr>
          <p:cNvPr id="30" name="Text 27"/>
          <p:cNvSpPr/>
          <p:nvPr/>
        </p:nvSpPr>
        <p:spPr>
          <a:xfrm>
            <a:off x="13866812" y="2244638"/>
            <a:ext cx="3848776" cy="362855"/>
          </a:xfrm>
          <a:prstGeom prst="rect">
            <a:avLst/>
          </a:prstGeom>
          <a:noFill/>
          <a:ln/>
        </p:spPr>
        <p:txBody>
          <a:bodyPr wrap="square" lIns="25400" tIns="25400" rIns="25400" bIns="25400" rtlCol="0" anchor="t">
            <a:normAutofit/>
          </a:bodyPr>
          <a:lstStyle/>
          <a:p>
            <a:pPr algn="l" indent="0" marL="0">
              <a:lnSpc>
                <a:spcPct val="104923"/>
              </a:lnSpc>
              <a:buNone/>
            </a:pPr>
            <a:r>
              <a:rPr lang="en-US" sz="1650" spc="289" kern="0" dirty="0">
                <a:solidFill>
                  <a:srgbClr val="3B5C7F"/>
                </a:solidFill>
                <a:latin typeface="Poppins" pitchFamily="34" charset="0"/>
                <a:ea typeface="Poppins" pitchFamily="34" charset="-122"/>
                <a:cs typeface="Poppins" pitchFamily="34" charset="-120"/>
              </a:rPr>
              <a:t>REACH EXTENDED</a:t>
            </a:r>
            <a:endParaRPr lang="en-US" sz="1650" dirty="0"/>
          </a:p>
        </p:txBody>
      </p:sp>
      <p:sp>
        <p:nvSpPr>
          <p:cNvPr id="31" name="Text 28"/>
          <p:cNvSpPr/>
          <p:nvPr/>
        </p:nvSpPr>
        <p:spPr>
          <a:xfrm>
            <a:off x="13866812" y="2759893"/>
            <a:ext cx="3848776" cy="805743"/>
          </a:xfrm>
          <a:prstGeom prst="rect">
            <a:avLst/>
          </a:prstGeom>
          <a:noFill/>
          <a:ln/>
        </p:spPr>
        <p:txBody>
          <a:bodyPr wrap="square" lIns="25400" tIns="25400" rIns="25400" bIns="25400" rtlCol="0" anchor="t">
            <a:normAutofit/>
          </a:bodyPr>
          <a:lstStyle/>
          <a:p>
            <a:pPr algn="l" indent="0" marL="0">
              <a:lnSpc>
                <a:spcPct val="103444"/>
              </a:lnSpc>
              <a:buNone/>
            </a:pPr>
            <a:r>
              <a:rPr lang="en-US" sz="3900" b="1" spc="-78" kern="0" dirty="0">
                <a:solidFill>
                  <a:srgbClr val="001FFF"/>
                </a:solidFill>
                <a:latin typeface="Poppins" pitchFamily="34" charset="0"/>
                <a:ea typeface="Poppins" pitchFamily="34" charset="-122"/>
                <a:cs typeface="Poppins" pitchFamily="34" charset="-120"/>
              </a:rPr>
              <a:t>+30%</a:t>
            </a:r>
            <a:endParaRPr lang="en-US" sz="3900" dirty="0"/>
          </a:p>
        </p:txBody>
      </p:sp>
      <p:sp>
        <p:nvSpPr>
          <p:cNvPr id="32" name="Text 29"/>
          <p:cNvSpPr/>
          <p:nvPr/>
        </p:nvSpPr>
        <p:spPr>
          <a:xfrm>
            <a:off x="13866812" y="3527536"/>
            <a:ext cx="3848776" cy="358080"/>
          </a:xfrm>
          <a:prstGeom prst="rect">
            <a:avLst/>
          </a:prstGeom>
          <a:noFill/>
          <a:ln/>
        </p:spPr>
        <p:txBody>
          <a:bodyPr wrap="square" lIns="25400" tIns="25400" rIns="25400" bIns="25400" rtlCol="0" anchor="t">
            <a:normAutofit/>
          </a:bodyPr>
          <a:lstStyle/>
          <a:p>
            <a:pPr algn="l" indent="0" marL="0">
              <a:lnSpc>
                <a:spcPct val="93767"/>
              </a:lnSpc>
              <a:buNone/>
            </a:pPr>
            <a:r>
              <a:rPr lang="en-US" sz="1800" dirty="0">
                <a:solidFill>
                  <a:srgbClr val="15103A"/>
                </a:solidFill>
                <a:latin typeface="Poppins" pitchFamily="34" charset="0"/>
                <a:ea typeface="Poppins" pitchFamily="34" charset="-122"/>
                <a:cs typeface="Poppins" pitchFamily="34" charset="-120"/>
              </a:rPr>
              <a:t>documented datasets</a:t>
            </a:r>
            <a:endParaRPr lang="en-US" sz="1800" dirty="0"/>
          </a:p>
        </p:txBody>
      </p:sp>
      <p:sp>
        <p:nvSpPr>
          <p:cNvPr id="33" name="Text 30"/>
          <p:cNvSpPr/>
          <p:nvPr/>
        </p:nvSpPr>
        <p:spPr>
          <a:xfrm>
            <a:off x="13866812" y="4057055"/>
            <a:ext cx="3848776" cy="805743"/>
          </a:xfrm>
          <a:prstGeom prst="rect">
            <a:avLst/>
          </a:prstGeom>
          <a:noFill/>
          <a:ln/>
        </p:spPr>
        <p:txBody>
          <a:bodyPr wrap="square" lIns="25400" tIns="25400" rIns="25400" bIns="25400" rtlCol="0" anchor="t">
            <a:normAutofit/>
          </a:bodyPr>
          <a:lstStyle/>
          <a:p>
            <a:pPr algn="l" indent="0" marL="0">
              <a:lnSpc>
                <a:spcPct val="103444"/>
              </a:lnSpc>
              <a:buNone/>
            </a:pPr>
            <a:r>
              <a:rPr lang="en-US" sz="3900" b="1" spc="-78" kern="0" dirty="0">
                <a:solidFill>
                  <a:srgbClr val="001FFF"/>
                </a:solidFill>
                <a:latin typeface="Poppins" pitchFamily="34" charset="0"/>
                <a:ea typeface="Poppins" pitchFamily="34" charset="-122"/>
                <a:cs typeface="Poppins" pitchFamily="34" charset="-120"/>
              </a:rPr>
              <a:t>+30%</a:t>
            </a:r>
            <a:endParaRPr lang="en-US" sz="3900" dirty="0"/>
          </a:p>
        </p:txBody>
      </p:sp>
      <p:sp>
        <p:nvSpPr>
          <p:cNvPr id="34" name="Text 31"/>
          <p:cNvSpPr/>
          <p:nvPr/>
        </p:nvSpPr>
        <p:spPr>
          <a:xfrm>
            <a:off x="13866812" y="4824698"/>
            <a:ext cx="3848776" cy="358080"/>
          </a:xfrm>
          <a:prstGeom prst="rect">
            <a:avLst/>
          </a:prstGeom>
          <a:noFill/>
          <a:ln/>
        </p:spPr>
        <p:txBody>
          <a:bodyPr wrap="square" lIns="25400" tIns="25400" rIns="25400" bIns="25400" rtlCol="0" anchor="t">
            <a:normAutofit/>
          </a:bodyPr>
          <a:lstStyle/>
          <a:p>
            <a:pPr algn="l" indent="0" marL="0">
              <a:lnSpc>
                <a:spcPct val="93767"/>
              </a:lnSpc>
              <a:buNone/>
            </a:pPr>
            <a:r>
              <a:rPr lang="en-US" sz="1800" dirty="0">
                <a:solidFill>
                  <a:srgbClr val="15103A"/>
                </a:solidFill>
                <a:latin typeface="Poppins" pitchFamily="34" charset="0"/>
                <a:ea typeface="Poppins" pitchFamily="34" charset="-122"/>
                <a:cs typeface="Poppins" pitchFamily="34" charset="-120"/>
              </a:rPr>
              <a:t>cross-entity projects</a:t>
            </a:r>
            <a:endParaRPr lang="en-US" sz="1800" dirty="0"/>
          </a:p>
        </p:txBody>
      </p:sp>
      <p:sp>
        <p:nvSpPr>
          <p:cNvPr id="35" name="Text 32"/>
          <p:cNvSpPr/>
          <p:nvPr/>
        </p:nvSpPr>
        <p:spPr>
          <a:xfrm>
            <a:off x="13866812" y="5354216"/>
            <a:ext cx="3848776" cy="805743"/>
          </a:xfrm>
          <a:prstGeom prst="rect">
            <a:avLst/>
          </a:prstGeom>
          <a:noFill/>
          <a:ln/>
        </p:spPr>
        <p:txBody>
          <a:bodyPr wrap="square" lIns="25400" tIns="25400" rIns="25400" bIns="25400" rtlCol="0" anchor="t">
            <a:normAutofit/>
          </a:bodyPr>
          <a:lstStyle/>
          <a:p>
            <a:pPr algn="l" indent="0" marL="0">
              <a:lnSpc>
                <a:spcPct val="103444"/>
              </a:lnSpc>
              <a:buNone/>
            </a:pPr>
            <a:r>
              <a:rPr lang="en-US" sz="3900" b="1" spc="-78" kern="0" dirty="0">
                <a:solidFill>
                  <a:srgbClr val="001FFF"/>
                </a:solidFill>
                <a:latin typeface="Poppins" pitchFamily="34" charset="0"/>
                <a:ea typeface="Poppins" pitchFamily="34" charset="-122"/>
                <a:cs typeface="Poppins" pitchFamily="34" charset="-120"/>
              </a:rPr>
              <a:t>-30%</a:t>
            </a:r>
            <a:endParaRPr lang="en-US" sz="3900" dirty="0"/>
          </a:p>
        </p:txBody>
      </p:sp>
      <p:sp>
        <p:nvSpPr>
          <p:cNvPr id="36" name="Text 33"/>
          <p:cNvSpPr/>
          <p:nvPr/>
        </p:nvSpPr>
        <p:spPr>
          <a:xfrm>
            <a:off x="13866812" y="6121859"/>
            <a:ext cx="3848776" cy="358080"/>
          </a:xfrm>
          <a:prstGeom prst="rect">
            <a:avLst/>
          </a:prstGeom>
          <a:noFill/>
          <a:ln/>
        </p:spPr>
        <p:txBody>
          <a:bodyPr wrap="square" lIns="25400" tIns="25400" rIns="25400" bIns="25400" rtlCol="0" anchor="t">
            <a:normAutofit/>
          </a:bodyPr>
          <a:lstStyle/>
          <a:p>
            <a:pPr algn="l" indent="0" marL="0">
              <a:lnSpc>
                <a:spcPct val="93767"/>
              </a:lnSpc>
              <a:buNone/>
            </a:pPr>
            <a:r>
              <a:rPr lang="en-US" sz="1800" dirty="0">
                <a:solidFill>
                  <a:srgbClr val="15103A"/>
                </a:solidFill>
                <a:latin typeface="Poppins" pitchFamily="34" charset="0"/>
                <a:ea typeface="Poppins" pitchFamily="34" charset="-122"/>
                <a:cs typeface="Poppins" pitchFamily="34" charset="-120"/>
              </a:rPr>
              <a:t>expert support requests</a:t>
            </a:r>
            <a:endParaRPr lang="en-US" sz="1800" dirty="0"/>
          </a:p>
        </p:txBody>
      </p:sp>
      <p:sp>
        <p:nvSpPr>
          <p:cNvPr id="37" name="Shape 34"/>
          <p:cNvSpPr/>
          <p:nvPr/>
        </p:nvSpPr>
        <p:spPr>
          <a:xfrm>
            <a:off x="609575" y="9672712"/>
            <a:ext cx="95250" cy="19038"/>
          </a:xfrm>
          <a:prstGeom prst="rect">
            <a:avLst/>
          </a:prstGeom>
          <a:solidFill>
            <a:srgbClr val="001FFF"/>
          </a:solidFill>
          <a:ln/>
        </p:spPr>
      </p:sp>
      <p:sp>
        <p:nvSpPr>
          <p:cNvPr id="38" name="Text 35"/>
          <p:cNvSpPr/>
          <p:nvPr/>
        </p:nvSpPr>
        <p:spPr>
          <a:xfrm>
            <a:off x="857188" y="9534612"/>
            <a:ext cx="2401912" cy="333338"/>
          </a:xfrm>
          <a:prstGeom prst="rect">
            <a:avLst/>
          </a:prstGeom>
          <a:noFill/>
          <a:ln/>
        </p:spPr>
        <p:txBody>
          <a:bodyPr wrap="square" lIns="25400" tIns="25400" rIns="25400" bIns="25400" rtlCol="0" anchor="t">
            <a:normAutofit/>
          </a:bodyPr>
          <a:lstStyle/>
          <a:p>
            <a:pPr algn="l" indent="0" marL="0">
              <a:lnSpc>
                <a:spcPct val="103333"/>
              </a:lnSpc>
              <a:buNone/>
            </a:pPr>
            <a:r>
              <a:rPr lang="en-US" sz="1500" dirty="0">
                <a:solidFill>
                  <a:srgbClr val="9AA3AD"/>
                </a:solidFill>
                <a:latin typeface="Poppins" pitchFamily="34" charset="0"/>
                <a:ea typeface="Poppins" pitchFamily="34" charset="-122"/>
                <a:cs typeface="Poppins" pitchFamily="34" charset="-120"/>
              </a:rPr>
              <a:t>Pipeline improvements</a:t>
            </a:r>
            <a:endParaRPr lang="en-US" sz="1500" dirty="0"/>
          </a:p>
        </p:txBody>
      </p:sp>
      <p:sp>
        <p:nvSpPr>
          <p:cNvPr id="39" name="Text 36"/>
          <p:cNvSpPr/>
          <p:nvPr/>
        </p:nvSpPr>
        <p:spPr>
          <a:xfrm>
            <a:off x="17436082" y="9534612"/>
            <a:ext cx="318542" cy="333338"/>
          </a:xfrm>
          <a:prstGeom prst="rect">
            <a:avLst/>
          </a:prstGeom>
          <a:noFill/>
          <a:ln/>
        </p:spPr>
        <p:txBody>
          <a:bodyPr wrap="square" lIns="25400" tIns="25400" rIns="25400" bIns="25400" rtlCol="0" anchor="t">
            <a:normAutofit/>
          </a:bodyPr>
          <a:lstStyle/>
          <a:p>
            <a:pPr algn="l" indent="0" marL="0">
              <a:lnSpc>
                <a:spcPct val="103333"/>
              </a:lnSpc>
              <a:buNone/>
            </a:pPr>
            <a:r>
              <a:rPr lang="en-US" sz="1500" b="1" dirty="0">
                <a:solidFill>
                  <a:srgbClr val="3B5C7F"/>
                </a:solidFill>
                <a:latin typeface="Poppins" pitchFamily="34" charset="0"/>
                <a:ea typeface="Poppins" pitchFamily="34" charset="-122"/>
                <a:cs typeface="Poppins" pitchFamily="34" charset="-120"/>
              </a:rPr>
              <a:t>09</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20F60"/>
        </a:solidFill>
      </p:bgPr>
    </p:bg>
    <p:spTree>
      <p:nvGrpSpPr>
        <p:cNvPr id="1" name=""/>
        <p:cNvGrpSpPr/>
        <p:nvPr/>
      </p:nvGrpSpPr>
      <p:grpSpPr>
        <a:xfrm>
          <a:off x="0" y="0"/>
          <a:ext cx="0" cy="0"/>
          <a:chOff x="0" y="0"/>
          <a:chExt cx="0" cy="0"/>
        </a:xfrm>
      </p:grpSpPr>
      <p:sp>
        <p:nvSpPr>
          <p:cNvPr id="2" name="Text 0"/>
          <p:cNvSpPr/>
          <p:nvPr/>
        </p:nvSpPr>
        <p:spPr>
          <a:xfrm>
            <a:off x="914363" y="914363"/>
            <a:ext cx="18105202"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A5B3FE"/>
                </a:solidFill>
                <a:latin typeface="Poppins" pitchFamily="34" charset="0"/>
                <a:ea typeface="Poppins" pitchFamily="34" charset="-122"/>
                <a:cs typeface="Poppins" pitchFamily="34" charset="-120"/>
              </a:rPr>
              <a:t>FOR NOTING</a:t>
            </a:r>
            <a:endParaRPr lang="en-US" sz="1800" dirty="0"/>
          </a:p>
        </p:txBody>
      </p:sp>
      <p:sp>
        <p:nvSpPr>
          <p:cNvPr id="3" name="Shape 1"/>
          <p:cNvSpPr/>
          <p:nvPr/>
        </p:nvSpPr>
        <p:spPr>
          <a:xfrm>
            <a:off x="914363" y="1535286"/>
            <a:ext cx="914363" cy="38075"/>
          </a:xfrm>
          <a:prstGeom prst="rect">
            <a:avLst/>
          </a:prstGeom>
          <a:gradFill rotWithShape="1">
            <a:gsLst>
              <a:gs pos="0">
                <a:srgbClr val="001FFF">
                  <a:alpha val="100000"/>
                </a:srgbClr>
              </a:gs>
              <a:gs pos="100000">
                <a:srgbClr val="DF367C">
                  <a:alpha val="100000"/>
                </a:srgbClr>
              </a:gs>
            </a:gsLst>
            <a:lin ang="2700000" scaled="0"/>
          </a:gradFill>
          <a:ln/>
        </p:spPr>
      </p:sp>
      <p:sp>
        <p:nvSpPr>
          <p:cNvPr id="4" name="Text 2"/>
          <p:cNvSpPr/>
          <p:nvPr/>
        </p:nvSpPr>
        <p:spPr>
          <a:xfrm>
            <a:off x="914363" y="3587192"/>
            <a:ext cx="7456170" cy="1601663"/>
          </a:xfrm>
          <a:prstGeom prst="rect">
            <a:avLst/>
          </a:prstGeom>
          <a:noFill/>
          <a:ln/>
        </p:spPr>
        <p:txBody>
          <a:bodyPr wrap="square" lIns="25400" tIns="25400" rIns="25400" bIns="25400" rtlCol="0" anchor="t">
            <a:normAutofit/>
          </a:bodyPr>
          <a:lstStyle/>
          <a:p>
            <a:pPr algn="l" indent="0" marL="0">
              <a:lnSpc>
                <a:spcPct val="71895"/>
              </a:lnSpc>
              <a:buNone/>
            </a:pPr>
            <a:r>
              <a:rPr lang="en-US" sz="5700" b="1" spc="-114" kern="0" dirty="0">
                <a:solidFill>
                  <a:srgbClr val="FFFFFF"/>
                </a:solidFill>
                <a:latin typeface="Poppins" pitchFamily="34" charset="0"/>
                <a:ea typeface="Poppins" pitchFamily="34" charset="-122"/>
                <a:cs typeface="Poppins" pitchFamily="34" charset="-120"/>
              </a:rPr>
              <a:t>Progress across all three </a:t>
            </a:r>
            <a:pPr algn="l" indent="0" marL="0">
              <a:lnSpc>
                <a:spcPct val="71895"/>
              </a:lnSpc>
              <a:buNone/>
            </a:pPr>
            <a:r>
              <a:rPr lang="en-US" sz="5700" b="1" spc="-114" kern="0" dirty="0">
                <a:solidFill>
                  <a:srgbClr val="A5B3FE"/>
                </a:solidFill>
                <a:latin typeface="Poppins" pitchFamily="34" charset="0"/>
                <a:ea typeface="Poppins" pitchFamily="34" charset="-122"/>
                <a:cs typeface="Poppins" pitchFamily="34" charset="-120"/>
              </a:rPr>
              <a:t>stages</a:t>
            </a:r>
            <a:endParaRPr lang="en-US" sz="5700" dirty="0"/>
          </a:p>
        </p:txBody>
      </p:sp>
      <p:sp>
        <p:nvSpPr>
          <p:cNvPr id="5" name="Shape 3"/>
          <p:cNvSpPr/>
          <p:nvPr/>
        </p:nvSpPr>
        <p:spPr>
          <a:xfrm>
            <a:off x="8915363" y="3701479"/>
            <a:ext cx="28525" cy="800075"/>
          </a:xfrm>
          <a:prstGeom prst="rect">
            <a:avLst/>
          </a:prstGeom>
          <a:solidFill>
            <a:srgbClr val="A5B3FE"/>
          </a:solidFill>
          <a:ln/>
        </p:spPr>
      </p:sp>
      <p:sp>
        <p:nvSpPr>
          <p:cNvPr id="6" name="Text 4"/>
          <p:cNvSpPr/>
          <p:nvPr/>
        </p:nvSpPr>
        <p:spPr>
          <a:xfrm>
            <a:off x="9134388" y="3701479"/>
            <a:ext cx="8486426" cy="838175"/>
          </a:xfrm>
          <a:prstGeom prst="rect">
            <a:avLst/>
          </a:prstGeom>
          <a:noFill/>
          <a:ln/>
        </p:spPr>
        <p:txBody>
          <a:bodyPr wrap="square" lIns="25400" tIns="25400" rIns="25400" bIns="25400" rtlCol="0" anchor="t">
            <a:normAutofit/>
          </a:bodyPr>
          <a:lstStyle/>
          <a:p>
            <a:pPr algn="l" indent="0" marL="0">
              <a:lnSpc>
                <a:spcPct val="98824"/>
              </a:lnSpc>
              <a:buNone/>
            </a:pPr>
            <a:r>
              <a:rPr lang="en-US" sz="2100" dirty="0">
                <a:solidFill>
                  <a:srgbClr val="FFFFFF">
                    <a:alpha val="88000"/>
                  </a:srgbClr>
                </a:solidFill>
                <a:latin typeface="Poppins" pitchFamily="34" charset="0"/>
                <a:ea typeface="Poppins" pitchFamily="34" charset="-122"/>
                <a:cs typeface="Poppins" pitchFamily="34" charset="-120"/>
              </a:rPr>
              <a:t>Every figure traces to a named KPI with a defined measurement method.</a:t>
            </a:r>
            <a:endParaRPr lang="en-US" sz="2100" dirty="0"/>
          </a:p>
        </p:txBody>
      </p:sp>
      <p:sp>
        <p:nvSpPr>
          <p:cNvPr id="7" name="Shape 5"/>
          <p:cNvSpPr/>
          <p:nvPr/>
        </p:nvSpPr>
        <p:spPr>
          <a:xfrm>
            <a:off x="8915363" y="4768205"/>
            <a:ext cx="28525" cy="800075"/>
          </a:xfrm>
          <a:prstGeom prst="rect">
            <a:avLst/>
          </a:prstGeom>
          <a:solidFill>
            <a:srgbClr val="A5B3FE"/>
          </a:solidFill>
          <a:ln/>
        </p:spPr>
      </p:sp>
      <p:sp>
        <p:nvSpPr>
          <p:cNvPr id="8" name="Text 6"/>
          <p:cNvSpPr/>
          <p:nvPr/>
        </p:nvSpPr>
        <p:spPr>
          <a:xfrm>
            <a:off x="9134388" y="4768205"/>
            <a:ext cx="8486426" cy="838175"/>
          </a:xfrm>
          <a:prstGeom prst="rect">
            <a:avLst/>
          </a:prstGeom>
          <a:noFill/>
          <a:ln/>
        </p:spPr>
        <p:txBody>
          <a:bodyPr wrap="square" lIns="25400" tIns="25400" rIns="25400" bIns="25400" rtlCol="0" anchor="t">
            <a:normAutofit/>
          </a:bodyPr>
          <a:lstStyle/>
          <a:p>
            <a:pPr algn="l" indent="0" marL="0">
              <a:lnSpc>
                <a:spcPct val="98824"/>
              </a:lnSpc>
              <a:buNone/>
            </a:pPr>
            <a:r>
              <a:rPr lang="en-US" sz="2100" dirty="0">
                <a:solidFill>
                  <a:srgbClr val="FFFFFF">
                    <a:alpha val="88000"/>
                  </a:srgbClr>
                </a:solidFill>
                <a:latin typeface="Poppins" pitchFamily="34" charset="0"/>
                <a:ea typeface="Poppins" pitchFamily="34" charset="-122"/>
                <a:cs typeface="Poppins" pitchFamily="34" charset="-120"/>
              </a:rPr>
              <a:t>Discovery and analytics gains land first; interpretation gains follow as coverage grows.</a:t>
            </a:r>
            <a:endParaRPr lang="en-US" sz="2100" dirty="0"/>
          </a:p>
        </p:txBody>
      </p:sp>
      <p:sp>
        <p:nvSpPr>
          <p:cNvPr id="9" name="Shape 7"/>
          <p:cNvSpPr/>
          <p:nvPr/>
        </p:nvSpPr>
        <p:spPr>
          <a:xfrm>
            <a:off x="8915363" y="5834930"/>
            <a:ext cx="28525" cy="800075"/>
          </a:xfrm>
          <a:prstGeom prst="rect">
            <a:avLst/>
          </a:prstGeom>
          <a:solidFill>
            <a:srgbClr val="A5B3FE"/>
          </a:solidFill>
          <a:ln/>
        </p:spPr>
      </p:sp>
      <p:sp>
        <p:nvSpPr>
          <p:cNvPr id="10" name="Text 8"/>
          <p:cNvSpPr/>
          <p:nvPr/>
        </p:nvSpPr>
        <p:spPr>
          <a:xfrm>
            <a:off x="9134388" y="5834930"/>
            <a:ext cx="8486426" cy="838175"/>
          </a:xfrm>
          <a:prstGeom prst="rect">
            <a:avLst/>
          </a:prstGeom>
          <a:noFill/>
          <a:ln/>
        </p:spPr>
        <p:txBody>
          <a:bodyPr wrap="square" lIns="25400" tIns="25400" rIns="25400" bIns="25400" rtlCol="0" anchor="t">
            <a:normAutofit/>
          </a:bodyPr>
          <a:lstStyle/>
          <a:p>
            <a:pPr algn="l" indent="0" marL="0">
              <a:lnSpc>
                <a:spcPct val="98824"/>
              </a:lnSpc>
              <a:buNone/>
            </a:pPr>
            <a:r>
              <a:rPr lang="en-US" sz="2100" dirty="0">
                <a:solidFill>
                  <a:srgbClr val="FFFFFF">
                    <a:alpha val="88000"/>
                  </a:srgbClr>
                </a:solidFill>
                <a:latin typeface="Poppins" pitchFamily="34" charset="0"/>
                <a:ea typeface="Poppins" pitchFamily="34" charset="-122"/>
                <a:cs typeface="Poppins" pitchFamily="34" charset="-120"/>
              </a:rPr>
              <a:t>No decision requested today. Detail on measurement methods is available on request.</a:t>
            </a:r>
            <a:endParaRPr lang="en-US" sz="2100" dirty="0"/>
          </a:p>
        </p:txBody>
      </p:sp>
      <p:sp>
        <p:nvSpPr>
          <p:cNvPr id="11" name="Text 9"/>
          <p:cNvSpPr/>
          <p:nvPr/>
        </p:nvSpPr>
        <p:spPr>
          <a:xfrm>
            <a:off x="914363" y="9018364"/>
            <a:ext cx="7831727" cy="392373"/>
          </a:xfrm>
          <a:prstGeom prst="rect">
            <a:avLst/>
          </a:prstGeom>
          <a:noFill/>
          <a:ln/>
        </p:spPr>
        <p:txBody>
          <a:bodyPr wrap="square" lIns="25400" tIns="25400" rIns="25400" bIns="25400" rtlCol="0" anchor="t">
            <a:normAutofit/>
          </a:bodyPr>
          <a:lstStyle/>
          <a:p>
            <a:pPr algn="l" indent="0" marL="0">
              <a:lnSpc>
                <a:spcPct val="103814"/>
              </a:lnSpc>
              <a:buNone/>
            </a:pPr>
            <a:r>
              <a:rPr lang="en-US" sz="1800" spc="315" kern="0" dirty="0">
                <a:solidFill>
                  <a:srgbClr val="A5B3FE"/>
                </a:solidFill>
                <a:latin typeface="Poppins" pitchFamily="34" charset="0"/>
                <a:ea typeface="Poppins" pitchFamily="34" charset="-122"/>
                <a:cs typeface="Poppins" pitchFamily="34" charset="-120"/>
              </a:rPr>
              <a:t>22 VALUE DRIVERS · 11 WORKSTREAMS · 3 STAGES</a:t>
            </a:r>
            <a:endParaRPr lang="en-US" sz="1800" dirty="0"/>
          </a:p>
        </p:txBody>
      </p:sp>
      <p:pic>
        <p:nvPicPr>
          <p:cNvPr id="12" name="Image 0" descr="preencoded.png">    </p:cNvPr>
          <p:cNvPicPr>
            <a:picLocks noChangeAspect="1"/>
          </p:cNvPicPr>
          <p:nvPr/>
        </p:nvPicPr>
        <p:blipFill>
          <a:blip r:embed="rId1"/>
          <a:stretch>
            <a:fillRect/>
          </a:stretch>
        </p:blipFill>
        <p:spPr>
          <a:xfrm>
            <a:off x="14197087" y="8648774"/>
            <a:ext cx="3176550" cy="7238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2026-09-15T19:37:51Z</dcterms:created>
  <dcterms:modified xsi:type="dcterms:W3CDTF">2026-09-15T19:37:51Z</dcterms:modified>
</cp:coreProperties>
</file>